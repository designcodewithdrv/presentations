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69" d="100"/>
          <a:sy n="69" d="100"/>
        </p:scale>
        <p:origin x="256"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8158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essays, one throughline: the work that makes a design system legible to AI is the same work that makes it legible to people. Part 1 is the anatomy; Part 2 makes the clarity permanent as a Claude Skill.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wasn't about using AI. It was about getting a Figma file ready for AI tools the team doesn't have yet. Most enterprise teams are gated by IT review, procurement, security sign-off. That reframe turned out to be the more interesting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practices were AI-specific. They were design-system hygiene nobody had bothered to write down, because nothing ever forced the issue. AI is the thing forcing it. It's really an 'is this understandable without explanation' score.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can't infer. A senior designer sees a detached frame that resembles your Button and treats it as a Button. AI receives a generic FRAME node and faithfully reports a frame — then builds a brand-new Button from scratch. That gap is the whole article.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score weights as a sentence about AI's worldview. Component definition is the largest bucket at ~30%, spread across names, boundaries, structure. Tokens 25, properties 22, states 20 when applicable. Description is only 3% scored but disproportionate, because it's the prompt. Weights overlap by design.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hierarchy: three tiers, eleven practices. Tier 1 is critical — without it output is unreliable. Tier 2 is depth and behavior. Tier 3 is hygiene that compounds. This is the map for the rest of the deck.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the critical foundations. Get these wrong and nothing downstream is reliable.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 round-trips into your codebase. A hex value is just a number that may or may not match anything. The subtle killer is the almost-token: 1A1A1A next to a real token of 1B1B1B. To a human, obvious typo. To AI, two distinct values — a hallucination magnet.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cause of 'the AI made a duplicate of our Button.' A frame that looks like a Button but isn't an instance reads as a generic FRAME. The audit is mechanical: scan pages for FRAME nodes named like your components — those are detached copies. Replace with proper instances.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Properties become the prop signature in code. variant: primary | secondary | ghost as a real Figma property gives the generated component that exact signature. Fake variants drawn as three frames become three components. Properties also force meaningful names — style1 | style2 makes everyone guess.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2: depth and behavior. Once a component is defined as a thing, this is what makes it usable and complete.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Button without a hover state isn't a Button — it's a rectangle that says Submit. Handed an incomplete set, AI invents the missing states, often in colors that aren't in your token system. Every interactive component needs default, hover, focus, active, disabled. Inputs add error.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Descriptions are what AI reads as the prompt before generating any code. Small score weight, enormous impact. The structure: PURPOSE, BEHAVIOR, COMPOSITION, USAGE, CODE GEN NOTES. Composition is the one designers skip and the one that pays off most — listing sub-components tells AI to import, not recreate.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Descriptions are the user manual for the component family. Annotations are the spec sheet for this exact variant — discrete, parseable key/value pairs in Dev Mode, the right home for motion, conditional behavior, accessibility roles. And the name is documentation: Frame 1247 is invisible; Card/Product/Compact is a contract.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3 carries no score weight of its own — flagged informationally — but each item shaves a class of AI errors off the top. Layer naming, hidden and orphan layers, intentional auto-layout, a complete and consistent variant matrix. Small individually; together they compound.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weights backwards and AI is mostly asking: have you defined this thing as a thing — proper names, structured properties, real tokens, real instances? It's what a thoughtful junior designer would look for. The bias isn't toward AI. It's toward clarity. Pass AI's audit and you've passed every audit that came before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makes the clarity permanent. You cleaned the file. Now close the conversation, open a new one — and Claude has no idea what semantic/primary/default means. You're back to pasting 200 lines of context. A Claude Skill fixes that for good.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folder containing a SKILL.md file. You write it once; Claude reads it every time a request matches its description. Your tokens, naming conventions, component specs, and accessibility rules get injected before you finish your prompt. Works as a Claude.ai Skill or committed into a repo as a Claude Code Skill so the whole team shares the context.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throughline across both essays: clarity for AI is clarity for humans. Clean the file so a stranger can read it, then encode that clarity once in a Skill so it never has to be re-explained. Sources: TJ Pitre / Southleft and the Design Systems Collective.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909638"/>
            <a:ext cx="123825" cy="123825"/>
          </a:xfrm>
          <a:prstGeom prst="roundRect">
            <a:avLst>
              <a:gd name="adj" fmla="val 23077"/>
            </a:avLst>
          </a:prstGeom>
          <a:solidFill>
            <a:srgbClr val="CF5A33"/>
          </a:solidFill>
          <a:ln/>
        </p:spPr>
      </p:sp>
      <p:sp>
        <p:nvSpPr>
          <p:cNvPr id="3" name="Text 1"/>
          <p:cNvSpPr/>
          <p:nvPr/>
        </p:nvSpPr>
        <p:spPr>
          <a:xfrm>
            <a:off x="1304925" y="857250"/>
            <a:ext cx="4175547" cy="266700"/>
          </a:xfrm>
          <a:prstGeom prst="rect">
            <a:avLst/>
          </a:prstGeom>
          <a:noFill/>
          <a:ln/>
        </p:spPr>
        <p:txBody>
          <a:bodyPr wrap="square" lIns="0" tIns="0" rIns="0" bIns="0" rtlCol="0" anchor="t">
            <a:normAutofit/>
          </a:bodyPr>
          <a:lstStyle/>
          <a:p>
            <a:pPr marL="0" indent="0" algn="l">
              <a:buNone/>
            </a:pPr>
            <a:r>
              <a:rPr lang="en-US" sz="1425" kern="0" spc="285" dirty="0">
                <a:solidFill>
                  <a:srgbClr val="6E6557"/>
                </a:solidFill>
                <a:latin typeface="IBM Plex Mono" pitchFamily="34" charset="0"/>
                <a:ea typeface="IBM Plex Mono" pitchFamily="34" charset="-122"/>
                <a:cs typeface="IBM Plex Mono" pitchFamily="34" charset="-120"/>
              </a:rPr>
              <a:t>FIELD NOTES · DESIGN SYSTEMS</a:t>
            </a:r>
            <a:endParaRPr lang="en-US" sz="1425" dirty="0"/>
          </a:p>
        </p:txBody>
      </p:sp>
      <p:sp>
        <p:nvSpPr>
          <p:cNvPr id="4" name="Text 2"/>
          <p:cNvSpPr/>
          <p:nvPr/>
        </p:nvSpPr>
        <p:spPr>
          <a:xfrm>
            <a:off x="16661011" y="857250"/>
            <a:ext cx="655439" cy="266700"/>
          </a:xfrm>
          <a:prstGeom prst="rect">
            <a:avLst/>
          </a:prstGeom>
          <a:noFill/>
          <a:ln/>
        </p:spPr>
        <p:txBody>
          <a:bodyPr wrap="square" lIns="25400" tIns="25400" rIns="25400" bIns="25400" rtlCol="0" anchor="t">
            <a:normAutofit/>
          </a:bodyPr>
          <a:lstStyle/>
          <a:p>
            <a:pPr marL="0" indent="0" algn="l">
              <a:buNone/>
            </a:pPr>
            <a:r>
              <a:rPr lang="en-US" sz="1425" kern="0" spc="285" dirty="0">
                <a:solidFill>
                  <a:srgbClr val="6E6557"/>
                </a:solidFill>
                <a:latin typeface="IBM Plex Mono" pitchFamily="34" charset="0"/>
                <a:ea typeface="IBM Plex Mono" pitchFamily="34" charset="-122"/>
                <a:cs typeface="IBM Plex Mono" pitchFamily="34" charset="-120"/>
              </a:rPr>
              <a:t>2026</a:t>
            </a:r>
            <a:endParaRPr lang="en-US" sz="1425" dirty="0"/>
          </a:p>
        </p:txBody>
      </p:sp>
      <p:sp>
        <p:nvSpPr>
          <p:cNvPr id="5" name="Text 3"/>
          <p:cNvSpPr/>
          <p:nvPr/>
        </p:nvSpPr>
        <p:spPr>
          <a:xfrm>
            <a:off x="1047750" y="2984897"/>
            <a:ext cx="11674793" cy="304800"/>
          </a:xfrm>
          <a:prstGeom prst="rect">
            <a:avLst/>
          </a:prstGeom>
          <a:noFill/>
          <a:ln/>
        </p:spPr>
        <p:txBody>
          <a:bodyPr wrap="square" lIns="25400" tIns="25400" rIns="25400" bIns="25400" rtlCol="0" anchor="t">
            <a:normAutofit/>
          </a:bodyPr>
          <a:lstStyle/>
          <a:p>
            <a:pPr marL="0" indent="0" algn="l">
              <a:buNone/>
            </a:pPr>
            <a:r>
              <a:rPr lang="en-US" sz="1575" kern="0" spc="252" dirty="0">
                <a:solidFill>
                  <a:srgbClr val="2A45D0"/>
                </a:solidFill>
                <a:latin typeface="IBM Plex Mono" pitchFamily="34" charset="0"/>
                <a:ea typeface="IBM Plex Mono" pitchFamily="34" charset="-122"/>
                <a:cs typeface="IBM Plex Mono" pitchFamily="34" charset="-120"/>
              </a:rPr>
              <a:t>AN INFOGRAPHIC FIELD GUIDE</a:t>
            </a:r>
            <a:endParaRPr lang="en-US" sz="1575" dirty="0"/>
          </a:p>
        </p:txBody>
      </p:sp>
      <p:sp>
        <p:nvSpPr>
          <p:cNvPr id="6" name="Text 4"/>
          <p:cNvSpPr/>
          <p:nvPr/>
        </p:nvSpPr>
        <p:spPr>
          <a:xfrm>
            <a:off x="1047750" y="3499247"/>
            <a:ext cx="11674793" cy="2726382"/>
          </a:xfrm>
          <a:prstGeom prst="rect">
            <a:avLst/>
          </a:prstGeom>
          <a:noFill/>
          <a:ln/>
        </p:spPr>
        <p:txBody>
          <a:bodyPr wrap="square" lIns="25400" tIns="25400" rIns="25400" bIns="25400" rtlCol="0" anchor="t">
            <a:normAutofit/>
          </a:bodyPr>
          <a:lstStyle/>
          <a:p>
            <a:pPr marL="0" indent="0" algn="l">
              <a:lnSpc>
                <a:spcPct val="98000"/>
              </a:lnSpc>
              <a:buNone/>
            </a:pPr>
            <a:r>
              <a:rPr lang="en-US" sz="7200" b="1" kern="0" spc="-180" dirty="0">
                <a:solidFill>
                  <a:srgbClr val="1E1A15"/>
                </a:solidFill>
                <a:latin typeface="Space Grotesk" pitchFamily="34" charset="0"/>
                <a:ea typeface="Space Grotesk" pitchFamily="34" charset="-122"/>
                <a:cs typeface="Space Grotesk" pitchFamily="34" charset="-120"/>
              </a:rPr>
              <a:t>Anatomy of an AI-Ready Design System</a:t>
            </a:r>
            <a:endParaRPr lang="en-US" sz="7200" dirty="0"/>
          </a:p>
        </p:txBody>
      </p:sp>
      <p:sp>
        <p:nvSpPr>
          <p:cNvPr id="7" name="Text 5"/>
          <p:cNvSpPr/>
          <p:nvPr/>
        </p:nvSpPr>
        <p:spPr>
          <a:xfrm>
            <a:off x="1047750" y="6530429"/>
            <a:ext cx="7456170"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48413A"/>
                </a:solidFill>
                <a:latin typeface="IBM Plex Sans" pitchFamily="34" charset="0"/>
                <a:ea typeface="IBM Plex Sans" pitchFamily="34" charset="-122"/>
                <a:cs typeface="IBM Plex Sans" pitchFamily="34" charset="-120"/>
              </a:rPr>
              <a:t>The practices that make a design system AI-ready are the same ones that make it readable, period.</a:t>
            </a:r>
            <a:endParaRPr lang="en-US" sz="2250" dirty="0"/>
          </a:p>
        </p:txBody>
      </p:sp>
      <p:grpSp>
        <p:nvGrpSpPr>
          <p:cNvPr id="26" name="Group 25">
            <a:extLst>
              <a:ext uri="{FF2B5EF4-FFF2-40B4-BE49-F238E27FC236}">
                <a16:creationId xmlns:a16="http://schemas.microsoft.com/office/drawing/2014/main" id="{3674DC7B-49C6-A5FF-63D2-1DAD05B92DBF}"/>
              </a:ext>
            </a:extLst>
          </p:cNvPr>
          <p:cNvGrpSpPr/>
          <p:nvPr/>
        </p:nvGrpSpPr>
        <p:grpSpPr>
          <a:xfrm>
            <a:off x="13144500" y="3388965"/>
            <a:ext cx="4095750" cy="3566071"/>
            <a:chOff x="13144500" y="3388965"/>
            <a:chExt cx="4095750" cy="3566071"/>
          </a:xfrm>
        </p:grpSpPr>
        <p:sp>
          <p:nvSpPr>
            <p:cNvPr id="8" name="Shape 6"/>
            <p:cNvSpPr/>
            <p:nvPr/>
          </p:nvSpPr>
          <p:spPr>
            <a:xfrm>
              <a:off x="13144500" y="3388965"/>
              <a:ext cx="4095750" cy="3566071"/>
            </a:xfrm>
            <a:prstGeom prst="roundRect">
              <a:avLst>
                <a:gd name="adj" fmla="val 4808"/>
              </a:avLst>
            </a:prstGeom>
            <a:solidFill>
              <a:srgbClr val="FBF8F2"/>
            </a:solidFill>
            <a:ln w="9525">
              <a:solidFill>
                <a:srgbClr val="D9D1C3"/>
              </a:solidFill>
              <a:prstDash val="solid"/>
            </a:ln>
            <a:effectLst>
              <a:outerShdw blurRad="571500" dist="285750" dir="5400000" algn="bl" rotWithShape="0">
                <a:srgbClr val="1E1A15">
                  <a:alpha val="35000"/>
                </a:srgbClr>
              </a:outerShdw>
            </a:effectLst>
          </p:spPr>
        </p:sp>
        <p:sp>
          <p:nvSpPr>
            <p:cNvPr id="9" name="Shape 7"/>
            <p:cNvSpPr/>
            <p:nvPr/>
          </p:nvSpPr>
          <p:spPr>
            <a:xfrm>
              <a:off x="13458825" y="4046190"/>
              <a:ext cx="3467100" cy="9525"/>
            </a:xfrm>
            <a:prstGeom prst="rect">
              <a:avLst/>
            </a:prstGeom>
            <a:solidFill>
              <a:srgbClr val="E6DFD2"/>
            </a:solidFill>
            <a:ln/>
          </p:spPr>
        </p:sp>
        <p:sp>
          <p:nvSpPr>
            <p:cNvPr id="10" name="Shape 8"/>
            <p:cNvSpPr/>
            <p:nvPr/>
          </p:nvSpPr>
          <p:spPr>
            <a:xfrm>
              <a:off x="13458825" y="3741390"/>
              <a:ext cx="95250" cy="95250"/>
            </a:xfrm>
            <a:prstGeom prst="ellipse">
              <a:avLst/>
            </a:prstGeom>
            <a:solidFill>
              <a:srgbClr val="CF5A33"/>
            </a:solidFill>
            <a:ln/>
          </p:spPr>
        </p:sp>
        <p:sp>
          <p:nvSpPr>
            <p:cNvPr id="11" name="Text 9"/>
            <p:cNvSpPr/>
            <p:nvPr/>
          </p:nvSpPr>
          <p:spPr>
            <a:xfrm>
              <a:off x="13649325" y="3684240"/>
              <a:ext cx="1436489" cy="247650"/>
            </a:xfrm>
            <a:prstGeom prst="rect">
              <a:avLst/>
            </a:prstGeom>
            <a:noFill/>
            <a:ln/>
          </p:spPr>
          <p:txBody>
            <a:bodyPr wrap="square" lIns="0" tIns="0" rIns="0" bIns="0" rtlCol="0" anchor="t">
              <a:normAutofit/>
            </a:bodyPr>
            <a:lstStyle/>
            <a:p>
              <a:pPr marL="0" indent="0" algn="l">
                <a:buNone/>
              </a:pPr>
              <a:r>
                <a:rPr lang="en-US" sz="1275" dirty="0">
                  <a:solidFill>
                    <a:srgbClr val="6E6557"/>
                  </a:solidFill>
                  <a:latin typeface="IBM Plex Mono" pitchFamily="34" charset="0"/>
                  <a:ea typeface="IBM Plex Mono" pitchFamily="34" charset="-122"/>
                  <a:cs typeface="IBM Plex Mono" pitchFamily="34" charset="-120"/>
                </a:rPr>
                <a:t>readiness.scan</a:t>
              </a:r>
              <a:endParaRPr lang="en-US" sz="1275" dirty="0"/>
            </a:p>
          </p:txBody>
        </p:sp>
        <p:sp>
          <p:nvSpPr>
            <p:cNvPr id="12" name="Text 10"/>
            <p:cNvSpPr/>
            <p:nvPr/>
          </p:nvSpPr>
          <p:spPr>
            <a:xfrm>
              <a:off x="16731555" y="3684240"/>
              <a:ext cx="270570" cy="247650"/>
            </a:xfrm>
            <a:prstGeom prst="rect">
              <a:avLst/>
            </a:prstGeom>
            <a:noFill/>
            <a:ln/>
          </p:spPr>
          <p:txBody>
            <a:bodyPr wrap="square" lIns="25400" tIns="25400" rIns="25400" bIns="25400" rtlCol="0" anchor="t">
              <a:normAutofit/>
            </a:bodyPr>
            <a:lstStyle/>
            <a:p>
              <a:pPr marL="0" indent="0" algn="l">
                <a:buNone/>
              </a:pPr>
              <a:r>
                <a:rPr lang="en-US" sz="1275" dirty="0">
                  <a:solidFill>
                    <a:srgbClr val="6E6557"/>
                  </a:solidFill>
                  <a:latin typeface="IBM Plex Mono" pitchFamily="34" charset="0"/>
                  <a:ea typeface="IBM Plex Mono" pitchFamily="34" charset="-122"/>
                  <a:cs typeface="IBM Plex Mono" pitchFamily="34" charset="-120"/>
                </a:rPr>
                <a:t>v1</a:t>
              </a:r>
              <a:endParaRPr lang="en-US" sz="1275" dirty="0"/>
            </a:p>
          </p:txBody>
        </p:sp>
        <p:sp>
          <p:nvSpPr>
            <p:cNvPr id="13" name="Text 11"/>
            <p:cNvSpPr/>
            <p:nvPr/>
          </p:nvSpPr>
          <p:spPr>
            <a:xfrm>
              <a:off x="13458825" y="4284315"/>
              <a:ext cx="1323082" cy="860971"/>
            </a:xfrm>
            <a:prstGeom prst="rect">
              <a:avLst/>
            </a:prstGeom>
            <a:noFill/>
            <a:ln/>
          </p:spPr>
          <p:txBody>
            <a:bodyPr wrap="square" lIns="25400" tIns="25400" rIns="25400" bIns="25400" rtlCol="0" anchor="t">
              <a:normAutofit/>
            </a:bodyPr>
            <a:lstStyle/>
            <a:p>
              <a:pPr marL="0" indent="0" algn="l">
                <a:lnSpc>
                  <a:spcPct val="80000"/>
                </a:lnSpc>
                <a:buNone/>
              </a:pPr>
              <a:r>
                <a:rPr lang="en-US" sz="8100" b="1" dirty="0">
                  <a:solidFill>
                    <a:srgbClr val="1E1A15"/>
                  </a:solidFill>
                  <a:latin typeface="Space Grotesk" pitchFamily="34" charset="0"/>
                  <a:ea typeface="Space Grotesk" pitchFamily="34" charset="-122"/>
                  <a:cs typeface="Space Grotesk" pitchFamily="34" charset="-120"/>
                </a:rPr>
                <a:t>92</a:t>
              </a:r>
              <a:endParaRPr lang="en-US" sz="8100" dirty="0"/>
            </a:p>
          </p:txBody>
        </p:sp>
        <p:sp>
          <p:nvSpPr>
            <p:cNvPr id="14" name="Text 12"/>
            <p:cNvSpPr/>
            <p:nvPr/>
          </p:nvSpPr>
          <p:spPr>
            <a:xfrm>
              <a:off x="14839057" y="4497586"/>
              <a:ext cx="990600" cy="514350"/>
            </a:xfrm>
            <a:prstGeom prst="rect">
              <a:avLst/>
            </a:prstGeom>
            <a:noFill/>
            <a:ln/>
          </p:spPr>
          <p:txBody>
            <a:bodyPr wrap="square" lIns="25400" tIns="25400" rIns="25400" bIns="25400" rtlCol="0" anchor="t">
              <a:normAutofit/>
            </a:bodyPr>
            <a:lstStyle/>
            <a:p>
              <a:pPr marL="0" indent="0" algn="l">
                <a:buNone/>
              </a:pPr>
              <a:r>
                <a:rPr lang="en-US" sz="1500" dirty="0">
                  <a:solidFill>
                    <a:srgbClr val="6E6557"/>
                  </a:solidFill>
                  <a:latin typeface="IBM Plex Mono" pitchFamily="34" charset="0"/>
                  <a:ea typeface="IBM Plex Mono" pitchFamily="34" charset="-122"/>
                  <a:cs typeface="IBM Plex Mono" pitchFamily="34" charset="-120"/>
                </a:rPr>
                <a:t>/100 ai-ready</a:t>
              </a:r>
              <a:endParaRPr lang="en-US" sz="1500" dirty="0"/>
            </a:p>
          </p:txBody>
        </p:sp>
        <p:sp>
          <p:nvSpPr>
            <p:cNvPr id="15" name="Text 13"/>
            <p:cNvSpPr/>
            <p:nvPr/>
          </p:nvSpPr>
          <p:spPr>
            <a:xfrm>
              <a:off x="13458825" y="5373886"/>
              <a:ext cx="727770" cy="266700"/>
            </a:xfrm>
            <a:prstGeom prst="rect">
              <a:avLst/>
            </a:prstGeom>
            <a:noFill/>
            <a:ln/>
          </p:spPr>
          <p:txBody>
            <a:bodyPr wrap="square" lIns="25400" tIns="25400" rIns="25400" bIns="25400" rtlCol="0" anchor="t">
              <a:normAutofit/>
            </a:bodyPr>
            <a:lstStyle/>
            <a:p>
              <a:pPr marL="0" indent="0" algn="l">
                <a:buNone/>
              </a:pPr>
              <a:r>
                <a:rPr lang="en-US" sz="1425" dirty="0">
                  <a:solidFill>
                    <a:srgbClr val="1E1A15"/>
                  </a:solidFill>
                  <a:latin typeface="IBM Plex Mono" pitchFamily="34" charset="0"/>
                  <a:ea typeface="IBM Plex Mono" pitchFamily="34" charset="-122"/>
                  <a:cs typeface="IBM Plex Mono" pitchFamily="34" charset="-120"/>
                </a:rPr>
                <a:t>tokens</a:t>
              </a:r>
              <a:endParaRPr lang="en-US" sz="1425" dirty="0"/>
            </a:p>
          </p:txBody>
        </p:sp>
        <p:sp>
          <p:nvSpPr>
            <p:cNvPr id="16" name="Text 14"/>
            <p:cNvSpPr/>
            <p:nvPr/>
          </p:nvSpPr>
          <p:spPr>
            <a:xfrm>
              <a:off x="16490007" y="5373886"/>
              <a:ext cx="512118" cy="266700"/>
            </a:xfrm>
            <a:prstGeom prst="rect">
              <a:avLst/>
            </a:prstGeom>
            <a:noFill/>
            <a:ln/>
          </p:spPr>
          <p:txBody>
            <a:bodyPr wrap="square" lIns="25400" tIns="25400" rIns="25400" bIns="25400" rtlCol="0" anchor="t">
              <a:normAutofit/>
            </a:bodyPr>
            <a:lstStyle/>
            <a:p>
              <a:pPr marL="0" indent="0" algn="l">
                <a:buNone/>
              </a:pPr>
              <a:r>
                <a:rPr lang="en-US" sz="1425" dirty="0">
                  <a:solidFill>
                    <a:srgbClr val="2A45D0"/>
                  </a:solidFill>
                  <a:latin typeface="IBM Plex Mono" pitchFamily="34" charset="0"/>
                  <a:ea typeface="IBM Plex Mono" pitchFamily="34" charset="-122"/>
                  <a:cs typeface="IBM Plex Mono" pitchFamily="34" charset="-120"/>
                </a:rPr>
                <a:t>●●●●</a:t>
              </a:r>
              <a:endParaRPr lang="en-US" sz="1425" dirty="0"/>
            </a:p>
          </p:txBody>
        </p:sp>
        <p:sp>
          <p:nvSpPr>
            <p:cNvPr id="17" name="Text 15"/>
            <p:cNvSpPr/>
            <p:nvPr/>
          </p:nvSpPr>
          <p:spPr>
            <a:xfrm>
              <a:off x="13458825" y="5726311"/>
              <a:ext cx="1053554" cy="266700"/>
            </a:xfrm>
            <a:prstGeom prst="rect">
              <a:avLst/>
            </a:prstGeom>
            <a:noFill/>
            <a:ln/>
          </p:spPr>
          <p:txBody>
            <a:bodyPr wrap="square" lIns="25400" tIns="25400" rIns="25400" bIns="25400" rtlCol="0" anchor="t">
              <a:normAutofit/>
            </a:bodyPr>
            <a:lstStyle/>
            <a:p>
              <a:pPr marL="0" indent="0" algn="l">
                <a:buNone/>
              </a:pPr>
              <a:r>
                <a:rPr lang="en-US" sz="1425" dirty="0">
                  <a:solidFill>
                    <a:srgbClr val="1E1A15"/>
                  </a:solidFill>
                  <a:latin typeface="IBM Plex Mono" pitchFamily="34" charset="0"/>
                  <a:ea typeface="IBM Plex Mono" pitchFamily="34" charset="-122"/>
                  <a:cs typeface="IBM Plex Mono" pitchFamily="34" charset="-120"/>
                </a:rPr>
                <a:t>instances</a:t>
              </a:r>
              <a:endParaRPr lang="en-US" sz="1425" dirty="0"/>
            </a:p>
          </p:txBody>
        </p:sp>
        <p:sp>
          <p:nvSpPr>
            <p:cNvPr id="18" name="Text 16"/>
            <p:cNvSpPr/>
            <p:nvPr/>
          </p:nvSpPr>
          <p:spPr>
            <a:xfrm>
              <a:off x="16490007" y="5726311"/>
              <a:ext cx="512118" cy="266700"/>
            </a:xfrm>
            <a:prstGeom prst="rect">
              <a:avLst/>
            </a:prstGeom>
            <a:noFill/>
            <a:ln/>
          </p:spPr>
          <p:txBody>
            <a:bodyPr wrap="square" lIns="25400" tIns="25400" rIns="25400" bIns="25400" rtlCol="0" anchor="t">
              <a:normAutofit/>
            </a:bodyPr>
            <a:lstStyle/>
            <a:p>
              <a:pPr marL="0" indent="0" algn="l">
                <a:buNone/>
              </a:pPr>
              <a:r>
                <a:rPr lang="en-US" sz="1425" dirty="0">
                  <a:solidFill>
                    <a:srgbClr val="2A45D0"/>
                  </a:solidFill>
                  <a:latin typeface="IBM Plex Mono" pitchFamily="34" charset="0"/>
                  <a:ea typeface="IBM Plex Mono" pitchFamily="34" charset="-122"/>
                  <a:cs typeface="IBM Plex Mono" pitchFamily="34" charset="-120"/>
                </a:rPr>
                <a:t>●●●●</a:t>
              </a:r>
              <a:endParaRPr lang="en-US" sz="1425" dirty="0"/>
            </a:p>
          </p:txBody>
        </p:sp>
        <p:sp>
          <p:nvSpPr>
            <p:cNvPr id="19" name="Text 17"/>
            <p:cNvSpPr/>
            <p:nvPr/>
          </p:nvSpPr>
          <p:spPr>
            <a:xfrm>
              <a:off x="13458825" y="6078736"/>
              <a:ext cx="727770" cy="266700"/>
            </a:xfrm>
            <a:prstGeom prst="rect">
              <a:avLst/>
            </a:prstGeom>
            <a:noFill/>
            <a:ln/>
          </p:spPr>
          <p:txBody>
            <a:bodyPr wrap="square" lIns="25400" tIns="25400" rIns="25400" bIns="25400" rtlCol="0" anchor="t">
              <a:normAutofit/>
            </a:bodyPr>
            <a:lstStyle/>
            <a:p>
              <a:pPr marL="0" indent="0" algn="l">
                <a:buNone/>
              </a:pPr>
              <a:r>
                <a:rPr lang="en-US" sz="1425" dirty="0">
                  <a:solidFill>
                    <a:srgbClr val="1E1A15"/>
                  </a:solidFill>
                  <a:latin typeface="IBM Plex Mono" pitchFamily="34" charset="0"/>
                  <a:ea typeface="IBM Plex Mono" pitchFamily="34" charset="-122"/>
                  <a:cs typeface="IBM Plex Mono" pitchFamily="34" charset="-120"/>
                </a:rPr>
                <a:t>states</a:t>
              </a:r>
              <a:endParaRPr lang="en-US" sz="1425" dirty="0"/>
            </a:p>
          </p:txBody>
        </p:sp>
        <p:sp>
          <p:nvSpPr>
            <p:cNvPr id="20" name="Text 18"/>
            <p:cNvSpPr/>
            <p:nvPr/>
          </p:nvSpPr>
          <p:spPr>
            <a:xfrm>
              <a:off x="16490007" y="6078736"/>
              <a:ext cx="512118" cy="266700"/>
            </a:xfrm>
            <a:prstGeom prst="rect">
              <a:avLst/>
            </a:prstGeom>
            <a:noFill/>
            <a:ln/>
          </p:spPr>
          <p:txBody>
            <a:bodyPr wrap="square" lIns="25400" tIns="25400" rIns="25400" bIns="25400" rtlCol="0" anchor="t">
              <a:normAutofit/>
            </a:bodyPr>
            <a:lstStyle/>
            <a:p>
              <a:pPr marL="0" indent="0" algn="l">
                <a:buNone/>
              </a:pPr>
              <a:r>
                <a:rPr lang="en-US" sz="1425" dirty="0">
                  <a:solidFill>
                    <a:srgbClr val="2A45D0"/>
                  </a:solidFill>
                  <a:latin typeface="IBM Plex Mono" pitchFamily="34" charset="0"/>
                  <a:ea typeface="IBM Plex Mono" pitchFamily="34" charset="-122"/>
                  <a:cs typeface="IBM Plex Mono" pitchFamily="34" charset="-120"/>
                </a:rPr>
                <a:t>●●●○</a:t>
              </a:r>
              <a:endParaRPr lang="en-US" sz="1425" dirty="0"/>
            </a:p>
          </p:txBody>
        </p:sp>
        <p:sp>
          <p:nvSpPr>
            <p:cNvPr id="21" name="Text 19"/>
            <p:cNvSpPr/>
            <p:nvPr/>
          </p:nvSpPr>
          <p:spPr>
            <a:xfrm>
              <a:off x="13458825" y="6431161"/>
              <a:ext cx="1379339" cy="266700"/>
            </a:xfrm>
            <a:prstGeom prst="rect">
              <a:avLst/>
            </a:prstGeom>
            <a:noFill/>
            <a:ln/>
          </p:spPr>
          <p:txBody>
            <a:bodyPr wrap="square" lIns="25400" tIns="25400" rIns="25400" bIns="25400" rtlCol="0" anchor="t">
              <a:normAutofit/>
            </a:bodyPr>
            <a:lstStyle/>
            <a:p>
              <a:pPr marL="0" indent="0" algn="l">
                <a:buNone/>
              </a:pPr>
              <a:r>
                <a:rPr lang="en-US" sz="1425" dirty="0">
                  <a:solidFill>
                    <a:srgbClr val="CF5A33"/>
                  </a:solidFill>
                  <a:latin typeface="IBM Plex Mono" pitchFamily="34" charset="0"/>
                  <a:ea typeface="IBM Plex Mono" pitchFamily="34" charset="-122"/>
                  <a:cs typeface="IBM Plex Mono" pitchFamily="34" charset="-120"/>
                </a:rPr>
                <a:t>descriptions</a:t>
              </a:r>
              <a:endParaRPr lang="en-US" sz="1425" dirty="0"/>
            </a:p>
          </p:txBody>
        </p:sp>
        <p:sp>
          <p:nvSpPr>
            <p:cNvPr id="22" name="Text 20"/>
            <p:cNvSpPr/>
            <p:nvPr/>
          </p:nvSpPr>
          <p:spPr>
            <a:xfrm>
              <a:off x="16490007" y="6431161"/>
              <a:ext cx="512118" cy="266700"/>
            </a:xfrm>
            <a:prstGeom prst="rect">
              <a:avLst/>
            </a:prstGeom>
            <a:noFill/>
            <a:ln/>
          </p:spPr>
          <p:txBody>
            <a:bodyPr wrap="square" lIns="25400" tIns="25400" rIns="25400" bIns="25400" rtlCol="0" anchor="t">
              <a:normAutofit/>
            </a:bodyPr>
            <a:lstStyle/>
            <a:p>
              <a:pPr marL="0" indent="0" algn="l">
                <a:buNone/>
              </a:pPr>
              <a:r>
                <a:rPr lang="en-US" sz="1425" dirty="0">
                  <a:solidFill>
                    <a:srgbClr val="CF5A33"/>
                  </a:solidFill>
                  <a:latin typeface="IBM Plex Mono" pitchFamily="34" charset="0"/>
                  <a:ea typeface="IBM Plex Mono" pitchFamily="34" charset="-122"/>
                  <a:cs typeface="IBM Plex Mono" pitchFamily="34" charset="-120"/>
                </a:rPr>
                <a:t>●○○○</a:t>
              </a:r>
              <a:endParaRPr lang="en-US" sz="1425" dirty="0"/>
            </a:p>
          </p:txBody>
        </p:sp>
      </p:grpSp>
      <p:sp>
        <p:nvSpPr>
          <p:cNvPr id="23" name="Shape 21"/>
          <p:cNvSpPr/>
          <p:nvPr/>
        </p:nvSpPr>
        <p:spPr>
          <a:xfrm>
            <a:off x="1047750" y="8972550"/>
            <a:ext cx="16192500" cy="9525"/>
          </a:xfrm>
          <a:prstGeom prst="rect">
            <a:avLst/>
          </a:prstGeom>
          <a:solidFill>
            <a:srgbClr val="D9D1C3"/>
          </a:solidFill>
          <a:ln/>
        </p:spPr>
      </p:sp>
      <p:sp>
        <p:nvSpPr>
          <p:cNvPr id="24" name="Text 22"/>
          <p:cNvSpPr/>
          <p:nvPr/>
        </p:nvSpPr>
        <p:spPr>
          <a:xfrm>
            <a:off x="1047750" y="9210675"/>
            <a:ext cx="7311155" cy="257175"/>
          </a:xfrm>
          <a:prstGeom prst="rect">
            <a:avLst/>
          </a:prstGeom>
          <a:noFill/>
          <a:ln/>
        </p:spPr>
        <p:txBody>
          <a:bodyPr wrap="square" lIns="25400" tIns="25400" rIns="25400" bIns="25400" rtlCol="0" anchor="t">
            <a:normAutofit/>
          </a:bodyPr>
          <a:lstStyle/>
          <a:p>
            <a:pPr marL="0" indent="0" algn="l">
              <a:buNone/>
            </a:pPr>
            <a:r>
              <a:rPr lang="en-US" sz="1350" dirty="0">
                <a:solidFill>
                  <a:srgbClr val="6E6557"/>
                </a:solidFill>
                <a:latin typeface="IBM Plex Mono" pitchFamily="34" charset="0"/>
                <a:ea typeface="IBM Plex Mono" pitchFamily="34" charset="-122"/>
                <a:cs typeface="IBM Plex Mono" pitchFamily="34" charset="-120"/>
              </a:rPr>
              <a:t>Drawn from essays by </a:t>
            </a:r>
            <a:r>
              <a:rPr lang="en-US" sz="1350" dirty="0">
                <a:solidFill>
                  <a:srgbClr val="1E1A15"/>
                </a:solidFill>
                <a:latin typeface="IBM Plex Mono" pitchFamily="34" charset="0"/>
                <a:ea typeface="IBM Plex Mono" pitchFamily="34" charset="-122"/>
                <a:cs typeface="IBM Plex Mono" pitchFamily="34" charset="-120"/>
              </a:rPr>
              <a:t>TJ Pitre · Southleft </a:t>
            </a:r>
            <a:r>
              <a:rPr lang="en-US" sz="1350" dirty="0">
                <a:solidFill>
                  <a:srgbClr val="6E6557"/>
                </a:solidFill>
                <a:latin typeface="IBM Plex Mono" pitchFamily="34" charset="0"/>
                <a:ea typeface="IBM Plex Mono" pitchFamily="34" charset="-122"/>
                <a:cs typeface="IBM Plex Mono" pitchFamily="34" charset="-120"/>
              </a:rPr>
              <a:t>&amp; </a:t>
            </a:r>
            <a:r>
              <a:rPr lang="en-US" sz="1350" dirty="0">
                <a:solidFill>
                  <a:srgbClr val="1E1A15"/>
                </a:solidFill>
                <a:latin typeface="IBM Plex Mono" pitchFamily="34" charset="0"/>
                <a:ea typeface="IBM Plex Mono" pitchFamily="34" charset="-122"/>
                <a:cs typeface="IBM Plex Mono" pitchFamily="34" charset="-120"/>
              </a:rPr>
              <a:t>Design Systems Collective</a:t>
            </a:r>
            <a:endParaRPr lang="en-US" sz="1350" dirty="0"/>
          </a:p>
        </p:txBody>
      </p:sp>
      <p:sp>
        <p:nvSpPr>
          <p:cNvPr id="25" name="Text 23"/>
          <p:cNvSpPr/>
          <p:nvPr/>
        </p:nvSpPr>
        <p:spPr>
          <a:xfrm>
            <a:off x="13125450" y="9210675"/>
            <a:ext cx="4238244" cy="257175"/>
          </a:xfrm>
          <a:prstGeom prst="rect">
            <a:avLst/>
          </a:prstGeom>
          <a:noFill/>
          <a:ln/>
        </p:spPr>
        <p:txBody>
          <a:bodyPr wrap="square" lIns="25400" tIns="25400" rIns="25400" bIns="25400" rtlCol="0" anchor="t">
            <a:normAutofit/>
          </a:bodyPr>
          <a:lstStyle/>
          <a:p>
            <a:pPr marL="0" indent="0" algn="l">
              <a:buNone/>
            </a:pPr>
            <a:r>
              <a:rPr lang="en-US" sz="1350" dirty="0">
                <a:solidFill>
                  <a:srgbClr val="6E6557"/>
                </a:solidFill>
                <a:latin typeface="IBM Plex Mono" pitchFamily="34" charset="0"/>
                <a:ea typeface="IBM Plex Mono" pitchFamily="34" charset="-122"/>
                <a:cs typeface="IBM Plex Mono" pitchFamily="34" charset="-120"/>
              </a:rPr>
              <a:t>Part 1 — Anatomy · Part 2 — Claude Skill</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1509564"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THE REFRAME</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02 / 19</a:t>
            </a:r>
            <a:endParaRPr lang="en-US" sz="1350" dirty="0"/>
          </a:p>
        </p:txBody>
      </p:sp>
      <p:sp>
        <p:nvSpPr>
          <p:cNvPr id="5" name="Text 3"/>
          <p:cNvSpPr/>
          <p:nvPr/>
        </p:nvSpPr>
        <p:spPr>
          <a:xfrm>
            <a:off x="1047750" y="3459063"/>
            <a:ext cx="16678275" cy="609600"/>
          </a:xfrm>
          <a:prstGeom prst="rect">
            <a:avLst/>
          </a:prstGeom>
          <a:noFill/>
          <a:ln/>
        </p:spPr>
        <p:txBody>
          <a:bodyPr wrap="square" lIns="25400" tIns="25400" rIns="25400" bIns="25400" rtlCol="0" anchor="t">
            <a:normAutofit/>
          </a:bodyPr>
          <a:lstStyle/>
          <a:p>
            <a:pPr marL="0" indent="0" algn="l">
              <a:buNone/>
            </a:pPr>
            <a:r>
              <a:rPr lang="en-US" sz="1725" dirty="0">
                <a:solidFill>
                  <a:srgbClr val="6E6557"/>
                </a:solidFill>
                <a:latin typeface="IBM Plex Mono" pitchFamily="34" charset="0"/>
                <a:ea typeface="IBM Plex Mono" pitchFamily="34" charset="-122"/>
                <a:cs typeface="IBM Plex Mono" pitchFamily="34" charset="-120"/>
              </a:rPr>
              <a:t>Most enterprise teams don't have AI tools yet — IT review, procurement, security sign-off. The tools are coming. They aren't here.</a:t>
            </a:r>
            <a:endParaRPr lang="en-US" sz="1725" dirty="0"/>
          </a:p>
        </p:txBody>
      </p:sp>
      <p:sp>
        <p:nvSpPr>
          <p:cNvPr id="6" name="Text 4"/>
          <p:cNvSpPr/>
          <p:nvPr/>
        </p:nvSpPr>
        <p:spPr>
          <a:xfrm>
            <a:off x="1047750" y="4316313"/>
            <a:ext cx="14716125" cy="2905192"/>
          </a:xfrm>
          <a:prstGeom prst="rect">
            <a:avLst/>
          </a:prstGeom>
          <a:noFill/>
          <a:ln/>
        </p:spPr>
        <p:txBody>
          <a:bodyPr wrap="square" lIns="25400" tIns="25400" rIns="25400" bIns="25400" rtlCol="0" anchor="t">
            <a:normAutofit/>
          </a:bodyPr>
          <a:lstStyle/>
          <a:p>
            <a:pPr marL="0" indent="0" algn="l">
              <a:lnSpc>
                <a:spcPct val="105000"/>
              </a:lnSpc>
              <a:buNone/>
            </a:pPr>
            <a:r>
              <a:rPr lang="en-US" sz="5850" b="1" kern="0" spc="-117" dirty="0">
                <a:solidFill>
                  <a:srgbClr val="1E1A15"/>
                </a:solidFill>
                <a:latin typeface="Space Grotesk" pitchFamily="34" charset="0"/>
                <a:ea typeface="Space Grotesk" pitchFamily="34" charset="-122"/>
                <a:cs typeface="Space Grotesk" pitchFamily="34" charset="-120"/>
              </a:rPr>
              <a:t>So the question wasn't </a:t>
            </a:r>
            <a:r>
              <a:rPr lang="en-US" sz="5850" b="1" kern="0" spc="-117" dirty="0">
                <a:solidFill>
                  <a:srgbClr val="9A9082"/>
                </a:solidFill>
                <a:latin typeface="Space Grotesk" pitchFamily="34" charset="0"/>
                <a:ea typeface="Space Grotesk" pitchFamily="34" charset="-122"/>
                <a:cs typeface="Space Grotesk" pitchFamily="34" charset="-120"/>
              </a:rPr>
              <a:t>"how do we use AI?" </a:t>
            </a:r>
            <a:r>
              <a:rPr lang="en-US" sz="5850" b="1" kern="0" spc="-117" dirty="0">
                <a:solidFill>
                  <a:srgbClr val="1E1A15"/>
                </a:solidFill>
                <a:latin typeface="Space Grotesk" pitchFamily="34" charset="0"/>
                <a:ea typeface="Space Grotesk" pitchFamily="34" charset="-122"/>
                <a:cs typeface="Space Grotesk" pitchFamily="34" charset="-120"/>
              </a:rPr>
              <a:t>It was: </a:t>
            </a:r>
            <a:r>
              <a:rPr lang="en-US" sz="5850" b="1" kern="0" spc="-117" dirty="0">
                <a:solidFill>
                  <a:srgbClr val="2A45D0"/>
                </a:solidFill>
                <a:latin typeface="Space Grotesk" pitchFamily="34" charset="0"/>
                <a:ea typeface="Space Grotesk" pitchFamily="34" charset="-122"/>
                <a:cs typeface="Space Grotesk" pitchFamily="34" charset="-120"/>
              </a:rPr>
              <a:t>how do we get the Figma file ready for the AI tools we don't have yet?</a:t>
            </a:r>
            <a:endParaRPr lang="en-US" sz="5850" dirty="0"/>
          </a:p>
        </p:txBody>
      </p:sp>
      <p:sp>
        <p:nvSpPr>
          <p:cNvPr id="7" name="Shape 5"/>
          <p:cNvSpPr/>
          <p:nvPr/>
        </p:nvSpPr>
        <p:spPr>
          <a:xfrm>
            <a:off x="1047750" y="8896350"/>
            <a:ext cx="13335000" cy="9525"/>
          </a:xfrm>
          <a:prstGeom prst="rect">
            <a:avLst/>
          </a:prstGeom>
          <a:solidFill>
            <a:srgbClr val="D9D1C3"/>
          </a:solidFill>
          <a:ln/>
        </p:spPr>
      </p:sp>
      <p:sp>
        <p:nvSpPr>
          <p:cNvPr id="8" name="Text 6"/>
          <p:cNvSpPr/>
          <p:nvPr/>
        </p:nvSpPr>
        <p:spPr>
          <a:xfrm>
            <a:off x="1047750" y="9153525"/>
            <a:ext cx="13735050" cy="371475"/>
          </a:xfrm>
          <a:prstGeom prst="rect">
            <a:avLst/>
          </a:prstGeom>
          <a:noFill/>
          <a:ln/>
        </p:spPr>
        <p:txBody>
          <a:bodyPr wrap="square" lIns="25400" tIns="25400" rIns="25400" bIns="25400" rtlCol="0" anchor="t">
            <a:normAutofit/>
          </a:bodyPr>
          <a:lstStyle/>
          <a:p>
            <a:pPr marL="0" indent="0" algn="l">
              <a:buNone/>
            </a:pPr>
            <a:r>
              <a:rPr lang="en-US" sz="2025" dirty="0">
                <a:solidFill>
                  <a:srgbClr val="48413A"/>
                </a:solidFill>
                <a:latin typeface="IBM Plex Sans" pitchFamily="34" charset="0"/>
                <a:ea typeface="IBM Plex Sans" pitchFamily="34" charset="-122"/>
                <a:cs typeface="IBM Plex Sans" pitchFamily="34" charset="-120"/>
              </a:rPr>
              <a:t>That framing was the more interesting one — and it changed what we were really building.</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2161133"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THE CORE INSIGHT</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03 / 19</a:t>
            </a:r>
            <a:endParaRPr lang="en-US" sz="1350" dirty="0"/>
          </a:p>
        </p:txBody>
      </p:sp>
      <p:sp>
        <p:nvSpPr>
          <p:cNvPr id="5" name="Text 3"/>
          <p:cNvSpPr/>
          <p:nvPr/>
        </p:nvSpPr>
        <p:spPr>
          <a:xfrm>
            <a:off x="1047750" y="3919984"/>
            <a:ext cx="7759843" cy="1313557"/>
          </a:xfrm>
          <a:prstGeom prst="rect">
            <a:avLst/>
          </a:prstGeom>
          <a:noFill/>
          <a:ln/>
        </p:spPr>
        <p:txBody>
          <a:bodyPr wrap="square" lIns="25400" tIns="25400" rIns="25400" bIns="25400" rtlCol="0" anchor="t">
            <a:normAutofit/>
          </a:bodyPr>
          <a:lstStyle/>
          <a:p>
            <a:pPr marL="0" indent="0" algn="l">
              <a:lnSpc>
                <a:spcPct val="108000"/>
              </a:lnSpc>
              <a:buNone/>
            </a:pPr>
            <a:r>
              <a:rPr lang="en-US" sz="4650" b="1" kern="0" spc="-93" dirty="0">
                <a:solidFill>
                  <a:srgbClr val="1E1A15"/>
                </a:solidFill>
                <a:latin typeface="Space Grotesk" pitchFamily="34" charset="0"/>
                <a:ea typeface="Space Grotesk" pitchFamily="34" charset="-122"/>
                <a:cs typeface="Space Grotesk" pitchFamily="34" charset="-120"/>
              </a:rPr>
              <a:t>None of it is actually AI-specific.</a:t>
            </a:r>
            <a:endParaRPr lang="en-US" sz="4650" dirty="0"/>
          </a:p>
        </p:txBody>
      </p:sp>
      <p:sp>
        <p:nvSpPr>
          <p:cNvPr id="6" name="Text 4"/>
          <p:cNvSpPr/>
          <p:nvPr/>
        </p:nvSpPr>
        <p:spPr>
          <a:xfrm>
            <a:off x="1047750" y="5500241"/>
            <a:ext cx="7456170" cy="1712863"/>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48413A"/>
                </a:solidFill>
                <a:latin typeface="IBM Plex Sans" pitchFamily="34" charset="0"/>
                <a:ea typeface="IBM Plex Sans" pitchFamily="34" charset="-122"/>
                <a:cs typeface="IBM Plex Sans" pitchFamily="34" charset="-120"/>
              </a:rPr>
              <a:t>Every "AI-ready" practice is just design-system hygiene nobody bothered to write down — because nothing ever forced the issue. AI happens to be the thing forcing it.</a:t>
            </a:r>
            <a:endParaRPr lang="en-US" sz="2250" dirty="0"/>
          </a:p>
        </p:txBody>
      </p:sp>
      <p:sp>
        <p:nvSpPr>
          <p:cNvPr id="7" name="Shape 5"/>
          <p:cNvSpPr/>
          <p:nvPr/>
        </p:nvSpPr>
        <p:spPr>
          <a:xfrm>
            <a:off x="9438829" y="3016746"/>
            <a:ext cx="7801421" cy="4672608"/>
          </a:xfrm>
          <a:prstGeom prst="roundRect">
            <a:avLst>
              <a:gd name="adj" fmla="val 3669"/>
            </a:avLst>
          </a:prstGeom>
          <a:solidFill>
            <a:srgbClr val="1E1A15"/>
          </a:solidFill>
          <a:ln/>
        </p:spPr>
        <p:txBody>
          <a:bodyPr/>
          <a:lstStyle/>
          <a:p>
            <a:endParaRPr lang="en-US"/>
          </a:p>
        </p:txBody>
      </p:sp>
      <p:sp>
        <p:nvSpPr>
          <p:cNvPr id="8" name="Text 6"/>
          <p:cNvSpPr/>
          <p:nvPr/>
        </p:nvSpPr>
        <p:spPr>
          <a:xfrm>
            <a:off x="9915079" y="3531096"/>
            <a:ext cx="7054389" cy="266700"/>
          </a:xfrm>
          <a:prstGeom prst="rect">
            <a:avLst/>
          </a:prstGeom>
          <a:noFill/>
          <a:ln/>
        </p:spPr>
        <p:txBody>
          <a:bodyPr wrap="square" lIns="25400" tIns="25400" rIns="25400" bIns="25400" rtlCol="0" anchor="t">
            <a:normAutofit/>
          </a:bodyPr>
          <a:lstStyle/>
          <a:p>
            <a:pPr marL="0" indent="0" algn="l">
              <a:buNone/>
            </a:pPr>
            <a:r>
              <a:rPr lang="en-US" sz="1425" kern="0" spc="200" dirty="0">
                <a:solidFill>
                  <a:srgbClr val="CF5A33"/>
                </a:solidFill>
                <a:latin typeface="IBM Plex Mono" pitchFamily="34" charset="0"/>
                <a:ea typeface="IBM Plex Mono" pitchFamily="34" charset="-122"/>
                <a:cs typeface="IBM Plex Mono" pitchFamily="34" charset="-120"/>
              </a:rPr>
              <a:t>WHAT YOU'RE REALLY SCORING</a:t>
            </a:r>
            <a:endParaRPr lang="en-US" sz="1425" dirty="0"/>
          </a:p>
        </p:txBody>
      </p:sp>
      <p:sp>
        <p:nvSpPr>
          <p:cNvPr id="9" name="Text 7"/>
          <p:cNvSpPr/>
          <p:nvPr/>
        </p:nvSpPr>
        <p:spPr>
          <a:xfrm>
            <a:off x="9915079" y="3988296"/>
            <a:ext cx="7054389" cy="1957983"/>
          </a:xfrm>
          <a:prstGeom prst="rect">
            <a:avLst/>
          </a:prstGeom>
          <a:noFill/>
          <a:ln/>
        </p:spPr>
        <p:txBody>
          <a:bodyPr wrap="square" lIns="25400" tIns="25400" rIns="25400" bIns="25400" rtlCol="0" anchor="t">
            <a:normAutofit/>
          </a:bodyPr>
          <a:lstStyle/>
          <a:p>
            <a:pPr marL="0" indent="0" algn="l">
              <a:lnSpc>
                <a:spcPct val="120000"/>
              </a:lnSpc>
              <a:buNone/>
            </a:pPr>
            <a:r>
              <a:rPr lang="en-US" sz="3150" dirty="0">
                <a:solidFill>
                  <a:srgbClr val="F1ECE3"/>
                </a:solidFill>
                <a:latin typeface="Space Grotesk" pitchFamily="34" charset="0"/>
                <a:ea typeface="Space Grotesk" pitchFamily="34" charset="-122"/>
                <a:cs typeface="Space Grotesk" pitchFamily="34" charset="-120"/>
              </a:rPr>
              <a:t>"Is this component understandable without anyone explaining it to me?"</a:t>
            </a:r>
            <a:endParaRPr lang="en-US" sz="3150" dirty="0"/>
          </a:p>
        </p:txBody>
      </p:sp>
      <p:sp>
        <p:nvSpPr>
          <p:cNvPr id="10" name="Shape 8"/>
          <p:cNvSpPr/>
          <p:nvPr/>
        </p:nvSpPr>
        <p:spPr>
          <a:xfrm>
            <a:off x="9915079" y="6232029"/>
            <a:ext cx="6848921" cy="9525"/>
          </a:xfrm>
          <a:prstGeom prst="rect">
            <a:avLst/>
          </a:prstGeom>
          <a:solidFill>
            <a:srgbClr val="39332B"/>
          </a:solidFill>
          <a:ln/>
        </p:spPr>
      </p:sp>
      <p:sp>
        <p:nvSpPr>
          <p:cNvPr id="11" name="Text 9"/>
          <p:cNvSpPr/>
          <p:nvPr/>
        </p:nvSpPr>
        <p:spPr>
          <a:xfrm>
            <a:off x="9915079" y="6489204"/>
            <a:ext cx="7054389" cy="72390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B8AFA1"/>
                </a:solidFill>
                <a:latin typeface="IBM Plex Sans" pitchFamily="34" charset="0"/>
                <a:ea typeface="IBM Plex Sans" pitchFamily="34" charset="-122"/>
                <a:cs typeface="IBM Plex Sans" pitchFamily="34" charset="-120"/>
              </a:rPr>
              <a:t>AI is simply the most ruthless tester of that property — it can't ask follow-ups, can't squint at the canvas, can't read your Slack.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2551956"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THE RUTHLESS READER</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04 / 19</a:t>
            </a:r>
            <a:endParaRPr lang="en-US" sz="1350" dirty="0"/>
          </a:p>
        </p:txBody>
      </p:sp>
      <p:sp>
        <p:nvSpPr>
          <p:cNvPr id="5" name="Text 3"/>
          <p:cNvSpPr/>
          <p:nvPr/>
        </p:nvSpPr>
        <p:spPr>
          <a:xfrm>
            <a:off x="1047750" y="15430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AI can't infer. That's the point.</a:t>
            </a:r>
            <a:endParaRPr lang="en-US" sz="4050" dirty="0"/>
          </a:p>
        </p:txBody>
      </p:sp>
      <p:sp>
        <p:nvSpPr>
          <p:cNvPr id="6" name="Text 4"/>
          <p:cNvSpPr/>
          <p:nvPr/>
        </p:nvSpPr>
        <p:spPr>
          <a:xfrm>
            <a:off x="1047750" y="2216348"/>
            <a:ext cx="12753975" cy="352425"/>
          </a:xfrm>
          <a:prstGeom prst="rect">
            <a:avLst/>
          </a:prstGeom>
          <a:noFill/>
          <a:ln/>
        </p:spPr>
        <p:txBody>
          <a:bodyPr wrap="square" lIns="25400" tIns="25400" rIns="25400" bIns="25400" rtlCol="0" anchor="t">
            <a:normAutofit/>
          </a:bodyPr>
          <a:lstStyle/>
          <a:p>
            <a:pPr marL="0" indent="0" algn="l">
              <a:buNone/>
            </a:pPr>
            <a:r>
              <a:rPr lang="en-US" sz="1875" dirty="0">
                <a:solidFill>
                  <a:srgbClr val="6E6557"/>
                </a:solidFill>
                <a:latin typeface="IBM Plex Sans" pitchFamily="34" charset="0"/>
                <a:ea typeface="IBM Plex Sans" pitchFamily="34" charset="-122"/>
                <a:cs typeface="IBM Plex Sans" pitchFamily="34" charset="-120"/>
              </a:rPr>
              <a:t>The structured payload is the AI's </a:t>
            </a:r>
            <a:r>
              <a:rPr lang="en-US" sz="1875" i="1" dirty="0">
                <a:solidFill>
                  <a:srgbClr val="6E6557"/>
                </a:solidFill>
                <a:latin typeface="IBM Plex Sans" pitchFamily="34" charset="0"/>
                <a:ea typeface="IBM Plex Sans" pitchFamily="34" charset="-122"/>
                <a:cs typeface="IBM Plex Sans" pitchFamily="34" charset="-120"/>
              </a:rPr>
              <a:t>entire </a:t>
            </a:r>
            <a:r>
              <a:rPr lang="en-US" sz="1875" dirty="0">
                <a:solidFill>
                  <a:srgbClr val="6E6557"/>
                </a:solidFill>
                <a:latin typeface="IBM Plex Sans" pitchFamily="34" charset="0"/>
                <a:ea typeface="IBM Plex Sans" pitchFamily="34" charset="-122"/>
                <a:cs typeface="IBM Plex Sans" pitchFamily="34" charset="-120"/>
              </a:rPr>
              <a:t>view of a component. There is no second pass. Take one detached frame:</a:t>
            </a:r>
            <a:endParaRPr lang="en-US" sz="1875" dirty="0"/>
          </a:p>
        </p:txBody>
      </p:sp>
      <p:sp>
        <p:nvSpPr>
          <p:cNvPr id="7" name="Shape 5"/>
          <p:cNvSpPr/>
          <p:nvPr/>
        </p:nvSpPr>
        <p:spPr>
          <a:xfrm>
            <a:off x="1047750" y="2816423"/>
            <a:ext cx="7667179" cy="6670477"/>
          </a:xfrm>
          <a:prstGeom prst="roundRect">
            <a:avLst>
              <a:gd name="adj" fmla="val 2285"/>
            </a:avLst>
          </a:prstGeom>
          <a:solidFill>
            <a:srgbClr val="FBF8F2"/>
          </a:solidFill>
          <a:ln w="9525">
            <a:solidFill>
              <a:srgbClr val="D9D1C3"/>
            </a:solidFill>
            <a:prstDash val="solid"/>
          </a:ln>
        </p:spPr>
      </p:sp>
      <p:sp>
        <p:nvSpPr>
          <p:cNvPr id="8" name="Text 6"/>
          <p:cNvSpPr/>
          <p:nvPr/>
        </p:nvSpPr>
        <p:spPr>
          <a:xfrm>
            <a:off x="1457325" y="3225998"/>
            <a:ext cx="7053469" cy="266700"/>
          </a:xfrm>
          <a:prstGeom prst="rect">
            <a:avLst/>
          </a:prstGeom>
          <a:noFill/>
          <a:ln/>
        </p:spPr>
        <p:txBody>
          <a:bodyPr wrap="square" lIns="25400" tIns="25400" rIns="25400" bIns="25400" rtlCol="0" anchor="t">
            <a:normAutofit/>
          </a:bodyPr>
          <a:lstStyle/>
          <a:p>
            <a:pPr marL="0" indent="0" algn="l">
              <a:buNone/>
            </a:pPr>
            <a:r>
              <a:rPr lang="en-US" sz="1425" kern="0" spc="171" dirty="0">
                <a:solidFill>
                  <a:srgbClr val="2A45D0"/>
                </a:solidFill>
                <a:latin typeface="IBM Plex Mono" pitchFamily="34" charset="0"/>
                <a:ea typeface="IBM Plex Mono" pitchFamily="34" charset="-122"/>
                <a:cs typeface="IBM Plex Mono" pitchFamily="34" charset="-120"/>
              </a:rPr>
              <a:t>WHAT A HUMAN INFERS</a:t>
            </a:r>
            <a:endParaRPr lang="en-US" sz="1425" dirty="0"/>
          </a:p>
        </p:txBody>
      </p:sp>
      <p:sp>
        <p:nvSpPr>
          <p:cNvPr id="9" name="Shape 7"/>
          <p:cNvSpPr/>
          <p:nvPr/>
        </p:nvSpPr>
        <p:spPr>
          <a:xfrm>
            <a:off x="3857030" y="5525393"/>
            <a:ext cx="2048470" cy="790575"/>
          </a:xfrm>
          <a:prstGeom prst="roundRect">
            <a:avLst>
              <a:gd name="adj" fmla="val 12048"/>
            </a:avLst>
          </a:prstGeom>
          <a:solidFill>
            <a:srgbClr val="2A45D0"/>
          </a:solidFill>
          <a:ln/>
        </p:spPr>
      </p:sp>
      <p:sp>
        <p:nvSpPr>
          <p:cNvPr id="10" name="Text 8"/>
          <p:cNvSpPr/>
          <p:nvPr/>
        </p:nvSpPr>
        <p:spPr>
          <a:xfrm>
            <a:off x="4390430" y="5734943"/>
            <a:ext cx="105787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Space Grotesk" pitchFamily="34" charset="0"/>
                <a:ea typeface="Space Grotesk" pitchFamily="34" charset="-122"/>
                <a:cs typeface="Space Grotesk" pitchFamily="34" charset="-120"/>
              </a:rPr>
              <a:t>Submit</a:t>
            </a:r>
            <a:endParaRPr lang="en-US" sz="2250" dirty="0"/>
          </a:p>
        </p:txBody>
      </p:sp>
      <p:sp>
        <p:nvSpPr>
          <p:cNvPr id="11" name="Text 9"/>
          <p:cNvSpPr/>
          <p:nvPr/>
        </p:nvSpPr>
        <p:spPr>
          <a:xfrm>
            <a:off x="1457325" y="8386763"/>
            <a:ext cx="7053469" cy="728663"/>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48413A"/>
                </a:solidFill>
                <a:latin typeface="IBM Plex Sans" pitchFamily="34" charset="0"/>
                <a:ea typeface="IBM Plex Sans" pitchFamily="34" charset="-122"/>
                <a:cs typeface="IBM Plex Sans" pitchFamily="34" charset="-120"/>
              </a:rPr>
              <a:t>"That's our Button." Recognizes the pattern, treats it as the component it resembles.</a:t>
            </a:r>
            <a:endParaRPr lang="en-US" sz="1875" dirty="0"/>
          </a:p>
        </p:txBody>
      </p:sp>
      <p:sp>
        <p:nvSpPr>
          <p:cNvPr id="12" name="Text 10"/>
          <p:cNvSpPr/>
          <p:nvPr/>
        </p:nvSpPr>
        <p:spPr>
          <a:xfrm>
            <a:off x="9038779" y="2816423"/>
            <a:ext cx="305693" cy="6708577"/>
          </a:xfrm>
          <a:prstGeom prst="rect">
            <a:avLst/>
          </a:prstGeom>
          <a:noFill/>
          <a:ln/>
        </p:spPr>
        <p:txBody>
          <a:bodyPr wrap="square" lIns="25400" tIns="25400" rIns="25400" bIns="25400" rtlCol="0" anchor="ctr">
            <a:normAutofit/>
          </a:bodyPr>
          <a:lstStyle/>
          <a:p>
            <a:pPr marL="0" indent="0" algn="l">
              <a:buNone/>
            </a:pPr>
            <a:r>
              <a:rPr lang="en-US" sz="3000" dirty="0">
                <a:solidFill>
                  <a:srgbClr val="9A9082"/>
                </a:solidFill>
                <a:latin typeface="IBM Plex Mono" pitchFamily="34" charset="0"/>
                <a:ea typeface="IBM Plex Mono" pitchFamily="34" charset="-122"/>
                <a:cs typeface="IBM Plex Mono" pitchFamily="34" charset="-120"/>
              </a:rPr>
              <a:t>→</a:t>
            </a:r>
            <a:endParaRPr lang="en-US" sz="3000" dirty="0"/>
          </a:p>
        </p:txBody>
      </p:sp>
      <p:sp>
        <p:nvSpPr>
          <p:cNvPr id="13" name="Shape 11"/>
          <p:cNvSpPr/>
          <p:nvPr/>
        </p:nvSpPr>
        <p:spPr>
          <a:xfrm>
            <a:off x="9592121" y="2816423"/>
            <a:ext cx="7648129" cy="6670477"/>
          </a:xfrm>
          <a:prstGeom prst="roundRect">
            <a:avLst>
              <a:gd name="adj" fmla="val 2285"/>
            </a:avLst>
          </a:prstGeom>
          <a:solidFill>
            <a:srgbClr val="1E1A15"/>
          </a:solidFill>
          <a:ln/>
        </p:spPr>
      </p:sp>
      <p:sp>
        <p:nvSpPr>
          <p:cNvPr id="14" name="Text 12"/>
          <p:cNvSpPr/>
          <p:nvPr/>
        </p:nvSpPr>
        <p:spPr>
          <a:xfrm>
            <a:off x="9992171" y="3216473"/>
            <a:ext cx="7053469" cy="266700"/>
          </a:xfrm>
          <a:prstGeom prst="rect">
            <a:avLst/>
          </a:prstGeom>
          <a:noFill/>
          <a:ln/>
        </p:spPr>
        <p:txBody>
          <a:bodyPr wrap="square" lIns="25400" tIns="25400" rIns="25400" bIns="25400" rtlCol="0" anchor="t">
            <a:normAutofit/>
          </a:bodyPr>
          <a:lstStyle/>
          <a:p>
            <a:pPr marL="0" indent="0" algn="l">
              <a:buNone/>
            </a:pPr>
            <a:r>
              <a:rPr lang="en-US" sz="1425" kern="0" spc="171" dirty="0">
                <a:solidFill>
                  <a:srgbClr val="CF5A33"/>
                </a:solidFill>
                <a:latin typeface="IBM Plex Mono" pitchFamily="34" charset="0"/>
                <a:ea typeface="IBM Plex Mono" pitchFamily="34" charset="-122"/>
                <a:cs typeface="IBM Plex Mono" pitchFamily="34" charset="-120"/>
              </a:rPr>
              <a:t>WHAT AI LITERALLY RECEIVES</a:t>
            </a:r>
            <a:endParaRPr lang="en-US" sz="1425" dirty="0"/>
          </a:p>
        </p:txBody>
      </p:sp>
      <p:sp>
        <p:nvSpPr>
          <p:cNvPr id="15" name="Text 13"/>
          <p:cNvSpPr/>
          <p:nvPr/>
        </p:nvSpPr>
        <p:spPr>
          <a:xfrm>
            <a:off x="9992171" y="4908649"/>
            <a:ext cx="3384709" cy="2062162"/>
          </a:xfrm>
          <a:prstGeom prst="rect">
            <a:avLst/>
          </a:prstGeom>
          <a:noFill/>
          <a:ln/>
        </p:spPr>
        <p:txBody>
          <a:bodyPr wrap="none" lIns="25400" tIns="25400" rIns="25400" bIns="25400" rtlCol="0" anchor="t">
            <a:normAutofit/>
          </a:bodyPr>
          <a:lstStyle/>
          <a:p>
            <a:pPr marL="0" indent="0" algn="l">
              <a:lnSpc>
                <a:spcPct val="170000"/>
              </a:lnSpc>
              <a:buNone/>
            </a:pPr>
            <a:r>
              <a:rPr lang="en-US" sz="1875" dirty="0">
                <a:solidFill>
                  <a:srgbClr val="F1ECE3"/>
                </a:solidFill>
                <a:latin typeface="IBM Plex Mono" pitchFamily="34" charset="0"/>
                <a:ea typeface="IBM Plex Mono" pitchFamily="34" charset="-122"/>
                <a:cs typeface="IBM Plex Mono" pitchFamily="34" charset="-120"/>
              </a:rPr>
              <a:t>{</a:t>
            </a:r>
            <a:endParaRPr lang="en-US" sz="1875" dirty="0"/>
          </a:p>
          <a:p>
            <a:pPr marL="0" indent="0" algn="l">
              <a:lnSpc>
                <a:spcPct val="170000"/>
              </a:lnSpc>
              <a:buNone/>
            </a:pPr>
            <a:r>
              <a:rPr lang="en-US" sz="1875" dirty="0">
                <a:solidFill>
                  <a:srgbClr val="F1ECE3"/>
                </a:solidFill>
                <a:latin typeface="IBM Plex Mono" pitchFamily="34" charset="0"/>
                <a:ea typeface="IBM Plex Mono" pitchFamily="34" charset="-122"/>
                <a:cs typeface="IBM Plex Mono" pitchFamily="34" charset="-120"/>
              </a:rPr>
              <a:t>  "type": </a:t>
            </a:r>
            <a:endParaRPr lang="en-US" sz="1875" dirty="0"/>
          </a:p>
          <a:p>
            <a:pPr marL="0" indent="0" algn="l">
              <a:lnSpc>
                <a:spcPct val="170000"/>
              </a:lnSpc>
              <a:buNone/>
            </a:pPr>
            <a:r>
              <a:rPr lang="en-US" sz="1875" dirty="0">
                <a:solidFill>
                  <a:srgbClr val="CF5A33"/>
                </a:solidFill>
                <a:latin typeface="IBM Plex Mono" pitchFamily="34" charset="0"/>
                <a:ea typeface="IBM Plex Mono" pitchFamily="34" charset="-122"/>
                <a:cs typeface="IBM Plex Mono" pitchFamily="34" charset="-120"/>
              </a:rPr>
              <a:t>"FRAME" </a:t>
            </a:r>
            <a:r>
              <a:rPr lang="en-US" sz="1875" dirty="0">
                <a:solidFill>
                  <a:srgbClr val="F1ECE3"/>
                </a:solidFill>
                <a:latin typeface="IBM Plex Mono" pitchFamily="34" charset="0"/>
                <a:ea typeface="IBM Plex Mono" pitchFamily="34" charset="-122"/>
                <a:cs typeface="IBM Plex Mono" pitchFamily="34" charset="-120"/>
              </a:rPr>
              <a:t>,</a:t>
            </a:r>
            <a:endParaRPr lang="en-US" sz="1875" dirty="0"/>
          </a:p>
          <a:p>
            <a:pPr marL="0" indent="0" algn="l">
              <a:lnSpc>
                <a:spcPct val="170000"/>
              </a:lnSpc>
              <a:buNone/>
            </a:pPr>
            <a:r>
              <a:rPr lang="en-US" sz="1875" dirty="0">
                <a:solidFill>
                  <a:srgbClr val="F1ECE3"/>
                </a:solidFill>
                <a:latin typeface="IBM Plex Mono" pitchFamily="34" charset="0"/>
                <a:ea typeface="IBM Plex Mono" pitchFamily="34" charset="-122"/>
                <a:cs typeface="IBM Plex Mono" pitchFamily="34" charset="-120"/>
              </a:rPr>
              <a:t>  "name":  </a:t>
            </a:r>
            <a:endParaRPr lang="en-US" sz="1875" dirty="0"/>
          </a:p>
          <a:p>
            <a:pPr marL="0" indent="0" algn="l">
              <a:lnSpc>
                <a:spcPct val="170000"/>
              </a:lnSpc>
              <a:buNone/>
            </a:pPr>
            <a:r>
              <a:rPr lang="en-US" sz="1875" dirty="0">
                <a:solidFill>
                  <a:srgbClr val="CF5A33"/>
                </a:solidFill>
                <a:latin typeface="IBM Plex Mono" pitchFamily="34" charset="0"/>
                <a:ea typeface="IBM Plex Mono" pitchFamily="34" charset="-122"/>
                <a:cs typeface="IBM Plex Mono" pitchFamily="34" charset="-120"/>
              </a:rPr>
              <a:t>"Frame 1247" </a:t>
            </a:r>
            <a:r>
              <a:rPr lang="en-US" sz="1875" dirty="0">
                <a:solidFill>
                  <a:srgbClr val="F1ECE3"/>
                </a:solidFill>
                <a:latin typeface="IBM Plex Mono" pitchFamily="34" charset="0"/>
                <a:ea typeface="IBM Plex Mono" pitchFamily="34" charset="-122"/>
                <a:cs typeface="IBM Plex Mono" pitchFamily="34" charset="-120"/>
              </a:rPr>
              <a:t>,</a:t>
            </a:r>
            <a:endParaRPr lang="en-US" sz="1875" dirty="0"/>
          </a:p>
          <a:p>
            <a:pPr marL="0" indent="0" algn="l">
              <a:lnSpc>
                <a:spcPct val="170000"/>
              </a:lnSpc>
              <a:buNone/>
            </a:pPr>
            <a:r>
              <a:rPr lang="en-US" sz="1875" dirty="0">
                <a:solidFill>
                  <a:srgbClr val="F1ECE3"/>
                </a:solidFill>
                <a:latin typeface="IBM Plex Mono" pitchFamily="34" charset="0"/>
                <a:ea typeface="IBM Plex Mono" pitchFamily="34" charset="-122"/>
                <a:cs typeface="IBM Plex Mono" pitchFamily="34" charset="-120"/>
              </a:rPr>
              <a:t>  "instanceOf":  </a:t>
            </a:r>
            <a:endParaRPr lang="en-US" sz="1875" dirty="0"/>
          </a:p>
          <a:p>
            <a:pPr marL="0" indent="0" algn="l">
              <a:lnSpc>
                <a:spcPct val="170000"/>
              </a:lnSpc>
              <a:buNone/>
            </a:pPr>
            <a:r>
              <a:rPr lang="en-US" sz="1875" dirty="0">
                <a:solidFill>
                  <a:srgbClr val="9A9082"/>
                </a:solidFill>
                <a:latin typeface="IBM Plex Mono" pitchFamily="34" charset="0"/>
                <a:ea typeface="IBM Plex Mono" pitchFamily="34" charset="-122"/>
                <a:cs typeface="IBM Plex Mono" pitchFamily="34" charset="-120"/>
              </a:rPr>
              <a:t>null </a:t>
            </a:r>
            <a:r>
              <a:rPr lang="en-US" sz="1875" dirty="0">
                <a:solidFill>
                  <a:srgbClr val="F1ECE3"/>
                </a:solidFill>
                <a:latin typeface="IBM Plex Mono" pitchFamily="34" charset="0"/>
                <a:ea typeface="IBM Plex Mono" pitchFamily="34" charset="-122"/>
                <a:cs typeface="IBM Plex Mono" pitchFamily="34" charset="-120"/>
              </a:rPr>
              <a:t>}</a:t>
            </a:r>
            <a:endParaRPr lang="en-US" sz="1875" dirty="0"/>
          </a:p>
        </p:txBody>
      </p:sp>
      <p:sp>
        <p:nvSpPr>
          <p:cNvPr id="16" name="Text 14"/>
          <p:cNvSpPr/>
          <p:nvPr/>
        </p:nvSpPr>
        <p:spPr>
          <a:xfrm>
            <a:off x="9992171" y="8396288"/>
            <a:ext cx="7053469" cy="728663"/>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B8AFA1"/>
                </a:solidFill>
                <a:latin typeface="IBM Plex Sans" pitchFamily="34" charset="0"/>
                <a:ea typeface="IBM Plex Sans" pitchFamily="34" charset="-122"/>
                <a:cs typeface="IBM Plex Sans" pitchFamily="34" charset="-120"/>
              </a:rPr>
              <a:t>"This is a frame." Then dutifully generates a brand-new Button-ish component in code.</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3221145"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THE BIAS, STATED PLAINLY</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05 / 19</a:t>
            </a:r>
            <a:endParaRPr lang="en-US" sz="1350" dirty="0"/>
          </a:p>
        </p:txBody>
      </p:sp>
      <p:sp>
        <p:nvSpPr>
          <p:cNvPr id="5" name="Text 3"/>
          <p:cNvSpPr/>
          <p:nvPr/>
        </p:nvSpPr>
        <p:spPr>
          <a:xfrm>
            <a:off x="1047750" y="15049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What AI weights, by score</a:t>
            </a:r>
            <a:endParaRPr lang="en-US" sz="4050" dirty="0"/>
          </a:p>
        </p:txBody>
      </p:sp>
      <p:sp>
        <p:nvSpPr>
          <p:cNvPr id="6" name="Text 4"/>
          <p:cNvSpPr/>
          <p:nvPr/>
        </p:nvSpPr>
        <p:spPr>
          <a:xfrm>
            <a:off x="1047750" y="2121098"/>
            <a:ext cx="1667827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557"/>
                </a:solidFill>
                <a:latin typeface="IBM Plex Sans" pitchFamily="34" charset="0"/>
                <a:ea typeface="IBM Plex Sans" pitchFamily="34" charset="-122"/>
                <a:cs typeface="IBM Plex Sans" pitchFamily="34" charset="-120"/>
              </a:rPr>
              <a:t>From watching real tools consume Figma payloads — where they thrived, where they hallucinated.</a:t>
            </a:r>
            <a:endParaRPr lang="en-US" sz="1800" dirty="0"/>
          </a:p>
        </p:txBody>
      </p:sp>
      <p:sp>
        <p:nvSpPr>
          <p:cNvPr id="7" name="Text 5"/>
          <p:cNvSpPr/>
          <p:nvPr/>
        </p:nvSpPr>
        <p:spPr>
          <a:xfrm>
            <a:off x="1047750" y="3922812"/>
            <a:ext cx="4120515" cy="704850"/>
          </a:xfrm>
          <a:prstGeom prst="rect">
            <a:avLst/>
          </a:prstGeom>
          <a:noFill/>
          <a:ln/>
        </p:spPr>
        <p:txBody>
          <a:bodyPr wrap="square" lIns="25400" tIns="25400" rIns="25400" bIns="25400" rtlCol="0" anchor="t">
            <a:normAutofit/>
          </a:bodyPr>
          <a:lstStyle/>
          <a:p>
            <a:pPr marL="0" indent="0" algn="l">
              <a:buNone/>
            </a:pPr>
            <a:r>
              <a:rPr lang="en-US" sz="2025" b="1" dirty="0">
                <a:solidFill>
                  <a:srgbClr val="1E1A15"/>
                </a:solidFill>
                <a:latin typeface="IBM Plex Sans" pitchFamily="34" charset="0"/>
                <a:ea typeface="IBM Plex Sans" pitchFamily="34" charset="-122"/>
                <a:cs typeface="IBM Plex Sans" pitchFamily="34" charset="-120"/>
              </a:rPr>
              <a:t>Component definition </a:t>
            </a:r>
            <a:r>
              <a:rPr lang="en-US" sz="1575" dirty="0">
                <a:solidFill>
                  <a:srgbClr val="9A9082"/>
                </a:solidFill>
                <a:latin typeface="IBM Plex Sans" pitchFamily="34" charset="0"/>
                <a:ea typeface="IBM Plex Sans" pitchFamily="34" charset="-122"/>
                <a:cs typeface="IBM Plex Sans" pitchFamily="34" charset="-120"/>
              </a:rPr>
              <a:t>names · boundaries · structure</a:t>
            </a:r>
            <a:endParaRPr lang="en-US" sz="2025" dirty="0"/>
          </a:p>
        </p:txBody>
      </p:sp>
      <p:sp>
        <p:nvSpPr>
          <p:cNvPr id="8" name="Shape 6"/>
          <p:cNvSpPr/>
          <p:nvPr/>
        </p:nvSpPr>
        <p:spPr>
          <a:xfrm>
            <a:off x="5334000" y="4027587"/>
            <a:ext cx="10763250" cy="457200"/>
          </a:xfrm>
          <a:prstGeom prst="roundRect">
            <a:avLst>
              <a:gd name="adj" fmla="val 12500"/>
            </a:avLst>
          </a:prstGeom>
          <a:solidFill>
            <a:srgbClr val="E6DFD2"/>
          </a:solidFill>
          <a:ln/>
        </p:spPr>
      </p:sp>
      <p:sp>
        <p:nvSpPr>
          <p:cNvPr id="9" name="Shape 7"/>
          <p:cNvSpPr/>
          <p:nvPr/>
        </p:nvSpPr>
        <p:spPr>
          <a:xfrm>
            <a:off x="5334000" y="4027587"/>
            <a:ext cx="10117336" cy="457200"/>
          </a:xfrm>
          <a:prstGeom prst="rect">
            <a:avLst/>
          </a:prstGeom>
          <a:solidFill>
            <a:srgbClr val="1E1A15"/>
          </a:solidFill>
          <a:ln/>
        </p:spPr>
      </p:sp>
      <p:sp>
        <p:nvSpPr>
          <p:cNvPr id="10" name="Text 8"/>
          <p:cNvSpPr/>
          <p:nvPr/>
        </p:nvSpPr>
        <p:spPr>
          <a:xfrm>
            <a:off x="16306800" y="4013299"/>
            <a:ext cx="933450" cy="523875"/>
          </a:xfrm>
          <a:prstGeom prst="rect">
            <a:avLst/>
          </a:prstGeom>
          <a:noFill/>
          <a:ln/>
        </p:spPr>
        <p:txBody>
          <a:bodyPr wrap="square" lIns="25400" tIns="25400" rIns="25400" bIns="25400" rtlCol="0" anchor="t">
            <a:normAutofit/>
          </a:bodyPr>
          <a:lstStyle/>
          <a:p>
            <a:pPr marL="0" indent="0" algn="r">
              <a:buNone/>
            </a:pPr>
            <a:r>
              <a:rPr lang="en-US" sz="3000" b="1" dirty="0">
                <a:solidFill>
                  <a:srgbClr val="1E1A15"/>
                </a:solidFill>
                <a:latin typeface="Space Grotesk" pitchFamily="34" charset="0"/>
                <a:ea typeface="Space Grotesk" pitchFamily="34" charset="-122"/>
                <a:cs typeface="Space Grotesk" pitchFamily="34" charset="-120"/>
              </a:rPr>
              <a:t>30%</a:t>
            </a:r>
            <a:endParaRPr lang="en-US" sz="3000" dirty="0"/>
          </a:p>
        </p:txBody>
      </p:sp>
      <p:sp>
        <p:nvSpPr>
          <p:cNvPr id="11" name="Text 9"/>
          <p:cNvSpPr/>
          <p:nvPr/>
        </p:nvSpPr>
        <p:spPr>
          <a:xfrm>
            <a:off x="1047750" y="4894362"/>
            <a:ext cx="4120515" cy="371475"/>
          </a:xfrm>
          <a:prstGeom prst="rect">
            <a:avLst/>
          </a:prstGeom>
          <a:noFill/>
          <a:ln/>
        </p:spPr>
        <p:txBody>
          <a:bodyPr wrap="square" lIns="25400" tIns="25400" rIns="25400" bIns="25400" rtlCol="0" anchor="t">
            <a:normAutofit/>
          </a:bodyPr>
          <a:lstStyle/>
          <a:p>
            <a:pPr marL="0" indent="0" algn="l">
              <a:buNone/>
            </a:pPr>
            <a:r>
              <a:rPr lang="en-US" sz="2025" b="1" dirty="0">
                <a:solidFill>
                  <a:srgbClr val="1E1A15"/>
                </a:solidFill>
                <a:latin typeface="IBM Plex Sans" pitchFamily="34" charset="0"/>
                <a:ea typeface="IBM Plex Sans" pitchFamily="34" charset="-122"/>
                <a:cs typeface="IBM Plex Sans" pitchFamily="34" charset="-120"/>
              </a:rPr>
              <a:t>Design tokens</a:t>
            </a:r>
            <a:endParaRPr lang="en-US" sz="2025" dirty="0"/>
          </a:p>
        </p:txBody>
      </p:sp>
      <p:sp>
        <p:nvSpPr>
          <p:cNvPr id="12" name="Shape 10"/>
          <p:cNvSpPr/>
          <p:nvPr/>
        </p:nvSpPr>
        <p:spPr>
          <a:xfrm>
            <a:off x="5334000" y="4832449"/>
            <a:ext cx="10763250" cy="457200"/>
          </a:xfrm>
          <a:prstGeom prst="roundRect">
            <a:avLst>
              <a:gd name="adj" fmla="val 12500"/>
            </a:avLst>
          </a:prstGeom>
          <a:solidFill>
            <a:srgbClr val="E6DFD2"/>
          </a:solidFill>
          <a:ln/>
        </p:spPr>
      </p:sp>
      <p:sp>
        <p:nvSpPr>
          <p:cNvPr id="13" name="Shape 11"/>
          <p:cNvSpPr/>
          <p:nvPr/>
        </p:nvSpPr>
        <p:spPr>
          <a:xfrm>
            <a:off x="5334000" y="4832449"/>
            <a:ext cx="8395246" cy="457200"/>
          </a:xfrm>
          <a:prstGeom prst="rect">
            <a:avLst/>
          </a:prstGeom>
          <a:solidFill>
            <a:srgbClr val="2A45D0"/>
          </a:solidFill>
          <a:ln/>
        </p:spPr>
      </p:sp>
      <p:sp>
        <p:nvSpPr>
          <p:cNvPr id="14" name="Text 12"/>
          <p:cNvSpPr/>
          <p:nvPr/>
        </p:nvSpPr>
        <p:spPr>
          <a:xfrm>
            <a:off x="16306800" y="4818162"/>
            <a:ext cx="933450" cy="523875"/>
          </a:xfrm>
          <a:prstGeom prst="rect">
            <a:avLst/>
          </a:prstGeom>
          <a:noFill/>
          <a:ln/>
        </p:spPr>
        <p:txBody>
          <a:bodyPr wrap="square" lIns="25400" tIns="25400" rIns="25400" bIns="25400" rtlCol="0" anchor="t">
            <a:normAutofit/>
          </a:bodyPr>
          <a:lstStyle/>
          <a:p>
            <a:pPr marL="0" indent="0" algn="r">
              <a:buNone/>
            </a:pPr>
            <a:r>
              <a:rPr lang="en-US" sz="3000" b="1" dirty="0">
                <a:solidFill>
                  <a:srgbClr val="1E1A15"/>
                </a:solidFill>
                <a:latin typeface="Space Grotesk" pitchFamily="34" charset="0"/>
                <a:ea typeface="Space Grotesk" pitchFamily="34" charset="-122"/>
                <a:cs typeface="Space Grotesk" pitchFamily="34" charset="-120"/>
              </a:rPr>
              <a:t>25%</a:t>
            </a:r>
            <a:endParaRPr lang="en-US" sz="3000" dirty="0"/>
          </a:p>
        </p:txBody>
      </p:sp>
      <p:sp>
        <p:nvSpPr>
          <p:cNvPr id="15" name="Text 13"/>
          <p:cNvSpPr/>
          <p:nvPr/>
        </p:nvSpPr>
        <p:spPr>
          <a:xfrm>
            <a:off x="1047750" y="5608737"/>
            <a:ext cx="4120515" cy="371475"/>
          </a:xfrm>
          <a:prstGeom prst="rect">
            <a:avLst/>
          </a:prstGeom>
          <a:noFill/>
          <a:ln/>
        </p:spPr>
        <p:txBody>
          <a:bodyPr wrap="square" lIns="25400" tIns="25400" rIns="25400" bIns="25400" rtlCol="0" anchor="t">
            <a:normAutofit/>
          </a:bodyPr>
          <a:lstStyle/>
          <a:p>
            <a:pPr marL="0" indent="0" algn="l">
              <a:buNone/>
            </a:pPr>
            <a:r>
              <a:rPr lang="en-US" sz="2025" b="1" dirty="0">
                <a:solidFill>
                  <a:srgbClr val="1E1A15"/>
                </a:solidFill>
                <a:latin typeface="IBM Plex Sans" pitchFamily="34" charset="0"/>
                <a:ea typeface="IBM Plex Sans" pitchFamily="34" charset="-122"/>
                <a:cs typeface="IBM Plex Sans" pitchFamily="34" charset="-120"/>
              </a:rPr>
              <a:t>Component properties</a:t>
            </a:r>
            <a:endParaRPr lang="en-US" sz="2025" dirty="0"/>
          </a:p>
        </p:txBody>
      </p:sp>
      <p:sp>
        <p:nvSpPr>
          <p:cNvPr id="16" name="Shape 14"/>
          <p:cNvSpPr/>
          <p:nvPr/>
        </p:nvSpPr>
        <p:spPr>
          <a:xfrm>
            <a:off x="5334000" y="5546824"/>
            <a:ext cx="10763250" cy="457200"/>
          </a:xfrm>
          <a:prstGeom prst="roundRect">
            <a:avLst>
              <a:gd name="adj" fmla="val 12500"/>
            </a:avLst>
          </a:prstGeom>
          <a:solidFill>
            <a:srgbClr val="E6DFD2"/>
          </a:solidFill>
          <a:ln/>
        </p:spPr>
      </p:sp>
      <p:sp>
        <p:nvSpPr>
          <p:cNvPr id="17" name="Shape 15"/>
          <p:cNvSpPr/>
          <p:nvPr/>
        </p:nvSpPr>
        <p:spPr>
          <a:xfrm>
            <a:off x="5334000" y="5546824"/>
            <a:ext cx="7426523" cy="457200"/>
          </a:xfrm>
          <a:prstGeom prst="rect">
            <a:avLst/>
          </a:prstGeom>
          <a:solidFill>
            <a:srgbClr val="2A45D0"/>
          </a:solidFill>
          <a:ln/>
        </p:spPr>
      </p:sp>
      <p:sp>
        <p:nvSpPr>
          <p:cNvPr id="18" name="Text 16"/>
          <p:cNvSpPr/>
          <p:nvPr/>
        </p:nvSpPr>
        <p:spPr>
          <a:xfrm>
            <a:off x="16306800" y="5532537"/>
            <a:ext cx="933450" cy="523875"/>
          </a:xfrm>
          <a:prstGeom prst="rect">
            <a:avLst/>
          </a:prstGeom>
          <a:noFill/>
          <a:ln/>
        </p:spPr>
        <p:txBody>
          <a:bodyPr wrap="square" lIns="25400" tIns="25400" rIns="25400" bIns="25400" rtlCol="0" anchor="t">
            <a:normAutofit/>
          </a:bodyPr>
          <a:lstStyle/>
          <a:p>
            <a:pPr marL="0" indent="0" algn="r">
              <a:buNone/>
            </a:pPr>
            <a:r>
              <a:rPr lang="en-US" sz="3000" b="1" dirty="0">
                <a:solidFill>
                  <a:srgbClr val="1E1A15"/>
                </a:solidFill>
                <a:latin typeface="Space Grotesk" pitchFamily="34" charset="0"/>
                <a:ea typeface="Space Grotesk" pitchFamily="34" charset="-122"/>
                <a:cs typeface="Space Grotesk" pitchFamily="34" charset="-120"/>
              </a:rPr>
              <a:t>22%</a:t>
            </a:r>
            <a:endParaRPr lang="en-US" sz="3000" dirty="0"/>
          </a:p>
        </p:txBody>
      </p:sp>
      <p:sp>
        <p:nvSpPr>
          <p:cNvPr id="19" name="Text 17"/>
          <p:cNvSpPr/>
          <p:nvPr/>
        </p:nvSpPr>
        <p:spPr>
          <a:xfrm>
            <a:off x="1047750" y="6323112"/>
            <a:ext cx="4120515" cy="371475"/>
          </a:xfrm>
          <a:prstGeom prst="rect">
            <a:avLst/>
          </a:prstGeom>
          <a:noFill/>
          <a:ln/>
        </p:spPr>
        <p:txBody>
          <a:bodyPr wrap="square" lIns="25400" tIns="25400" rIns="25400" bIns="25400" rtlCol="0" anchor="t">
            <a:normAutofit/>
          </a:bodyPr>
          <a:lstStyle/>
          <a:p>
            <a:pPr marL="0" indent="0" algn="l">
              <a:buNone/>
            </a:pPr>
            <a:r>
              <a:rPr lang="en-US" sz="2025" b="1" dirty="0">
                <a:solidFill>
                  <a:srgbClr val="1E1A15"/>
                </a:solidFill>
                <a:latin typeface="IBM Plex Sans" pitchFamily="34" charset="0"/>
                <a:ea typeface="IBM Plex Sans" pitchFamily="34" charset="-122"/>
                <a:cs typeface="IBM Plex Sans" pitchFamily="34" charset="-120"/>
              </a:rPr>
              <a:t>Interactive states </a:t>
            </a:r>
            <a:r>
              <a:rPr lang="en-US" sz="1575" dirty="0">
                <a:solidFill>
                  <a:srgbClr val="9A9082"/>
                </a:solidFill>
                <a:latin typeface="IBM Plex Sans" pitchFamily="34" charset="0"/>
                <a:ea typeface="IBM Plex Sans" pitchFamily="34" charset="-122"/>
                <a:cs typeface="IBM Plex Sans" pitchFamily="34" charset="-120"/>
              </a:rPr>
              <a:t>when applicable</a:t>
            </a:r>
            <a:endParaRPr lang="en-US" sz="2025" dirty="0"/>
          </a:p>
        </p:txBody>
      </p:sp>
      <p:sp>
        <p:nvSpPr>
          <p:cNvPr id="20" name="Shape 18"/>
          <p:cNvSpPr/>
          <p:nvPr/>
        </p:nvSpPr>
        <p:spPr>
          <a:xfrm>
            <a:off x="5334000" y="6261199"/>
            <a:ext cx="10763250" cy="457200"/>
          </a:xfrm>
          <a:prstGeom prst="roundRect">
            <a:avLst>
              <a:gd name="adj" fmla="val 12500"/>
            </a:avLst>
          </a:prstGeom>
          <a:solidFill>
            <a:srgbClr val="E6DFD2"/>
          </a:solidFill>
          <a:ln/>
        </p:spPr>
      </p:sp>
      <p:sp>
        <p:nvSpPr>
          <p:cNvPr id="21" name="Shape 19"/>
          <p:cNvSpPr/>
          <p:nvPr/>
        </p:nvSpPr>
        <p:spPr>
          <a:xfrm>
            <a:off x="5334000" y="6261199"/>
            <a:ext cx="6780758" cy="457200"/>
          </a:xfrm>
          <a:prstGeom prst="rect">
            <a:avLst/>
          </a:prstGeom>
          <a:solidFill>
            <a:srgbClr val="2A45D0"/>
          </a:solidFill>
          <a:ln/>
        </p:spPr>
      </p:sp>
      <p:sp>
        <p:nvSpPr>
          <p:cNvPr id="22" name="Text 20"/>
          <p:cNvSpPr/>
          <p:nvPr/>
        </p:nvSpPr>
        <p:spPr>
          <a:xfrm>
            <a:off x="16306800" y="6246912"/>
            <a:ext cx="933450" cy="523875"/>
          </a:xfrm>
          <a:prstGeom prst="rect">
            <a:avLst/>
          </a:prstGeom>
          <a:noFill/>
          <a:ln/>
        </p:spPr>
        <p:txBody>
          <a:bodyPr wrap="square" lIns="25400" tIns="25400" rIns="25400" bIns="25400" rtlCol="0" anchor="t">
            <a:normAutofit/>
          </a:bodyPr>
          <a:lstStyle/>
          <a:p>
            <a:pPr marL="0" indent="0" algn="r">
              <a:buNone/>
            </a:pPr>
            <a:r>
              <a:rPr lang="en-US" sz="3000" b="1" dirty="0">
                <a:solidFill>
                  <a:srgbClr val="1E1A15"/>
                </a:solidFill>
                <a:latin typeface="Space Grotesk" pitchFamily="34" charset="0"/>
                <a:ea typeface="Space Grotesk" pitchFamily="34" charset="-122"/>
                <a:cs typeface="Space Grotesk" pitchFamily="34" charset="-120"/>
              </a:rPr>
              <a:t>20%</a:t>
            </a:r>
            <a:endParaRPr lang="en-US" sz="3000" dirty="0"/>
          </a:p>
        </p:txBody>
      </p:sp>
      <p:sp>
        <p:nvSpPr>
          <p:cNvPr id="23" name="Text 21"/>
          <p:cNvSpPr/>
          <p:nvPr/>
        </p:nvSpPr>
        <p:spPr>
          <a:xfrm>
            <a:off x="1047750" y="7037487"/>
            <a:ext cx="4120515" cy="371475"/>
          </a:xfrm>
          <a:prstGeom prst="rect">
            <a:avLst/>
          </a:prstGeom>
          <a:noFill/>
          <a:ln/>
        </p:spPr>
        <p:txBody>
          <a:bodyPr wrap="square" lIns="25400" tIns="25400" rIns="25400" bIns="25400" rtlCol="0" anchor="t">
            <a:normAutofit/>
          </a:bodyPr>
          <a:lstStyle/>
          <a:p>
            <a:pPr marL="0" indent="0" algn="l">
              <a:buNone/>
            </a:pPr>
            <a:r>
              <a:rPr lang="en-US" sz="2025" b="1" dirty="0">
                <a:solidFill>
                  <a:srgbClr val="CF5A33"/>
                </a:solidFill>
                <a:latin typeface="IBM Plex Sans" pitchFamily="34" charset="0"/>
                <a:ea typeface="IBM Plex Sans" pitchFamily="34" charset="-122"/>
                <a:cs typeface="IBM Plex Sans" pitchFamily="34" charset="-120"/>
              </a:rPr>
              <a:t>Component descriptions</a:t>
            </a:r>
            <a:endParaRPr lang="en-US" sz="2025" dirty="0"/>
          </a:p>
        </p:txBody>
      </p:sp>
      <p:sp>
        <p:nvSpPr>
          <p:cNvPr id="24" name="Shape 22"/>
          <p:cNvSpPr/>
          <p:nvPr/>
        </p:nvSpPr>
        <p:spPr>
          <a:xfrm>
            <a:off x="5334000" y="6975574"/>
            <a:ext cx="10763250" cy="457200"/>
          </a:xfrm>
          <a:prstGeom prst="roundRect">
            <a:avLst>
              <a:gd name="adj" fmla="val 12500"/>
            </a:avLst>
          </a:prstGeom>
          <a:solidFill>
            <a:srgbClr val="E6DFD2"/>
          </a:solidFill>
          <a:ln/>
        </p:spPr>
      </p:sp>
      <p:sp>
        <p:nvSpPr>
          <p:cNvPr id="25" name="Shape 23"/>
          <p:cNvSpPr/>
          <p:nvPr/>
        </p:nvSpPr>
        <p:spPr>
          <a:xfrm>
            <a:off x="5334000" y="6975574"/>
            <a:ext cx="1076325" cy="457200"/>
          </a:xfrm>
          <a:prstGeom prst="rect">
            <a:avLst/>
          </a:prstGeom>
          <a:solidFill>
            <a:srgbClr val="CF5A33"/>
          </a:solidFill>
          <a:ln/>
        </p:spPr>
      </p:sp>
      <p:sp>
        <p:nvSpPr>
          <p:cNvPr id="26" name="Text 24"/>
          <p:cNvSpPr/>
          <p:nvPr/>
        </p:nvSpPr>
        <p:spPr>
          <a:xfrm>
            <a:off x="16306800" y="6961287"/>
            <a:ext cx="933450" cy="523875"/>
          </a:xfrm>
          <a:prstGeom prst="rect">
            <a:avLst/>
          </a:prstGeom>
          <a:noFill/>
          <a:ln/>
        </p:spPr>
        <p:txBody>
          <a:bodyPr wrap="square" lIns="25400" tIns="25400" rIns="25400" bIns="25400" rtlCol="0" anchor="t">
            <a:normAutofit/>
          </a:bodyPr>
          <a:lstStyle/>
          <a:p>
            <a:pPr marL="0" indent="0" algn="r">
              <a:buNone/>
            </a:pPr>
            <a:r>
              <a:rPr lang="en-US" sz="3000" b="1" dirty="0">
                <a:solidFill>
                  <a:srgbClr val="CF5A33"/>
                </a:solidFill>
                <a:latin typeface="Space Grotesk" pitchFamily="34" charset="0"/>
                <a:ea typeface="Space Grotesk" pitchFamily="34" charset="-122"/>
                <a:cs typeface="Space Grotesk" pitchFamily="34" charset="-120"/>
              </a:rPr>
              <a:t>3%</a:t>
            </a:r>
            <a:endParaRPr lang="en-US" sz="3000" dirty="0"/>
          </a:p>
        </p:txBody>
      </p:sp>
      <p:sp>
        <p:nvSpPr>
          <p:cNvPr id="27" name="Shape 25"/>
          <p:cNvSpPr/>
          <p:nvPr/>
        </p:nvSpPr>
        <p:spPr>
          <a:xfrm>
            <a:off x="1047750" y="8791575"/>
            <a:ext cx="16192500" cy="9525"/>
          </a:xfrm>
          <a:prstGeom prst="rect">
            <a:avLst/>
          </a:prstGeom>
          <a:solidFill>
            <a:srgbClr val="D9D1C3"/>
          </a:solidFill>
          <a:ln/>
        </p:spPr>
      </p:sp>
      <p:sp>
        <p:nvSpPr>
          <p:cNvPr id="28" name="Text 26"/>
          <p:cNvSpPr/>
          <p:nvPr/>
        </p:nvSpPr>
        <p:spPr>
          <a:xfrm>
            <a:off x="1047750" y="9010650"/>
            <a:ext cx="7532050" cy="514350"/>
          </a:xfrm>
          <a:prstGeom prst="rect">
            <a:avLst/>
          </a:prstGeom>
          <a:noFill/>
          <a:ln/>
        </p:spPr>
        <p:txBody>
          <a:bodyPr wrap="square" lIns="25400" tIns="25400" rIns="25400" bIns="25400" rtlCol="0" anchor="t">
            <a:normAutofit/>
          </a:bodyPr>
          <a:lstStyle/>
          <a:p>
            <a:pPr marL="0" indent="0" algn="l">
              <a:buNone/>
            </a:pPr>
            <a:r>
              <a:rPr lang="en-US" sz="1500" dirty="0">
                <a:solidFill>
                  <a:srgbClr val="CF5A33"/>
                </a:solidFill>
                <a:latin typeface="IBM Plex Mono" pitchFamily="34" charset="0"/>
                <a:ea typeface="IBM Plex Mono" pitchFamily="34" charset="-122"/>
                <a:cs typeface="IBM Plex Mono" pitchFamily="34" charset="-120"/>
              </a:rPr>
              <a:t>↑ 3% scored — but the single biggest practical lever. It's the prompt.</a:t>
            </a:r>
            <a:endParaRPr lang="en-US" sz="1500" dirty="0"/>
          </a:p>
        </p:txBody>
      </p:sp>
      <p:sp>
        <p:nvSpPr>
          <p:cNvPr id="29" name="Text 27"/>
          <p:cNvSpPr/>
          <p:nvPr/>
        </p:nvSpPr>
        <p:spPr>
          <a:xfrm>
            <a:off x="8360420" y="9010650"/>
            <a:ext cx="9146225" cy="514350"/>
          </a:xfrm>
          <a:prstGeom prst="rect">
            <a:avLst/>
          </a:prstGeom>
          <a:noFill/>
          <a:ln/>
        </p:spPr>
        <p:txBody>
          <a:bodyPr wrap="square" lIns="25400" tIns="25400" rIns="25400" bIns="25400" rtlCol="0" anchor="t">
            <a:normAutofit/>
          </a:bodyPr>
          <a:lstStyle/>
          <a:p>
            <a:pPr marL="0" indent="0" algn="l">
              <a:buNone/>
            </a:pPr>
            <a:r>
              <a:rPr lang="en-US" sz="1500" dirty="0">
                <a:solidFill>
                  <a:srgbClr val="6E6557"/>
                </a:solidFill>
                <a:latin typeface="IBM Plex Mono" pitchFamily="34" charset="0"/>
                <a:ea typeface="IBM Plex Mono" pitchFamily="34" charset="-122"/>
                <a:cs typeface="IBM Plex Mono" pitchFamily="34" charset="-120"/>
              </a:rPr>
              <a:t>Weights overlap by design — states is conditional; definition is spread across tiers.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3355277"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THE HIERARCHY AT A GLANCE</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06 / 19</a:t>
            </a:r>
            <a:endParaRPr lang="en-US" sz="1350" dirty="0"/>
          </a:p>
        </p:txBody>
      </p:sp>
      <p:sp>
        <p:nvSpPr>
          <p:cNvPr id="5" name="Text 3"/>
          <p:cNvSpPr/>
          <p:nvPr/>
        </p:nvSpPr>
        <p:spPr>
          <a:xfrm>
            <a:off x="1047750" y="15049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Three tiers, eleven practices</a:t>
            </a:r>
            <a:endParaRPr lang="en-US" sz="4050" dirty="0"/>
          </a:p>
        </p:txBody>
      </p:sp>
      <p:sp>
        <p:nvSpPr>
          <p:cNvPr id="6" name="Shape 4"/>
          <p:cNvSpPr/>
          <p:nvPr/>
        </p:nvSpPr>
        <p:spPr>
          <a:xfrm>
            <a:off x="1047750" y="2368748"/>
            <a:ext cx="5206901" cy="7118152"/>
          </a:xfrm>
          <a:prstGeom prst="roundRect">
            <a:avLst>
              <a:gd name="adj" fmla="val 2561"/>
            </a:avLst>
          </a:prstGeom>
          <a:solidFill>
            <a:srgbClr val="FBF8F2"/>
          </a:solidFill>
          <a:ln/>
        </p:spPr>
      </p:sp>
      <p:sp>
        <p:nvSpPr>
          <p:cNvPr id="7" name="Shape 5"/>
          <p:cNvSpPr/>
          <p:nvPr/>
        </p:nvSpPr>
        <p:spPr>
          <a:xfrm>
            <a:off x="1047750" y="9477375"/>
            <a:ext cx="5206901" cy="9525"/>
          </a:xfrm>
          <a:prstGeom prst="rect">
            <a:avLst/>
          </a:prstGeom>
          <a:solidFill>
            <a:srgbClr val="D9D1C3"/>
          </a:solidFill>
          <a:ln/>
        </p:spPr>
      </p:sp>
      <p:sp>
        <p:nvSpPr>
          <p:cNvPr id="8" name="Shape 6"/>
          <p:cNvSpPr/>
          <p:nvPr/>
        </p:nvSpPr>
        <p:spPr>
          <a:xfrm>
            <a:off x="1047750" y="2368748"/>
            <a:ext cx="5206901" cy="47625"/>
          </a:xfrm>
          <a:prstGeom prst="rect">
            <a:avLst/>
          </a:prstGeom>
          <a:solidFill>
            <a:srgbClr val="CF5A33"/>
          </a:solidFill>
          <a:ln/>
        </p:spPr>
      </p:sp>
      <p:sp>
        <p:nvSpPr>
          <p:cNvPr id="9" name="Shape 7"/>
          <p:cNvSpPr/>
          <p:nvPr/>
        </p:nvSpPr>
        <p:spPr>
          <a:xfrm>
            <a:off x="1047750" y="2368748"/>
            <a:ext cx="9525" cy="7118152"/>
          </a:xfrm>
          <a:prstGeom prst="rect">
            <a:avLst/>
          </a:prstGeom>
          <a:solidFill>
            <a:srgbClr val="D9D1C3"/>
          </a:solidFill>
          <a:ln/>
        </p:spPr>
      </p:sp>
      <p:sp>
        <p:nvSpPr>
          <p:cNvPr id="10" name="Shape 8"/>
          <p:cNvSpPr/>
          <p:nvPr/>
        </p:nvSpPr>
        <p:spPr>
          <a:xfrm>
            <a:off x="6245126" y="2368748"/>
            <a:ext cx="9525" cy="7118152"/>
          </a:xfrm>
          <a:prstGeom prst="rect">
            <a:avLst/>
          </a:prstGeom>
          <a:solidFill>
            <a:srgbClr val="D9D1C3"/>
          </a:solidFill>
          <a:ln/>
        </p:spPr>
      </p:sp>
      <p:sp>
        <p:nvSpPr>
          <p:cNvPr id="11" name="Text 9"/>
          <p:cNvSpPr/>
          <p:nvPr/>
        </p:nvSpPr>
        <p:spPr>
          <a:xfrm>
            <a:off x="1381125" y="2883098"/>
            <a:ext cx="858143" cy="266700"/>
          </a:xfrm>
          <a:prstGeom prst="rect">
            <a:avLst/>
          </a:prstGeom>
          <a:noFill/>
          <a:ln/>
        </p:spPr>
        <p:txBody>
          <a:bodyPr wrap="square" lIns="25400" tIns="25400" rIns="25400" bIns="25400" rtlCol="0" anchor="t">
            <a:normAutofit/>
          </a:bodyPr>
          <a:lstStyle/>
          <a:p>
            <a:pPr marL="0" indent="0" algn="l">
              <a:buNone/>
            </a:pPr>
            <a:r>
              <a:rPr lang="en-US" sz="1425" kern="0" spc="171" dirty="0">
                <a:solidFill>
                  <a:srgbClr val="CF5A33"/>
                </a:solidFill>
                <a:latin typeface="IBM Plex Mono" pitchFamily="34" charset="0"/>
                <a:ea typeface="IBM Plex Mono" pitchFamily="34" charset="-122"/>
                <a:cs typeface="IBM Plex Mono" pitchFamily="34" charset="-120"/>
              </a:rPr>
              <a:t>TIER 1</a:t>
            </a:r>
            <a:endParaRPr lang="en-US" sz="1425" dirty="0"/>
          </a:p>
        </p:txBody>
      </p:sp>
      <p:sp>
        <p:nvSpPr>
          <p:cNvPr id="12" name="Text 10"/>
          <p:cNvSpPr/>
          <p:nvPr/>
        </p:nvSpPr>
        <p:spPr>
          <a:xfrm>
            <a:off x="4933057" y="2778323"/>
            <a:ext cx="1064419"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CF5A33"/>
                </a:solidFill>
                <a:latin typeface="Space Grotesk" pitchFamily="34" charset="0"/>
                <a:ea typeface="Space Grotesk" pitchFamily="34" charset="-122"/>
                <a:cs typeface="Space Grotesk" pitchFamily="34" charset="-120"/>
              </a:rPr>
              <a:t>Critical</a:t>
            </a:r>
            <a:endParaRPr lang="en-US" sz="2250" dirty="0"/>
          </a:p>
        </p:txBody>
      </p:sp>
      <p:sp>
        <p:nvSpPr>
          <p:cNvPr id="13" name="Text 11"/>
          <p:cNvSpPr/>
          <p:nvPr/>
        </p:nvSpPr>
        <p:spPr>
          <a:xfrm>
            <a:off x="1381125" y="3264098"/>
            <a:ext cx="4676355" cy="314325"/>
          </a:xfrm>
          <a:prstGeom prst="rect">
            <a:avLst/>
          </a:prstGeom>
          <a:noFill/>
          <a:ln/>
        </p:spPr>
        <p:txBody>
          <a:bodyPr wrap="square" lIns="25400" tIns="25400" rIns="25400" bIns="25400" rtlCol="0" anchor="t">
            <a:normAutofit/>
          </a:bodyPr>
          <a:lstStyle/>
          <a:p>
            <a:pPr marL="0" indent="0" algn="l">
              <a:buNone/>
            </a:pPr>
            <a:r>
              <a:rPr lang="en-US" sz="1650" dirty="0">
                <a:solidFill>
                  <a:srgbClr val="6E6557"/>
                </a:solidFill>
                <a:latin typeface="IBM Plex Sans" pitchFamily="34" charset="0"/>
                <a:ea typeface="IBM Plex Sans" pitchFamily="34" charset="-122"/>
                <a:cs typeface="IBM Plex Sans" pitchFamily="34" charset="-120"/>
              </a:rPr>
              <a:t>Without these, output is unreliable.</a:t>
            </a:r>
            <a:endParaRPr lang="en-US" sz="1650" dirty="0"/>
          </a:p>
        </p:txBody>
      </p:sp>
      <p:sp>
        <p:nvSpPr>
          <p:cNvPr id="14" name="Text 12"/>
          <p:cNvSpPr/>
          <p:nvPr/>
        </p:nvSpPr>
        <p:spPr>
          <a:xfrm>
            <a:off x="1281113" y="3787973"/>
            <a:ext cx="4716363" cy="1349425"/>
          </a:xfrm>
          <a:prstGeom prst="rect">
            <a:avLst/>
          </a:prstGeom>
          <a:noFill/>
          <a:ln/>
        </p:spPr>
        <p:txBody>
          <a:bodyPr wrap="square" lIns="25400" tIns="25400" rIns="25400" bIns="25400" rtlCol="0" anchor="t">
            <a:normAutofit/>
          </a:bodyPr>
          <a:lstStyle/>
          <a:p>
            <a:pPr marL="385763" indent="-385763" algn="l">
              <a:lnSpc>
                <a:spcPct val="170000"/>
              </a:lnSpc>
              <a:buSzPct val="100000"/>
              <a:buFont typeface="+mj-lt"/>
              <a:buAutoNum type="arabicPeriod"/>
              <a:tabLst>
                <a:tab pos="385763" algn="l"/>
              </a:tabLst>
            </a:pPr>
            <a:r>
              <a:rPr lang="en-US" sz="2025" dirty="0">
                <a:solidFill>
                  <a:srgbClr val="1E1A15"/>
                </a:solidFill>
                <a:latin typeface="IBM Plex Sans" pitchFamily="34" charset="0"/>
                <a:ea typeface="IBM Plex Sans" pitchFamily="34" charset="-122"/>
                <a:cs typeface="IBM Plex Sans" pitchFamily="34" charset="-120"/>
              </a:rPr>
              <a:t>Design tokens, not raw values</a:t>
            </a:r>
            <a:endParaRPr lang="en-US" sz="2025" dirty="0"/>
          </a:p>
          <a:p>
            <a:pPr marL="385763" indent="-385763" algn="l">
              <a:lnSpc>
                <a:spcPct val="170000"/>
              </a:lnSpc>
              <a:buSzPct val="100000"/>
              <a:buFont typeface="+mj-lt"/>
              <a:buAutoNum type="arabicPeriod" startAt="2"/>
              <a:tabLst>
                <a:tab pos="385763" algn="l"/>
              </a:tabLst>
            </a:pPr>
            <a:r>
              <a:rPr lang="en-US" sz="2025" dirty="0">
                <a:solidFill>
                  <a:srgbClr val="1E1A15"/>
                </a:solidFill>
                <a:latin typeface="IBM Plex Sans" pitchFamily="34" charset="0"/>
                <a:ea typeface="IBM Plex Sans" pitchFamily="34" charset="-122"/>
                <a:cs typeface="IBM Plex Sans" pitchFamily="34" charset="-120"/>
              </a:rPr>
              <a:t>Real instances, not detached frames</a:t>
            </a:r>
            <a:endParaRPr lang="en-US" sz="2025" dirty="0"/>
          </a:p>
          <a:p>
            <a:pPr marL="385763" indent="-385763" algn="l">
              <a:lnSpc>
                <a:spcPct val="170000"/>
              </a:lnSpc>
              <a:buSzPct val="100000"/>
              <a:buFont typeface="+mj-lt"/>
              <a:buAutoNum type="arabicPeriod" startAt="3"/>
              <a:tabLst>
                <a:tab pos="385763" algn="l"/>
              </a:tabLst>
            </a:pPr>
            <a:r>
              <a:rPr lang="en-US" sz="2025" dirty="0">
                <a:solidFill>
                  <a:srgbClr val="1E1A15"/>
                </a:solidFill>
                <a:latin typeface="IBM Plex Sans" pitchFamily="34" charset="0"/>
                <a:ea typeface="IBM Plex Sans" pitchFamily="34" charset="-122"/>
                <a:cs typeface="IBM Plex Sans" pitchFamily="34" charset="-120"/>
              </a:rPr>
              <a:t>Component properties defined</a:t>
            </a:r>
            <a:endParaRPr lang="en-US" sz="2025" dirty="0"/>
          </a:p>
        </p:txBody>
      </p:sp>
      <p:sp>
        <p:nvSpPr>
          <p:cNvPr id="15" name="Shape 13"/>
          <p:cNvSpPr/>
          <p:nvPr/>
        </p:nvSpPr>
        <p:spPr>
          <a:xfrm>
            <a:off x="6540401" y="2368748"/>
            <a:ext cx="5207050" cy="7118152"/>
          </a:xfrm>
          <a:prstGeom prst="roundRect">
            <a:avLst>
              <a:gd name="adj" fmla="val 2561"/>
            </a:avLst>
          </a:prstGeom>
          <a:solidFill>
            <a:srgbClr val="FBF8F2"/>
          </a:solidFill>
          <a:ln/>
        </p:spPr>
      </p:sp>
      <p:sp>
        <p:nvSpPr>
          <p:cNvPr id="16" name="Shape 14"/>
          <p:cNvSpPr/>
          <p:nvPr/>
        </p:nvSpPr>
        <p:spPr>
          <a:xfrm>
            <a:off x="6540401" y="9477375"/>
            <a:ext cx="5207050" cy="9525"/>
          </a:xfrm>
          <a:prstGeom prst="rect">
            <a:avLst/>
          </a:prstGeom>
          <a:solidFill>
            <a:srgbClr val="D9D1C3"/>
          </a:solidFill>
          <a:ln/>
        </p:spPr>
      </p:sp>
      <p:sp>
        <p:nvSpPr>
          <p:cNvPr id="17" name="Shape 15"/>
          <p:cNvSpPr/>
          <p:nvPr/>
        </p:nvSpPr>
        <p:spPr>
          <a:xfrm>
            <a:off x="6540401" y="2368748"/>
            <a:ext cx="5207050" cy="47625"/>
          </a:xfrm>
          <a:prstGeom prst="rect">
            <a:avLst/>
          </a:prstGeom>
          <a:solidFill>
            <a:srgbClr val="2A45D0"/>
          </a:solidFill>
          <a:ln/>
        </p:spPr>
      </p:sp>
      <p:sp>
        <p:nvSpPr>
          <p:cNvPr id="18" name="Shape 16"/>
          <p:cNvSpPr/>
          <p:nvPr/>
        </p:nvSpPr>
        <p:spPr>
          <a:xfrm>
            <a:off x="6540401" y="2368748"/>
            <a:ext cx="9525" cy="7118152"/>
          </a:xfrm>
          <a:prstGeom prst="rect">
            <a:avLst/>
          </a:prstGeom>
          <a:solidFill>
            <a:srgbClr val="D9D1C3"/>
          </a:solidFill>
          <a:ln/>
        </p:spPr>
      </p:sp>
      <p:sp>
        <p:nvSpPr>
          <p:cNvPr id="19" name="Shape 17"/>
          <p:cNvSpPr/>
          <p:nvPr/>
        </p:nvSpPr>
        <p:spPr>
          <a:xfrm>
            <a:off x="11737925" y="2368748"/>
            <a:ext cx="9525" cy="7118152"/>
          </a:xfrm>
          <a:prstGeom prst="rect">
            <a:avLst/>
          </a:prstGeom>
          <a:solidFill>
            <a:srgbClr val="D9D1C3"/>
          </a:solidFill>
          <a:ln/>
        </p:spPr>
      </p:sp>
      <p:sp>
        <p:nvSpPr>
          <p:cNvPr id="20" name="Text 18"/>
          <p:cNvSpPr/>
          <p:nvPr/>
        </p:nvSpPr>
        <p:spPr>
          <a:xfrm>
            <a:off x="6873776" y="2883098"/>
            <a:ext cx="858143" cy="266700"/>
          </a:xfrm>
          <a:prstGeom prst="rect">
            <a:avLst/>
          </a:prstGeom>
          <a:noFill/>
          <a:ln/>
        </p:spPr>
        <p:txBody>
          <a:bodyPr wrap="square" lIns="25400" tIns="25400" rIns="25400" bIns="25400" rtlCol="0" anchor="t">
            <a:normAutofit/>
          </a:bodyPr>
          <a:lstStyle/>
          <a:p>
            <a:pPr marL="0" indent="0" algn="l">
              <a:buNone/>
            </a:pPr>
            <a:r>
              <a:rPr lang="en-US" sz="1425" kern="0" spc="171" dirty="0">
                <a:solidFill>
                  <a:srgbClr val="2A45D0"/>
                </a:solidFill>
                <a:latin typeface="IBM Plex Mono" pitchFamily="34" charset="0"/>
                <a:ea typeface="IBM Plex Mono" pitchFamily="34" charset="-122"/>
                <a:cs typeface="IBM Plex Mono" pitchFamily="34" charset="-120"/>
              </a:rPr>
              <a:t>TIER 2</a:t>
            </a:r>
            <a:endParaRPr lang="en-US" sz="1425" dirty="0"/>
          </a:p>
        </p:txBody>
      </p:sp>
      <p:sp>
        <p:nvSpPr>
          <p:cNvPr id="21" name="Text 19"/>
          <p:cNvSpPr/>
          <p:nvPr/>
        </p:nvSpPr>
        <p:spPr>
          <a:xfrm>
            <a:off x="9677846" y="2778323"/>
            <a:ext cx="1812429"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2A45D0"/>
                </a:solidFill>
                <a:latin typeface="Space Grotesk" pitchFamily="34" charset="0"/>
                <a:ea typeface="Space Grotesk" pitchFamily="34" charset="-122"/>
                <a:cs typeface="Space Grotesk" pitchFamily="34" charset="-120"/>
              </a:rPr>
              <a:t>High priority</a:t>
            </a:r>
            <a:endParaRPr lang="en-US" sz="2250" dirty="0"/>
          </a:p>
        </p:txBody>
      </p:sp>
      <p:sp>
        <p:nvSpPr>
          <p:cNvPr id="22" name="Text 20"/>
          <p:cNvSpPr/>
          <p:nvPr/>
        </p:nvSpPr>
        <p:spPr>
          <a:xfrm>
            <a:off x="6873776" y="3264098"/>
            <a:ext cx="4676509" cy="314325"/>
          </a:xfrm>
          <a:prstGeom prst="rect">
            <a:avLst/>
          </a:prstGeom>
          <a:noFill/>
          <a:ln/>
        </p:spPr>
        <p:txBody>
          <a:bodyPr wrap="square" lIns="25400" tIns="25400" rIns="25400" bIns="25400" rtlCol="0" anchor="t">
            <a:normAutofit/>
          </a:bodyPr>
          <a:lstStyle/>
          <a:p>
            <a:pPr marL="0" indent="0" algn="l">
              <a:buNone/>
            </a:pPr>
            <a:r>
              <a:rPr lang="en-US" sz="1650" dirty="0">
                <a:solidFill>
                  <a:srgbClr val="6E6557"/>
                </a:solidFill>
                <a:latin typeface="IBM Plex Sans" pitchFamily="34" charset="0"/>
                <a:ea typeface="IBM Plex Sans" pitchFamily="34" charset="-122"/>
                <a:cs typeface="IBM Plex Sans" pitchFamily="34" charset="-120"/>
              </a:rPr>
              <a:t>Depth and behavior.</a:t>
            </a:r>
            <a:endParaRPr lang="en-US" sz="1650" dirty="0"/>
          </a:p>
        </p:txBody>
      </p:sp>
      <p:sp>
        <p:nvSpPr>
          <p:cNvPr id="23" name="Text 21"/>
          <p:cNvSpPr/>
          <p:nvPr/>
        </p:nvSpPr>
        <p:spPr>
          <a:xfrm>
            <a:off x="6773763" y="3787973"/>
            <a:ext cx="4716512" cy="1786533"/>
          </a:xfrm>
          <a:prstGeom prst="rect">
            <a:avLst/>
          </a:prstGeom>
          <a:noFill/>
          <a:ln/>
        </p:spPr>
        <p:txBody>
          <a:bodyPr wrap="square" lIns="25400" tIns="25400" rIns="25400" bIns="25400" rtlCol="0" anchor="t">
            <a:normAutofit/>
          </a:bodyPr>
          <a:lstStyle/>
          <a:p>
            <a:pPr marL="385763" indent="-385763" algn="l">
              <a:lnSpc>
                <a:spcPct val="170000"/>
              </a:lnSpc>
              <a:buSzPct val="100000"/>
              <a:buFont typeface="+mj-lt"/>
              <a:buAutoNum type="arabicPeriod"/>
              <a:tabLst>
                <a:tab pos="385763" algn="l"/>
              </a:tabLst>
            </a:pPr>
            <a:r>
              <a:rPr lang="en-US" sz="2025" dirty="0">
                <a:solidFill>
                  <a:srgbClr val="1E1A15"/>
                </a:solidFill>
                <a:latin typeface="IBM Plex Sans" pitchFamily="34" charset="0"/>
                <a:ea typeface="IBM Plex Sans" pitchFamily="34" charset="-122"/>
                <a:cs typeface="IBM Plex Sans" pitchFamily="34" charset="-120"/>
              </a:rPr>
              <a:t>Interactive states present</a:t>
            </a:r>
            <a:endParaRPr lang="en-US" sz="2025" dirty="0"/>
          </a:p>
          <a:p>
            <a:pPr marL="385763" indent="-385763" algn="l">
              <a:lnSpc>
                <a:spcPct val="170000"/>
              </a:lnSpc>
              <a:buSzPct val="100000"/>
              <a:buFont typeface="+mj-lt"/>
              <a:buAutoNum type="arabicPeriod" startAt="2"/>
              <a:tabLst>
                <a:tab pos="385763" algn="l"/>
              </a:tabLst>
            </a:pPr>
            <a:r>
              <a:rPr lang="en-US" sz="2025" dirty="0">
                <a:solidFill>
                  <a:srgbClr val="1E1A15"/>
                </a:solidFill>
                <a:latin typeface="IBM Plex Sans" pitchFamily="34" charset="0"/>
                <a:ea typeface="IBM Plex Sans" pitchFamily="34" charset="-122"/>
                <a:cs typeface="IBM Plex Sans" pitchFamily="34" charset="-120"/>
              </a:rPr>
              <a:t>Component descriptions written</a:t>
            </a:r>
            <a:endParaRPr lang="en-US" sz="2025" dirty="0"/>
          </a:p>
          <a:p>
            <a:pPr marL="385763" indent="-385763" algn="l">
              <a:lnSpc>
                <a:spcPct val="170000"/>
              </a:lnSpc>
              <a:buSzPct val="100000"/>
              <a:buFont typeface="+mj-lt"/>
              <a:buAutoNum type="arabicPeriod" startAt="3"/>
              <a:tabLst>
                <a:tab pos="385763" algn="l"/>
              </a:tabLst>
            </a:pPr>
            <a:r>
              <a:rPr lang="en-US" sz="2025" dirty="0">
                <a:solidFill>
                  <a:srgbClr val="1E1A15"/>
                </a:solidFill>
                <a:latin typeface="IBM Plex Sans" pitchFamily="34" charset="0"/>
                <a:ea typeface="IBM Plex Sans" pitchFamily="34" charset="-122"/>
                <a:cs typeface="IBM Plex Sans" pitchFamily="34" charset="-120"/>
              </a:rPr>
              <a:t>Annotations on variants</a:t>
            </a:r>
            <a:endParaRPr lang="en-US" sz="2025" dirty="0"/>
          </a:p>
          <a:p>
            <a:pPr marL="385763" indent="-385763" algn="l">
              <a:lnSpc>
                <a:spcPct val="170000"/>
              </a:lnSpc>
              <a:buSzPct val="100000"/>
              <a:buFont typeface="+mj-lt"/>
              <a:buAutoNum type="arabicPeriod" startAt="4"/>
              <a:tabLst>
                <a:tab pos="385763" algn="l"/>
              </a:tabLst>
            </a:pPr>
            <a:r>
              <a:rPr lang="en-US" sz="2025" dirty="0">
                <a:solidFill>
                  <a:srgbClr val="1E1A15"/>
                </a:solidFill>
                <a:latin typeface="IBM Plex Sans" pitchFamily="34" charset="0"/>
                <a:ea typeface="IBM Plex Sans" pitchFamily="34" charset="-122"/>
                <a:cs typeface="IBM Plex Sans" pitchFamily="34" charset="-120"/>
              </a:rPr>
              <a:t>Clear boundaries &amp; semantic names</a:t>
            </a:r>
            <a:endParaRPr lang="en-US" sz="2025" dirty="0"/>
          </a:p>
        </p:txBody>
      </p:sp>
      <p:sp>
        <p:nvSpPr>
          <p:cNvPr id="24" name="Shape 22"/>
          <p:cNvSpPr/>
          <p:nvPr/>
        </p:nvSpPr>
        <p:spPr>
          <a:xfrm>
            <a:off x="12033200" y="2368748"/>
            <a:ext cx="5207050" cy="7118152"/>
          </a:xfrm>
          <a:prstGeom prst="roundRect">
            <a:avLst>
              <a:gd name="adj" fmla="val 2561"/>
            </a:avLst>
          </a:prstGeom>
          <a:solidFill>
            <a:srgbClr val="FBF8F2"/>
          </a:solidFill>
          <a:ln/>
        </p:spPr>
      </p:sp>
      <p:sp>
        <p:nvSpPr>
          <p:cNvPr id="25" name="Shape 23"/>
          <p:cNvSpPr/>
          <p:nvPr/>
        </p:nvSpPr>
        <p:spPr>
          <a:xfrm>
            <a:off x="12033200" y="9477375"/>
            <a:ext cx="5207050" cy="9525"/>
          </a:xfrm>
          <a:prstGeom prst="rect">
            <a:avLst/>
          </a:prstGeom>
          <a:solidFill>
            <a:srgbClr val="D9D1C3"/>
          </a:solidFill>
          <a:ln/>
        </p:spPr>
      </p:sp>
      <p:sp>
        <p:nvSpPr>
          <p:cNvPr id="26" name="Shape 24"/>
          <p:cNvSpPr/>
          <p:nvPr/>
        </p:nvSpPr>
        <p:spPr>
          <a:xfrm>
            <a:off x="12033200" y="2368748"/>
            <a:ext cx="5207050" cy="47625"/>
          </a:xfrm>
          <a:prstGeom prst="rect">
            <a:avLst/>
          </a:prstGeom>
          <a:solidFill>
            <a:srgbClr val="9A9082"/>
          </a:solidFill>
          <a:ln/>
        </p:spPr>
      </p:sp>
      <p:sp>
        <p:nvSpPr>
          <p:cNvPr id="27" name="Shape 25"/>
          <p:cNvSpPr/>
          <p:nvPr/>
        </p:nvSpPr>
        <p:spPr>
          <a:xfrm>
            <a:off x="12033200" y="2368748"/>
            <a:ext cx="9525" cy="7118152"/>
          </a:xfrm>
          <a:prstGeom prst="rect">
            <a:avLst/>
          </a:prstGeom>
          <a:solidFill>
            <a:srgbClr val="D9D1C3"/>
          </a:solidFill>
          <a:ln/>
        </p:spPr>
      </p:sp>
      <p:sp>
        <p:nvSpPr>
          <p:cNvPr id="28" name="Shape 26"/>
          <p:cNvSpPr/>
          <p:nvPr/>
        </p:nvSpPr>
        <p:spPr>
          <a:xfrm>
            <a:off x="17230725" y="2368748"/>
            <a:ext cx="9525" cy="7118152"/>
          </a:xfrm>
          <a:prstGeom prst="rect">
            <a:avLst/>
          </a:prstGeom>
          <a:solidFill>
            <a:srgbClr val="D9D1C3"/>
          </a:solidFill>
          <a:ln/>
        </p:spPr>
      </p:sp>
      <p:sp>
        <p:nvSpPr>
          <p:cNvPr id="29" name="Text 27"/>
          <p:cNvSpPr/>
          <p:nvPr/>
        </p:nvSpPr>
        <p:spPr>
          <a:xfrm>
            <a:off x="12366575" y="2883098"/>
            <a:ext cx="858143" cy="266700"/>
          </a:xfrm>
          <a:prstGeom prst="rect">
            <a:avLst/>
          </a:prstGeom>
          <a:noFill/>
          <a:ln/>
        </p:spPr>
        <p:txBody>
          <a:bodyPr wrap="square" lIns="25400" tIns="25400" rIns="25400" bIns="25400" rtlCol="0" anchor="t">
            <a:normAutofit/>
          </a:bodyPr>
          <a:lstStyle/>
          <a:p>
            <a:pPr marL="0" indent="0" algn="l">
              <a:buNone/>
            </a:pPr>
            <a:r>
              <a:rPr lang="en-US" sz="1425" kern="0" spc="171" dirty="0">
                <a:solidFill>
                  <a:srgbClr val="6E6557"/>
                </a:solidFill>
                <a:latin typeface="IBM Plex Mono" pitchFamily="34" charset="0"/>
                <a:ea typeface="IBM Plex Mono" pitchFamily="34" charset="-122"/>
                <a:cs typeface="IBM Plex Mono" pitchFamily="34" charset="-120"/>
              </a:rPr>
              <a:t>TIER 3</a:t>
            </a:r>
            <a:endParaRPr lang="en-US" sz="1425" dirty="0"/>
          </a:p>
        </p:txBody>
      </p:sp>
      <p:sp>
        <p:nvSpPr>
          <p:cNvPr id="30" name="Text 28"/>
          <p:cNvSpPr/>
          <p:nvPr/>
        </p:nvSpPr>
        <p:spPr>
          <a:xfrm>
            <a:off x="15779204" y="2778323"/>
            <a:ext cx="1203871"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6E6557"/>
                </a:solidFill>
                <a:latin typeface="Space Grotesk" pitchFamily="34" charset="0"/>
                <a:ea typeface="Space Grotesk" pitchFamily="34" charset="-122"/>
                <a:cs typeface="Space Grotesk" pitchFamily="34" charset="-120"/>
              </a:rPr>
              <a:t>Hygiene</a:t>
            </a:r>
            <a:endParaRPr lang="en-US" sz="2250" dirty="0"/>
          </a:p>
        </p:txBody>
      </p:sp>
      <p:sp>
        <p:nvSpPr>
          <p:cNvPr id="31" name="Text 29"/>
          <p:cNvSpPr/>
          <p:nvPr/>
        </p:nvSpPr>
        <p:spPr>
          <a:xfrm>
            <a:off x="12366575" y="3264098"/>
            <a:ext cx="4676509" cy="314325"/>
          </a:xfrm>
          <a:prstGeom prst="rect">
            <a:avLst/>
          </a:prstGeom>
          <a:noFill/>
          <a:ln/>
        </p:spPr>
        <p:txBody>
          <a:bodyPr wrap="square" lIns="25400" tIns="25400" rIns="25400" bIns="25400" rtlCol="0" anchor="t">
            <a:normAutofit/>
          </a:bodyPr>
          <a:lstStyle/>
          <a:p>
            <a:pPr marL="0" indent="0" algn="l">
              <a:buNone/>
            </a:pPr>
            <a:r>
              <a:rPr lang="en-US" sz="1650" dirty="0">
                <a:solidFill>
                  <a:srgbClr val="6E6557"/>
                </a:solidFill>
                <a:latin typeface="IBM Plex Sans" pitchFamily="34" charset="0"/>
                <a:ea typeface="IBM Plex Sans" pitchFamily="34" charset="-122"/>
                <a:cs typeface="IBM Plex Sans" pitchFamily="34" charset="-120"/>
              </a:rPr>
              <a:t>Compounding wins.</a:t>
            </a:r>
            <a:endParaRPr lang="en-US" sz="1650" dirty="0"/>
          </a:p>
        </p:txBody>
      </p:sp>
      <p:sp>
        <p:nvSpPr>
          <p:cNvPr id="32" name="Text 30"/>
          <p:cNvSpPr/>
          <p:nvPr/>
        </p:nvSpPr>
        <p:spPr>
          <a:xfrm>
            <a:off x="12266563" y="3787973"/>
            <a:ext cx="4716512" cy="2405610"/>
          </a:xfrm>
          <a:prstGeom prst="rect">
            <a:avLst/>
          </a:prstGeom>
          <a:noFill/>
          <a:ln/>
        </p:spPr>
        <p:txBody>
          <a:bodyPr wrap="square" lIns="25400" tIns="25400" rIns="25400" bIns="25400" rtlCol="0" anchor="t">
            <a:normAutofit/>
          </a:bodyPr>
          <a:lstStyle/>
          <a:p>
            <a:pPr marL="385763" indent="-385763" algn="l">
              <a:lnSpc>
                <a:spcPct val="170000"/>
              </a:lnSpc>
              <a:buSzPct val="100000"/>
              <a:buFont typeface="+mj-lt"/>
              <a:buAutoNum type="arabicPeriod"/>
              <a:tabLst>
                <a:tab pos="385763" algn="l"/>
              </a:tabLst>
            </a:pPr>
            <a:r>
              <a:rPr lang="en-US" sz="2025" dirty="0">
                <a:solidFill>
                  <a:srgbClr val="1E1A15"/>
                </a:solidFill>
                <a:latin typeface="IBM Plex Sans" pitchFamily="34" charset="0"/>
                <a:ea typeface="IBM Plex Sans" pitchFamily="34" charset="-122"/>
                <a:cs typeface="IBM Plex Sans" pitchFamily="34" charset="-120"/>
              </a:rPr>
              <a:t>Layer naming</a:t>
            </a:r>
            <a:endParaRPr lang="en-US" sz="2025" dirty="0"/>
          </a:p>
          <a:p>
            <a:pPr marL="385763" indent="-385763" algn="l">
              <a:lnSpc>
                <a:spcPct val="170000"/>
              </a:lnSpc>
              <a:buSzPct val="100000"/>
              <a:buFont typeface="+mj-lt"/>
              <a:buAutoNum type="arabicPeriod" startAt="2"/>
              <a:tabLst>
                <a:tab pos="385763" algn="l"/>
              </a:tabLst>
            </a:pPr>
            <a:r>
              <a:rPr lang="en-US" sz="2025" dirty="0">
                <a:solidFill>
                  <a:srgbClr val="1E1A15"/>
                </a:solidFill>
                <a:latin typeface="IBM Plex Sans" pitchFamily="34" charset="0"/>
                <a:ea typeface="IBM Plex Sans" pitchFamily="34" charset="-122"/>
                <a:cs typeface="IBM Plex Sans" pitchFamily="34" charset="-120"/>
              </a:rPr>
              <a:t>Hidden &amp; orphan layers cleaned</a:t>
            </a:r>
            <a:endParaRPr lang="en-US" sz="2025" dirty="0"/>
          </a:p>
          <a:p>
            <a:pPr marL="385763" indent="-385763" algn="l">
              <a:lnSpc>
                <a:spcPct val="170000"/>
              </a:lnSpc>
              <a:buSzPct val="100000"/>
              <a:buFont typeface="+mj-lt"/>
              <a:buAutoNum type="arabicPeriod" startAt="3"/>
              <a:tabLst>
                <a:tab pos="385763" algn="l"/>
              </a:tabLst>
            </a:pPr>
            <a:r>
              <a:rPr lang="en-US" sz="2025" dirty="0">
                <a:solidFill>
                  <a:srgbClr val="1E1A15"/>
                </a:solidFill>
                <a:latin typeface="IBM Plex Sans" pitchFamily="34" charset="0"/>
                <a:ea typeface="IBM Plex Sans" pitchFamily="34" charset="-122"/>
                <a:cs typeface="IBM Plex Sans" pitchFamily="34" charset="-120"/>
              </a:rPr>
              <a:t>Auto-layout used intentionally</a:t>
            </a:r>
            <a:endParaRPr lang="en-US" sz="2025" dirty="0"/>
          </a:p>
          <a:p>
            <a:pPr marL="385763" indent="-385763" algn="l">
              <a:lnSpc>
                <a:spcPct val="170000"/>
              </a:lnSpc>
              <a:buSzPct val="100000"/>
              <a:buFont typeface="+mj-lt"/>
              <a:buAutoNum type="arabicPeriod" startAt="4"/>
              <a:tabLst>
                <a:tab pos="385763" algn="l"/>
              </a:tabLst>
            </a:pPr>
            <a:r>
              <a:rPr lang="en-US" sz="2025" dirty="0">
                <a:solidFill>
                  <a:srgbClr val="1E1A15"/>
                </a:solidFill>
                <a:latin typeface="IBM Plex Sans" pitchFamily="34" charset="0"/>
                <a:ea typeface="IBM Plex Sans" pitchFamily="34" charset="-122"/>
                <a:cs typeface="IBM Plex Sans" pitchFamily="34" charset="-120"/>
              </a:rPr>
              <a:t>Variant matrix complete</a:t>
            </a:r>
            <a:endParaRPr lang="en-US" sz="2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A15"/>
        </a:solidFill>
        <a:effectLst/>
      </p:bgPr>
    </p:bg>
    <p:spTree>
      <p:nvGrpSpPr>
        <p:cNvPr id="1" name=""/>
        <p:cNvGrpSpPr/>
        <p:nvPr/>
      </p:nvGrpSpPr>
      <p:grpSpPr>
        <a:xfrm>
          <a:off x="0" y="0"/>
          <a:ext cx="0" cy="0"/>
          <a:chOff x="0" y="0"/>
          <a:chExt cx="0" cy="0"/>
        </a:xfrm>
      </p:grpSpPr>
      <p:sp>
        <p:nvSpPr>
          <p:cNvPr id="2" name="Text 0"/>
          <p:cNvSpPr/>
          <p:nvPr/>
        </p:nvSpPr>
        <p:spPr>
          <a:xfrm>
            <a:off x="1047750" y="3351609"/>
            <a:ext cx="16678275" cy="314325"/>
          </a:xfrm>
          <a:prstGeom prst="rect">
            <a:avLst/>
          </a:prstGeom>
          <a:noFill/>
          <a:ln/>
        </p:spPr>
        <p:txBody>
          <a:bodyPr wrap="square" lIns="25400" tIns="25400" rIns="25400" bIns="25400" rtlCol="0" anchor="t">
            <a:normAutofit/>
          </a:bodyPr>
          <a:lstStyle/>
          <a:p>
            <a:pPr marL="0" indent="0" algn="l">
              <a:buNone/>
            </a:pPr>
            <a:r>
              <a:rPr lang="en-US" sz="1650" kern="0" spc="330" dirty="0">
                <a:solidFill>
                  <a:srgbClr val="CF5A33"/>
                </a:solidFill>
                <a:latin typeface="IBM Plex Mono" pitchFamily="34" charset="0"/>
                <a:ea typeface="IBM Plex Mono" pitchFamily="34" charset="-122"/>
                <a:cs typeface="IBM Plex Mono" pitchFamily="34" charset="-120"/>
              </a:rPr>
              <a:t>TIER 1 · CRITICAL · ~67% OF THE SCORE</a:t>
            </a:r>
            <a:endParaRPr lang="en-US" sz="1650" dirty="0"/>
          </a:p>
        </p:txBody>
      </p:sp>
      <p:sp>
        <p:nvSpPr>
          <p:cNvPr id="3" name="Text 1"/>
          <p:cNvSpPr/>
          <p:nvPr/>
        </p:nvSpPr>
        <p:spPr>
          <a:xfrm>
            <a:off x="1047750" y="3913584"/>
            <a:ext cx="16678275" cy="2240756"/>
          </a:xfrm>
          <a:prstGeom prst="rect">
            <a:avLst/>
          </a:prstGeom>
          <a:noFill/>
          <a:ln/>
        </p:spPr>
        <p:txBody>
          <a:bodyPr wrap="square" lIns="25400" tIns="25400" rIns="25400" bIns="25400" rtlCol="0" anchor="t">
            <a:normAutofit/>
          </a:bodyPr>
          <a:lstStyle/>
          <a:p>
            <a:pPr marL="0" indent="0" algn="l">
              <a:lnSpc>
                <a:spcPct val="98000"/>
              </a:lnSpc>
              <a:buNone/>
            </a:pPr>
            <a:r>
              <a:rPr lang="en-US" sz="8850" b="1" kern="0" spc="-265" dirty="0">
                <a:solidFill>
                  <a:srgbClr val="F1ECE3"/>
                </a:solidFill>
                <a:latin typeface="Space Grotesk" pitchFamily="34" charset="0"/>
                <a:ea typeface="Space Grotesk" pitchFamily="34" charset="-122"/>
                <a:cs typeface="Space Grotesk" pitchFamily="34" charset="-120"/>
              </a:rPr>
              <a:t>The foundations output depends on.</a:t>
            </a:r>
            <a:endParaRPr lang="en-US" sz="8850" dirty="0"/>
          </a:p>
        </p:txBody>
      </p:sp>
      <p:sp>
        <p:nvSpPr>
          <p:cNvPr id="4" name="Text 2"/>
          <p:cNvSpPr/>
          <p:nvPr/>
        </p:nvSpPr>
        <p:spPr>
          <a:xfrm>
            <a:off x="1047750" y="6630591"/>
            <a:ext cx="36733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CF5A33"/>
                </a:solidFill>
                <a:latin typeface="IBM Plex Mono" pitchFamily="34" charset="0"/>
                <a:ea typeface="IBM Plex Mono" pitchFamily="34" charset="-122"/>
                <a:cs typeface="IBM Plex Mono" pitchFamily="34" charset="-120"/>
              </a:rPr>
              <a:t>01 </a:t>
            </a:r>
            <a:r>
              <a:rPr lang="en-US" sz="1800" dirty="0">
                <a:solidFill>
                  <a:srgbClr val="B8AFA1"/>
                </a:solidFill>
                <a:latin typeface="IBM Plex Mono" pitchFamily="34" charset="0"/>
                <a:ea typeface="IBM Plex Mono" pitchFamily="34" charset="-122"/>
                <a:cs typeface="IBM Plex Mono" pitchFamily="34" charset="-120"/>
              </a:rPr>
              <a:t>Tokens, not raw values</a:t>
            </a:r>
            <a:endParaRPr lang="en-US" sz="1800" dirty="0"/>
          </a:p>
        </p:txBody>
      </p:sp>
      <p:sp>
        <p:nvSpPr>
          <p:cNvPr id="5" name="Text 3"/>
          <p:cNvSpPr/>
          <p:nvPr/>
        </p:nvSpPr>
        <p:spPr>
          <a:xfrm>
            <a:off x="5090368" y="6630591"/>
            <a:ext cx="25452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CF5A33"/>
                </a:solidFill>
                <a:latin typeface="IBM Plex Mono" pitchFamily="34" charset="0"/>
                <a:ea typeface="IBM Plex Mono" pitchFamily="34" charset="-122"/>
                <a:cs typeface="IBM Plex Mono" pitchFamily="34" charset="-120"/>
              </a:rPr>
              <a:t>02 </a:t>
            </a:r>
            <a:r>
              <a:rPr lang="en-US" sz="1800" dirty="0">
                <a:solidFill>
                  <a:srgbClr val="B8AFA1"/>
                </a:solidFill>
                <a:latin typeface="IBM Plex Mono" pitchFamily="34" charset="0"/>
                <a:ea typeface="IBM Plex Mono" pitchFamily="34" charset="-122"/>
                <a:cs typeface="IBM Plex Mono" pitchFamily="34" charset="-120"/>
              </a:rPr>
              <a:t>Real instances</a:t>
            </a:r>
            <a:endParaRPr lang="en-US" sz="1800" dirty="0"/>
          </a:p>
        </p:txBody>
      </p:sp>
      <p:sp>
        <p:nvSpPr>
          <p:cNvPr id="6" name="Text 4"/>
          <p:cNvSpPr/>
          <p:nvPr/>
        </p:nvSpPr>
        <p:spPr>
          <a:xfrm>
            <a:off x="8035677" y="6630591"/>
            <a:ext cx="339084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CF5A33"/>
                </a:solidFill>
                <a:latin typeface="IBM Plex Mono" pitchFamily="34" charset="0"/>
                <a:ea typeface="IBM Plex Mono" pitchFamily="34" charset="-122"/>
                <a:cs typeface="IBM Plex Mono" pitchFamily="34" charset="-120"/>
              </a:rPr>
              <a:t>03 </a:t>
            </a:r>
            <a:r>
              <a:rPr lang="en-US" sz="1800" dirty="0">
                <a:solidFill>
                  <a:srgbClr val="B8AFA1"/>
                </a:solidFill>
                <a:latin typeface="IBM Plex Mono" pitchFamily="34" charset="0"/>
                <a:ea typeface="IBM Plex Mono" pitchFamily="34" charset="-122"/>
                <a:cs typeface="IBM Plex Mono" pitchFamily="34" charset="-120"/>
              </a:rPr>
              <a:t>Component properties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2684313"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CF5A33"/>
                </a:solidFill>
                <a:latin typeface="IBM Plex Mono" pitchFamily="34" charset="0"/>
                <a:ea typeface="IBM Plex Mono" pitchFamily="34" charset="-122"/>
                <a:cs typeface="IBM Plex Mono" pitchFamily="34" charset="-120"/>
              </a:rPr>
              <a:t>TIER 1 · 01 — TOKENS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08 / 19</a:t>
            </a:r>
            <a:endParaRPr lang="en-US" sz="1350" dirty="0"/>
          </a:p>
        </p:txBody>
      </p:sp>
      <p:sp>
        <p:nvSpPr>
          <p:cNvPr id="5" name="Text 3"/>
          <p:cNvSpPr/>
          <p:nvPr/>
        </p:nvSpPr>
        <p:spPr>
          <a:xfrm>
            <a:off x="1047750" y="1504950"/>
            <a:ext cx="5931548" cy="5524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050" b="1" kern="0" spc="-81" dirty="0">
                <a:solidFill>
                  <a:srgbClr val="1E1A15"/>
                </a:solidFill>
                <a:latin typeface="Space Grotesk" pitchFamily="34" charset="0"/>
                <a:ea typeface="Space Grotesk" pitchFamily="34" charset="-122"/>
                <a:cs typeface="Space Grotesk" pitchFamily="34" charset="-120"/>
              </a:rPr>
              <a:t>Tokens, not raw values</a:t>
            </a:r>
            <a:endParaRPr lang="en-US" sz="4050" dirty="0"/>
          </a:p>
        </p:txBody>
      </p:sp>
      <p:sp>
        <p:nvSpPr>
          <p:cNvPr id="6" name="Text 4"/>
          <p:cNvSpPr/>
          <p:nvPr/>
        </p:nvSpPr>
        <p:spPr>
          <a:xfrm>
            <a:off x="6642050" y="1619250"/>
            <a:ext cx="910977" cy="447675"/>
          </a:xfrm>
          <a:prstGeom prst="rect">
            <a:avLst/>
          </a:prstGeom>
          <a:noFill/>
          <a:ln/>
        </p:spPr>
        <p:txBody>
          <a:bodyPr wrap="square" lIns="25400" tIns="25400" rIns="25400" bIns="25400" rtlCol="0" anchor="t">
            <a:normAutofit/>
          </a:bodyPr>
          <a:lstStyle/>
          <a:p>
            <a:pPr marL="0" indent="0" algn="l">
              <a:buNone/>
            </a:pPr>
            <a:r>
              <a:rPr lang="en-US" sz="2550" b="1" dirty="0">
                <a:solidFill>
                  <a:srgbClr val="2A45D0"/>
                </a:solidFill>
                <a:latin typeface="Space Grotesk" pitchFamily="34" charset="0"/>
                <a:ea typeface="Space Grotesk" pitchFamily="34" charset="-122"/>
                <a:cs typeface="Space Grotesk" pitchFamily="34" charset="-120"/>
              </a:rPr>
              <a:t>~25%</a:t>
            </a:r>
            <a:endParaRPr lang="en-US" sz="2550" dirty="0"/>
          </a:p>
        </p:txBody>
      </p:sp>
      <p:sp>
        <p:nvSpPr>
          <p:cNvPr id="7" name="Text 5"/>
          <p:cNvSpPr/>
          <p:nvPr/>
        </p:nvSpPr>
        <p:spPr>
          <a:xfrm>
            <a:off x="1047750" y="2105025"/>
            <a:ext cx="12753975" cy="352425"/>
          </a:xfrm>
          <a:prstGeom prst="rect">
            <a:avLst/>
          </a:prstGeom>
          <a:noFill/>
          <a:ln/>
        </p:spPr>
        <p:txBody>
          <a:bodyPr wrap="square" lIns="25400" tIns="25400" rIns="25400" bIns="25400" rtlCol="0" anchor="t">
            <a:normAutofit/>
          </a:bodyPr>
          <a:lstStyle/>
          <a:p>
            <a:pPr marL="0" indent="0" algn="l">
              <a:buNone/>
            </a:pPr>
            <a:r>
              <a:rPr lang="en-US" sz="1875" dirty="0">
                <a:solidFill>
                  <a:srgbClr val="6E6557"/>
                </a:solidFill>
                <a:latin typeface="IBM Plex Sans" pitchFamily="34" charset="0"/>
                <a:ea typeface="IBM Plex Sans" pitchFamily="34" charset="-122"/>
                <a:cs typeface="IBM Plex Sans" pitchFamily="34" charset="-120"/>
              </a:rPr>
              <a:t>Ask Figma about a fill and you get one of two answers. One round-trips into code. The other severs the link.</a:t>
            </a:r>
            <a:endParaRPr lang="en-US" sz="1875" dirty="0"/>
          </a:p>
        </p:txBody>
      </p:sp>
      <p:sp>
        <p:nvSpPr>
          <p:cNvPr id="8" name="Shape 6"/>
          <p:cNvSpPr/>
          <p:nvPr/>
        </p:nvSpPr>
        <p:spPr>
          <a:xfrm>
            <a:off x="1047750" y="2743200"/>
            <a:ext cx="7534275" cy="1352550"/>
          </a:xfrm>
          <a:prstGeom prst="roundRect">
            <a:avLst>
              <a:gd name="adj" fmla="val 8451"/>
            </a:avLst>
          </a:prstGeom>
          <a:solidFill>
            <a:srgbClr val="FBF8F2"/>
          </a:solidFill>
          <a:ln/>
        </p:spPr>
      </p:sp>
      <p:sp>
        <p:nvSpPr>
          <p:cNvPr id="9" name="Shape 7"/>
          <p:cNvSpPr/>
          <p:nvPr/>
        </p:nvSpPr>
        <p:spPr>
          <a:xfrm>
            <a:off x="1047750" y="4086225"/>
            <a:ext cx="7534275" cy="9525"/>
          </a:xfrm>
          <a:prstGeom prst="rect">
            <a:avLst/>
          </a:prstGeom>
          <a:solidFill>
            <a:srgbClr val="D9D1C3"/>
          </a:solidFill>
          <a:ln/>
        </p:spPr>
      </p:sp>
      <p:sp>
        <p:nvSpPr>
          <p:cNvPr id="10" name="Shape 8"/>
          <p:cNvSpPr/>
          <p:nvPr/>
        </p:nvSpPr>
        <p:spPr>
          <a:xfrm>
            <a:off x="1047750" y="2743200"/>
            <a:ext cx="7534275" cy="9525"/>
          </a:xfrm>
          <a:prstGeom prst="rect">
            <a:avLst/>
          </a:prstGeom>
          <a:solidFill>
            <a:srgbClr val="D9D1C3"/>
          </a:solidFill>
          <a:ln/>
        </p:spPr>
      </p:sp>
      <p:sp>
        <p:nvSpPr>
          <p:cNvPr id="11" name="Shape 9"/>
          <p:cNvSpPr/>
          <p:nvPr/>
        </p:nvSpPr>
        <p:spPr>
          <a:xfrm>
            <a:off x="1047750" y="2743200"/>
            <a:ext cx="47625" cy="1352550"/>
          </a:xfrm>
          <a:prstGeom prst="rect">
            <a:avLst/>
          </a:prstGeom>
          <a:solidFill>
            <a:srgbClr val="2A45D0"/>
          </a:solidFill>
          <a:ln/>
        </p:spPr>
      </p:sp>
      <p:sp>
        <p:nvSpPr>
          <p:cNvPr id="12" name="Shape 10"/>
          <p:cNvSpPr/>
          <p:nvPr/>
        </p:nvSpPr>
        <p:spPr>
          <a:xfrm>
            <a:off x="8572500" y="2743200"/>
            <a:ext cx="9525" cy="1352550"/>
          </a:xfrm>
          <a:prstGeom prst="rect">
            <a:avLst/>
          </a:prstGeom>
          <a:solidFill>
            <a:srgbClr val="D9D1C3"/>
          </a:solidFill>
          <a:ln/>
        </p:spPr>
      </p:sp>
      <p:sp>
        <p:nvSpPr>
          <p:cNvPr id="13" name="Text 11"/>
          <p:cNvSpPr/>
          <p:nvPr/>
        </p:nvSpPr>
        <p:spPr>
          <a:xfrm>
            <a:off x="1400175" y="3038475"/>
            <a:ext cx="7073551"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2A45D0"/>
                </a:solidFill>
                <a:latin typeface="IBM Plex Mono" pitchFamily="34" charset="0"/>
                <a:ea typeface="IBM Plex Mono" pitchFamily="34" charset="-122"/>
                <a:cs typeface="IBM Plex Mono" pitchFamily="34" charset="-120"/>
              </a:rPr>
              <a:t>ROUND-TRIPS ✓</a:t>
            </a:r>
            <a:endParaRPr lang="en-US" sz="1350" dirty="0"/>
          </a:p>
        </p:txBody>
      </p:sp>
      <p:sp>
        <p:nvSpPr>
          <p:cNvPr id="14" name="Text 12"/>
          <p:cNvSpPr/>
          <p:nvPr/>
        </p:nvSpPr>
        <p:spPr>
          <a:xfrm>
            <a:off x="1400175" y="3429000"/>
            <a:ext cx="7073551" cy="409575"/>
          </a:xfrm>
          <a:prstGeom prst="rect">
            <a:avLst/>
          </a:prstGeom>
          <a:noFill/>
          <a:ln/>
        </p:spPr>
        <p:txBody>
          <a:bodyPr wrap="square" lIns="25400" tIns="25400" rIns="25400" bIns="25400" rtlCol="0" anchor="t">
            <a:normAutofit/>
          </a:bodyPr>
          <a:lstStyle/>
          <a:p>
            <a:pPr marL="0" indent="0" algn="l">
              <a:buNone/>
            </a:pPr>
            <a:r>
              <a:rPr lang="en-US" sz="2250" dirty="0">
                <a:solidFill>
                  <a:srgbClr val="1E1A15"/>
                </a:solidFill>
                <a:latin typeface="IBM Plex Mono" pitchFamily="34" charset="0"/>
                <a:ea typeface="IBM Plex Mono" pitchFamily="34" charset="-122"/>
                <a:cs typeface="IBM Plex Mono" pitchFamily="34" charset="-120"/>
              </a:rPr>
              <a:t>fill: </a:t>
            </a:r>
            <a:r>
              <a:rPr lang="en-US" sz="2250" dirty="0">
                <a:solidFill>
                  <a:srgbClr val="2A45D0"/>
                </a:solidFill>
                <a:latin typeface="IBM Plex Mono" pitchFamily="34" charset="0"/>
                <a:ea typeface="IBM Plex Mono" pitchFamily="34" charset="-122"/>
                <a:cs typeface="IBM Plex Mono" pitchFamily="34" charset="-120"/>
              </a:rPr>
              <a:t>var(--color-surface-primary)</a:t>
            </a:r>
            <a:endParaRPr lang="en-US" sz="2250" dirty="0"/>
          </a:p>
        </p:txBody>
      </p:sp>
      <p:sp>
        <p:nvSpPr>
          <p:cNvPr id="15" name="Shape 13"/>
          <p:cNvSpPr/>
          <p:nvPr/>
        </p:nvSpPr>
        <p:spPr>
          <a:xfrm>
            <a:off x="1047750" y="4305300"/>
            <a:ext cx="7534275" cy="1352550"/>
          </a:xfrm>
          <a:prstGeom prst="roundRect">
            <a:avLst>
              <a:gd name="adj" fmla="val 8451"/>
            </a:avLst>
          </a:prstGeom>
          <a:solidFill>
            <a:srgbClr val="FBF8F2"/>
          </a:solidFill>
          <a:ln/>
        </p:spPr>
      </p:sp>
      <p:sp>
        <p:nvSpPr>
          <p:cNvPr id="16" name="Shape 14"/>
          <p:cNvSpPr/>
          <p:nvPr/>
        </p:nvSpPr>
        <p:spPr>
          <a:xfrm>
            <a:off x="1047750" y="5648325"/>
            <a:ext cx="7534275" cy="9525"/>
          </a:xfrm>
          <a:prstGeom prst="rect">
            <a:avLst/>
          </a:prstGeom>
          <a:solidFill>
            <a:srgbClr val="D9D1C3"/>
          </a:solidFill>
          <a:ln/>
        </p:spPr>
      </p:sp>
      <p:sp>
        <p:nvSpPr>
          <p:cNvPr id="17" name="Shape 15"/>
          <p:cNvSpPr/>
          <p:nvPr/>
        </p:nvSpPr>
        <p:spPr>
          <a:xfrm>
            <a:off x="1047750" y="4305300"/>
            <a:ext cx="7534275" cy="9525"/>
          </a:xfrm>
          <a:prstGeom prst="rect">
            <a:avLst/>
          </a:prstGeom>
          <a:solidFill>
            <a:srgbClr val="D9D1C3"/>
          </a:solidFill>
          <a:ln/>
        </p:spPr>
      </p:sp>
      <p:sp>
        <p:nvSpPr>
          <p:cNvPr id="18" name="Shape 16"/>
          <p:cNvSpPr/>
          <p:nvPr/>
        </p:nvSpPr>
        <p:spPr>
          <a:xfrm>
            <a:off x="1047750" y="4305300"/>
            <a:ext cx="47625" cy="1352550"/>
          </a:xfrm>
          <a:prstGeom prst="rect">
            <a:avLst/>
          </a:prstGeom>
          <a:solidFill>
            <a:srgbClr val="CF5A33"/>
          </a:solidFill>
          <a:ln/>
        </p:spPr>
      </p:sp>
      <p:sp>
        <p:nvSpPr>
          <p:cNvPr id="19" name="Shape 17"/>
          <p:cNvSpPr/>
          <p:nvPr/>
        </p:nvSpPr>
        <p:spPr>
          <a:xfrm>
            <a:off x="8572500" y="4305300"/>
            <a:ext cx="9525" cy="1352550"/>
          </a:xfrm>
          <a:prstGeom prst="rect">
            <a:avLst/>
          </a:prstGeom>
          <a:solidFill>
            <a:srgbClr val="D9D1C3"/>
          </a:solidFill>
          <a:ln/>
        </p:spPr>
      </p:sp>
      <p:sp>
        <p:nvSpPr>
          <p:cNvPr id="20" name="Text 18"/>
          <p:cNvSpPr/>
          <p:nvPr/>
        </p:nvSpPr>
        <p:spPr>
          <a:xfrm>
            <a:off x="1400175" y="4600575"/>
            <a:ext cx="7073551"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JUST A NUMBER ✗</a:t>
            </a:r>
            <a:endParaRPr lang="en-US" sz="1350" dirty="0"/>
          </a:p>
        </p:txBody>
      </p:sp>
      <p:sp>
        <p:nvSpPr>
          <p:cNvPr id="21" name="Text 19"/>
          <p:cNvSpPr/>
          <p:nvPr/>
        </p:nvSpPr>
        <p:spPr>
          <a:xfrm>
            <a:off x="1400175" y="4991100"/>
            <a:ext cx="7073551" cy="409575"/>
          </a:xfrm>
          <a:prstGeom prst="rect">
            <a:avLst/>
          </a:prstGeom>
          <a:noFill/>
          <a:ln/>
        </p:spPr>
        <p:txBody>
          <a:bodyPr wrap="square" lIns="25400" tIns="25400" rIns="25400" bIns="25400" rtlCol="0" anchor="t">
            <a:normAutofit/>
          </a:bodyPr>
          <a:lstStyle/>
          <a:p>
            <a:pPr marL="0" indent="0" algn="l">
              <a:buNone/>
            </a:pPr>
            <a:r>
              <a:rPr lang="en-US" sz="2250" dirty="0">
                <a:solidFill>
                  <a:srgbClr val="1E1A15"/>
                </a:solidFill>
                <a:latin typeface="IBM Plex Mono" pitchFamily="34" charset="0"/>
                <a:ea typeface="IBM Plex Mono" pitchFamily="34" charset="-122"/>
                <a:cs typeface="IBM Plex Mono" pitchFamily="34" charset="-120"/>
              </a:rPr>
              <a:t>fill: </a:t>
            </a:r>
            <a:r>
              <a:rPr lang="en-US" sz="2250" dirty="0">
                <a:solidFill>
                  <a:srgbClr val="CF5A33"/>
                </a:solidFill>
                <a:latin typeface="IBM Plex Mono" pitchFamily="34" charset="0"/>
                <a:ea typeface="IBM Plex Mono" pitchFamily="34" charset="-122"/>
                <a:cs typeface="IBM Plex Mono" pitchFamily="34" charset="-120"/>
              </a:rPr>
              <a:t>#1A1A1A</a:t>
            </a:r>
            <a:endParaRPr lang="en-US" sz="2250" dirty="0"/>
          </a:p>
        </p:txBody>
      </p:sp>
      <p:sp>
        <p:nvSpPr>
          <p:cNvPr id="22" name="Shape 20"/>
          <p:cNvSpPr/>
          <p:nvPr/>
        </p:nvSpPr>
        <p:spPr>
          <a:xfrm>
            <a:off x="8905875" y="2743200"/>
            <a:ext cx="8334375" cy="6743700"/>
          </a:xfrm>
          <a:prstGeom prst="roundRect">
            <a:avLst>
              <a:gd name="adj" fmla="val 1977"/>
            </a:avLst>
          </a:prstGeom>
          <a:solidFill>
            <a:srgbClr val="1E1A15"/>
          </a:solidFill>
          <a:ln/>
        </p:spPr>
      </p:sp>
      <p:sp>
        <p:nvSpPr>
          <p:cNvPr id="23" name="Text 21"/>
          <p:cNvSpPr/>
          <p:nvPr/>
        </p:nvSpPr>
        <p:spPr>
          <a:xfrm>
            <a:off x="9305925" y="4605338"/>
            <a:ext cx="7760303"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CF5A33"/>
                </a:solidFill>
                <a:latin typeface="IBM Plex Mono" pitchFamily="34" charset="0"/>
                <a:ea typeface="IBM Plex Mono" pitchFamily="34" charset="-122"/>
                <a:cs typeface="IBM Plex Mono" pitchFamily="34" charset="-120"/>
              </a:rPr>
              <a:t>THE ALMOST-TOKEN</a:t>
            </a:r>
            <a:endParaRPr lang="en-US" sz="1350" dirty="0"/>
          </a:p>
        </p:txBody>
      </p:sp>
      <p:sp>
        <p:nvSpPr>
          <p:cNvPr id="24" name="Shape 22"/>
          <p:cNvSpPr/>
          <p:nvPr/>
        </p:nvSpPr>
        <p:spPr>
          <a:xfrm>
            <a:off x="9305925" y="5072063"/>
            <a:ext cx="1143000" cy="1143000"/>
          </a:xfrm>
          <a:prstGeom prst="roundRect">
            <a:avLst>
              <a:gd name="adj" fmla="val 8333"/>
            </a:avLst>
          </a:prstGeom>
          <a:solidFill>
            <a:srgbClr val="1A1A1A"/>
          </a:solidFill>
          <a:ln w="19050">
            <a:solidFill>
              <a:srgbClr val="39332B"/>
            </a:solidFill>
            <a:prstDash val="solid"/>
          </a:ln>
        </p:spPr>
      </p:sp>
      <p:sp>
        <p:nvSpPr>
          <p:cNvPr id="25" name="Text 23"/>
          <p:cNvSpPr/>
          <p:nvPr/>
        </p:nvSpPr>
        <p:spPr>
          <a:xfrm>
            <a:off x="9267825" y="6348413"/>
            <a:ext cx="1219200" cy="314325"/>
          </a:xfrm>
          <a:prstGeom prst="rect">
            <a:avLst/>
          </a:prstGeom>
          <a:noFill/>
          <a:ln/>
        </p:spPr>
        <p:txBody>
          <a:bodyPr wrap="square" lIns="25400" tIns="25400" rIns="25400" bIns="25400" rtlCol="0" anchor="t">
            <a:normAutofit/>
          </a:bodyPr>
          <a:lstStyle/>
          <a:p>
            <a:pPr marL="0" indent="0" algn="ctr">
              <a:buNone/>
            </a:pPr>
            <a:r>
              <a:rPr lang="en-US" sz="1650" dirty="0">
                <a:solidFill>
                  <a:srgbClr val="F1ECE3"/>
                </a:solidFill>
                <a:latin typeface="IBM Plex Mono" pitchFamily="34" charset="0"/>
                <a:ea typeface="IBM Plex Mono" pitchFamily="34" charset="-122"/>
                <a:cs typeface="IBM Plex Mono" pitchFamily="34" charset="-120"/>
              </a:rPr>
              <a:t>#1A1A1A</a:t>
            </a:r>
            <a:endParaRPr lang="en-US" sz="1650" dirty="0"/>
          </a:p>
        </p:txBody>
      </p:sp>
      <p:sp>
        <p:nvSpPr>
          <p:cNvPr id="26" name="Text 24"/>
          <p:cNvSpPr/>
          <p:nvPr/>
        </p:nvSpPr>
        <p:spPr>
          <a:xfrm>
            <a:off x="10734675" y="5638800"/>
            <a:ext cx="271314" cy="457200"/>
          </a:xfrm>
          <a:prstGeom prst="rect">
            <a:avLst/>
          </a:prstGeom>
          <a:noFill/>
          <a:ln/>
        </p:spPr>
        <p:txBody>
          <a:bodyPr wrap="square" lIns="25400" tIns="25400" rIns="25400" bIns="25400" rtlCol="0" anchor="t">
            <a:normAutofit/>
          </a:bodyPr>
          <a:lstStyle/>
          <a:p>
            <a:pPr marL="0" indent="0" algn="l">
              <a:buNone/>
            </a:pPr>
            <a:r>
              <a:rPr lang="en-US" sz="2550" dirty="0">
                <a:solidFill>
                  <a:srgbClr val="9A9082"/>
                </a:solidFill>
                <a:latin typeface="IBM Plex Mono" pitchFamily="34" charset="0"/>
                <a:ea typeface="IBM Plex Mono" pitchFamily="34" charset="-122"/>
                <a:cs typeface="IBM Plex Mono" pitchFamily="34" charset="-120"/>
              </a:rPr>
              <a:t>≈</a:t>
            </a:r>
            <a:endParaRPr lang="en-US" sz="2550" dirty="0"/>
          </a:p>
        </p:txBody>
      </p:sp>
      <p:sp>
        <p:nvSpPr>
          <p:cNvPr id="27" name="Shape 25"/>
          <p:cNvSpPr/>
          <p:nvPr/>
        </p:nvSpPr>
        <p:spPr>
          <a:xfrm>
            <a:off x="11215539" y="5072063"/>
            <a:ext cx="1143000" cy="1143000"/>
          </a:xfrm>
          <a:prstGeom prst="roundRect">
            <a:avLst>
              <a:gd name="adj" fmla="val 8333"/>
            </a:avLst>
          </a:prstGeom>
          <a:solidFill>
            <a:srgbClr val="1B1B1B"/>
          </a:solidFill>
          <a:ln w="19050">
            <a:solidFill>
              <a:srgbClr val="39332B"/>
            </a:solidFill>
            <a:prstDash val="solid"/>
          </a:ln>
        </p:spPr>
      </p:sp>
      <p:sp>
        <p:nvSpPr>
          <p:cNvPr id="28" name="Text 26"/>
          <p:cNvSpPr/>
          <p:nvPr/>
        </p:nvSpPr>
        <p:spPr>
          <a:xfrm>
            <a:off x="11177439" y="6348413"/>
            <a:ext cx="1219200" cy="314325"/>
          </a:xfrm>
          <a:prstGeom prst="rect">
            <a:avLst/>
          </a:prstGeom>
          <a:noFill/>
          <a:ln/>
        </p:spPr>
        <p:txBody>
          <a:bodyPr wrap="square" lIns="25400" tIns="25400" rIns="25400" bIns="25400" rtlCol="0" anchor="t">
            <a:normAutofit/>
          </a:bodyPr>
          <a:lstStyle/>
          <a:p>
            <a:pPr marL="0" indent="0" algn="ctr">
              <a:buNone/>
            </a:pPr>
            <a:r>
              <a:rPr lang="en-US" sz="1650" dirty="0">
                <a:solidFill>
                  <a:srgbClr val="F1ECE3"/>
                </a:solidFill>
                <a:latin typeface="IBM Plex Mono" pitchFamily="34" charset="0"/>
                <a:ea typeface="IBM Plex Mono" pitchFamily="34" charset="-122"/>
                <a:cs typeface="IBM Plex Mono" pitchFamily="34" charset="-120"/>
              </a:rPr>
              <a:t>#1B1B1B</a:t>
            </a:r>
            <a:endParaRPr lang="en-US" sz="1650" dirty="0"/>
          </a:p>
        </p:txBody>
      </p:sp>
      <p:sp>
        <p:nvSpPr>
          <p:cNvPr id="29" name="Text 27"/>
          <p:cNvSpPr/>
          <p:nvPr/>
        </p:nvSpPr>
        <p:spPr>
          <a:xfrm>
            <a:off x="9305925" y="6910388"/>
            <a:ext cx="7760303" cy="752475"/>
          </a:xfrm>
          <a:prstGeom prst="rect">
            <a:avLst/>
          </a:prstGeom>
          <a:noFill/>
          <a:ln/>
        </p:spPr>
        <p:txBody>
          <a:bodyPr wrap="square" lIns="25400" tIns="25400" rIns="25400" bIns="25400" rtlCol="0" anchor="t">
            <a:normAutofit/>
          </a:bodyPr>
          <a:lstStyle/>
          <a:p>
            <a:pPr marL="0" indent="0" algn="l">
              <a:lnSpc>
                <a:spcPct val="150000"/>
              </a:lnSpc>
              <a:buNone/>
            </a:pPr>
            <a:r>
              <a:rPr lang="en-US" sz="1875" dirty="0">
                <a:solidFill>
                  <a:srgbClr val="B8AFA1"/>
                </a:solidFill>
                <a:latin typeface="IBM Plex Sans" pitchFamily="34" charset="0"/>
                <a:ea typeface="IBM Plex Sans" pitchFamily="34" charset="-122"/>
                <a:cs typeface="IBM Plex Sans" pitchFamily="34" charset="-120"/>
              </a:rPr>
              <a:t>To a human: same color, one's a typo. To AI: two distinct values. </a:t>
            </a:r>
            <a:r>
              <a:rPr lang="en-US" sz="1875" dirty="0">
                <a:solidFill>
                  <a:srgbClr val="CF5A33"/>
                </a:solidFill>
                <a:latin typeface="IBM Plex Sans" pitchFamily="34" charset="0"/>
                <a:ea typeface="IBM Plex Sans" pitchFamily="34" charset="-122"/>
                <a:cs typeface="IBM Plex Sans" pitchFamily="34" charset="-120"/>
              </a:rPr>
              <a:t>A hallucination magnet.</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3086861"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CF5A33"/>
                </a:solidFill>
                <a:latin typeface="IBM Plex Mono" pitchFamily="34" charset="0"/>
                <a:ea typeface="IBM Plex Mono" pitchFamily="34" charset="-122"/>
                <a:cs typeface="IBM Plex Mono" pitchFamily="34" charset="-120"/>
              </a:rPr>
              <a:t>TIER 1 · 02 — INSTANCES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09 / 19</a:t>
            </a:r>
            <a:endParaRPr lang="en-US" sz="1350" dirty="0"/>
          </a:p>
        </p:txBody>
      </p:sp>
      <p:sp>
        <p:nvSpPr>
          <p:cNvPr id="5" name="Text 3"/>
          <p:cNvSpPr/>
          <p:nvPr/>
        </p:nvSpPr>
        <p:spPr>
          <a:xfrm>
            <a:off x="1047750" y="15049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Real components, not detached frames</a:t>
            </a:r>
            <a:endParaRPr lang="en-US" sz="4050" dirty="0"/>
          </a:p>
        </p:txBody>
      </p:sp>
      <p:sp>
        <p:nvSpPr>
          <p:cNvPr id="6" name="Text 4"/>
          <p:cNvSpPr/>
          <p:nvPr/>
        </p:nvSpPr>
        <p:spPr>
          <a:xfrm>
            <a:off x="1047750" y="2140148"/>
            <a:ext cx="12950190" cy="666750"/>
          </a:xfrm>
          <a:prstGeom prst="rect">
            <a:avLst/>
          </a:prstGeom>
          <a:noFill/>
          <a:ln/>
        </p:spPr>
        <p:txBody>
          <a:bodyPr wrap="square" lIns="25400" tIns="25400" rIns="25400" bIns="25400" rtlCol="0" anchor="t">
            <a:normAutofit/>
          </a:bodyPr>
          <a:lstStyle/>
          <a:p>
            <a:pPr marL="0" indent="0" algn="l">
              <a:buNone/>
            </a:pPr>
            <a:r>
              <a:rPr lang="en-US" sz="1875" dirty="0">
                <a:solidFill>
                  <a:srgbClr val="6E6557"/>
                </a:solidFill>
                <a:latin typeface="IBM Plex Sans" pitchFamily="34" charset="0"/>
                <a:ea typeface="IBM Plex Sans" pitchFamily="34" charset="-122"/>
                <a:cs typeface="IBM Plex Sans" pitchFamily="34" charset="-120"/>
              </a:rPr>
              <a:t>The single most common cause of "the AI duplicated our Button." A detached frame has no instance reference — so AI rebuilds it from scratch, unaware your codebase already has one.</a:t>
            </a:r>
            <a:endParaRPr lang="en-US" sz="1875" dirty="0"/>
          </a:p>
        </p:txBody>
      </p:sp>
      <p:sp>
        <p:nvSpPr>
          <p:cNvPr id="7" name="Shape 5"/>
          <p:cNvSpPr/>
          <p:nvPr/>
        </p:nvSpPr>
        <p:spPr>
          <a:xfrm>
            <a:off x="1047750" y="3111698"/>
            <a:ext cx="5103168" cy="6375202"/>
          </a:xfrm>
          <a:prstGeom prst="roundRect">
            <a:avLst>
              <a:gd name="adj" fmla="val 2986"/>
            </a:avLst>
          </a:prstGeom>
          <a:solidFill>
            <a:srgbClr val="FBF8F2"/>
          </a:solidFill>
          <a:ln w="9525">
            <a:solidFill>
              <a:srgbClr val="D9D1C3"/>
            </a:solidFill>
            <a:prstDash val="solid"/>
          </a:ln>
        </p:spPr>
      </p:sp>
      <p:sp>
        <p:nvSpPr>
          <p:cNvPr id="8" name="Text 6"/>
          <p:cNvSpPr/>
          <p:nvPr/>
        </p:nvSpPr>
        <p:spPr>
          <a:xfrm>
            <a:off x="1438275" y="3502223"/>
            <a:ext cx="4451781"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DETACHED FRAME ✗</a:t>
            </a:r>
            <a:endParaRPr lang="en-US" sz="1350" dirty="0"/>
          </a:p>
        </p:txBody>
      </p:sp>
      <p:sp>
        <p:nvSpPr>
          <p:cNvPr id="9" name="Text 7"/>
          <p:cNvSpPr/>
          <p:nvPr/>
        </p:nvSpPr>
        <p:spPr>
          <a:xfrm>
            <a:off x="1438275" y="3968948"/>
            <a:ext cx="4451781" cy="1375321"/>
          </a:xfrm>
          <a:prstGeom prst="rect">
            <a:avLst/>
          </a:prstGeom>
          <a:noFill/>
          <a:ln/>
        </p:spPr>
        <p:txBody>
          <a:bodyPr wrap="square" lIns="25400" tIns="25400" rIns="25400" bIns="25400" rtlCol="0" anchor="t">
            <a:normAutofit/>
          </a:bodyPr>
          <a:lstStyle/>
          <a:p>
            <a:pPr marL="0" indent="0" algn="l">
              <a:lnSpc>
                <a:spcPct val="180000"/>
              </a:lnSpc>
              <a:buNone/>
            </a:pPr>
            <a:r>
              <a:rPr lang="en-US" sz="1950" dirty="0">
                <a:solidFill>
                  <a:srgbClr val="48413A"/>
                </a:solidFill>
                <a:latin typeface="IBM Plex Mono" pitchFamily="34" charset="0"/>
                <a:ea typeface="IBM Plex Mono" pitchFamily="34" charset="-122"/>
                <a:cs typeface="IBM Plex Mono" pitchFamily="34" charset="-120"/>
              </a:rPr>
              <a:t>▸ Frame / "Button-ish" ▸ Frame / "Button copy 4" ▸ Frame / "CTA final"</a:t>
            </a:r>
            <a:endParaRPr lang="en-US" sz="1950" dirty="0"/>
          </a:p>
        </p:txBody>
      </p:sp>
      <p:sp>
        <p:nvSpPr>
          <p:cNvPr id="10" name="Text 8"/>
          <p:cNvSpPr/>
          <p:nvPr/>
        </p:nvSpPr>
        <p:spPr>
          <a:xfrm>
            <a:off x="1438275" y="5591919"/>
            <a:ext cx="445178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CF5A33"/>
                </a:solidFill>
                <a:latin typeface="IBM Plex Sans" pitchFamily="34" charset="0"/>
                <a:ea typeface="IBM Plex Sans" pitchFamily="34" charset="-122"/>
                <a:cs typeface="IBM Plex Sans" pitchFamily="34" charset="-120"/>
              </a:rPr>
              <a:t>→ AI ships three new buttons in code.</a:t>
            </a:r>
            <a:endParaRPr lang="en-US" sz="1800" dirty="0"/>
          </a:p>
        </p:txBody>
      </p:sp>
      <p:sp>
        <p:nvSpPr>
          <p:cNvPr id="11" name="Shape 9"/>
          <p:cNvSpPr/>
          <p:nvPr/>
        </p:nvSpPr>
        <p:spPr>
          <a:xfrm>
            <a:off x="6493818" y="3111698"/>
            <a:ext cx="5103316" cy="6375202"/>
          </a:xfrm>
          <a:prstGeom prst="roundRect">
            <a:avLst>
              <a:gd name="adj" fmla="val 2986"/>
            </a:avLst>
          </a:prstGeom>
          <a:solidFill>
            <a:srgbClr val="FBF8F2"/>
          </a:solidFill>
          <a:ln w="9525">
            <a:solidFill>
              <a:srgbClr val="D9D1C3"/>
            </a:solidFill>
            <a:prstDash val="solid"/>
          </a:ln>
        </p:spPr>
      </p:sp>
      <p:sp>
        <p:nvSpPr>
          <p:cNvPr id="12" name="Text 10"/>
          <p:cNvSpPr/>
          <p:nvPr/>
        </p:nvSpPr>
        <p:spPr>
          <a:xfrm>
            <a:off x="6884343" y="3502223"/>
            <a:ext cx="4451934"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2A45D0"/>
                </a:solidFill>
                <a:latin typeface="IBM Plex Mono" pitchFamily="34" charset="0"/>
                <a:ea typeface="IBM Plex Mono" pitchFamily="34" charset="-122"/>
                <a:cs typeface="IBM Plex Mono" pitchFamily="34" charset="-120"/>
              </a:rPr>
              <a:t>REAL INSTANCES ✓</a:t>
            </a:r>
            <a:endParaRPr lang="en-US" sz="1350" dirty="0"/>
          </a:p>
        </p:txBody>
      </p:sp>
      <p:sp>
        <p:nvSpPr>
          <p:cNvPr id="13" name="Text 11"/>
          <p:cNvSpPr/>
          <p:nvPr/>
        </p:nvSpPr>
        <p:spPr>
          <a:xfrm>
            <a:off x="6884343" y="3968948"/>
            <a:ext cx="4451934" cy="1375321"/>
          </a:xfrm>
          <a:prstGeom prst="rect">
            <a:avLst/>
          </a:prstGeom>
          <a:noFill/>
          <a:ln/>
        </p:spPr>
        <p:txBody>
          <a:bodyPr wrap="square" lIns="25400" tIns="25400" rIns="25400" bIns="25400" rtlCol="0" anchor="t">
            <a:normAutofit/>
          </a:bodyPr>
          <a:lstStyle/>
          <a:p>
            <a:pPr marL="0" indent="0" algn="l">
              <a:lnSpc>
                <a:spcPct val="180000"/>
              </a:lnSpc>
              <a:buNone/>
            </a:pPr>
            <a:r>
              <a:rPr lang="en-US" sz="1950" dirty="0">
                <a:solidFill>
                  <a:srgbClr val="48413A"/>
                </a:solidFill>
                <a:latin typeface="IBM Plex Mono" pitchFamily="34" charset="0"/>
                <a:ea typeface="IBM Plex Mono" pitchFamily="34" charset="-122"/>
                <a:cs typeface="IBM Plex Mono" pitchFamily="34" charset="-120"/>
              </a:rPr>
              <a:t>◇ Button ⟶ </a:t>
            </a:r>
            <a:r>
              <a:rPr lang="en-US" sz="1950" dirty="0">
                <a:solidFill>
                  <a:srgbClr val="2A45D0"/>
                </a:solidFill>
                <a:latin typeface="IBM Plex Mono" pitchFamily="34" charset="0"/>
                <a:ea typeface="IBM Plex Mono" pitchFamily="34" charset="-122"/>
                <a:cs typeface="IBM Plex Mono" pitchFamily="34" charset="-120"/>
              </a:rPr>
              <a:t>main </a:t>
            </a:r>
            <a:r>
              <a:rPr lang="en-US" sz="1950" dirty="0">
                <a:solidFill>
                  <a:srgbClr val="48413A"/>
                </a:solidFill>
                <a:latin typeface="IBM Plex Mono" pitchFamily="34" charset="0"/>
                <a:ea typeface="IBM Plex Mono" pitchFamily="34" charset="-122"/>
                <a:cs typeface="IBM Plex Mono" pitchFamily="34" charset="-120"/>
              </a:rPr>
              <a:t>◇ Button ⟶ </a:t>
            </a:r>
            <a:r>
              <a:rPr lang="en-US" sz="1950" dirty="0">
                <a:solidFill>
                  <a:srgbClr val="2A45D0"/>
                </a:solidFill>
                <a:latin typeface="IBM Plex Mono" pitchFamily="34" charset="0"/>
                <a:ea typeface="IBM Plex Mono" pitchFamily="34" charset="-122"/>
                <a:cs typeface="IBM Plex Mono" pitchFamily="34" charset="-120"/>
              </a:rPr>
              <a:t>main </a:t>
            </a:r>
            <a:r>
              <a:rPr lang="en-US" sz="1950" dirty="0">
                <a:solidFill>
                  <a:srgbClr val="48413A"/>
                </a:solidFill>
                <a:latin typeface="IBM Plex Mono" pitchFamily="34" charset="0"/>
                <a:ea typeface="IBM Plex Mono" pitchFamily="34" charset="-122"/>
                <a:cs typeface="IBM Plex Mono" pitchFamily="34" charset="-120"/>
              </a:rPr>
              <a:t>◇ Button ⟶ </a:t>
            </a:r>
            <a:r>
              <a:rPr lang="en-US" sz="1950" dirty="0">
                <a:solidFill>
                  <a:srgbClr val="2A45D0"/>
                </a:solidFill>
                <a:latin typeface="IBM Plex Mono" pitchFamily="34" charset="0"/>
                <a:ea typeface="IBM Plex Mono" pitchFamily="34" charset="-122"/>
                <a:cs typeface="IBM Plex Mono" pitchFamily="34" charset="-120"/>
              </a:rPr>
              <a:t>main</a:t>
            </a:r>
            <a:endParaRPr lang="en-US" sz="1950" dirty="0"/>
          </a:p>
        </p:txBody>
      </p:sp>
      <p:sp>
        <p:nvSpPr>
          <p:cNvPr id="14" name="Text 12"/>
          <p:cNvSpPr/>
          <p:nvPr/>
        </p:nvSpPr>
        <p:spPr>
          <a:xfrm>
            <a:off x="6884343" y="5591919"/>
            <a:ext cx="4451934"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45D0"/>
                </a:solidFill>
                <a:latin typeface="IBM Plex Sans" pitchFamily="34" charset="0"/>
                <a:ea typeface="IBM Plex Sans" pitchFamily="34" charset="-122"/>
                <a:cs typeface="IBM Plex Sans" pitchFamily="34" charset="-120"/>
              </a:rPr>
              <a:t>→ AI reuses the component you already shipped.</a:t>
            </a:r>
            <a:endParaRPr lang="en-US" sz="1800" dirty="0"/>
          </a:p>
        </p:txBody>
      </p:sp>
      <p:sp>
        <p:nvSpPr>
          <p:cNvPr id="15" name="Shape 13"/>
          <p:cNvSpPr/>
          <p:nvPr/>
        </p:nvSpPr>
        <p:spPr>
          <a:xfrm>
            <a:off x="11940034" y="3111698"/>
            <a:ext cx="5300216" cy="6375202"/>
          </a:xfrm>
          <a:prstGeom prst="roundRect">
            <a:avLst>
              <a:gd name="adj" fmla="val 2875"/>
            </a:avLst>
          </a:prstGeom>
          <a:solidFill>
            <a:srgbClr val="1E1A15"/>
          </a:solidFill>
          <a:ln/>
        </p:spPr>
      </p:sp>
      <p:sp>
        <p:nvSpPr>
          <p:cNvPr id="16" name="Text 14"/>
          <p:cNvSpPr/>
          <p:nvPr/>
        </p:nvSpPr>
        <p:spPr>
          <a:xfrm>
            <a:off x="12321034" y="5275362"/>
            <a:ext cx="4674362"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THE AUDIT IS MECHANICAL</a:t>
            </a:r>
            <a:endParaRPr lang="en-US" sz="1350" dirty="0"/>
          </a:p>
        </p:txBody>
      </p:sp>
      <p:sp>
        <p:nvSpPr>
          <p:cNvPr id="17" name="Text 15"/>
          <p:cNvSpPr/>
          <p:nvPr/>
        </p:nvSpPr>
        <p:spPr>
          <a:xfrm>
            <a:off x="12321034" y="5723037"/>
            <a:ext cx="4674362" cy="16383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F1ECE3"/>
                </a:solidFill>
                <a:latin typeface="IBM Plex Sans" pitchFamily="34" charset="0"/>
                <a:ea typeface="IBM Plex Sans" pitchFamily="34" charset="-122"/>
                <a:cs typeface="IBM Plex Sans" pitchFamily="34" charset="-120"/>
              </a:rPr>
              <a:t>Scan pages for </a:t>
            </a:r>
            <a:r>
              <a:rPr lang="en-US" sz="2100" dirty="0">
                <a:solidFill>
                  <a:srgbClr val="CF5A33"/>
                </a:solidFill>
                <a:latin typeface="IBM Plex Mono" pitchFamily="34" charset="0"/>
                <a:ea typeface="IBM Plex Mono" pitchFamily="34" charset="-122"/>
                <a:cs typeface="IBM Plex Mono" pitchFamily="34" charset="-120"/>
              </a:rPr>
              <a:t>FRAME </a:t>
            </a:r>
            <a:r>
              <a:rPr lang="en-US" sz="2100" dirty="0">
                <a:solidFill>
                  <a:srgbClr val="F1ECE3"/>
                </a:solidFill>
                <a:latin typeface="IBM Plex Sans" pitchFamily="34" charset="0"/>
                <a:ea typeface="IBM Plex Sans" pitchFamily="34" charset="-122"/>
                <a:cs typeface="IBM Plex Sans" pitchFamily="34" charset="-120"/>
              </a:rPr>
              <a:t>nodes named like your components. They're almost always detached copies — swap them for instances.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3221145"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CF5A33"/>
                </a:solidFill>
                <a:latin typeface="IBM Plex Mono" pitchFamily="34" charset="0"/>
                <a:ea typeface="IBM Plex Mono" pitchFamily="34" charset="-122"/>
                <a:cs typeface="IBM Plex Mono" pitchFamily="34" charset="-120"/>
              </a:rPr>
              <a:t>TIER 1 · 03 — PROPERTIES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10 / 19</a:t>
            </a:r>
            <a:endParaRPr lang="en-US" sz="1350" dirty="0"/>
          </a:p>
        </p:txBody>
      </p:sp>
      <p:sp>
        <p:nvSpPr>
          <p:cNvPr id="5" name="Text 3"/>
          <p:cNvSpPr/>
          <p:nvPr/>
        </p:nvSpPr>
        <p:spPr>
          <a:xfrm>
            <a:off x="1047750" y="1504950"/>
            <a:ext cx="9381683"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81" dirty="0">
                <a:solidFill>
                  <a:srgbClr val="1E1A15"/>
                </a:solidFill>
                <a:latin typeface="Space Grotesk" pitchFamily="34" charset="0"/>
                <a:ea typeface="Space Grotesk" pitchFamily="34" charset="-122"/>
                <a:cs typeface="Space Grotesk" pitchFamily="34" charset="-120"/>
              </a:rPr>
              <a:t>Properties become the prop signature</a:t>
            </a:r>
            <a:endParaRPr lang="en-US" sz="4050" dirty="0"/>
          </a:p>
        </p:txBody>
      </p:sp>
      <p:sp>
        <p:nvSpPr>
          <p:cNvPr id="6" name="Text 4"/>
          <p:cNvSpPr/>
          <p:nvPr/>
        </p:nvSpPr>
        <p:spPr>
          <a:xfrm>
            <a:off x="10384780" y="1619250"/>
            <a:ext cx="909786" cy="447675"/>
          </a:xfrm>
          <a:prstGeom prst="rect">
            <a:avLst/>
          </a:prstGeom>
          <a:noFill/>
          <a:ln/>
        </p:spPr>
        <p:txBody>
          <a:bodyPr wrap="square" lIns="25400" tIns="25400" rIns="25400" bIns="25400" rtlCol="0" anchor="t">
            <a:normAutofit/>
          </a:bodyPr>
          <a:lstStyle/>
          <a:p>
            <a:pPr marL="0" indent="0" algn="l">
              <a:buNone/>
            </a:pPr>
            <a:r>
              <a:rPr lang="en-US" sz="2550" b="1" dirty="0">
                <a:solidFill>
                  <a:srgbClr val="2A45D0"/>
                </a:solidFill>
                <a:latin typeface="Space Grotesk" pitchFamily="34" charset="0"/>
                <a:ea typeface="Space Grotesk" pitchFamily="34" charset="-122"/>
                <a:cs typeface="Space Grotesk" pitchFamily="34" charset="-120"/>
              </a:rPr>
              <a:t>~22%</a:t>
            </a:r>
            <a:endParaRPr lang="en-US" sz="2550" dirty="0"/>
          </a:p>
        </p:txBody>
      </p:sp>
      <p:sp>
        <p:nvSpPr>
          <p:cNvPr id="7" name="Text 5"/>
          <p:cNvSpPr/>
          <p:nvPr/>
        </p:nvSpPr>
        <p:spPr>
          <a:xfrm>
            <a:off x="1047750" y="2105025"/>
            <a:ext cx="12950190" cy="666750"/>
          </a:xfrm>
          <a:prstGeom prst="rect">
            <a:avLst/>
          </a:prstGeom>
          <a:noFill/>
          <a:ln/>
        </p:spPr>
        <p:txBody>
          <a:bodyPr wrap="square" lIns="25400" tIns="25400" rIns="25400" bIns="25400" rtlCol="0" anchor="t">
            <a:normAutofit/>
          </a:bodyPr>
          <a:lstStyle/>
          <a:p>
            <a:pPr marL="0" indent="0" algn="l">
              <a:buNone/>
            </a:pPr>
            <a:r>
              <a:rPr lang="en-US" sz="1875" dirty="0">
                <a:solidFill>
                  <a:srgbClr val="6E6557"/>
                </a:solidFill>
                <a:latin typeface="IBM Plex Sans" pitchFamily="34" charset="0"/>
                <a:ea typeface="IBM Plex Sans" pitchFamily="34" charset="-122"/>
                <a:cs typeface="IBM Plex Sans" pitchFamily="34" charset="-120"/>
              </a:rPr>
              <a:t>A real Figma property carries straight into the generated React or Vue component. Fake it with separate frames and you fork the component.</a:t>
            </a:r>
            <a:endParaRPr lang="en-US" sz="1875" dirty="0"/>
          </a:p>
        </p:txBody>
      </p:sp>
      <p:sp>
        <p:nvSpPr>
          <p:cNvPr id="8" name="Shape 6"/>
          <p:cNvSpPr/>
          <p:nvPr/>
        </p:nvSpPr>
        <p:spPr>
          <a:xfrm>
            <a:off x="1047750" y="3057525"/>
            <a:ext cx="7924800" cy="6429375"/>
          </a:xfrm>
          <a:prstGeom prst="roundRect">
            <a:avLst>
              <a:gd name="adj" fmla="val 2370"/>
            </a:avLst>
          </a:prstGeom>
          <a:solidFill>
            <a:srgbClr val="1E1A15"/>
          </a:solidFill>
          <a:ln/>
        </p:spPr>
      </p:sp>
      <p:sp>
        <p:nvSpPr>
          <p:cNvPr id="9" name="Text 7"/>
          <p:cNvSpPr/>
          <p:nvPr/>
        </p:nvSpPr>
        <p:spPr>
          <a:xfrm>
            <a:off x="1447800" y="3457575"/>
            <a:ext cx="7338441"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2A45D0"/>
                </a:solidFill>
                <a:latin typeface="IBM Plex Mono" pitchFamily="34" charset="0"/>
                <a:ea typeface="IBM Plex Mono" pitchFamily="34" charset="-122"/>
                <a:cs typeface="IBM Plex Mono" pitchFamily="34" charset="-120"/>
              </a:rPr>
              <a:t>DEFINED AS PROPERTIES ✓</a:t>
            </a:r>
            <a:endParaRPr lang="en-US" sz="1350" dirty="0"/>
          </a:p>
        </p:txBody>
      </p:sp>
      <p:sp>
        <p:nvSpPr>
          <p:cNvPr id="10" name="Text 8"/>
          <p:cNvSpPr/>
          <p:nvPr/>
        </p:nvSpPr>
        <p:spPr>
          <a:xfrm>
            <a:off x="1447800" y="3943350"/>
            <a:ext cx="7338441" cy="1465064"/>
          </a:xfrm>
          <a:prstGeom prst="rect">
            <a:avLst/>
          </a:prstGeom>
          <a:noFill/>
          <a:ln/>
        </p:spPr>
        <p:txBody>
          <a:bodyPr wrap="none" lIns="25400" tIns="25400" rIns="25400" bIns="25400" rtlCol="0" anchor="t">
            <a:normAutofit/>
          </a:bodyPr>
          <a:lstStyle/>
          <a:p>
            <a:pPr marL="0" indent="0" algn="l">
              <a:lnSpc>
                <a:spcPct val="185000"/>
              </a:lnSpc>
              <a:buNone/>
            </a:pPr>
            <a:r>
              <a:rPr lang="en-US" sz="2025" dirty="0">
                <a:solidFill>
                  <a:srgbClr val="F1ECE3"/>
                </a:solidFill>
                <a:latin typeface="IBM Plex Mono" pitchFamily="34" charset="0"/>
                <a:ea typeface="IBM Plex Mono" pitchFamily="34" charset="-122"/>
                <a:cs typeface="IBM Plex Mono" pitchFamily="34" charset="-120"/>
              </a:rPr>
              <a:t>Button</a:t>
            </a:r>
            <a:endParaRPr lang="en-US" sz="2025" dirty="0"/>
          </a:p>
          <a:p>
            <a:pPr marL="0" indent="0" algn="l">
              <a:lnSpc>
                <a:spcPct val="185000"/>
              </a:lnSpc>
              <a:buNone/>
            </a:pPr>
            <a:r>
              <a:rPr lang="en-US" sz="2025" dirty="0">
                <a:solidFill>
                  <a:srgbClr val="F1ECE3"/>
                </a:solidFill>
                <a:latin typeface="IBM Plex Mono" pitchFamily="34" charset="0"/>
                <a:ea typeface="IBM Plex Mono" pitchFamily="34" charset="-122"/>
                <a:cs typeface="IBM Plex Mono" pitchFamily="34" charset="-120"/>
              </a:rPr>
              <a:t>  variant: </a:t>
            </a:r>
            <a:endParaRPr lang="en-US" sz="2025" dirty="0"/>
          </a:p>
          <a:p>
            <a:pPr marL="0" indent="0" algn="l">
              <a:lnSpc>
                <a:spcPct val="185000"/>
              </a:lnSpc>
              <a:buNone/>
            </a:pPr>
            <a:r>
              <a:rPr lang="en-US" sz="2025" dirty="0">
                <a:solidFill>
                  <a:srgbClr val="7FA0FF"/>
                </a:solidFill>
                <a:latin typeface="IBM Plex Mono" pitchFamily="34" charset="0"/>
                <a:ea typeface="IBM Plex Mono" pitchFamily="34" charset="-122"/>
                <a:cs typeface="IBM Plex Mono" pitchFamily="34" charset="-120"/>
              </a:rPr>
              <a:t>primary | secondary | ghost </a:t>
            </a:r>
            <a:r>
              <a:rPr lang="en-US" sz="2025" dirty="0">
                <a:solidFill>
                  <a:srgbClr val="F1ECE3"/>
                </a:solidFill>
                <a:latin typeface="IBM Plex Mono" pitchFamily="34" charset="0"/>
                <a:ea typeface="IBM Plex Mono" pitchFamily="34" charset="-122"/>
                <a:cs typeface="IBM Plex Mono" pitchFamily="34" charset="-120"/>
              </a:rPr>
              <a:t>  size:    </a:t>
            </a:r>
            <a:r>
              <a:rPr lang="en-US" sz="2025" dirty="0">
                <a:solidFill>
                  <a:srgbClr val="7FA0FF"/>
                </a:solidFill>
                <a:latin typeface="IBM Plex Mono" pitchFamily="34" charset="0"/>
                <a:ea typeface="IBM Plex Mono" pitchFamily="34" charset="-122"/>
                <a:cs typeface="IBM Plex Mono" pitchFamily="34" charset="-120"/>
              </a:rPr>
              <a:t>sm | md | lg</a:t>
            </a:r>
            <a:endParaRPr lang="en-US" sz="2025" dirty="0"/>
          </a:p>
        </p:txBody>
      </p:sp>
      <p:sp>
        <p:nvSpPr>
          <p:cNvPr id="11" name="Text 9"/>
          <p:cNvSpPr/>
          <p:nvPr/>
        </p:nvSpPr>
        <p:spPr>
          <a:xfrm>
            <a:off x="1447800" y="8755410"/>
            <a:ext cx="7338441" cy="36954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B8AFA1"/>
                </a:solidFill>
                <a:latin typeface="IBM Plex Sans" pitchFamily="34" charset="0"/>
                <a:ea typeface="IBM Plex Sans" pitchFamily="34" charset="-122"/>
                <a:cs typeface="IBM Plex Sans" pitchFamily="34" charset="-120"/>
              </a:rPr>
              <a:t>→ One component. The generated code inherits this exact signature.</a:t>
            </a:r>
            <a:endParaRPr lang="en-US" sz="1800" dirty="0"/>
          </a:p>
        </p:txBody>
      </p:sp>
      <p:sp>
        <p:nvSpPr>
          <p:cNvPr id="12" name="Shape 10"/>
          <p:cNvSpPr/>
          <p:nvPr/>
        </p:nvSpPr>
        <p:spPr>
          <a:xfrm>
            <a:off x="9296400" y="3057525"/>
            <a:ext cx="7943850" cy="6429375"/>
          </a:xfrm>
          <a:prstGeom prst="roundRect">
            <a:avLst>
              <a:gd name="adj" fmla="val 2370"/>
            </a:avLst>
          </a:prstGeom>
          <a:solidFill>
            <a:srgbClr val="FBF8F2"/>
          </a:solidFill>
          <a:ln w="9525">
            <a:solidFill>
              <a:srgbClr val="D9D1C3"/>
            </a:solidFill>
            <a:prstDash val="solid"/>
          </a:ln>
        </p:spPr>
      </p:sp>
      <p:sp>
        <p:nvSpPr>
          <p:cNvPr id="13" name="Text 11"/>
          <p:cNvSpPr/>
          <p:nvPr/>
        </p:nvSpPr>
        <p:spPr>
          <a:xfrm>
            <a:off x="9705975" y="3467100"/>
            <a:ext cx="7338441"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FAKED AS FRAMES ✗</a:t>
            </a:r>
            <a:endParaRPr lang="en-US" sz="1350" dirty="0"/>
          </a:p>
        </p:txBody>
      </p:sp>
      <p:sp>
        <p:nvSpPr>
          <p:cNvPr id="14" name="Text 12"/>
          <p:cNvSpPr/>
          <p:nvPr/>
        </p:nvSpPr>
        <p:spPr>
          <a:xfrm>
            <a:off x="9705975" y="3952875"/>
            <a:ext cx="7338441" cy="1940719"/>
          </a:xfrm>
          <a:prstGeom prst="rect">
            <a:avLst/>
          </a:prstGeom>
          <a:noFill/>
          <a:ln/>
        </p:spPr>
        <p:txBody>
          <a:bodyPr wrap="square" lIns="25400" tIns="25400" rIns="25400" bIns="25400" rtlCol="0" anchor="t">
            <a:normAutofit/>
          </a:bodyPr>
          <a:lstStyle/>
          <a:p>
            <a:pPr marL="0" indent="0" algn="l">
              <a:lnSpc>
                <a:spcPct val="185000"/>
              </a:lnSpc>
              <a:buNone/>
            </a:pPr>
            <a:r>
              <a:rPr lang="en-US" sz="2025" dirty="0">
                <a:solidFill>
                  <a:srgbClr val="48413A"/>
                </a:solidFill>
                <a:latin typeface="IBM Plex Mono" pitchFamily="34" charset="0"/>
                <a:ea typeface="IBM Plex Mono" pitchFamily="34" charset="-122"/>
                <a:cs typeface="IBM Plex Mono" pitchFamily="34" charset="-120"/>
              </a:rPr>
              <a:t>Button-primary Button-secondary Button-ghost </a:t>
            </a:r>
            <a:r>
              <a:rPr lang="en-US" sz="2025" dirty="0">
                <a:solidFill>
                  <a:srgbClr val="CF5A33"/>
                </a:solidFill>
                <a:latin typeface="IBM Plex Mono" pitchFamily="34" charset="0"/>
                <a:ea typeface="IBM Plex Mono" pitchFamily="34" charset="-122"/>
                <a:cs typeface="IBM Plex Mono" pitchFamily="34" charset="-120"/>
              </a:rPr>
              <a:t>style1 | style2 </a:t>
            </a:r>
            <a:r>
              <a:rPr lang="en-US" sz="2025" dirty="0">
                <a:solidFill>
                  <a:srgbClr val="9A9082"/>
                </a:solidFill>
                <a:latin typeface="IBM Plex Mono" pitchFamily="34" charset="0"/>
                <a:ea typeface="IBM Plex Mono" pitchFamily="34" charset="-122"/>
                <a:cs typeface="IBM Plex Mono" pitchFamily="34" charset="-120"/>
              </a:rPr>
              <a:t>← everyone guesses</a:t>
            </a:r>
            <a:endParaRPr lang="en-US" sz="2025" dirty="0"/>
          </a:p>
        </p:txBody>
      </p:sp>
      <p:sp>
        <p:nvSpPr>
          <p:cNvPr id="15" name="Text 13"/>
          <p:cNvSpPr/>
          <p:nvPr/>
        </p:nvSpPr>
        <p:spPr>
          <a:xfrm>
            <a:off x="9705975" y="8745885"/>
            <a:ext cx="7338441" cy="36954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CF5A33"/>
                </a:solidFill>
                <a:latin typeface="IBM Plex Sans" pitchFamily="34" charset="0"/>
                <a:ea typeface="IBM Plex Sans" pitchFamily="34" charset="-122"/>
                <a:cs typeface="IBM Plex Sans" pitchFamily="34" charset="-120"/>
              </a:rPr>
              <a:t>→ Three separate Buttons in your codebase.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A15"/>
        </a:solidFill>
        <a:effectLst/>
      </p:bgPr>
    </p:bg>
    <p:spTree>
      <p:nvGrpSpPr>
        <p:cNvPr id="1" name=""/>
        <p:cNvGrpSpPr/>
        <p:nvPr/>
      </p:nvGrpSpPr>
      <p:grpSpPr>
        <a:xfrm>
          <a:off x="0" y="0"/>
          <a:ext cx="0" cy="0"/>
          <a:chOff x="0" y="0"/>
          <a:chExt cx="0" cy="0"/>
        </a:xfrm>
      </p:grpSpPr>
      <p:sp>
        <p:nvSpPr>
          <p:cNvPr id="2" name="Text 0"/>
          <p:cNvSpPr/>
          <p:nvPr/>
        </p:nvSpPr>
        <p:spPr>
          <a:xfrm>
            <a:off x="1047750" y="3351609"/>
            <a:ext cx="16678275" cy="314325"/>
          </a:xfrm>
          <a:prstGeom prst="rect">
            <a:avLst/>
          </a:prstGeom>
          <a:noFill/>
          <a:ln/>
        </p:spPr>
        <p:txBody>
          <a:bodyPr wrap="square" lIns="25400" tIns="25400" rIns="25400" bIns="25400" rtlCol="0" anchor="t">
            <a:normAutofit/>
          </a:bodyPr>
          <a:lstStyle/>
          <a:p>
            <a:pPr marL="0" indent="0" algn="l">
              <a:buNone/>
            </a:pPr>
            <a:r>
              <a:rPr lang="en-US" sz="1650" kern="0" spc="330" dirty="0">
                <a:solidFill>
                  <a:srgbClr val="2A45D0"/>
                </a:solidFill>
                <a:latin typeface="IBM Plex Mono" pitchFamily="34" charset="0"/>
                <a:ea typeface="IBM Plex Mono" pitchFamily="34" charset="-122"/>
                <a:cs typeface="IBM Plex Mono" pitchFamily="34" charset="-120"/>
              </a:rPr>
              <a:t>TIER 2 · HIGH PRIORITY</a:t>
            </a:r>
            <a:endParaRPr lang="en-US" sz="1650" dirty="0"/>
          </a:p>
        </p:txBody>
      </p:sp>
      <p:sp>
        <p:nvSpPr>
          <p:cNvPr id="3" name="Text 1"/>
          <p:cNvSpPr/>
          <p:nvPr/>
        </p:nvSpPr>
        <p:spPr>
          <a:xfrm>
            <a:off x="1047750" y="3913584"/>
            <a:ext cx="16678275" cy="2240756"/>
          </a:xfrm>
          <a:prstGeom prst="rect">
            <a:avLst/>
          </a:prstGeom>
          <a:noFill/>
          <a:ln/>
        </p:spPr>
        <p:txBody>
          <a:bodyPr wrap="square" lIns="25400" tIns="25400" rIns="25400" bIns="25400" rtlCol="0" anchor="t">
            <a:normAutofit/>
          </a:bodyPr>
          <a:lstStyle/>
          <a:p>
            <a:pPr marL="0" indent="0" algn="l">
              <a:lnSpc>
                <a:spcPct val="98000"/>
              </a:lnSpc>
              <a:buNone/>
            </a:pPr>
            <a:r>
              <a:rPr lang="en-US" sz="8850" b="1" kern="0" spc="-265" dirty="0">
                <a:solidFill>
                  <a:srgbClr val="F1ECE3"/>
                </a:solidFill>
                <a:latin typeface="Space Grotesk" pitchFamily="34" charset="0"/>
                <a:ea typeface="Space Grotesk" pitchFamily="34" charset="-122"/>
                <a:cs typeface="Space Grotesk" pitchFamily="34" charset="-120"/>
              </a:rPr>
              <a:t>Depth &amp; behavior.</a:t>
            </a:r>
            <a:endParaRPr lang="en-US" sz="8850" dirty="0"/>
          </a:p>
        </p:txBody>
      </p:sp>
      <p:sp>
        <p:nvSpPr>
          <p:cNvPr id="4" name="Text 2"/>
          <p:cNvSpPr/>
          <p:nvPr/>
        </p:nvSpPr>
        <p:spPr>
          <a:xfrm>
            <a:off x="1047750" y="6630591"/>
            <a:ext cx="3108168" cy="342900"/>
          </a:xfrm>
          <a:prstGeom prst="rect">
            <a:avLst/>
          </a:prstGeom>
          <a:noFill/>
          <a:ln/>
        </p:spPr>
        <p:txBody>
          <a:bodyPr wrap="square" lIns="25400" tIns="25400" rIns="25400" bIns="25400" rtlCol="0" anchor="t">
            <a:normAutofit/>
          </a:bodyPr>
          <a:lstStyle/>
          <a:p>
            <a:pPr marL="0" indent="0" algn="l">
              <a:buNone/>
            </a:pPr>
            <a:r>
              <a:rPr lang="en-US" sz="1800" dirty="0">
                <a:solidFill>
                  <a:srgbClr val="7FA0FF"/>
                </a:solidFill>
                <a:latin typeface="IBM Plex Mono" pitchFamily="34" charset="0"/>
                <a:ea typeface="IBM Plex Mono" pitchFamily="34" charset="-122"/>
                <a:cs typeface="IBM Plex Mono" pitchFamily="34" charset="-120"/>
              </a:rPr>
              <a:t>04 </a:t>
            </a:r>
            <a:r>
              <a:rPr lang="en-US" sz="1800" dirty="0">
                <a:solidFill>
                  <a:srgbClr val="B8AFA1"/>
                </a:solidFill>
                <a:latin typeface="IBM Plex Mono" pitchFamily="34" charset="0"/>
                <a:ea typeface="IBM Plex Mono" pitchFamily="34" charset="-122"/>
                <a:cs typeface="IBM Plex Mono" pitchFamily="34" charset="-120"/>
              </a:rPr>
              <a:t>Interactive states</a:t>
            </a:r>
            <a:endParaRPr lang="en-US" sz="1800" dirty="0"/>
          </a:p>
        </p:txBody>
      </p:sp>
      <p:sp>
        <p:nvSpPr>
          <p:cNvPr id="5" name="Text 3"/>
          <p:cNvSpPr/>
          <p:nvPr/>
        </p:nvSpPr>
        <p:spPr>
          <a:xfrm>
            <a:off x="4541639" y="6630591"/>
            <a:ext cx="2270968" cy="342900"/>
          </a:xfrm>
          <a:prstGeom prst="rect">
            <a:avLst/>
          </a:prstGeom>
          <a:noFill/>
          <a:ln/>
        </p:spPr>
        <p:txBody>
          <a:bodyPr wrap="square" lIns="25400" tIns="25400" rIns="25400" bIns="25400" rtlCol="0" anchor="t">
            <a:normAutofit/>
          </a:bodyPr>
          <a:lstStyle/>
          <a:p>
            <a:pPr marL="0" indent="0" algn="l">
              <a:buNone/>
            </a:pPr>
            <a:r>
              <a:rPr lang="en-US" sz="1800" dirty="0">
                <a:solidFill>
                  <a:srgbClr val="7FA0FF"/>
                </a:solidFill>
                <a:latin typeface="IBM Plex Mono" pitchFamily="34" charset="0"/>
                <a:ea typeface="IBM Plex Mono" pitchFamily="34" charset="-122"/>
                <a:cs typeface="IBM Plex Mono" pitchFamily="34" charset="-120"/>
              </a:rPr>
              <a:t>05 </a:t>
            </a:r>
            <a:r>
              <a:rPr lang="en-US" sz="1800" dirty="0">
                <a:solidFill>
                  <a:srgbClr val="B8AFA1"/>
                </a:solidFill>
                <a:latin typeface="IBM Plex Mono" pitchFamily="34" charset="0"/>
                <a:ea typeface="IBM Plex Mono" pitchFamily="34" charset="-122"/>
                <a:cs typeface="IBM Plex Mono" pitchFamily="34" charset="-120"/>
              </a:rPr>
              <a:t>Descriptions</a:t>
            </a:r>
            <a:endParaRPr lang="en-US" sz="1800" dirty="0"/>
          </a:p>
        </p:txBody>
      </p:sp>
      <p:sp>
        <p:nvSpPr>
          <p:cNvPr id="6" name="Text 4"/>
          <p:cNvSpPr/>
          <p:nvPr/>
        </p:nvSpPr>
        <p:spPr>
          <a:xfrm>
            <a:off x="7212657" y="6630591"/>
            <a:ext cx="213374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7FA0FF"/>
                </a:solidFill>
                <a:latin typeface="IBM Plex Mono" pitchFamily="34" charset="0"/>
                <a:ea typeface="IBM Plex Mono" pitchFamily="34" charset="-122"/>
                <a:cs typeface="IBM Plex Mono" pitchFamily="34" charset="-120"/>
              </a:rPr>
              <a:t>06 </a:t>
            </a:r>
            <a:r>
              <a:rPr lang="en-US" sz="1800" dirty="0">
                <a:solidFill>
                  <a:srgbClr val="B8AFA1"/>
                </a:solidFill>
                <a:latin typeface="IBM Plex Mono" pitchFamily="34" charset="0"/>
                <a:ea typeface="IBM Plex Mono" pitchFamily="34" charset="-122"/>
                <a:cs typeface="IBM Plex Mono" pitchFamily="34" charset="-120"/>
              </a:rPr>
              <a:t>Annotations</a:t>
            </a:r>
            <a:endParaRPr lang="en-US" sz="1800" dirty="0"/>
          </a:p>
        </p:txBody>
      </p:sp>
      <p:sp>
        <p:nvSpPr>
          <p:cNvPr id="7" name="Text 5"/>
          <p:cNvSpPr/>
          <p:nvPr/>
        </p:nvSpPr>
        <p:spPr>
          <a:xfrm>
            <a:off x="9746456" y="6630591"/>
            <a:ext cx="3108168" cy="342900"/>
          </a:xfrm>
          <a:prstGeom prst="rect">
            <a:avLst/>
          </a:prstGeom>
          <a:noFill/>
          <a:ln/>
        </p:spPr>
        <p:txBody>
          <a:bodyPr wrap="square" lIns="25400" tIns="25400" rIns="25400" bIns="25400" rtlCol="0" anchor="t">
            <a:normAutofit/>
          </a:bodyPr>
          <a:lstStyle/>
          <a:p>
            <a:pPr marL="0" indent="0" algn="l">
              <a:buNone/>
            </a:pPr>
            <a:r>
              <a:rPr lang="en-US" sz="1800" dirty="0">
                <a:solidFill>
                  <a:srgbClr val="7FA0FF"/>
                </a:solidFill>
                <a:latin typeface="IBM Plex Mono" pitchFamily="34" charset="0"/>
                <a:ea typeface="IBM Plex Mono" pitchFamily="34" charset="-122"/>
                <a:cs typeface="IBM Plex Mono" pitchFamily="34" charset="-120"/>
              </a:rPr>
              <a:t>07 </a:t>
            </a:r>
            <a:r>
              <a:rPr lang="en-US" sz="1800" dirty="0">
                <a:solidFill>
                  <a:srgbClr val="B8AFA1"/>
                </a:solidFill>
                <a:latin typeface="IBM Plex Mono" pitchFamily="34" charset="0"/>
                <a:ea typeface="IBM Plex Mono" pitchFamily="34" charset="-122"/>
                <a:cs typeface="IBM Plex Mono" pitchFamily="34" charset="-120"/>
              </a:rPr>
              <a:t>Boundaries &amp; names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2684313"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TIER 2 · 04 — STATES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12 / 19</a:t>
            </a:r>
            <a:endParaRPr lang="en-US" sz="1350" dirty="0"/>
          </a:p>
        </p:txBody>
      </p:sp>
      <p:sp>
        <p:nvSpPr>
          <p:cNvPr id="5" name="Text 3"/>
          <p:cNvSpPr/>
          <p:nvPr/>
        </p:nvSpPr>
        <p:spPr>
          <a:xfrm>
            <a:off x="1047750" y="1504950"/>
            <a:ext cx="11178430"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81" dirty="0">
                <a:solidFill>
                  <a:srgbClr val="1E1A15"/>
                </a:solidFill>
                <a:latin typeface="Space Grotesk" pitchFamily="34" charset="0"/>
                <a:ea typeface="Space Grotesk" pitchFamily="34" charset="-122"/>
                <a:cs typeface="Space Grotesk" pitchFamily="34" charset="-120"/>
              </a:rPr>
              <a:t>Every interactive component needs its states</a:t>
            </a:r>
            <a:endParaRPr lang="en-US" sz="4050" dirty="0"/>
          </a:p>
        </p:txBody>
      </p:sp>
      <p:sp>
        <p:nvSpPr>
          <p:cNvPr id="6" name="Text 4"/>
          <p:cNvSpPr/>
          <p:nvPr/>
        </p:nvSpPr>
        <p:spPr>
          <a:xfrm>
            <a:off x="12129195" y="1619250"/>
            <a:ext cx="926009" cy="447675"/>
          </a:xfrm>
          <a:prstGeom prst="rect">
            <a:avLst/>
          </a:prstGeom>
          <a:noFill/>
          <a:ln/>
        </p:spPr>
        <p:txBody>
          <a:bodyPr wrap="square" lIns="25400" tIns="25400" rIns="25400" bIns="25400" rtlCol="0" anchor="t">
            <a:normAutofit/>
          </a:bodyPr>
          <a:lstStyle/>
          <a:p>
            <a:pPr marL="0" indent="0" algn="l">
              <a:buNone/>
            </a:pPr>
            <a:r>
              <a:rPr lang="en-US" sz="2550" b="1" dirty="0">
                <a:solidFill>
                  <a:srgbClr val="2A45D0"/>
                </a:solidFill>
                <a:latin typeface="Space Grotesk" pitchFamily="34" charset="0"/>
                <a:ea typeface="Space Grotesk" pitchFamily="34" charset="-122"/>
                <a:cs typeface="Space Grotesk" pitchFamily="34" charset="-120"/>
              </a:rPr>
              <a:t>~20%</a:t>
            </a:r>
            <a:endParaRPr lang="en-US" sz="2550" dirty="0"/>
          </a:p>
        </p:txBody>
      </p:sp>
      <p:sp>
        <p:nvSpPr>
          <p:cNvPr id="7" name="Text 5"/>
          <p:cNvSpPr/>
          <p:nvPr/>
        </p:nvSpPr>
        <p:spPr>
          <a:xfrm>
            <a:off x="1047750" y="2124075"/>
            <a:ext cx="13146405" cy="704850"/>
          </a:xfrm>
          <a:prstGeom prst="rect">
            <a:avLst/>
          </a:prstGeom>
          <a:noFill/>
          <a:ln/>
        </p:spPr>
        <p:txBody>
          <a:bodyPr wrap="square" lIns="25400" tIns="25400" rIns="25400" bIns="25400" rtlCol="0" anchor="t">
            <a:normAutofit/>
          </a:bodyPr>
          <a:lstStyle/>
          <a:p>
            <a:pPr marL="0" indent="0" algn="l">
              <a:buNone/>
            </a:pPr>
            <a:r>
              <a:rPr lang="en-US" sz="2025" dirty="0">
                <a:solidFill>
                  <a:srgbClr val="48413A"/>
                </a:solidFill>
                <a:latin typeface="IBM Plex Sans" pitchFamily="34" charset="0"/>
                <a:ea typeface="IBM Plex Sans" pitchFamily="34" charset="-122"/>
                <a:cs typeface="IBM Plex Sans" pitchFamily="34" charset="-120"/>
              </a:rPr>
              <a:t>A Button without a hover state isn't a Button. It's a rectangle that says "Submit." Hand AI an incomplete set and it </a:t>
            </a:r>
            <a:r>
              <a:rPr lang="en-US" sz="2025" dirty="0">
                <a:solidFill>
                  <a:srgbClr val="CF5A33"/>
                </a:solidFill>
                <a:latin typeface="IBM Plex Sans" pitchFamily="34" charset="0"/>
                <a:ea typeface="IBM Plex Sans" pitchFamily="34" charset="-122"/>
                <a:cs typeface="IBM Plex Sans" pitchFamily="34" charset="-120"/>
              </a:rPr>
              <a:t>invents the missing states </a:t>
            </a:r>
            <a:r>
              <a:rPr lang="en-US" sz="2025" dirty="0">
                <a:solidFill>
                  <a:srgbClr val="48413A"/>
                </a:solidFill>
                <a:latin typeface="IBM Plex Sans" pitchFamily="34" charset="0"/>
                <a:ea typeface="IBM Plex Sans" pitchFamily="34" charset="-122"/>
                <a:cs typeface="IBM Plex Sans" pitchFamily="34" charset="-120"/>
              </a:rPr>
              <a:t>— often in colors that aren't in your token system.</a:t>
            </a:r>
            <a:endParaRPr lang="en-US" sz="2025" dirty="0"/>
          </a:p>
        </p:txBody>
      </p:sp>
      <p:sp>
        <p:nvSpPr>
          <p:cNvPr id="8" name="Shape 6"/>
          <p:cNvSpPr/>
          <p:nvPr/>
        </p:nvSpPr>
        <p:spPr>
          <a:xfrm>
            <a:off x="1047750" y="5629275"/>
            <a:ext cx="1817489" cy="800100"/>
          </a:xfrm>
          <a:prstGeom prst="roundRect">
            <a:avLst>
              <a:gd name="adj" fmla="val 11905"/>
            </a:avLst>
          </a:prstGeom>
          <a:solidFill>
            <a:srgbClr val="2A45D0"/>
          </a:solidFill>
          <a:ln/>
        </p:spPr>
      </p:sp>
      <p:sp>
        <p:nvSpPr>
          <p:cNvPr id="9" name="Text 7"/>
          <p:cNvSpPr/>
          <p:nvPr/>
        </p:nvSpPr>
        <p:spPr>
          <a:xfrm>
            <a:off x="1485900" y="5857875"/>
            <a:ext cx="1017389" cy="381000"/>
          </a:xfrm>
          <a:prstGeom prst="rect">
            <a:avLst/>
          </a:prstGeom>
          <a:noFill/>
          <a:ln/>
        </p:spPr>
        <p:txBody>
          <a:bodyPr wrap="square" lIns="25400" tIns="25400" rIns="25400" bIns="25400" rtlCol="0" anchor="t">
            <a:normAutofit/>
          </a:bodyPr>
          <a:lstStyle/>
          <a:p>
            <a:pPr marL="0" indent="0" algn="l">
              <a:buNone/>
            </a:pPr>
            <a:r>
              <a:rPr lang="en-US" sz="2100" dirty="0">
                <a:solidFill>
                  <a:srgbClr val="FFFFFF"/>
                </a:solidFill>
                <a:latin typeface="Space Grotesk" pitchFamily="34" charset="0"/>
                <a:ea typeface="Space Grotesk" pitchFamily="34" charset="-122"/>
                <a:cs typeface="Space Grotesk" pitchFamily="34" charset="-120"/>
              </a:rPr>
              <a:t>default</a:t>
            </a:r>
            <a:endParaRPr lang="en-US" sz="2100" dirty="0"/>
          </a:p>
        </p:txBody>
      </p:sp>
      <p:sp>
        <p:nvSpPr>
          <p:cNvPr id="10" name="Shape 8"/>
          <p:cNvSpPr/>
          <p:nvPr/>
        </p:nvSpPr>
        <p:spPr>
          <a:xfrm>
            <a:off x="3074789" y="5629275"/>
            <a:ext cx="1599009" cy="800100"/>
          </a:xfrm>
          <a:prstGeom prst="roundRect">
            <a:avLst>
              <a:gd name="adj" fmla="val 11905"/>
            </a:avLst>
          </a:prstGeom>
          <a:solidFill>
            <a:srgbClr val="1F37B0"/>
          </a:solidFill>
          <a:ln/>
          <a:effectLst>
            <a:outerShdw blurRad="101600" dist="50800" dir="16200000" algn="bl" rotWithShape="0">
              <a:srgbClr val="2A45D0">
                <a:alpha val="25000"/>
              </a:srgbClr>
            </a:outerShdw>
          </a:effectLst>
        </p:spPr>
      </p:sp>
      <p:sp>
        <p:nvSpPr>
          <p:cNvPr id="11" name="Text 9"/>
          <p:cNvSpPr/>
          <p:nvPr/>
        </p:nvSpPr>
        <p:spPr>
          <a:xfrm>
            <a:off x="3512939" y="5857875"/>
            <a:ext cx="798909" cy="381000"/>
          </a:xfrm>
          <a:prstGeom prst="rect">
            <a:avLst/>
          </a:prstGeom>
          <a:noFill/>
          <a:ln/>
        </p:spPr>
        <p:txBody>
          <a:bodyPr wrap="square" lIns="25400" tIns="25400" rIns="25400" bIns="25400" rtlCol="0" anchor="t">
            <a:normAutofit/>
          </a:bodyPr>
          <a:lstStyle/>
          <a:p>
            <a:pPr marL="0" indent="0" algn="l">
              <a:buNone/>
            </a:pPr>
            <a:r>
              <a:rPr lang="en-US" sz="2100" dirty="0">
                <a:solidFill>
                  <a:srgbClr val="FFFFFF"/>
                </a:solidFill>
                <a:latin typeface="Space Grotesk" pitchFamily="34" charset="0"/>
                <a:ea typeface="Space Grotesk" pitchFamily="34" charset="-122"/>
                <a:cs typeface="Space Grotesk" pitchFamily="34" charset="-120"/>
              </a:rPr>
              <a:t>hover</a:t>
            </a:r>
            <a:endParaRPr lang="en-US" sz="2100" dirty="0"/>
          </a:p>
        </p:txBody>
      </p:sp>
      <p:sp>
        <p:nvSpPr>
          <p:cNvPr id="12" name="Shape 10"/>
          <p:cNvSpPr/>
          <p:nvPr/>
        </p:nvSpPr>
        <p:spPr>
          <a:xfrm>
            <a:off x="4883348" y="5629275"/>
            <a:ext cx="1613892" cy="800100"/>
          </a:xfrm>
          <a:prstGeom prst="roundRect">
            <a:avLst>
              <a:gd name="adj" fmla="val 11905"/>
            </a:avLst>
          </a:prstGeom>
          <a:solidFill>
            <a:srgbClr val="2A45D0"/>
          </a:solidFill>
          <a:ln/>
          <a:effectLst>
            <a:outerShdw blurRad="101600" dist="50800" dir="16200000" algn="bl" rotWithShape="0">
              <a:srgbClr val="F1ECE3">
                <a:alpha val="100000"/>
              </a:srgbClr>
            </a:outerShdw>
          </a:effectLst>
        </p:spPr>
      </p:sp>
      <p:sp>
        <p:nvSpPr>
          <p:cNvPr id="13" name="Text 11"/>
          <p:cNvSpPr/>
          <p:nvPr/>
        </p:nvSpPr>
        <p:spPr>
          <a:xfrm>
            <a:off x="5321498" y="5857875"/>
            <a:ext cx="813792" cy="381000"/>
          </a:xfrm>
          <a:prstGeom prst="rect">
            <a:avLst/>
          </a:prstGeom>
          <a:noFill/>
          <a:ln/>
        </p:spPr>
        <p:txBody>
          <a:bodyPr wrap="square" lIns="25400" tIns="25400" rIns="25400" bIns="25400" rtlCol="0" anchor="t">
            <a:normAutofit/>
          </a:bodyPr>
          <a:lstStyle/>
          <a:p>
            <a:pPr marL="0" indent="0" algn="l">
              <a:buNone/>
            </a:pPr>
            <a:r>
              <a:rPr lang="en-US" sz="2100" dirty="0">
                <a:solidFill>
                  <a:srgbClr val="FFFFFF"/>
                </a:solidFill>
                <a:latin typeface="Space Grotesk" pitchFamily="34" charset="0"/>
                <a:ea typeface="Space Grotesk" pitchFamily="34" charset="-122"/>
                <a:cs typeface="Space Grotesk" pitchFamily="34" charset="-120"/>
              </a:rPr>
              <a:t>focus</a:t>
            </a:r>
            <a:endParaRPr lang="en-US" sz="2100" dirty="0"/>
          </a:p>
        </p:txBody>
      </p:sp>
      <p:sp>
        <p:nvSpPr>
          <p:cNvPr id="14" name="Shape 12"/>
          <p:cNvSpPr/>
          <p:nvPr/>
        </p:nvSpPr>
        <p:spPr>
          <a:xfrm>
            <a:off x="6706791" y="5629275"/>
            <a:ext cx="1666726" cy="800100"/>
          </a:xfrm>
          <a:prstGeom prst="roundRect">
            <a:avLst>
              <a:gd name="adj" fmla="val 11905"/>
            </a:avLst>
          </a:prstGeom>
          <a:solidFill>
            <a:srgbClr val="16277E"/>
          </a:solidFill>
          <a:ln/>
        </p:spPr>
      </p:sp>
      <p:sp>
        <p:nvSpPr>
          <p:cNvPr id="15" name="Text 13"/>
          <p:cNvSpPr/>
          <p:nvPr/>
        </p:nvSpPr>
        <p:spPr>
          <a:xfrm>
            <a:off x="7144941" y="5857875"/>
            <a:ext cx="866626" cy="381000"/>
          </a:xfrm>
          <a:prstGeom prst="rect">
            <a:avLst/>
          </a:prstGeom>
          <a:noFill/>
          <a:ln/>
        </p:spPr>
        <p:txBody>
          <a:bodyPr wrap="square" lIns="25400" tIns="25400" rIns="25400" bIns="25400" rtlCol="0" anchor="t">
            <a:normAutofit/>
          </a:bodyPr>
          <a:lstStyle/>
          <a:p>
            <a:pPr marL="0" indent="0" algn="l">
              <a:buNone/>
            </a:pPr>
            <a:r>
              <a:rPr lang="en-US" sz="2100" dirty="0">
                <a:solidFill>
                  <a:srgbClr val="FFFFFF"/>
                </a:solidFill>
                <a:latin typeface="Space Grotesk" pitchFamily="34" charset="0"/>
                <a:ea typeface="Space Grotesk" pitchFamily="34" charset="-122"/>
                <a:cs typeface="Space Grotesk" pitchFamily="34" charset="-120"/>
              </a:rPr>
              <a:t>active</a:t>
            </a:r>
            <a:endParaRPr lang="en-US" sz="2100" dirty="0"/>
          </a:p>
        </p:txBody>
      </p:sp>
      <p:sp>
        <p:nvSpPr>
          <p:cNvPr id="16" name="Shape 14"/>
          <p:cNvSpPr/>
          <p:nvPr/>
        </p:nvSpPr>
        <p:spPr>
          <a:xfrm>
            <a:off x="8583067" y="5629275"/>
            <a:ext cx="1974056" cy="800100"/>
          </a:xfrm>
          <a:prstGeom prst="roundRect">
            <a:avLst>
              <a:gd name="adj" fmla="val 11905"/>
            </a:avLst>
          </a:prstGeom>
          <a:solidFill>
            <a:srgbClr val="CFC7B9"/>
          </a:solidFill>
          <a:ln/>
        </p:spPr>
      </p:sp>
      <p:sp>
        <p:nvSpPr>
          <p:cNvPr id="17" name="Text 15"/>
          <p:cNvSpPr/>
          <p:nvPr/>
        </p:nvSpPr>
        <p:spPr>
          <a:xfrm>
            <a:off x="9021217" y="5857875"/>
            <a:ext cx="1173956" cy="381000"/>
          </a:xfrm>
          <a:prstGeom prst="rect">
            <a:avLst/>
          </a:prstGeom>
          <a:noFill/>
          <a:ln/>
        </p:spPr>
        <p:txBody>
          <a:bodyPr wrap="square" lIns="25400" tIns="25400" rIns="25400" bIns="25400" rtlCol="0" anchor="t">
            <a:normAutofit/>
          </a:bodyPr>
          <a:lstStyle/>
          <a:p>
            <a:pPr marL="0" indent="0" algn="l">
              <a:buNone/>
            </a:pPr>
            <a:r>
              <a:rPr lang="en-US" sz="2100" dirty="0">
                <a:solidFill>
                  <a:srgbClr val="8A8174"/>
                </a:solidFill>
                <a:latin typeface="Space Grotesk" pitchFamily="34" charset="0"/>
                <a:ea typeface="Space Grotesk" pitchFamily="34" charset="-122"/>
                <a:cs typeface="Space Grotesk" pitchFamily="34" charset="-120"/>
              </a:rPr>
              <a:t>disabled</a:t>
            </a:r>
            <a:endParaRPr lang="en-US" sz="2100" dirty="0"/>
          </a:p>
        </p:txBody>
      </p:sp>
      <p:sp>
        <p:nvSpPr>
          <p:cNvPr id="18" name="Shape 16"/>
          <p:cNvSpPr/>
          <p:nvPr/>
        </p:nvSpPr>
        <p:spPr>
          <a:xfrm>
            <a:off x="10766673" y="5629275"/>
            <a:ext cx="2391817" cy="800100"/>
          </a:xfrm>
          <a:prstGeom prst="roundRect">
            <a:avLst>
              <a:gd name="adj" fmla="val 11905"/>
            </a:avLst>
          </a:prstGeom>
          <a:solidFill>
            <a:srgbClr val="FBF8F2"/>
          </a:solidFill>
          <a:ln w="19050">
            <a:solidFill>
              <a:srgbClr val="CF5A33"/>
            </a:solidFill>
            <a:prstDash val="dash"/>
          </a:ln>
        </p:spPr>
      </p:sp>
      <p:sp>
        <p:nvSpPr>
          <p:cNvPr id="19" name="Text 17"/>
          <p:cNvSpPr/>
          <p:nvPr/>
        </p:nvSpPr>
        <p:spPr>
          <a:xfrm>
            <a:off x="11204823" y="5857875"/>
            <a:ext cx="1591717" cy="381000"/>
          </a:xfrm>
          <a:prstGeom prst="rect">
            <a:avLst/>
          </a:prstGeom>
          <a:noFill/>
          <a:ln/>
        </p:spPr>
        <p:txBody>
          <a:bodyPr wrap="square" lIns="25400" tIns="25400" rIns="25400" bIns="25400" rtlCol="0" anchor="t">
            <a:normAutofit/>
          </a:bodyPr>
          <a:lstStyle/>
          <a:p>
            <a:pPr marL="0" indent="0" algn="l">
              <a:buNone/>
            </a:pPr>
            <a:r>
              <a:rPr lang="en-US" sz="2100" dirty="0">
                <a:solidFill>
                  <a:srgbClr val="CF5A33"/>
                </a:solidFill>
                <a:highlight>
                  <a:srgbClr val="FBF8F2"/>
                </a:highlight>
                <a:latin typeface="Space Grotesk" pitchFamily="34" charset="0"/>
                <a:ea typeface="Space Grotesk" pitchFamily="34" charset="-122"/>
                <a:cs typeface="Space Grotesk" pitchFamily="34" charset="-120"/>
              </a:rPr>
              <a:t>error </a:t>
            </a:r>
            <a:r>
              <a:rPr lang="en-US" sz="1350" dirty="0">
                <a:solidFill>
                  <a:srgbClr val="9A9082"/>
                </a:solidFill>
                <a:latin typeface="IBM Plex Mono" pitchFamily="34" charset="0"/>
                <a:ea typeface="IBM Plex Mono" pitchFamily="34" charset="-122"/>
                <a:cs typeface="IBM Plex Mono" pitchFamily="34" charset="-120"/>
              </a:rPr>
              <a:t>· inputs</a:t>
            </a:r>
            <a:endParaRPr lang="en-US" sz="2100" dirty="0"/>
          </a:p>
        </p:txBody>
      </p:sp>
      <p:sp>
        <p:nvSpPr>
          <p:cNvPr id="20" name="Text 18"/>
          <p:cNvSpPr/>
          <p:nvPr/>
        </p:nvSpPr>
        <p:spPr>
          <a:xfrm>
            <a:off x="1047750" y="6753225"/>
            <a:ext cx="16678275" cy="314325"/>
          </a:xfrm>
          <a:prstGeom prst="rect">
            <a:avLst/>
          </a:prstGeom>
          <a:noFill/>
          <a:ln/>
        </p:spPr>
        <p:txBody>
          <a:bodyPr wrap="square" lIns="25400" tIns="25400" rIns="25400" bIns="25400" rtlCol="0" anchor="t">
            <a:normAutofit/>
          </a:bodyPr>
          <a:lstStyle/>
          <a:p>
            <a:pPr marL="0" indent="0" algn="l">
              <a:buNone/>
            </a:pPr>
            <a:r>
              <a:rPr lang="en-US" sz="1650" dirty="0">
                <a:solidFill>
                  <a:srgbClr val="6E6557"/>
                </a:solidFill>
                <a:latin typeface="IBM Plex Mono" pitchFamily="34" charset="0"/>
                <a:ea typeface="IBM Plex Mono" pitchFamily="34" charset="-122"/>
                <a:cs typeface="IBM Plex Mono" pitchFamily="34" charset="-120"/>
              </a:rPr>
              <a:t>default → hover → focus → active → disabled </a:t>
            </a:r>
            <a:r>
              <a:rPr lang="en-US" sz="1650" dirty="0">
                <a:solidFill>
                  <a:srgbClr val="9A9082"/>
                </a:solidFill>
                <a:latin typeface="IBM Plex Mono" pitchFamily="34" charset="0"/>
                <a:ea typeface="IBM Plex Mono" pitchFamily="34" charset="-122"/>
                <a:cs typeface="IBM Plex Mono" pitchFamily="34" charset="-120"/>
              </a:rPr>
              <a:t>// the minimum complete set</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3489561"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TIER 2 · 05 — DESCRIPTIONS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13 / 19</a:t>
            </a:r>
            <a:endParaRPr lang="en-US" sz="1350" dirty="0"/>
          </a:p>
        </p:txBody>
      </p:sp>
      <p:sp>
        <p:nvSpPr>
          <p:cNvPr id="5" name="Text 3"/>
          <p:cNvSpPr/>
          <p:nvPr/>
        </p:nvSpPr>
        <p:spPr>
          <a:xfrm>
            <a:off x="1047750" y="1504950"/>
            <a:ext cx="7298891"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81" dirty="0">
                <a:solidFill>
                  <a:srgbClr val="1E1A15"/>
                </a:solidFill>
                <a:latin typeface="Space Grotesk" pitchFamily="34" charset="0"/>
                <a:ea typeface="Space Grotesk" pitchFamily="34" charset="-122"/>
                <a:cs typeface="Space Grotesk" pitchFamily="34" charset="-120"/>
              </a:rPr>
              <a:t>The description is the prompt</a:t>
            </a:r>
            <a:endParaRPr lang="en-US" sz="4050" dirty="0"/>
          </a:p>
        </p:txBody>
      </p:sp>
      <p:sp>
        <p:nvSpPr>
          <p:cNvPr id="6" name="Shape 4"/>
          <p:cNvSpPr/>
          <p:nvPr/>
        </p:nvSpPr>
        <p:spPr>
          <a:xfrm>
            <a:off x="8362652" y="1619250"/>
            <a:ext cx="3609975" cy="457200"/>
          </a:xfrm>
          <a:prstGeom prst="roundRect">
            <a:avLst>
              <a:gd name="adj" fmla="val 50000"/>
            </a:avLst>
          </a:prstGeom>
          <a:ln w="9525">
            <a:solidFill>
              <a:srgbClr val="CF5A33"/>
            </a:solidFill>
            <a:prstDash val="solid"/>
          </a:ln>
        </p:spPr>
      </p:sp>
      <p:sp>
        <p:nvSpPr>
          <p:cNvPr id="7" name="Text 5"/>
          <p:cNvSpPr/>
          <p:nvPr/>
        </p:nvSpPr>
        <p:spPr>
          <a:xfrm>
            <a:off x="8524577" y="1704975"/>
            <a:ext cx="3394424" cy="323850"/>
          </a:xfrm>
          <a:prstGeom prst="rect">
            <a:avLst/>
          </a:prstGeom>
          <a:noFill/>
          <a:ln/>
        </p:spPr>
        <p:txBody>
          <a:bodyPr wrap="square" lIns="25400" tIns="25400" rIns="25400" bIns="25400" rtlCol="0" anchor="t">
            <a:normAutofit/>
          </a:bodyPr>
          <a:lstStyle/>
          <a:p>
            <a:pPr marL="0" indent="0" algn="l">
              <a:buNone/>
            </a:pPr>
            <a:r>
              <a:rPr lang="en-US" sz="1725" dirty="0">
                <a:solidFill>
                  <a:srgbClr val="CF5A33"/>
                </a:solidFill>
                <a:latin typeface="IBM Plex Mono" pitchFamily="34" charset="0"/>
                <a:ea typeface="IBM Plex Mono" pitchFamily="34" charset="-122"/>
                <a:cs typeface="IBM Plex Mono" pitchFamily="34" charset="-120"/>
              </a:rPr>
              <a:t>3% scored · biggest lever</a:t>
            </a:r>
            <a:endParaRPr lang="en-US" sz="1725" dirty="0"/>
          </a:p>
        </p:txBody>
      </p:sp>
      <p:sp>
        <p:nvSpPr>
          <p:cNvPr id="8" name="Text 6"/>
          <p:cNvSpPr/>
          <p:nvPr/>
        </p:nvSpPr>
        <p:spPr>
          <a:xfrm>
            <a:off x="1047750" y="2152650"/>
            <a:ext cx="12950190" cy="352425"/>
          </a:xfrm>
          <a:prstGeom prst="rect">
            <a:avLst/>
          </a:prstGeom>
          <a:noFill/>
          <a:ln/>
        </p:spPr>
        <p:txBody>
          <a:bodyPr wrap="square" lIns="25400" tIns="25400" rIns="25400" bIns="25400" rtlCol="0" anchor="t">
            <a:normAutofit/>
          </a:bodyPr>
          <a:lstStyle/>
          <a:p>
            <a:pPr marL="0" indent="0" algn="l">
              <a:buNone/>
            </a:pPr>
            <a:r>
              <a:rPr lang="en-US" sz="1875" dirty="0">
                <a:solidFill>
                  <a:srgbClr val="6E6557"/>
                </a:solidFill>
                <a:latin typeface="IBM Plex Sans" pitchFamily="34" charset="0"/>
                <a:ea typeface="IBM Plex Sans" pitchFamily="34" charset="-122"/>
                <a:cs typeface="IBM Plex Sans" pitchFamily="34" charset="-120"/>
              </a:rPr>
              <a:t>Three thoughtful sentences prevent more hallucinations than ten well-named properties. A structure that works:</a:t>
            </a:r>
            <a:endParaRPr lang="en-US" sz="1875" dirty="0"/>
          </a:p>
        </p:txBody>
      </p:sp>
      <p:sp>
        <p:nvSpPr>
          <p:cNvPr id="9" name="Shape 7"/>
          <p:cNvSpPr/>
          <p:nvPr/>
        </p:nvSpPr>
        <p:spPr>
          <a:xfrm>
            <a:off x="1047750" y="2771775"/>
            <a:ext cx="9009757" cy="6715125"/>
          </a:xfrm>
          <a:prstGeom prst="roundRect">
            <a:avLst>
              <a:gd name="adj" fmla="val 2270"/>
            </a:avLst>
          </a:prstGeom>
          <a:solidFill>
            <a:srgbClr val="1E1A15"/>
          </a:solidFill>
          <a:ln/>
        </p:spPr>
      </p:sp>
      <p:sp>
        <p:nvSpPr>
          <p:cNvPr id="10" name="Text 8"/>
          <p:cNvSpPr/>
          <p:nvPr/>
        </p:nvSpPr>
        <p:spPr>
          <a:xfrm>
            <a:off x="1466850" y="4976813"/>
            <a:ext cx="2266950" cy="304800"/>
          </a:xfrm>
          <a:prstGeom prst="rect">
            <a:avLst/>
          </a:prstGeom>
          <a:noFill/>
          <a:ln/>
        </p:spPr>
        <p:txBody>
          <a:bodyPr wrap="square" lIns="25400" tIns="25400" rIns="25400" bIns="25400" rtlCol="0" anchor="t">
            <a:normAutofit/>
          </a:bodyPr>
          <a:lstStyle/>
          <a:p>
            <a:pPr marL="0" indent="0" algn="l">
              <a:buNone/>
            </a:pPr>
            <a:r>
              <a:rPr lang="en-US" sz="1575" dirty="0">
                <a:solidFill>
                  <a:srgbClr val="7FA0FF"/>
                </a:solidFill>
                <a:latin typeface="IBM Plex Mono" pitchFamily="34" charset="0"/>
                <a:ea typeface="IBM Plex Mono" pitchFamily="34" charset="-122"/>
                <a:cs typeface="IBM Plex Mono" pitchFamily="34" charset="-120"/>
              </a:rPr>
              <a:t>PURPOSE</a:t>
            </a:r>
            <a:endParaRPr lang="en-US" sz="1575" dirty="0"/>
          </a:p>
        </p:txBody>
      </p:sp>
      <p:sp>
        <p:nvSpPr>
          <p:cNvPr id="11" name="Text 9"/>
          <p:cNvSpPr/>
          <p:nvPr/>
        </p:nvSpPr>
        <p:spPr>
          <a:xfrm>
            <a:off x="3848100" y="4948238"/>
            <a:ext cx="2878842"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1ECE3"/>
                </a:solidFill>
                <a:latin typeface="IBM Plex Sans" pitchFamily="34" charset="0"/>
                <a:ea typeface="IBM Plex Sans" pitchFamily="34" charset="-122"/>
                <a:cs typeface="IBM Plex Sans" pitchFamily="34" charset="-120"/>
              </a:rPr>
              <a:t>What this component is for.</a:t>
            </a:r>
            <a:endParaRPr lang="en-US" sz="1800" dirty="0"/>
          </a:p>
        </p:txBody>
      </p:sp>
      <p:sp>
        <p:nvSpPr>
          <p:cNvPr id="12" name="Text 10"/>
          <p:cNvSpPr/>
          <p:nvPr/>
        </p:nvSpPr>
        <p:spPr>
          <a:xfrm>
            <a:off x="1466850" y="5491163"/>
            <a:ext cx="2266950" cy="304800"/>
          </a:xfrm>
          <a:prstGeom prst="rect">
            <a:avLst/>
          </a:prstGeom>
          <a:noFill/>
          <a:ln/>
        </p:spPr>
        <p:txBody>
          <a:bodyPr wrap="square" lIns="25400" tIns="25400" rIns="25400" bIns="25400" rtlCol="0" anchor="t">
            <a:normAutofit/>
          </a:bodyPr>
          <a:lstStyle/>
          <a:p>
            <a:pPr marL="0" indent="0" algn="l">
              <a:buNone/>
            </a:pPr>
            <a:r>
              <a:rPr lang="en-US" sz="1575" dirty="0">
                <a:solidFill>
                  <a:srgbClr val="7FA0FF"/>
                </a:solidFill>
                <a:latin typeface="IBM Plex Mono" pitchFamily="34" charset="0"/>
                <a:ea typeface="IBM Plex Mono" pitchFamily="34" charset="-122"/>
                <a:cs typeface="IBM Plex Mono" pitchFamily="34" charset="-120"/>
              </a:rPr>
              <a:t>BEHAVIOR</a:t>
            </a:r>
            <a:endParaRPr lang="en-US" sz="1575" dirty="0"/>
          </a:p>
        </p:txBody>
      </p:sp>
      <p:sp>
        <p:nvSpPr>
          <p:cNvPr id="13" name="Text 11"/>
          <p:cNvSpPr/>
          <p:nvPr/>
        </p:nvSpPr>
        <p:spPr>
          <a:xfrm>
            <a:off x="3848100" y="5462588"/>
            <a:ext cx="316182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1ECE3"/>
                </a:solidFill>
                <a:latin typeface="IBM Plex Sans" pitchFamily="34" charset="0"/>
                <a:ea typeface="IBM Plex Sans" pitchFamily="34" charset="-122"/>
                <a:cs typeface="IBM Plex Sans" pitchFamily="34" charset="-120"/>
              </a:rPr>
              <a:t>How it responds and changes.</a:t>
            </a:r>
            <a:endParaRPr lang="en-US" sz="1800" dirty="0"/>
          </a:p>
        </p:txBody>
      </p:sp>
      <p:sp>
        <p:nvSpPr>
          <p:cNvPr id="14" name="Shape 12"/>
          <p:cNvSpPr/>
          <p:nvPr/>
        </p:nvSpPr>
        <p:spPr>
          <a:xfrm>
            <a:off x="1276350" y="5805488"/>
            <a:ext cx="8552557" cy="647700"/>
          </a:xfrm>
          <a:prstGeom prst="roundRect">
            <a:avLst>
              <a:gd name="adj" fmla="val 14706"/>
            </a:avLst>
          </a:prstGeom>
          <a:solidFill>
            <a:srgbClr val="2A2118"/>
          </a:solidFill>
          <a:ln/>
        </p:spPr>
      </p:sp>
      <p:sp>
        <p:nvSpPr>
          <p:cNvPr id="15" name="Text 13"/>
          <p:cNvSpPr/>
          <p:nvPr/>
        </p:nvSpPr>
        <p:spPr>
          <a:xfrm>
            <a:off x="1466850" y="6005513"/>
            <a:ext cx="2266950" cy="304800"/>
          </a:xfrm>
          <a:prstGeom prst="rect">
            <a:avLst/>
          </a:prstGeom>
          <a:noFill/>
          <a:ln/>
        </p:spPr>
        <p:txBody>
          <a:bodyPr wrap="square" lIns="25400" tIns="25400" rIns="25400" bIns="25400" rtlCol="0" anchor="t">
            <a:normAutofit/>
          </a:bodyPr>
          <a:lstStyle/>
          <a:p>
            <a:pPr marL="0" indent="0" algn="l">
              <a:buNone/>
            </a:pPr>
            <a:r>
              <a:rPr lang="en-US" sz="1575" dirty="0">
                <a:solidFill>
                  <a:srgbClr val="CF5A33"/>
                </a:solidFill>
                <a:latin typeface="IBM Plex Mono" pitchFamily="34" charset="0"/>
                <a:ea typeface="IBM Plex Mono" pitchFamily="34" charset="-122"/>
                <a:cs typeface="IBM Plex Mono" pitchFamily="34" charset="-120"/>
              </a:rPr>
              <a:t>COMPOSITION</a:t>
            </a:r>
            <a:endParaRPr lang="en-US" sz="1575" dirty="0"/>
          </a:p>
        </p:txBody>
      </p:sp>
      <p:sp>
        <p:nvSpPr>
          <p:cNvPr id="16" name="Text 14"/>
          <p:cNvSpPr/>
          <p:nvPr/>
        </p:nvSpPr>
        <p:spPr>
          <a:xfrm>
            <a:off x="3848100" y="5976938"/>
            <a:ext cx="356942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1ECE3"/>
                </a:solidFill>
                <a:latin typeface="IBM Plex Sans" pitchFamily="34" charset="0"/>
                <a:ea typeface="IBM Plex Sans" pitchFamily="34" charset="-122"/>
                <a:cs typeface="IBM Plex Sans" pitchFamily="34" charset="-120"/>
              </a:rPr>
              <a:t>"Uses Avatar, Badge, IconButton."</a:t>
            </a:r>
            <a:endParaRPr lang="en-US" sz="1800" dirty="0"/>
          </a:p>
        </p:txBody>
      </p:sp>
      <p:sp>
        <p:nvSpPr>
          <p:cNvPr id="17" name="Text 15"/>
          <p:cNvSpPr/>
          <p:nvPr/>
        </p:nvSpPr>
        <p:spPr>
          <a:xfrm>
            <a:off x="1466850" y="6519863"/>
            <a:ext cx="2266950" cy="304800"/>
          </a:xfrm>
          <a:prstGeom prst="rect">
            <a:avLst/>
          </a:prstGeom>
          <a:noFill/>
          <a:ln/>
        </p:spPr>
        <p:txBody>
          <a:bodyPr wrap="square" lIns="25400" tIns="25400" rIns="25400" bIns="25400" rtlCol="0" anchor="t">
            <a:normAutofit/>
          </a:bodyPr>
          <a:lstStyle/>
          <a:p>
            <a:pPr marL="0" indent="0" algn="l">
              <a:buNone/>
            </a:pPr>
            <a:r>
              <a:rPr lang="en-US" sz="1575" dirty="0">
                <a:solidFill>
                  <a:srgbClr val="7FA0FF"/>
                </a:solidFill>
                <a:latin typeface="IBM Plex Mono" pitchFamily="34" charset="0"/>
                <a:ea typeface="IBM Plex Mono" pitchFamily="34" charset="-122"/>
                <a:cs typeface="IBM Plex Mono" pitchFamily="34" charset="-120"/>
              </a:rPr>
              <a:t>USAGE</a:t>
            </a:r>
            <a:endParaRPr lang="en-US" sz="1575" dirty="0"/>
          </a:p>
        </p:txBody>
      </p:sp>
      <p:sp>
        <p:nvSpPr>
          <p:cNvPr id="18" name="Text 16"/>
          <p:cNvSpPr/>
          <p:nvPr/>
        </p:nvSpPr>
        <p:spPr>
          <a:xfrm>
            <a:off x="3848100" y="6491288"/>
            <a:ext cx="3147258"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1ECE3"/>
                </a:solidFill>
                <a:latin typeface="IBM Plex Sans" pitchFamily="34" charset="0"/>
                <a:ea typeface="IBM Plex Sans" pitchFamily="34" charset="-122"/>
                <a:cs typeface="IBM Plex Sans" pitchFamily="34" charset="-120"/>
              </a:rPr>
              <a:t>When to reach for it (and not).</a:t>
            </a:r>
            <a:endParaRPr lang="en-US" sz="1800" dirty="0"/>
          </a:p>
        </p:txBody>
      </p:sp>
      <p:sp>
        <p:nvSpPr>
          <p:cNvPr id="19" name="Text 17"/>
          <p:cNvSpPr/>
          <p:nvPr/>
        </p:nvSpPr>
        <p:spPr>
          <a:xfrm>
            <a:off x="1466850" y="7034213"/>
            <a:ext cx="2266950" cy="304800"/>
          </a:xfrm>
          <a:prstGeom prst="rect">
            <a:avLst/>
          </a:prstGeom>
          <a:noFill/>
          <a:ln/>
        </p:spPr>
        <p:txBody>
          <a:bodyPr wrap="square" lIns="25400" tIns="25400" rIns="25400" bIns="25400" rtlCol="0" anchor="t">
            <a:normAutofit/>
          </a:bodyPr>
          <a:lstStyle/>
          <a:p>
            <a:pPr marL="0" indent="0" algn="l">
              <a:buNone/>
            </a:pPr>
            <a:r>
              <a:rPr lang="en-US" sz="1575" dirty="0">
                <a:solidFill>
                  <a:srgbClr val="7FA0FF"/>
                </a:solidFill>
                <a:latin typeface="IBM Plex Mono" pitchFamily="34" charset="0"/>
                <a:ea typeface="IBM Plex Mono" pitchFamily="34" charset="-122"/>
                <a:cs typeface="IBM Plex Mono" pitchFamily="34" charset="-120"/>
              </a:rPr>
              <a:t>CODE GEN NOTES</a:t>
            </a:r>
            <a:endParaRPr lang="en-US" sz="1575" dirty="0"/>
          </a:p>
        </p:txBody>
      </p:sp>
      <p:sp>
        <p:nvSpPr>
          <p:cNvPr id="20" name="Text 18"/>
          <p:cNvSpPr/>
          <p:nvPr/>
        </p:nvSpPr>
        <p:spPr>
          <a:xfrm>
            <a:off x="3848100" y="7005638"/>
            <a:ext cx="243929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1ECE3"/>
                </a:solidFill>
                <a:latin typeface="IBM Plex Sans" pitchFamily="34" charset="0"/>
                <a:ea typeface="IBM Plex Sans" pitchFamily="34" charset="-122"/>
                <a:cs typeface="IBM Plex Sans" pitchFamily="34" charset="-120"/>
              </a:rPr>
              <a:t>Hints for the generator.</a:t>
            </a:r>
            <a:endParaRPr lang="en-US" sz="1800" dirty="0"/>
          </a:p>
        </p:txBody>
      </p:sp>
      <p:sp>
        <p:nvSpPr>
          <p:cNvPr id="21" name="Shape 19"/>
          <p:cNvSpPr/>
          <p:nvPr/>
        </p:nvSpPr>
        <p:spPr>
          <a:xfrm>
            <a:off x="10381357" y="2771775"/>
            <a:ext cx="6858893" cy="6715125"/>
          </a:xfrm>
          <a:prstGeom prst="roundRect">
            <a:avLst>
              <a:gd name="adj" fmla="val 2270"/>
            </a:avLst>
          </a:prstGeom>
          <a:solidFill>
            <a:srgbClr val="FBF8F2"/>
          </a:solidFill>
          <a:ln/>
        </p:spPr>
      </p:sp>
      <p:sp>
        <p:nvSpPr>
          <p:cNvPr id="22" name="Shape 20"/>
          <p:cNvSpPr/>
          <p:nvPr/>
        </p:nvSpPr>
        <p:spPr>
          <a:xfrm>
            <a:off x="10381357" y="9477375"/>
            <a:ext cx="6858893" cy="9525"/>
          </a:xfrm>
          <a:prstGeom prst="rect">
            <a:avLst/>
          </a:prstGeom>
          <a:solidFill>
            <a:srgbClr val="D9D1C3"/>
          </a:solidFill>
          <a:ln/>
        </p:spPr>
      </p:sp>
      <p:sp>
        <p:nvSpPr>
          <p:cNvPr id="23" name="Shape 21"/>
          <p:cNvSpPr/>
          <p:nvPr/>
        </p:nvSpPr>
        <p:spPr>
          <a:xfrm>
            <a:off x="10381357" y="2771775"/>
            <a:ext cx="6858893" cy="9525"/>
          </a:xfrm>
          <a:prstGeom prst="rect">
            <a:avLst/>
          </a:prstGeom>
          <a:solidFill>
            <a:srgbClr val="D9D1C3"/>
          </a:solidFill>
          <a:ln/>
        </p:spPr>
      </p:sp>
      <p:sp>
        <p:nvSpPr>
          <p:cNvPr id="24" name="Shape 22"/>
          <p:cNvSpPr/>
          <p:nvPr/>
        </p:nvSpPr>
        <p:spPr>
          <a:xfrm>
            <a:off x="10381357" y="2771775"/>
            <a:ext cx="47625" cy="6715125"/>
          </a:xfrm>
          <a:prstGeom prst="rect">
            <a:avLst/>
          </a:prstGeom>
          <a:solidFill>
            <a:srgbClr val="CF5A33"/>
          </a:solidFill>
          <a:ln/>
        </p:spPr>
      </p:sp>
      <p:sp>
        <p:nvSpPr>
          <p:cNvPr id="25" name="Shape 23"/>
          <p:cNvSpPr/>
          <p:nvPr/>
        </p:nvSpPr>
        <p:spPr>
          <a:xfrm>
            <a:off x="17230725" y="2771775"/>
            <a:ext cx="9525" cy="6715125"/>
          </a:xfrm>
          <a:prstGeom prst="rect">
            <a:avLst/>
          </a:prstGeom>
          <a:solidFill>
            <a:srgbClr val="D9D1C3"/>
          </a:solidFill>
          <a:ln/>
        </p:spPr>
      </p:sp>
      <p:sp>
        <p:nvSpPr>
          <p:cNvPr id="26" name="Text 24"/>
          <p:cNvSpPr/>
          <p:nvPr/>
        </p:nvSpPr>
        <p:spPr>
          <a:xfrm>
            <a:off x="10809982" y="5336381"/>
            <a:ext cx="6220935"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WHY COMPOSITION WINS</a:t>
            </a:r>
            <a:endParaRPr lang="en-US" sz="1350" dirty="0"/>
          </a:p>
        </p:txBody>
      </p:sp>
      <p:sp>
        <p:nvSpPr>
          <p:cNvPr id="27" name="Text 25"/>
          <p:cNvSpPr/>
          <p:nvPr/>
        </p:nvSpPr>
        <p:spPr>
          <a:xfrm>
            <a:off x="10809982" y="5765006"/>
            <a:ext cx="6220935" cy="1195388"/>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1E1A15"/>
                </a:solidFill>
                <a:latin typeface="IBM Plex Sans" pitchFamily="34" charset="0"/>
                <a:ea typeface="IBM Plex Sans" pitchFamily="34" charset="-122"/>
                <a:cs typeface="IBM Plex Sans" pitchFamily="34" charset="-120"/>
              </a:rPr>
              <a:t>That one line tells AI to </a:t>
            </a:r>
            <a:r>
              <a:rPr lang="en-US" sz="2025" b="1" dirty="0">
                <a:solidFill>
                  <a:srgbClr val="CF5A33"/>
                </a:solidFill>
                <a:latin typeface="IBM Plex Sans" pitchFamily="34" charset="0"/>
                <a:ea typeface="IBM Plex Sans" pitchFamily="34" charset="-122"/>
                <a:cs typeface="IBM Plex Sans" pitchFamily="34" charset="-120"/>
              </a:rPr>
              <a:t>import </a:t>
            </a:r>
            <a:r>
              <a:rPr lang="en-US" sz="2025" dirty="0">
                <a:solidFill>
                  <a:srgbClr val="1E1A15"/>
                </a:solidFill>
                <a:latin typeface="IBM Plex Sans" pitchFamily="34" charset="0"/>
                <a:ea typeface="IBM Plex Sans" pitchFamily="34" charset="-122"/>
                <a:cs typeface="IBM Plex Sans" pitchFamily="34" charset="-120"/>
              </a:rPr>
              <a:t>sub-components instead of recreating them — saving more code-gen rework than almost anything else on the list.</a:t>
            </a:r>
            <a:endParaRPr lang="en-US" sz="20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5100057"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2A45D0"/>
                </a:solidFill>
                <a:latin typeface="IBM Plex Mono" pitchFamily="34" charset="0"/>
                <a:ea typeface="IBM Plex Mono" pitchFamily="34" charset="-122"/>
                <a:cs typeface="IBM Plex Mono" pitchFamily="34" charset="-120"/>
              </a:rPr>
              <a:t>TIER 2 · 06 + 07 — ANNOTATIONS &amp; NAMES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14 / 19</a:t>
            </a:r>
            <a:endParaRPr lang="en-US" sz="1350" dirty="0"/>
          </a:p>
        </p:txBody>
      </p:sp>
      <p:sp>
        <p:nvSpPr>
          <p:cNvPr id="5" name="Text 3"/>
          <p:cNvSpPr/>
          <p:nvPr/>
        </p:nvSpPr>
        <p:spPr>
          <a:xfrm>
            <a:off x="1047750" y="15049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User manual vs. spec sheet</a:t>
            </a:r>
            <a:endParaRPr lang="en-US" sz="4050" dirty="0"/>
          </a:p>
        </p:txBody>
      </p:sp>
      <p:sp>
        <p:nvSpPr>
          <p:cNvPr id="6" name="Shape 4"/>
          <p:cNvSpPr/>
          <p:nvPr/>
        </p:nvSpPr>
        <p:spPr>
          <a:xfrm>
            <a:off x="1047750" y="2330648"/>
            <a:ext cx="7943850" cy="2300883"/>
          </a:xfrm>
          <a:prstGeom prst="roundRect">
            <a:avLst>
              <a:gd name="adj" fmla="val 5796"/>
            </a:avLst>
          </a:prstGeom>
          <a:solidFill>
            <a:srgbClr val="FBF8F2"/>
          </a:solidFill>
          <a:ln w="9525">
            <a:solidFill>
              <a:srgbClr val="D9D1C3"/>
            </a:solidFill>
            <a:prstDash val="solid"/>
          </a:ln>
        </p:spPr>
      </p:sp>
      <p:sp>
        <p:nvSpPr>
          <p:cNvPr id="7" name="Text 5"/>
          <p:cNvSpPr/>
          <p:nvPr/>
        </p:nvSpPr>
        <p:spPr>
          <a:xfrm>
            <a:off x="1400175" y="2644973"/>
            <a:ext cx="7456170"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2A45D0"/>
                </a:solidFill>
                <a:latin typeface="IBM Plex Mono" pitchFamily="34" charset="0"/>
                <a:ea typeface="IBM Plex Mono" pitchFamily="34" charset="-122"/>
                <a:cs typeface="IBM Plex Mono" pitchFamily="34" charset="-120"/>
              </a:rPr>
              <a:t>DESCRIPTION — THE USER MANUAL</a:t>
            </a:r>
            <a:endParaRPr lang="en-US" sz="1350" dirty="0"/>
          </a:p>
        </p:txBody>
      </p:sp>
      <p:sp>
        <p:nvSpPr>
          <p:cNvPr id="8" name="Text 6"/>
          <p:cNvSpPr/>
          <p:nvPr/>
        </p:nvSpPr>
        <p:spPr>
          <a:xfrm>
            <a:off x="1400175" y="3016448"/>
            <a:ext cx="7456170" cy="73134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E1A15"/>
                </a:solidFill>
                <a:latin typeface="IBM Plex Sans" pitchFamily="34" charset="0"/>
                <a:ea typeface="IBM Plex Sans" pitchFamily="34" charset="-122"/>
                <a:cs typeface="IBM Plex Sans" pitchFamily="34" charset="-120"/>
              </a:rPr>
              <a:t>Tells you what a </a:t>
            </a:r>
            <a:r>
              <a:rPr lang="en-US" sz="1950" b="1" dirty="0">
                <a:solidFill>
                  <a:srgbClr val="1E1A15"/>
                </a:solidFill>
                <a:latin typeface="IBM Plex Sans" pitchFamily="34" charset="0"/>
                <a:ea typeface="IBM Plex Sans" pitchFamily="34" charset="-122"/>
                <a:cs typeface="IBM Plex Sans" pitchFamily="34" charset="-120"/>
              </a:rPr>
              <a:t>Button </a:t>
            </a:r>
            <a:r>
              <a:rPr lang="en-US" sz="1950" dirty="0">
                <a:solidFill>
                  <a:srgbClr val="1E1A15"/>
                </a:solidFill>
                <a:latin typeface="IBM Plex Sans" pitchFamily="34" charset="0"/>
                <a:ea typeface="IBM Plex Sans" pitchFamily="34" charset="-122"/>
                <a:cs typeface="IBM Plex Sans" pitchFamily="34" charset="-120"/>
              </a:rPr>
              <a:t>is. Prose, for the whole component family.</a:t>
            </a:r>
            <a:endParaRPr lang="en-US" sz="1950" dirty="0"/>
          </a:p>
        </p:txBody>
      </p:sp>
      <p:sp>
        <p:nvSpPr>
          <p:cNvPr id="9" name="Shape 7"/>
          <p:cNvSpPr/>
          <p:nvPr/>
        </p:nvSpPr>
        <p:spPr>
          <a:xfrm>
            <a:off x="9315450" y="2330648"/>
            <a:ext cx="7924800" cy="2300883"/>
          </a:xfrm>
          <a:prstGeom prst="roundRect">
            <a:avLst>
              <a:gd name="adj" fmla="val 5796"/>
            </a:avLst>
          </a:prstGeom>
          <a:solidFill>
            <a:srgbClr val="1E1A15"/>
          </a:solidFill>
          <a:ln/>
        </p:spPr>
      </p:sp>
      <p:sp>
        <p:nvSpPr>
          <p:cNvPr id="10" name="Text 8"/>
          <p:cNvSpPr/>
          <p:nvPr/>
        </p:nvSpPr>
        <p:spPr>
          <a:xfrm>
            <a:off x="9658350" y="2635448"/>
            <a:ext cx="7456170"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ANNOTATION — THE SPEC SHEET</a:t>
            </a:r>
            <a:endParaRPr lang="en-US" sz="1350" dirty="0"/>
          </a:p>
        </p:txBody>
      </p:sp>
      <p:sp>
        <p:nvSpPr>
          <p:cNvPr id="11" name="Text 9"/>
          <p:cNvSpPr/>
          <p:nvPr/>
        </p:nvSpPr>
        <p:spPr>
          <a:xfrm>
            <a:off x="9658350" y="3006923"/>
            <a:ext cx="7456170" cy="1357908"/>
          </a:xfrm>
          <a:prstGeom prst="rect">
            <a:avLst/>
          </a:prstGeom>
          <a:noFill/>
          <a:ln/>
        </p:spPr>
        <p:txBody>
          <a:bodyPr wrap="none" lIns="25400" tIns="25400" rIns="25400" bIns="25400" rtlCol="0" anchor="t">
            <a:normAutofit/>
          </a:bodyPr>
          <a:lstStyle/>
          <a:p>
            <a:pPr marL="0" indent="0" algn="l">
              <a:lnSpc>
                <a:spcPct val="165000"/>
              </a:lnSpc>
              <a:buNone/>
            </a:pPr>
            <a:r>
              <a:rPr lang="en-US" sz="1575" dirty="0">
                <a:solidFill>
                  <a:srgbClr val="F1ECE3"/>
                </a:solidFill>
                <a:latin typeface="IBM Plex Mono" pitchFamily="34" charset="0"/>
                <a:ea typeface="IBM Plex Mono" pitchFamily="34" charset="-122"/>
                <a:cs typeface="IBM Plex Mono" pitchFamily="34" charset="-120"/>
              </a:rPr>
              <a:t>disabled → cursor: not-allowed;</a:t>
            </a:r>
            <a:endParaRPr lang="en-US" sz="1575" dirty="0"/>
          </a:p>
          <a:p>
            <a:pPr marL="0" indent="0" algn="l">
              <a:lnSpc>
                <a:spcPct val="165000"/>
              </a:lnSpc>
              <a:buNone/>
            </a:pPr>
            <a:r>
              <a:rPr lang="en-US" sz="1575" dirty="0">
                <a:solidFill>
                  <a:srgbClr val="F1ECE3"/>
                </a:solidFill>
                <a:latin typeface="IBM Plex Mono" pitchFamily="34" charset="0"/>
                <a:ea typeface="IBM Plex Mono" pitchFamily="34" charset="-122"/>
                <a:cs typeface="IBM Plex Mono" pitchFamily="34" charset="-120"/>
              </a:rPr>
              <a:t>           opacity: 0.4;</a:t>
            </a:r>
            <a:endParaRPr lang="en-US" sz="1575" dirty="0"/>
          </a:p>
          <a:p>
            <a:pPr marL="0" indent="0" algn="l">
              <a:lnSpc>
                <a:spcPct val="165000"/>
              </a:lnSpc>
              <a:buNone/>
            </a:pPr>
            <a:r>
              <a:rPr lang="en-US" sz="1575" dirty="0">
                <a:solidFill>
                  <a:srgbClr val="F1ECE3"/>
                </a:solidFill>
                <a:latin typeface="IBM Plex Mono" pitchFamily="34" charset="0"/>
                <a:ea typeface="IBM Plex Mono" pitchFamily="34" charset="-122"/>
                <a:cs typeface="IBM Plex Mono" pitchFamily="34" charset="-120"/>
              </a:rPr>
              <a:t>           aria-disabled: true;</a:t>
            </a:r>
            <a:endParaRPr lang="en-US" sz="1575" dirty="0"/>
          </a:p>
          <a:p>
            <a:pPr marL="0" indent="0" algn="l">
              <a:lnSpc>
                <a:spcPct val="165000"/>
              </a:lnSpc>
              <a:buNone/>
            </a:pPr>
            <a:r>
              <a:rPr lang="en-US" sz="1575" dirty="0">
                <a:solidFill>
                  <a:srgbClr val="F1ECE3"/>
                </a:solidFill>
                <a:latin typeface="IBM Plex Mono" pitchFamily="34" charset="0"/>
                <a:ea typeface="IBM Plex Mono" pitchFamily="34" charset="-122"/>
                <a:cs typeface="IBM Plex Mono" pitchFamily="34" charset="-120"/>
              </a:rPr>
              <a:t>           transition: 150ms ease-out;</a:t>
            </a:r>
            <a:endParaRPr lang="en-US" sz="1575" dirty="0"/>
          </a:p>
        </p:txBody>
      </p:sp>
      <p:sp>
        <p:nvSpPr>
          <p:cNvPr id="12" name="Shape 10"/>
          <p:cNvSpPr/>
          <p:nvPr/>
        </p:nvSpPr>
        <p:spPr>
          <a:xfrm>
            <a:off x="1047750" y="4917281"/>
            <a:ext cx="16192500" cy="4569619"/>
          </a:xfrm>
          <a:prstGeom prst="roundRect">
            <a:avLst>
              <a:gd name="adj" fmla="val 2918"/>
            </a:avLst>
          </a:prstGeom>
          <a:solidFill>
            <a:srgbClr val="FBF8F2"/>
          </a:solidFill>
          <a:ln w="9525">
            <a:solidFill>
              <a:srgbClr val="D9D1C3"/>
            </a:solidFill>
            <a:prstDash val="solid"/>
          </a:ln>
        </p:spPr>
      </p:sp>
      <p:sp>
        <p:nvSpPr>
          <p:cNvPr id="13" name="Text 11"/>
          <p:cNvSpPr/>
          <p:nvPr/>
        </p:nvSpPr>
        <p:spPr>
          <a:xfrm rot="10800000">
            <a:off x="1438275" y="5701903"/>
            <a:ext cx="295275" cy="3038475"/>
          </a:xfrm>
          <a:prstGeom prst="rect">
            <a:avLst/>
          </a:prstGeom>
          <a:noFill/>
          <a:ln/>
        </p:spPr>
        <p:txBody>
          <a:bodyPr vert="eaVert" wrap="square" lIns="25400" tIns="25400" rIns="25400" bIns="25400" rtlCol="0" anchor="t">
            <a:normAutofit/>
          </a:bodyPr>
          <a:lstStyle/>
          <a:p>
            <a:pPr marL="0" indent="0" algn="l">
              <a:buNone/>
            </a:pPr>
            <a:r>
              <a:rPr lang="en-US" sz="1350" kern="0" spc="135" dirty="0">
                <a:solidFill>
                  <a:srgbClr val="6E6557"/>
                </a:solidFill>
                <a:latin typeface="IBM Plex Mono" pitchFamily="34" charset="0"/>
                <a:ea typeface="IBM Plex Mono" pitchFamily="34" charset="-122"/>
                <a:cs typeface="IBM Plex Mono" pitchFamily="34" charset="-120"/>
              </a:rPr>
              <a:t>THE NAME IS DOCUMENTATION</a:t>
            </a:r>
            <a:endParaRPr lang="en-US" sz="1350" dirty="0"/>
          </a:p>
        </p:txBody>
      </p:sp>
      <p:sp>
        <p:nvSpPr>
          <p:cNvPr id="14" name="Text 12"/>
          <p:cNvSpPr/>
          <p:nvPr/>
        </p:nvSpPr>
        <p:spPr>
          <a:xfrm>
            <a:off x="2095500" y="6802041"/>
            <a:ext cx="2019300" cy="457200"/>
          </a:xfrm>
          <a:prstGeom prst="rect">
            <a:avLst/>
          </a:prstGeom>
          <a:noFill/>
          <a:ln/>
        </p:spPr>
        <p:txBody>
          <a:bodyPr wrap="square" lIns="25400" tIns="25400" rIns="25400" bIns="25400" rtlCol="0" anchor="t">
            <a:normAutofit/>
          </a:bodyPr>
          <a:lstStyle/>
          <a:p>
            <a:pPr marL="0" indent="0" algn="ctr">
              <a:buNone/>
            </a:pPr>
            <a:r>
              <a:rPr lang="en-US" sz="2550" strike="sngStrike" dirty="0">
                <a:solidFill>
                  <a:srgbClr val="9A9082"/>
                </a:solidFill>
                <a:latin typeface="IBM Plex Mono" pitchFamily="34" charset="0"/>
                <a:ea typeface="IBM Plex Mono" pitchFamily="34" charset="-122"/>
                <a:cs typeface="IBM Plex Mono" pitchFamily="34" charset="-120"/>
              </a:rPr>
              <a:t>Frame 1247</a:t>
            </a:r>
            <a:endParaRPr lang="en-US" sz="2550" dirty="0"/>
          </a:p>
        </p:txBody>
      </p:sp>
      <p:sp>
        <p:nvSpPr>
          <p:cNvPr id="15" name="Text 13"/>
          <p:cNvSpPr/>
          <p:nvPr/>
        </p:nvSpPr>
        <p:spPr>
          <a:xfrm>
            <a:off x="2095500" y="7335441"/>
            <a:ext cx="2019300" cy="304800"/>
          </a:xfrm>
          <a:prstGeom prst="rect">
            <a:avLst/>
          </a:prstGeom>
          <a:noFill/>
          <a:ln/>
        </p:spPr>
        <p:txBody>
          <a:bodyPr wrap="square" lIns="25400" tIns="25400" rIns="25400" bIns="25400" rtlCol="0" anchor="t">
            <a:normAutofit/>
          </a:bodyPr>
          <a:lstStyle/>
          <a:p>
            <a:pPr marL="0" indent="0" algn="ctr">
              <a:buNone/>
            </a:pPr>
            <a:r>
              <a:rPr lang="en-US" sz="1575" dirty="0">
                <a:solidFill>
                  <a:srgbClr val="CF5A33"/>
                </a:solidFill>
                <a:latin typeface="IBM Plex Sans" pitchFamily="34" charset="0"/>
                <a:ea typeface="IBM Plex Sans" pitchFamily="34" charset="-122"/>
                <a:cs typeface="IBM Plex Sans" pitchFamily="34" charset="-120"/>
              </a:rPr>
              <a:t>invisible</a:t>
            </a:r>
            <a:endParaRPr lang="en-US" sz="1575" dirty="0"/>
          </a:p>
        </p:txBody>
      </p:sp>
      <p:sp>
        <p:nvSpPr>
          <p:cNvPr id="16" name="Text 14"/>
          <p:cNvSpPr/>
          <p:nvPr/>
        </p:nvSpPr>
        <p:spPr>
          <a:xfrm>
            <a:off x="4457700" y="6968728"/>
            <a:ext cx="294233" cy="504825"/>
          </a:xfrm>
          <a:prstGeom prst="rect">
            <a:avLst/>
          </a:prstGeom>
          <a:noFill/>
          <a:ln/>
        </p:spPr>
        <p:txBody>
          <a:bodyPr wrap="square" lIns="25400" tIns="25400" rIns="25400" bIns="25400" rtlCol="0" anchor="t">
            <a:normAutofit/>
          </a:bodyPr>
          <a:lstStyle/>
          <a:p>
            <a:pPr marL="0" indent="0" algn="l">
              <a:buNone/>
            </a:pPr>
            <a:r>
              <a:rPr lang="en-US" sz="2850" dirty="0">
                <a:solidFill>
                  <a:srgbClr val="9A9082"/>
                </a:solidFill>
                <a:latin typeface="IBM Plex Mono" pitchFamily="34" charset="0"/>
                <a:ea typeface="IBM Plex Mono" pitchFamily="34" charset="-122"/>
                <a:cs typeface="IBM Plex Mono" pitchFamily="34" charset="-120"/>
              </a:rPr>
              <a:t>→</a:t>
            </a:r>
            <a:endParaRPr lang="en-US" sz="2850" dirty="0"/>
          </a:p>
        </p:txBody>
      </p:sp>
      <p:sp>
        <p:nvSpPr>
          <p:cNvPr id="17" name="Text 15"/>
          <p:cNvSpPr/>
          <p:nvPr/>
        </p:nvSpPr>
        <p:spPr>
          <a:xfrm>
            <a:off x="4986780" y="6802041"/>
            <a:ext cx="4803435" cy="457200"/>
          </a:xfrm>
          <a:prstGeom prst="rect">
            <a:avLst/>
          </a:prstGeom>
          <a:noFill/>
          <a:ln/>
        </p:spPr>
        <p:txBody>
          <a:bodyPr wrap="square" lIns="25400" tIns="25400" rIns="25400" bIns="25400" rtlCol="0" anchor="t">
            <a:normAutofit/>
          </a:bodyPr>
          <a:lstStyle/>
          <a:p>
            <a:pPr marL="0" indent="0" algn="ctr">
              <a:buNone/>
            </a:pPr>
            <a:r>
              <a:rPr lang="en-US" sz="2550" b="1" dirty="0">
                <a:solidFill>
                  <a:srgbClr val="2A45D0"/>
                </a:solidFill>
                <a:latin typeface="IBM Plex Mono" pitchFamily="34" charset="0"/>
                <a:ea typeface="IBM Plex Mono" pitchFamily="34" charset="-122"/>
                <a:cs typeface="IBM Plex Mono" pitchFamily="34" charset="-120"/>
              </a:rPr>
              <a:t>Card / Product / Compact</a:t>
            </a:r>
            <a:endParaRPr lang="en-US" sz="2550" dirty="0"/>
          </a:p>
        </p:txBody>
      </p:sp>
      <p:sp>
        <p:nvSpPr>
          <p:cNvPr id="18" name="Text 16"/>
          <p:cNvSpPr/>
          <p:nvPr/>
        </p:nvSpPr>
        <p:spPr>
          <a:xfrm>
            <a:off x="4986780" y="7335441"/>
            <a:ext cx="4803435" cy="304800"/>
          </a:xfrm>
          <a:prstGeom prst="rect">
            <a:avLst/>
          </a:prstGeom>
          <a:noFill/>
          <a:ln/>
        </p:spPr>
        <p:txBody>
          <a:bodyPr wrap="square" lIns="25400" tIns="25400" rIns="25400" bIns="25400" rtlCol="0" anchor="t">
            <a:normAutofit/>
          </a:bodyPr>
          <a:lstStyle/>
          <a:p>
            <a:pPr marL="0" indent="0" algn="ctr">
              <a:buNone/>
            </a:pPr>
            <a:r>
              <a:rPr lang="en-US" sz="1575" dirty="0">
                <a:solidFill>
                  <a:srgbClr val="2A45D0"/>
                </a:solidFill>
                <a:latin typeface="IBM Plex Sans" pitchFamily="34" charset="0"/>
                <a:ea typeface="IBM Plex Sans" pitchFamily="34" charset="-122"/>
                <a:cs typeface="IBM Plex Sans" pitchFamily="34" charset="-120"/>
              </a:rPr>
              <a:t>a contract — what it is, where it slots, which variant</a:t>
            </a:r>
            <a:endParaRPr lang="en-US" sz="15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4697510"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9A9082"/>
                </a:solidFill>
                <a:latin typeface="IBM Plex Mono" pitchFamily="34" charset="0"/>
                <a:ea typeface="IBM Plex Mono" pitchFamily="34" charset="-122"/>
                <a:cs typeface="IBM Plex Mono" pitchFamily="34" charset="-120"/>
              </a:rPr>
              <a:t>TIER 3 · HYGIENE · COMPOUNDING WINS</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15 / 19</a:t>
            </a:r>
            <a:endParaRPr lang="en-US" sz="1350" dirty="0"/>
          </a:p>
        </p:txBody>
      </p:sp>
      <p:sp>
        <p:nvSpPr>
          <p:cNvPr id="5" name="Text 3"/>
          <p:cNvSpPr/>
          <p:nvPr/>
        </p:nvSpPr>
        <p:spPr>
          <a:xfrm>
            <a:off x="1047750" y="15049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The small fixes that compound</a:t>
            </a:r>
            <a:endParaRPr lang="en-US" sz="4050" dirty="0"/>
          </a:p>
        </p:txBody>
      </p:sp>
      <p:sp>
        <p:nvSpPr>
          <p:cNvPr id="6" name="Text 4"/>
          <p:cNvSpPr/>
          <p:nvPr/>
        </p:nvSpPr>
        <p:spPr>
          <a:xfrm>
            <a:off x="1047750" y="2121098"/>
            <a:ext cx="1667827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E6557"/>
                </a:solidFill>
                <a:latin typeface="IBM Plex Sans" pitchFamily="34" charset="0"/>
                <a:ea typeface="IBM Plex Sans" pitchFamily="34" charset="-122"/>
                <a:cs typeface="IBM Plex Sans" pitchFamily="34" charset="-120"/>
              </a:rPr>
              <a:t>No score weight of their own — each just shaves a class of errors off the top.</a:t>
            </a:r>
            <a:endParaRPr lang="en-US" sz="1800" dirty="0"/>
          </a:p>
        </p:txBody>
      </p:sp>
      <p:sp>
        <p:nvSpPr>
          <p:cNvPr id="7" name="Shape 5"/>
          <p:cNvSpPr/>
          <p:nvPr/>
        </p:nvSpPr>
        <p:spPr>
          <a:xfrm>
            <a:off x="1047750" y="2749748"/>
            <a:ext cx="7962900" cy="3235226"/>
          </a:xfrm>
          <a:prstGeom prst="roundRect">
            <a:avLst>
              <a:gd name="adj" fmla="val 4122"/>
            </a:avLst>
          </a:prstGeom>
          <a:solidFill>
            <a:srgbClr val="FBF8F2"/>
          </a:solidFill>
          <a:ln w="9525">
            <a:solidFill>
              <a:srgbClr val="D9D1C3"/>
            </a:solidFill>
            <a:prstDash val="solid"/>
          </a:ln>
        </p:spPr>
      </p:sp>
      <p:sp>
        <p:nvSpPr>
          <p:cNvPr id="8" name="Text 6"/>
          <p:cNvSpPr/>
          <p:nvPr/>
        </p:nvSpPr>
        <p:spPr>
          <a:xfrm>
            <a:off x="1419225" y="3083123"/>
            <a:ext cx="1936849"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1E1A15"/>
                </a:solidFill>
                <a:latin typeface="Space Grotesk" pitchFamily="34" charset="0"/>
                <a:ea typeface="Space Grotesk" pitchFamily="34" charset="-122"/>
                <a:cs typeface="Space Grotesk" pitchFamily="34" charset="-120"/>
              </a:rPr>
              <a:t>Layer naming</a:t>
            </a:r>
            <a:endParaRPr lang="en-US" sz="2250" dirty="0"/>
          </a:p>
        </p:txBody>
      </p:sp>
      <p:sp>
        <p:nvSpPr>
          <p:cNvPr id="9" name="Text 7"/>
          <p:cNvSpPr/>
          <p:nvPr/>
        </p:nvSpPr>
        <p:spPr>
          <a:xfrm>
            <a:off x="8410575" y="3178373"/>
            <a:ext cx="304800" cy="276225"/>
          </a:xfrm>
          <a:prstGeom prst="rect">
            <a:avLst/>
          </a:prstGeom>
          <a:noFill/>
          <a:ln/>
        </p:spPr>
        <p:txBody>
          <a:bodyPr wrap="square" lIns="25400" tIns="25400" rIns="25400" bIns="25400" rtlCol="0" anchor="t">
            <a:normAutofit/>
          </a:bodyPr>
          <a:lstStyle/>
          <a:p>
            <a:pPr marL="0" indent="0" algn="l">
              <a:buNone/>
            </a:pPr>
            <a:r>
              <a:rPr lang="en-US" sz="1500" dirty="0">
                <a:solidFill>
                  <a:srgbClr val="9A9082"/>
                </a:solidFill>
                <a:latin typeface="IBM Plex Mono" pitchFamily="34" charset="0"/>
                <a:ea typeface="IBM Plex Mono" pitchFamily="34" charset="-122"/>
                <a:cs typeface="IBM Plex Mono" pitchFamily="34" charset="-120"/>
              </a:rPr>
              <a:t>08</a:t>
            </a:r>
            <a:endParaRPr lang="en-US" sz="1500" dirty="0"/>
          </a:p>
        </p:txBody>
      </p:sp>
      <p:sp>
        <p:nvSpPr>
          <p:cNvPr id="10" name="Text 8"/>
          <p:cNvSpPr/>
          <p:nvPr/>
        </p:nvSpPr>
        <p:spPr>
          <a:xfrm>
            <a:off x="1419225" y="3587948"/>
            <a:ext cx="7436549" cy="67329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9A9082"/>
                </a:solidFill>
                <a:latin typeface="IBM Plex Mono" pitchFamily="34" charset="0"/>
                <a:ea typeface="IBM Plex Mono" pitchFamily="34" charset="-122"/>
                <a:cs typeface="IBM Plex Mono" pitchFamily="34" charset="-120"/>
              </a:rPr>
              <a:t>Rectangle 12 </a:t>
            </a:r>
            <a:r>
              <a:rPr lang="en-US" sz="1725" dirty="0">
                <a:solidFill>
                  <a:srgbClr val="48413A"/>
                </a:solidFill>
                <a:latin typeface="IBM Plex Sans" pitchFamily="34" charset="0"/>
                <a:ea typeface="IBM Plex Sans" pitchFamily="34" charset="-122"/>
                <a:cs typeface="IBM Plex Sans" pitchFamily="34" charset="-120"/>
              </a:rPr>
              <a:t>is noise. Use role names — </a:t>
            </a:r>
            <a:r>
              <a:rPr lang="en-US" sz="1725" dirty="0">
                <a:solidFill>
                  <a:srgbClr val="2A45D0"/>
                </a:solidFill>
                <a:latin typeface="IBM Plex Mono" pitchFamily="34" charset="0"/>
                <a:ea typeface="IBM Plex Mono" pitchFamily="34" charset="-122"/>
                <a:cs typeface="IBM Plex Mono" pitchFamily="34" charset="-120"/>
              </a:rPr>
              <a:t>icon, label, container </a:t>
            </a:r>
            <a:r>
              <a:rPr lang="en-US" sz="1725" dirty="0">
                <a:solidFill>
                  <a:srgbClr val="48413A"/>
                </a:solidFill>
                <a:latin typeface="IBM Plex Sans" pitchFamily="34" charset="0"/>
                <a:ea typeface="IBM Plex Sans" pitchFamily="34" charset="-122"/>
                <a:cs typeface="IBM Plex Sans" pitchFamily="34" charset="-120"/>
              </a:rPr>
              <a:t>. The same names you'd use as CSS classes.</a:t>
            </a:r>
            <a:endParaRPr lang="en-US" sz="1725" dirty="0"/>
          </a:p>
        </p:txBody>
      </p:sp>
      <p:sp>
        <p:nvSpPr>
          <p:cNvPr id="11" name="Shape 9"/>
          <p:cNvSpPr/>
          <p:nvPr/>
        </p:nvSpPr>
        <p:spPr>
          <a:xfrm>
            <a:off x="9277350" y="2749748"/>
            <a:ext cx="7962900" cy="3235226"/>
          </a:xfrm>
          <a:prstGeom prst="roundRect">
            <a:avLst>
              <a:gd name="adj" fmla="val 4122"/>
            </a:avLst>
          </a:prstGeom>
          <a:solidFill>
            <a:srgbClr val="FBF8F2"/>
          </a:solidFill>
          <a:ln w="9525">
            <a:solidFill>
              <a:srgbClr val="D9D1C3"/>
            </a:solidFill>
            <a:prstDash val="solid"/>
          </a:ln>
        </p:spPr>
      </p:sp>
      <p:sp>
        <p:nvSpPr>
          <p:cNvPr id="12" name="Text 10"/>
          <p:cNvSpPr/>
          <p:nvPr/>
        </p:nvSpPr>
        <p:spPr>
          <a:xfrm>
            <a:off x="9648825" y="3083123"/>
            <a:ext cx="3274951"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1E1A15"/>
                </a:solidFill>
                <a:latin typeface="Space Grotesk" pitchFamily="34" charset="0"/>
                <a:ea typeface="Space Grotesk" pitchFamily="34" charset="-122"/>
                <a:cs typeface="Space Grotesk" pitchFamily="34" charset="-120"/>
              </a:rPr>
              <a:t>Hidden &amp; orphan layers</a:t>
            </a:r>
            <a:endParaRPr lang="en-US" sz="2250" dirty="0"/>
          </a:p>
        </p:txBody>
      </p:sp>
      <p:sp>
        <p:nvSpPr>
          <p:cNvPr id="13" name="Text 11"/>
          <p:cNvSpPr/>
          <p:nvPr/>
        </p:nvSpPr>
        <p:spPr>
          <a:xfrm>
            <a:off x="16640175" y="3178373"/>
            <a:ext cx="304800" cy="276225"/>
          </a:xfrm>
          <a:prstGeom prst="rect">
            <a:avLst/>
          </a:prstGeom>
          <a:noFill/>
          <a:ln/>
        </p:spPr>
        <p:txBody>
          <a:bodyPr wrap="square" lIns="25400" tIns="25400" rIns="25400" bIns="25400" rtlCol="0" anchor="t">
            <a:normAutofit/>
          </a:bodyPr>
          <a:lstStyle/>
          <a:p>
            <a:pPr marL="0" indent="0" algn="l">
              <a:buNone/>
            </a:pPr>
            <a:r>
              <a:rPr lang="en-US" sz="1500" dirty="0">
                <a:solidFill>
                  <a:srgbClr val="9A9082"/>
                </a:solidFill>
                <a:latin typeface="IBM Plex Mono" pitchFamily="34" charset="0"/>
                <a:ea typeface="IBM Plex Mono" pitchFamily="34" charset="-122"/>
                <a:cs typeface="IBM Plex Mono" pitchFamily="34" charset="-120"/>
              </a:rPr>
              <a:t>09</a:t>
            </a:r>
            <a:endParaRPr lang="en-US" sz="1500" dirty="0"/>
          </a:p>
        </p:txBody>
      </p:sp>
      <p:sp>
        <p:nvSpPr>
          <p:cNvPr id="14" name="Text 12"/>
          <p:cNvSpPr/>
          <p:nvPr/>
        </p:nvSpPr>
        <p:spPr>
          <a:xfrm>
            <a:off x="9648825" y="3587948"/>
            <a:ext cx="7436549" cy="67329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48413A"/>
                </a:solidFill>
                <a:latin typeface="IBM Plex Sans" pitchFamily="34" charset="0"/>
                <a:ea typeface="IBM Plex Sans" pitchFamily="34" charset="-122"/>
                <a:cs typeface="IBM Plex Sans" pitchFamily="34" charset="-120"/>
              </a:rPr>
              <a:t>Hidden layers still ship through the payload. If it's conditional, model it as a boolean property. If it's dead, delete it.</a:t>
            </a:r>
            <a:endParaRPr lang="en-US" sz="1725" dirty="0"/>
          </a:p>
        </p:txBody>
      </p:sp>
      <p:sp>
        <p:nvSpPr>
          <p:cNvPr id="15" name="Shape 13"/>
          <p:cNvSpPr/>
          <p:nvPr/>
        </p:nvSpPr>
        <p:spPr>
          <a:xfrm>
            <a:off x="1047750" y="6251674"/>
            <a:ext cx="7962900" cy="3235226"/>
          </a:xfrm>
          <a:prstGeom prst="roundRect">
            <a:avLst>
              <a:gd name="adj" fmla="val 4122"/>
            </a:avLst>
          </a:prstGeom>
          <a:solidFill>
            <a:srgbClr val="FBF8F2"/>
          </a:solidFill>
          <a:ln w="9525">
            <a:solidFill>
              <a:srgbClr val="D9D1C3"/>
            </a:solidFill>
            <a:prstDash val="solid"/>
          </a:ln>
        </p:spPr>
      </p:sp>
      <p:sp>
        <p:nvSpPr>
          <p:cNvPr id="16" name="Text 14"/>
          <p:cNvSpPr/>
          <p:nvPr/>
        </p:nvSpPr>
        <p:spPr>
          <a:xfrm>
            <a:off x="1419225" y="6585049"/>
            <a:ext cx="3330290"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1E1A15"/>
                </a:solidFill>
                <a:latin typeface="Space Grotesk" pitchFamily="34" charset="0"/>
                <a:ea typeface="Space Grotesk" pitchFamily="34" charset="-122"/>
                <a:cs typeface="Space Grotesk" pitchFamily="34" charset="-120"/>
              </a:rPr>
              <a:t>Intentional auto-layout</a:t>
            </a:r>
            <a:endParaRPr lang="en-US" sz="2250" dirty="0"/>
          </a:p>
        </p:txBody>
      </p:sp>
      <p:sp>
        <p:nvSpPr>
          <p:cNvPr id="17" name="Text 15"/>
          <p:cNvSpPr/>
          <p:nvPr/>
        </p:nvSpPr>
        <p:spPr>
          <a:xfrm>
            <a:off x="8410575" y="6680299"/>
            <a:ext cx="304800" cy="276225"/>
          </a:xfrm>
          <a:prstGeom prst="rect">
            <a:avLst/>
          </a:prstGeom>
          <a:noFill/>
          <a:ln/>
        </p:spPr>
        <p:txBody>
          <a:bodyPr wrap="square" lIns="25400" tIns="25400" rIns="25400" bIns="25400" rtlCol="0" anchor="t">
            <a:normAutofit/>
          </a:bodyPr>
          <a:lstStyle/>
          <a:p>
            <a:pPr marL="0" indent="0" algn="l">
              <a:buNone/>
            </a:pPr>
            <a:r>
              <a:rPr lang="en-US" sz="1500" dirty="0">
                <a:solidFill>
                  <a:srgbClr val="9A9082"/>
                </a:solidFill>
                <a:latin typeface="IBM Plex Mono" pitchFamily="34" charset="0"/>
                <a:ea typeface="IBM Plex Mono" pitchFamily="34" charset="-122"/>
                <a:cs typeface="IBM Plex Mono" pitchFamily="34" charset="-120"/>
              </a:rPr>
              <a:t>10</a:t>
            </a:r>
            <a:endParaRPr lang="en-US" sz="1500" dirty="0"/>
          </a:p>
        </p:txBody>
      </p:sp>
      <p:sp>
        <p:nvSpPr>
          <p:cNvPr id="18" name="Text 16"/>
          <p:cNvSpPr/>
          <p:nvPr/>
        </p:nvSpPr>
        <p:spPr>
          <a:xfrm>
            <a:off x="1419225" y="7089874"/>
            <a:ext cx="7436549" cy="67329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48413A"/>
                </a:solidFill>
                <a:latin typeface="IBM Plex Sans" pitchFamily="34" charset="0"/>
                <a:ea typeface="IBM Plex Sans" pitchFamily="34" charset="-122"/>
                <a:cs typeface="IBM Plex Sans" pitchFamily="34" charset="-120"/>
              </a:rPr>
              <a:t>Auto-layout maps cleanly to </a:t>
            </a:r>
            <a:r>
              <a:rPr lang="en-US" sz="1725" dirty="0">
                <a:solidFill>
                  <a:srgbClr val="2A45D0"/>
                </a:solidFill>
                <a:latin typeface="IBM Plex Mono" pitchFamily="34" charset="0"/>
                <a:ea typeface="IBM Plex Mono" pitchFamily="34" charset="-122"/>
                <a:cs typeface="IBM Plex Mono" pitchFamily="34" charset="-120"/>
              </a:rPr>
              <a:t>flex / grid </a:t>
            </a:r>
            <a:r>
              <a:rPr lang="en-US" sz="1725" dirty="0">
                <a:solidFill>
                  <a:srgbClr val="48413A"/>
                </a:solidFill>
                <a:latin typeface="IBM Plex Sans" pitchFamily="34" charset="0"/>
                <a:ea typeface="IBM Plex Sans" pitchFamily="34" charset="-122"/>
                <a:cs typeface="IBM Plex Sans" pitchFamily="34" charset="-120"/>
              </a:rPr>
              <a:t>. Absolute positioning maps to absolute — almost never what you want.</a:t>
            </a:r>
            <a:endParaRPr lang="en-US" sz="1725" dirty="0"/>
          </a:p>
        </p:txBody>
      </p:sp>
      <p:sp>
        <p:nvSpPr>
          <p:cNvPr id="19" name="Shape 17"/>
          <p:cNvSpPr/>
          <p:nvPr/>
        </p:nvSpPr>
        <p:spPr>
          <a:xfrm>
            <a:off x="9277350" y="6251674"/>
            <a:ext cx="7962900" cy="3235226"/>
          </a:xfrm>
          <a:prstGeom prst="roundRect">
            <a:avLst>
              <a:gd name="adj" fmla="val 4122"/>
            </a:avLst>
          </a:prstGeom>
          <a:solidFill>
            <a:srgbClr val="FBF8F2"/>
          </a:solidFill>
          <a:ln w="9525">
            <a:solidFill>
              <a:srgbClr val="D9D1C3"/>
            </a:solidFill>
            <a:prstDash val="solid"/>
          </a:ln>
        </p:spPr>
      </p:sp>
      <p:sp>
        <p:nvSpPr>
          <p:cNvPr id="20" name="Text 18"/>
          <p:cNvSpPr/>
          <p:nvPr/>
        </p:nvSpPr>
        <p:spPr>
          <a:xfrm>
            <a:off x="9648825" y="6585049"/>
            <a:ext cx="3414907" cy="409575"/>
          </a:xfrm>
          <a:prstGeom prst="rect">
            <a:avLst/>
          </a:prstGeom>
          <a:noFill/>
          <a:ln/>
        </p:spPr>
        <p:txBody>
          <a:bodyPr wrap="square" lIns="25400" tIns="25400" rIns="25400" bIns="25400" rtlCol="0" anchor="t">
            <a:normAutofit/>
          </a:bodyPr>
          <a:lstStyle/>
          <a:p>
            <a:pPr marL="0" indent="0" algn="l">
              <a:buNone/>
            </a:pPr>
            <a:r>
              <a:rPr lang="en-US" sz="2250" b="1" dirty="0">
                <a:solidFill>
                  <a:srgbClr val="1E1A15"/>
                </a:solidFill>
                <a:latin typeface="Space Grotesk" pitchFamily="34" charset="0"/>
                <a:ea typeface="Space Grotesk" pitchFamily="34" charset="-122"/>
                <a:cs typeface="Space Grotesk" pitchFamily="34" charset="-120"/>
              </a:rPr>
              <a:t>Complete variant matrix</a:t>
            </a:r>
            <a:endParaRPr lang="en-US" sz="2250" dirty="0"/>
          </a:p>
        </p:txBody>
      </p:sp>
      <p:sp>
        <p:nvSpPr>
          <p:cNvPr id="21" name="Text 19"/>
          <p:cNvSpPr/>
          <p:nvPr/>
        </p:nvSpPr>
        <p:spPr>
          <a:xfrm>
            <a:off x="16640175" y="6680299"/>
            <a:ext cx="304800" cy="276225"/>
          </a:xfrm>
          <a:prstGeom prst="rect">
            <a:avLst/>
          </a:prstGeom>
          <a:noFill/>
          <a:ln/>
        </p:spPr>
        <p:txBody>
          <a:bodyPr wrap="square" lIns="25400" tIns="25400" rIns="25400" bIns="25400" rtlCol="0" anchor="t">
            <a:normAutofit/>
          </a:bodyPr>
          <a:lstStyle/>
          <a:p>
            <a:pPr marL="0" indent="0" algn="l">
              <a:buNone/>
            </a:pPr>
            <a:r>
              <a:rPr lang="en-US" sz="1500" dirty="0">
                <a:solidFill>
                  <a:srgbClr val="9A9082"/>
                </a:solidFill>
                <a:latin typeface="IBM Plex Mono" pitchFamily="34" charset="0"/>
                <a:ea typeface="IBM Plex Mono" pitchFamily="34" charset="-122"/>
                <a:cs typeface="IBM Plex Mono" pitchFamily="34" charset="-120"/>
              </a:rPr>
              <a:t>11</a:t>
            </a:r>
            <a:endParaRPr lang="en-US" sz="1500" dirty="0"/>
          </a:p>
        </p:txBody>
      </p:sp>
      <p:sp>
        <p:nvSpPr>
          <p:cNvPr id="22" name="Text 20"/>
          <p:cNvSpPr/>
          <p:nvPr/>
        </p:nvSpPr>
        <p:spPr>
          <a:xfrm>
            <a:off x="9648825" y="7089874"/>
            <a:ext cx="7436549" cy="673298"/>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48413A"/>
                </a:solidFill>
                <a:latin typeface="IBM Plex Sans" pitchFamily="34" charset="0"/>
                <a:ea typeface="IBM Plex Sans" pitchFamily="34" charset="-122"/>
                <a:cs typeface="IBM Plex Sans" pitchFamily="34" charset="-120"/>
              </a:rPr>
              <a:t>A missing </a:t>
            </a:r>
            <a:r>
              <a:rPr lang="en-US" sz="1725" dirty="0">
                <a:solidFill>
                  <a:srgbClr val="CF5A33"/>
                </a:solidFill>
                <a:latin typeface="IBM Plex Mono" pitchFamily="34" charset="0"/>
                <a:ea typeface="IBM Plex Mono" pitchFamily="34" charset="-122"/>
                <a:cs typeface="IBM Plex Mono" pitchFamily="34" charset="-120"/>
              </a:rPr>
              <a:t>disabled-large-secondary </a:t>
            </a:r>
            <a:r>
              <a:rPr lang="en-US" sz="1725" dirty="0">
                <a:solidFill>
                  <a:srgbClr val="48413A"/>
                </a:solidFill>
                <a:latin typeface="IBM Plex Sans" pitchFamily="34" charset="0"/>
                <a:ea typeface="IBM Plex Sans" pitchFamily="34" charset="-122"/>
                <a:cs typeface="IBM Plex Sans" pitchFamily="34" charset="-120"/>
              </a:rPr>
              <a:t>becomes one AI invents. Keep the vocabulary consistent everywhere.</a:t>
            </a:r>
            <a:endParaRPr lang="en-US" sz="17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A15"/>
        </a:solidFill>
        <a:effectLst/>
      </p:bgPr>
    </p:bg>
    <p:spTree>
      <p:nvGrpSpPr>
        <p:cNvPr id="1" name=""/>
        <p:cNvGrpSpPr/>
        <p:nvPr/>
      </p:nvGrpSpPr>
      <p:grpSpPr>
        <a:xfrm>
          <a:off x="0" y="0"/>
          <a:ext cx="0" cy="0"/>
          <a:chOff x="0" y="0"/>
          <a:chExt cx="0" cy="0"/>
        </a:xfrm>
      </p:grpSpPr>
      <p:sp>
        <p:nvSpPr>
          <p:cNvPr id="2" name="Text 0"/>
          <p:cNvSpPr/>
          <p:nvPr/>
        </p:nvSpPr>
        <p:spPr>
          <a:xfrm>
            <a:off x="1143000" y="2457450"/>
            <a:ext cx="16482060" cy="304800"/>
          </a:xfrm>
          <a:prstGeom prst="rect">
            <a:avLst/>
          </a:prstGeom>
          <a:noFill/>
          <a:ln/>
        </p:spPr>
        <p:txBody>
          <a:bodyPr wrap="square" lIns="25400" tIns="25400" rIns="25400" bIns="25400" rtlCol="0" anchor="t">
            <a:normAutofit/>
          </a:bodyPr>
          <a:lstStyle/>
          <a:p>
            <a:pPr marL="0" indent="0" algn="l">
              <a:buNone/>
            </a:pPr>
            <a:r>
              <a:rPr lang="en-US" sz="1575" kern="0" spc="284" dirty="0">
                <a:solidFill>
                  <a:srgbClr val="CF5A33"/>
                </a:solidFill>
                <a:latin typeface="IBM Plex Mono" pitchFamily="34" charset="0"/>
                <a:ea typeface="IBM Plex Mono" pitchFamily="34" charset="-122"/>
                <a:cs typeface="IBM Plex Mono" pitchFamily="34" charset="-120"/>
              </a:rPr>
              <a:t>THE POINT</a:t>
            </a:r>
            <a:endParaRPr lang="en-US" sz="1575" dirty="0"/>
          </a:p>
        </p:txBody>
      </p:sp>
      <p:sp>
        <p:nvSpPr>
          <p:cNvPr id="3" name="Text 1"/>
          <p:cNvSpPr/>
          <p:nvPr/>
        </p:nvSpPr>
        <p:spPr>
          <a:xfrm>
            <a:off x="1143000" y="3105150"/>
            <a:ext cx="14716125" cy="18669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216" dirty="0">
                <a:solidFill>
                  <a:srgbClr val="F1ECE3"/>
                </a:solidFill>
                <a:latin typeface="Space Grotesk" pitchFamily="34" charset="0"/>
                <a:ea typeface="Space Grotesk" pitchFamily="34" charset="-122"/>
                <a:cs typeface="Space Grotesk" pitchFamily="34" charset="-120"/>
              </a:rPr>
              <a:t>Build the file like a stranger has to read it.</a:t>
            </a:r>
            <a:endParaRPr lang="en-US" sz="7200" dirty="0"/>
          </a:p>
        </p:txBody>
      </p:sp>
      <p:sp>
        <p:nvSpPr>
          <p:cNvPr id="4" name="Text 2"/>
          <p:cNvSpPr/>
          <p:nvPr/>
        </p:nvSpPr>
        <p:spPr>
          <a:xfrm>
            <a:off x="1143000" y="5200650"/>
            <a:ext cx="16482060" cy="619125"/>
          </a:xfrm>
          <a:prstGeom prst="rect">
            <a:avLst/>
          </a:prstGeom>
          <a:noFill/>
          <a:ln/>
        </p:spPr>
        <p:txBody>
          <a:bodyPr wrap="square" lIns="25400" tIns="25400" rIns="25400" bIns="25400" rtlCol="0" anchor="t">
            <a:normAutofit/>
          </a:bodyPr>
          <a:lstStyle/>
          <a:p>
            <a:pPr marL="0" indent="0" algn="l">
              <a:buNone/>
            </a:pPr>
            <a:r>
              <a:rPr lang="en-US" sz="3600" dirty="0">
                <a:solidFill>
                  <a:srgbClr val="CF5A33"/>
                </a:solidFill>
                <a:latin typeface="Space Grotesk" pitchFamily="34" charset="0"/>
                <a:ea typeface="Space Grotesk" pitchFamily="34" charset="-122"/>
                <a:cs typeface="Space Grotesk" pitchFamily="34" charset="-120"/>
              </a:rPr>
              <a:t>Increasingly, one will.</a:t>
            </a:r>
            <a:endParaRPr lang="en-US" sz="3600" dirty="0"/>
          </a:p>
        </p:txBody>
      </p:sp>
      <p:sp>
        <p:nvSpPr>
          <p:cNvPr id="5" name="Shape 3"/>
          <p:cNvSpPr/>
          <p:nvPr/>
        </p:nvSpPr>
        <p:spPr>
          <a:xfrm>
            <a:off x="1143000" y="6296025"/>
            <a:ext cx="11430000" cy="9525"/>
          </a:xfrm>
          <a:prstGeom prst="rect">
            <a:avLst/>
          </a:prstGeom>
          <a:solidFill>
            <a:srgbClr val="39332B"/>
          </a:solidFill>
          <a:ln/>
        </p:spPr>
      </p:sp>
      <p:sp>
        <p:nvSpPr>
          <p:cNvPr id="6" name="Text 4"/>
          <p:cNvSpPr/>
          <p:nvPr/>
        </p:nvSpPr>
        <p:spPr>
          <a:xfrm>
            <a:off x="1143000" y="6629400"/>
            <a:ext cx="11772900" cy="12382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B8AFA1"/>
                </a:solidFill>
                <a:latin typeface="IBM Plex Sans" pitchFamily="34" charset="0"/>
                <a:ea typeface="IBM Plex Sans" pitchFamily="34" charset="-122"/>
                <a:cs typeface="IBM Plex Sans" pitchFamily="34" charset="-120"/>
              </a:rPr>
              <a:t>The bias isn't toward AI's preferences — it's toward clarity. Pass AI's audit and you've also passed every audit that came before it: the new hire, the engineer pairing on a feature, the maintainer refactoring three years from now.</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F5A33"/>
        </a:solidFill>
        <a:effectLst/>
      </p:bgPr>
    </p:bg>
    <p:spTree>
      <p:nvGrpSpPr>
        <p:cNvPr id="1" name=""/>
        <p:cNvGrpSpPr/>
        <p:nvPr/>
      </p:nvGrpSpPr>
      <p:grpSpPr>
        <a:xfrm>
          <a:off x="0" y="0"/>
          <a:ext cx="0" cy="0"/>
          <a:chOff x="0" y="0"/>
          <a:chExt cx="0" cy="0"/>
        </a:xfrm>
      </p:grpSpPr>
      <p:sp>
        <p:nvSpPr>
          <p:cNvPr id="2" name="Text 0"/>
          <p:cNvSpPr/>
          <p:nvPr/>
        </p:nvSpPr>
        <p:spPr>
          <a:xfrm>
            <a:off x="1047750" y="3002012"/>
            <a:ext cx="16678275" cy="314325"/>
          </a:xfrm>
          <a:prstGeom prst="rect">
            <a:avLst/>
          </a:prstGeom>
          <a:noFill/>
          <a:ln/>
        </p:spPr>
        <p:txBody>
          <a:bodyPr wrap="square" lIns="25400" tIns="25400" rIns="25400" bIns="25400" rtlCol="0" anchor="t">
            <a:normAutofit/>
          </a:bodyPr>
          <a:lstStyle/>
          <a:p>
            <a:pPr marL="0" indent="0" algn="l">
              <a:buNone/>
            </a:pPr>
            <a:r>
              <a:rPr lang="en-US" sz="1650" kern="0" spc="330" dirty="0">
                <a:solidFill>
                  <a:srgbClr val="5C2A16"/>
                </a:solidFill>
                <a:latin typeface="IBM Plex Mono" pitchFamily="34" charset="0"/>
                <a:ea typeface="IBM Plex Mono" pitchFamily="34" charset="-122"/>
                <a:cs typeface="IBM Plex Mono" pitchFamily="34" charset="-120"/>
              </a:rPr>
              <a:t>PART TWO · MAKE THE CLARITY PERMANENT</a:t>
            </a:r>
            <a:endParaRPr lang="en-US" sz="1650" dirty="0"/>
          </a:p>
        </p:txBody>
      </p:sp>
      <p:sp>
        <p:nvSpPr>
          <p:cNvPr id="3" name="Text 1"/>
          <p:cNvSpPr/>
          <p:nvPr/>
        </p:nvSpPr>
        <p:spPr>
          <a:xfrm>
            <a:off x="1047750" y="3563987"/>
            <a:ext cx="16678275" cy="2054126"/>
          </a:xfrm>
          <a:prstGeom prst="rect">
            <a:avLst/>
          </a:prstGeom>
          <a:noFill/>
          <a:ln/>
        </p:spPr>
        <p:txBody>
          <a:bodyPr wrap="square" lIns="25400" tIns="25400" rIns="25400" bIns="25400" rtlCol="0" anchor="t">
            <a:normAutofit/>
          </a:bodyPr>
          <a:lstStyle/>
          <a:p>
            <a:pPr marL="0" indent="0" algn="l">
              <a:lnSpc>
                <a:spcPct val="98000"/>
              </a:lnSpc>
              <a:buNone/>
            </a:pPr>
            <a:r>
              <a:rPr lang="en-US" sz="8100" b="1" kern="0" spc="-243" dirty="0">
                <a:solidFill>
                  <a:srgbClr val="1E1A15"/>
                </a:solidFill>
                <a:latin typeface="Space Grotesk" pitchFamily="34" charset="0"/>
                <a:ea typeface="Space Grotesk" pitchFamily="34" charset="-122"/>
                <a:cs typeface="Space Grotesk" pitchFamily="34" charset="-120"/>
              </a:rPr>
              <a:t>Turn your system into a Claude Skill.</a:t>
            </a:r>
            <a:endParaRPr lang="en-US" sz="8100" dirty="0"/>
          </a:p>
        </p:txBody>
      </p:sp>
      <p:sp>
        <p:nvSpPr>
          <p:cNvPr id="4" name="Text 2"/>
          <p:cNvSpPr/>
          <p:nvPr/>
        </p:nvSpPr>
        <p:spPr>
          <a:xfrm>
            <a:off x="1047750" y="5999113"/>
            <a:ext cx="11576685"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3A1C10"/>
                </a:solidFill>
                <a:latin typeface="IBM Plex Sans" pitchFamily="34" charset="0"/>
                <a:ea typeface="IBM Plex Sans" pitchFamily="34" charset="-122"/>
                <a:cs typeface="IBM Plex Sans" pitchFamily="34" charset="-120"/>
              </a:rPr>
              <a:t>A clean file earns AI's trust once. But close the chat, open a new one — and Claude has forgotten your tokens, your naming, your specs. You're back to pasting 200 lines of context.</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ECE3"/>
        </a:solidFill>
        <a:effectLst/>
      </p:bgPr>
    </p:bg>
    <p:spTree>
      <p:nvGrpSpPr>
        <p:cNvPr id="1" name=""/>
        <p:cNvGrpSpPr/>
        <p:nvPr/>
      </p:nvGrpSpPr>
      <p:grpSpPr>
        <a:xfrm>
          <a:off x="0" y="0"/>
          <a:ext cx="0" cy="0"/>
          <a:chOff x="0" y="0"/>
          <a:chExt cx="0" cy="0"/>
        </a:xfrm>
      </p:grpSpPr>
      <p:sp>
        <p:nvSpPr>
          <p:cNvPr id="2" name="Shape 0"/>
          <p:cNvSpPr/>
          <p:nvPr/>
        </p:nvSpPr>
        <p:spPr>
          <a:xfrm>
            <a:off x="1047750" y="1209675"/>
            <a:ext cx="16192500" cy="9525"/>
          </a:xfrm>
          <a:prstGeom prst="rect">
            <a:avLst/>
          </a:prstGeom>
          <a:solidFill>
            <a:srgbClr val="D9D1C3"/>
          </a:solidFill>
          <a:ln/>
        </p:spPr>
      </p:sp>
      <p:sp>
        <p:nvSpPr>
          <p:cNvPr id="3" name="Text 1"/>
          <p:cNvSpPr/>
          <p:nvPr/>
        </p:nvSpPr>
        <p:spPr>
          <a:xfrm>
            <a:off x="1047750" y="800100"/>
            <a:ext cx="3623692"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CF5A33"/>
                </a:solidFill>
                <a:latin typeface="IBM Plex Mono" pitchFamily="34" charset="0"/>
                <a:ea typeface="IBM Plex Mono" pitchFamily="34" charset="-122"/>
                <a:cs typeface="IBM Plex Mono" pitchFamily="34" charset="-120"/>
              </a:rPr>
              <a:t>THE FIX — A PERMANENT BRIEF</a:t>
            </a:r>
            <a:endParaRPr lang="en-US" sz="1350" dirty="0"/>
          </a:p>
        </p:txBody>
      </p:sp>
      <p:sp>
        <p:nvSpPr>
          <p:cNvPr id="4" name="Text 2"/>
          <p:cNvSpPr/>
          <p:nvPr/>
        </p:nvSpPr>
        <p:spPr>
          <a:xfrm>
            <a:off x="16328082" y="80010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6E6557"/>
                </a:solidFill>
                <a:latin typeface="IBM Plex Mono" pitchFamily="34" charset="0"/>
                <a:ea typeface="IBM Plex Mono" pitchFamily="34" charset="-122"/>
                <a:cs typeface="IBM Plex Mono" pitchFamily="34" charset="-120"/>
              </a:rPr>
              <a:t>18 / 19</a:t>
            </a:r>
            <a:endParaRPr lang="en-US" sz="1350" dirty="0"/>
          </a:p>
        </p:txBody>
      </p:sp>
      <p:sp>
        <p:nvSpPr>
          <p:cNvPr id="5" name="Text 3"/>
          <p:cNvSpPr/>
          <p:nvPr/>
        </p:nvSpPr>
        <p:spPr>
          <a:xfrm>
            <a:off x="1047750" y="1504950"/>
            <a:ext cx="16678275" cy="578048"/>
          </a:xfrm>
          <a:prstGeom prst="rect">
            <a:avLst/>
          </a:prstGeom>
          <a:noFill/>
          <a:ln/>
        </p:spPr>
        <p:txBody>
          <a:bodyPr wrap="square" lIns="25400" tIns="25400" rIns="25400" bIns="25400" rtlCol="0" anchor="t">
            <a:normAutofit/>
          </a:bodyPr>
          <a:lstStyle/>
          <a:p>
            <a:pPr marL="0" indent="0" algn="l">
              <a:lnSpc>
                <a:spcPct val="105000"/>
              </a:lnSpc>
              <a:buNone/>
            </a:pPr>
            <a:r>
              <a:rPr lang="en-US" sz="4050" b="1" kern="0" spc="-81" dirty="0">
                <a:solidFill>
                  <a:srgbClr val="1E1A15"/>
                </a:solidFill>
                <a:latin typeface="Space Grotesk" pitchFamily="34" charset="0"/>
                <a:ea typeface="Space Grotesk" pitchFamily="34" charset="-122"/>
                <a:cs typeface="Space Grotesk" pitchFamily="34" charset="-120"/>
              </a:rPr>
              <a:t>Write it once. Claude reads it every time.</a:t>
            </a:r>
            <a:endParaRPr lang="en-US" sz="4050" dirty="0"/>
          </a:p>
        </p:txBody>
      </p:sp>
      <p:sp>
        <p:nvSpPr>
          <p:cNvPr id="6" name="Shape 4"/>
          <p:cNvSpPr/>
          <p:nvPr/>
        </p:nvSpPr>
        <p:spPr>
          <a:xfrm>
            <a:off x="1047750" y="2368748"/>
            <a:ext cx="7930455" cy="7118152"/>
          </a:xfrm>
          <a:prstGeom prst="roundRect">
            <a:avLst>
              <a:gd name="adj" fmla="val 2141"/>
            </a:avLst>
          </a:prstGeom>
          <a:solidFill>
            <a:srgbClr val="1E1A15"/>
          </a:solidFill>
          <a:ln/>
        </p:spPr>
      </p:sp>
      <p:sp>
        <p:nvSpPr>
          <p:cNvPr id="7" name="Text 5"/>
          <p:cNvSpPr/>
          <p:nvPr/>
        </p:nvSpPr>
        <p:spPr>
          <a:xfrm>
            <a:off x="1447800" y="2749748"/>
            <a:ext cx="7344266" cy="257175"/>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CF5A33"/>
                </a:solidFill>
                <a:latin typeface="IBM Plex Mono" pitchFamily="34" charset="0"/>
                <a:ea typeface="IBM Plex Mono" pitchFamily="34" charset="-122"/>
                <a:cs typeface="IBM Plex Mono" pitchFamily="34" charset="-120"/>
              </a:rPr>
              <a:t>DESIGN-SYSTEM/</a:t>
            </a:r>
            <a:endParaRPr lang="en-US" sz="1350" dirty="0"/>
          </a:p>
        </p:txBody>
      </p:sp>
      <p:sp>
        <p:nvSpPr>
          <p:cNvPr id="8" name="Text 6"/>
          <p:cNvSpPr/>
          <p:nvPr/>
        </p:nvSpPr>
        <p:spPr>
          <a:xfrm>
            <a:off x="1447800" y="3216473"/>
            <a:ext cx="7344266" cy="2300288"/>
          </a:xfrm>
          <a:prstGeom prst="rect">
            <a:avLst/>
          </a:prstGeom>
          <a:noFill/>
          <a:ln/>
        </p:spPr>
        <p:txBody>
          <a:bodyPr wrap="none" lIns="25400" tIns="25400" rIns="25400" bIns="25400" rtlCol="0" anchor="t">
            <a:normAutofit/>
          </a:bodyPr>
          <a:lstStyle/>
          <a:p>
            <a:pPr marL="0" indent="0" algn="l">
              <a:lnSpc>
                <a:spcPct val="190000"/>
              </a:lnSpc>
              <a:buNone/>
            </a:pPr>
            <a:r>
              <a:rPr lang="en-US" sz="1875" dirty="0">
                <a:solidFill>
                  <a:srgbClr val="F1ECE3"/>
                </a:solidFill>
                <a:latin typeface="IBM Plex Mono" pitchFamily="34" charset="0"/>
                <a:ea typeface="IBM Plex Mono" pitchFamily="34" charset="-122"/>
                <a:cs typeface="IBM Plex Mono" pitchFamily="34" charset="-120"/>
              </a:rPr>
              <a:t>📄 </a:t>
            </a:r>
            <a:r>
              <a:rPr lang="en-US" sz="1875" dirty="0">
                <a:solidFill>
                  <a:srgbClr val="CF5A33"/>
                </a:solidFill>
                <a:latin typeface="IBM Plex Mono" pitchFamily="34" charset="0"/>
                <a:ea typeface="IBM Plex Mono" pitchFamily="34" charset="-122"/>
                <a:cs typeface="IBM Plex Mono" pitchFamily="34" charset="-120"/>
              </a:rPr>
              <a:t>SKILL.md </a:t>
            </a:r>
            <a:r>
              <a:rPr lang="en-US" sz="1875" dirty="0">
                <a:solidFill>
                  <a:srgbClr val="F1ECE3"/>
                </a:solidFill>
                <a:latin typeface="IBM Plex Mono" pitchFamily="34" charset="0"/>
                <a:ea typeface="IBM Plex Mono" pitchFamily="34" charset="-122"/>
                <a:cs typeface="IBM Plex Mono" pitchFamily="34" charset="-120"/>
              </a:rPr>
              <a:t>   ├─ tokens &amp; spacing scale</a:t>
            </a:r>
            <a:endParaRPr lang="en-US" sz="1875" dirty="0"/>
          </a:p>
          <a:p>
            <a:pPr marL="0" indent="0" algn="l">
              <a:lnSpc>
                <a:spcPct val="190000"/>
              </a:lnSpc>
              <a:buNone/>
            </a:pPr>
            <a:r>
              <a:rPr lang="en-US" sz="1875" dirty="0">
                <a:solidFill>
                  <a:srgbClr val="F1ECE3"/>
                </a:solidFill>
                <a:latin typeface="IBM Plex Mono" pitchFamily="34" charset="0"/>
                <a:ea typeface="IBM Plex Mono" pitchFamily="34" charset="-122"/>
                <a:cs typeface="IBM Plex Mono" pitchFamily="34" charset="-120"/>
              </a:rPr>
              <a:t>   ├─ naming conventions</a:t>
            </a:r>
            <a:endParaRPr lang="en-US" sz="1875" dirty="0"/>
          </a:p>
          <a:p>
            <a:pPr marL="0" indent="0" algn="l">
              <a:lnSpc>
                <a:spcPct val="190000"/>
              </a:lnSpc>
              <a:buNone/>
            </a:pPr>
            <a:r>
              <a:rPr lang="en-US" sz="1875" dirty="0">
                <a:solidFill>
                  <a:srgbClr val="F1ECE3"/>
                </a:solidFill>
                <a:latin typeface="IBM Plex Mono" pitchFamily="34" charset="0"/>
                <a:ea typeface="IBM Plex Mono" pitchFamily="34" charset="-122"/>
                <a:cs typeface="IBM Plex Mono" pitchFamily="34" charset="-120"/>
              </a:rPr>
              <a:t>   ├─ component specs</a:t>
            </a:r>
            <a:endParaRPr lang="en-US" sz="1875" dirty="0"/>
          </a:p>
          <a:p>
            <a:pPr marL="0" indent="0" algn="l">
              <a:lnSpc>
                <a:spcPct val="190000"/>
              </a:lnSpc>
              <a:buNone/>
            </a:pPr>
            <a:r>
              <a:rPr lang="en-US" sz="1875" dirty="0">
                <a:solidFill>
                  <a:srgbClr val="F1ECE3"/>
                </a:solidFill>
                <a:latin typeface="IBM Plex Mono" pitchFamily="34" charset="0"/>
                <a:ea typeface="IBM Plex Mono" pitchFamily="34" charset="-122"/>
                <a:cs typeface="IBM Plex Mono" pitchFamily="34" charset="-120"/>
              </a:rPr>
              <a:t>   └─ accessibility rules</a:t>
            </a:r>
            <a:endParaRPr lang="en-US" sz="1875" dirty="0"/>
          </a:p>
        </p:txBody>
      </p:sp>
      <p:sp>
        <p:nvSpPr>
          <p:cNvPr id="9" name="Text 7"/>
          <p:cNvSpPr/>
          <p:nvPr/>
        </p:nvSpPr>
        <p:spPr>
          <a:xfrm>
            <a:off x="1447800" y="8448675"/>
            <a:ext cx="7344266" cy="695325"/>
          </a:xfrm>
          <a:prstGeom prst="rect">
            <a:avLst/>
          </a:prstGeom>
          <a:noFill/>
          <a:ln/>
        </p:spPr>
        <p:txBody>
          <a:bodyPr wrap="square" lIns="25400" tIns="25400" rIns="25400" bIns="25400" rtlCol="0" anchor="t">
            <a:normAutofit/>
          </a:bodyPr>
          <a:lstStyle/>
          <a:p>
            <a:pPr marL="0" indent="0" algn="l">
              <a:lnSpc>
                <a:spcPct val="150000"/>
              </a:lnSpc>
              <a:buNone/>
            </a:pPr>
            <a:r>
              <a:rPr lang="en-US" sz="1725" dirty="0">
                <a:solidFill>
                  <a:srgbClr val="B8AFA1"/>
                </a:solidFill>
                <a:latin typeface="IBM Plex Sans" pitchFamily="34" charset="0"/>
                <a:ea typeface="IBM Plex Sans" pitchFamily="34" charset="-122"/>
                <a:cs typeface="IBM Plex Sans" pitchFamily="34" charset="-120"/>
              </a:rPr>
              <a:t>A description tells Claude </a:t>
            </a:r>
            <a:r>
              <a:rPr lang="en-US" sz="1725" i="1" dirty="0">
                <a:solidFill>
                  <a:srgbClr val="B8AFA1"/>
                </a:solidFill>
                <a:latin typeface="IBM Plex Sans" pitchFamily="34" charset="0"/>
                <a:ea typeface="IBM Plex Sans" pitchFamily="34" charset="-122"/>
                <a:cs typeface="IBM Plex Sans" pitchFamily="34" charset="-120"/>
              </a:rPr>
              <a:t>when </a:t>
            </a:r>
            <a:r>
              <a:rPr lang="en-US" sz="1725" dirty="0">
                <a:solidFill>
                  <a:srgbClr val="B8AFA1"/>
                </a:solidFill>
                <a:latin typeface="IBM Plex Sans" pitchFamily="34" charset="0"/>
                <a:ea typeface="IBM Plex Sans" pitchFamily="34" charset="-122"/>
                <a:cs typeface="IBM Plex Sans" pitchFamily="34" charset="-120"/>
              </a:rPr>
              <a:t>to load it — injected before you finish your prompt.</a:t>
            </a:r>
            <a:endParaRPr lang="en-US" sz="1725" dirty="0"/>
          </a:p>
        </p:txBody>
      </p:sp>
      <p:sp>
        <p:nvSpPr>
          <p:cNvPr id="10" name="Shape 8"/>
          <p:cNvSpPr/>
          <p:nvPr/>
        </p:nvSpPr>
        <p:spPr>
          <a:xfrm>
            <a:off x="9359205" y="2368748"/>
            <a:ext cx="3826222" cy="1512391"/>
          </a:xfrm>
          <a:prstGeom prst="roundRect">
            <a:avLst>
              <a:gd name="adj" fmla="val 8817"/>
            </a:avLst>
          </a:prstGeom>
          <a:solidFill>
            <a:srgbClr val="FBF8F2"/>
          </a:solidFill>
          <a:ln w="9525">
            <a:solidFill>
              <a:srgbClr val="D9D1C3"/>
            </a:solidFill>
            <a:prstDash val="solid"/>
          </a:ln>
        </p:spPr>
      </p:sp>
      <p:sp>
        <p:nvSpPr>
          <p:cNvPr id="11" name="Text 9"/>
          <p:cNvSpPr/>
          <p:nvPr/>
        </p:nvSpPr>
        <p:spPr>
          <a:xfrm>
            <a:off x="9654480" y="2644973"/>
            <a:ext cx="3332742"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1E1A15"/>
                </a:solidFill>
                <a:latin typeface="Space Grotesk" pitchFamily="34" charset="0"/>
                <a:ea typeface="Space Grotesk" pitchFamily="34" charset="-122"/>
                <a:cs typeface="Space Grotesk" pitchFamily="34" charset="-120"/>
              </a:rPr>
              <a:t>Claude.ai Skill</a:t>
            </a:r>
            <a:endParaRPr lang="en-US" sz="1950" dirty="0"/>
          </a:p>
        </p:txBody>
      </p:sp>
      <p:sp>
        <p:nvSpPr>
          <p:cNvPr id="12" name="Text 10"/>
          <p:cNvSpPr/>
          <p:nvPr/>
        </p:nvSpPr>
        <p:spPr>
          <a:xfrm>
            <a:off x="9654480" y="3045023"/>
            <a:ext cx="3332742" cy="597991"/>
          </a:xfrm>
          <a:prstGeom prst="rect">
            <a:avLst/>
          </a:prstGeom>
          <a:noFill/>
          <a:ln/>
        </p:spPr>
        <p:txBody>
          <a:bodyPr wrap="square" lIns="25400" tIns="25400" rIns="25400" bIns="25400" rtlCol="0" anchor="t">
            <a:normAutofit/>
          </a:bodyPr>
          <a:lstStyle/>
          <a:p>
            <a:pPr marL="0" indent="0" algn="l">
              <a:lnSpc>
                <a:spcPct val="140000"/>
              </a:lnSpc>
              <a:buNone/>
            </a:pPr>
            <a:r>
              <a:rPr lang="en-US" sz="1575" dirty="0">
                <a:solidFill>
                  <a:srgbClr val="48413A"/>
                </a:solidFill>
                <a:latin typeface="IBM Plex Sans" pitchFamily="34" charset="0"/>
                <a:ea typeface="IBM Plex Sans" pitchFamily="34" charset="-122"/>
                <a:cs typeface="IBM Plex Sans" pitchFamily="34" charset="-120"/>
              </a:rPr>
              <a:t>For your own design-system work, everywhere you chat.</a:t>
            </a:r>
            <a:endParaRPr lang="en-US" sz="1575" dirty="0"/>
          </a:p>
        </p:txBody>
      </p:sp>
      <p:sp>
        <p:nvSpPr>
          <p:cNvPr id="13" name="Shape 11"/>
          <p:cNvSpPr/>
          <p:nvPr/>
        </p:nvSpPr>
        <p:spPr>
          <a:xfrm>
            <a:off x="13414028" y="2368748"/>
            <a:ext cx="3826222" cy="1512391"/>
          </a:xfrm>
          <a:prstGeom prst="roundRect">
            <a:avLst>
              <a:gd name="adj" fmla="val 8817"/>
            </a:avLst>
          </a:prstGeom>
          <a:solidFill>
            <a:srgbClr val="FBF8F2"/>
          </a:solidFill>
          <a:ln w="9525">
            <a:solidFill>
              <a:srgbClr val="D9D1C3"/>
            </a:solidFill>
            <a:prstDash val="solid"/>
          </a:ln>
        </p:spPr>
      </p:sp>
      <p:sp>
        <p:nvSpPr>
          <p:cNvPr id="14" name="Text 12"/>
          <p:cNvSpPr/>
          <p:nvPr/>
        </p:nvSpPr>
        <p:spPr>
          <a:xfrm>
            <a:off x="13709303" y="2644973"/>
            <a:ext cx="3332742"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1E1A15"/>
                </a:solidFill>
                <a:latin typeface="Space Grotesk" pitchFamily="34" charset="0"/>
                <a:ea typeface="Space Grotesk" pitchFamily="34" charset="-122"/>
                <a:cs typeface="Space Grotesk" pitchFamily="34" charset="-120"/>
              </a:rPr>
              <a:t>Claude Code Skill</a:t>
            </a:r>
            <a:endParaRPr lang="en-US" sz="1950" dirty="0"/>
          </a:p>
        </p:txBody>
      </p:sp>
      <p:sp>
        <p:nvSpPr>
          <p:cNvPr id="15" name="Text 13"/>
          <p:cNvSpPr/>
          <p:nvPr/>
        </p:nvSpPr>
        <p:spPr>
          <a:xfrm>
            <a:off x="13709303" y="3045023"/>
            <a:ext cx="3332742" cy="597991"/>
          </a:xfrm>
          <a:prstGeom prst="rect">
            <a:avLst/>
          </a:prstGeom>
          <a:noFill/>
          <a:ln/>
        </p:spPr>
        <p:txBody>
          <a:bodyPr wrap="square" lIns="25400" tIns="25400" rIns="25400" bIns="25400" rtlCol="0" anchor="t">
            <a:normAutofit/>
          </a:bodyPr>
          <a:lstStyle/>
          <a:p>
            <a:pPr marL="0" indent="0" algn="l">
              <a:lnSpc>
                <a:spcPct val="140000"/>
              </a:lnSpc>
              <a:buNone/>
            </a:pPr>
            <a:r>
              <a:rPr lang="en-US" sz="1575" dirty="0">
                <a:solidFill>
                  <a:srgbClr val="48413A"/>
                </a:solidFill>
                <a:latin typeface="IBM Plex Sans" pitchFamily="34" charset="0"/>
                <a:ea typeface="IBM Plex Sans" pitchFamily="34" charset="-122"/>
                <a:cs typeface="IBM Plex Sans" pitchFamily="34" charset="-120"/>
              </a:rPr>
              <a:t>Commits alongside the repo — the whole team shares one context.</a:t>
            </a:r>
            <a:endParaRPr lang="en-US" sz="1575" dirty="0"/>
          </a:p>
        </p:txBody>
      </p:sp>
      <p:sp>
        <p:nvSpPr>
          <p:cNvPr id="16" name="Shape 14"/>
          <p:cNvSpPr/>
          <p:nvPr/>
        </p:nvSpPr>
        <p:spPr>
          <a:xfrm>
            <a:off x="9359205" y="4109740"/>
            <a:ext cx="7881045" cy="5377160"/>
          </a:xfrm>
          <a:prstGeom prst="roundRect">
            <a:avLst>
              <a:gd name="adj" fmla="val 2480"/>
            </a:avLst>
          </a:prstGeom>
          <a:solidFill>
            <a:srgbClr val="1E1A15"/>
          </a:solidFill>
          <a:ln/>
        </p:spPr>
      </p:sp>
      <p:sp>
        <p:nvSpPr>
          <p:cNvPr id="17" name="Text 15"/>
          <p:cNvSpPr/>
          <p:nvPr/>
        </p:nvSpPr>
        <p:spPr>
          <a:xfrm>
            <a:off x="9740205" y="5993457"/>
            <a:ext cx="767655" cy="447675"/>
          </a:xfrm>
          <a:prstGeom prst="rect">
            <a:avLst/>
          </a:prstGeom>
          <a:noFill/>
          <a:ln/>
        </p:spPr>
        <p:txBody>
          <a:bodyPr wrap="square" lIns="25400" tIns="25400" rIns="25400" bIns="25400" rtlCol="0" anchor="t">
            <a:normAutofit/>
          </a:bodyPr>
          <a:lstStyle/>
          <a:p>
            <a:pPr marL="0" indent="0" algn="l">
              <a:buNone/>
            </a:pPr>
            <a:r>
              <a:rPr lang="en-US" sz="2550" b="1" dirty="0">
                <a:solidFill>
                  <a:srgbClr val="CF5A33"/>
                </a:solidFill>
                <a:latin typeface="Space Grotesk" pitchFamily="34" charset="0"/>
                <a:ea typeface="Space Grotesk" pitchFamily="34" charset="-122"/>
                <a:cs typeface="Space Grotesk" pitchFamily="34" charset="-120"/>
              </a:rPr>
              <a:t>Zero</a:t>
            </a:r>
            <a:endParaRPr lang="en-US" sz="2550" dirty="0"/>
          </a:p>
        </p:txBody>
      </p:sp>
      <p:sp>
        <p:nvSpPr>
          <p:cNvPr id="18" name="Text 16"/>
          <p:cNvSpPr/>
          <p:nvPr/>
        </p:nvSpPr>
        <p:spPr>
          <a:xfrm>
            <a:off x="10622161" y="6012507"/>
            <a:ext cx="1769120" cy="409575"/>
          </a:xfrm>
          <a:prstGeom prst="rect">
            <a:avLst/>
          </a:prstGeom>
          <a:noFill/>
          <a:ln/>
        </p:spPr>
        <p:txBody>
          <a:bodyPr wrap="square" lIns="0" tIns="0" rIns="0" bIns="0" rtlCol="0" anchor="t">
            <a:normAutofit/>
          </a:bodyPr>
          <a:lstStyle/>
          <a:p>
            <a:pPr marL="0" indent="0" algn="l">
              <a:buNone/>
            </a:pPr>
            <a:r>
              <a:rPr lang="en-US" sz="2250" dirty="0">
                <a:solidFill>
                  <a:srgbClr val="F1ECE3"/>
                </a:solidFill>
                <a:latin typeface="IBM Plex Sans" pitchFamily="34" charset="0"/>
                <a:ea typeface="IBM Plex Sans" pitchFamily="34" charset="-122"/>
                <a:cs typeface="IBM Plex Sans" pitchFamily="34" charset="-120"/>
              </a:rPr>
              <a:t>re-explaining</a:t>
            </a:r>
            <a:endParaRPr lang="en-US" sz="2250" dirty="0"/>
          </a:p>
        </p:txBody>
      </p:sp>
      <p:sp>
        <p:nvSpPr>
          <p:cNvPr id="19" name="Text 17"/>
          <p:cNvSpPr/>
          <p:nvPr/>
        </p:nvSpPr>
        <p:spPr>
          <a:xfrm>
            <a:off x="9740205" y="6593532"/>
            <a:ext cx="767655" cy="447675"/>
          </a:xfrm>
          <a:prstGeom prst="rect">
            <a:avLst/>
          </a:prstGeom>
          <a:noFill/>
          <a:ln/>
        </p:spPr>
        <p:txBody>
          <a:bodyPr wrap="square" lIns="25400" tIns="25400" rIns="25400" bIns="25400" rtlCol="0" anchor="t">
            <a:normAutofit/>
          </a:bodyPr>
          <a:lstStyle/>
          <a:p>
            <a:pPr marL="0" indent="0" algn="l">
              <a:buNone/>
            </a:pPr>
            <a:r>
              <a:rPr lang="en-US" sz="2550" b="1" dirty="0">
                <a:solidFill>
                  <a:srgbClr val="CF5A33"/>
                </a:solidFill>
                <a:latin typeface="Space Grotesk" pitchFamily="34" charset="0"/>
                <a:ea typeface="Space Grotesk" pitchFamily="34" charset="-122"/>
                <a:cs typeface="Space Grotesk" pitchFamily="34" charset="-120"/>
              </a:rPr>
              <a:t>Zero</a:t>
            </a:r>
            <a:endParaRPr lang="en-US" sz="2550" dirty="0"/>
          </a:p>
        </p:txBody>
      </p:sp>
      <p:sp>
        <p:nvSpPr>
          <p:cNvPr id="20" name="Text 18"/>
          <p:cNvSpPr/>
          <p:nvPr/>
        </p:nvSpPr>
        <p:spPr>
          <a:xfrm>
            <a:off x="10622161" y="6612582"/>
            <a:ext cx="1640681" cy="409575"/>
          </a:xfrm>
          <a:prstGeom prst="rect">
            <a:avLst/>
          </a:prstGeom>
          <a:noFill/>
          <a:ln/>
        </p:spPr>
        <p:txBody>
          <a:bodyPr wrap="square" lIns="0" tIns="0" rIns="0" bIns="0" rtlCol="0" anchor="t">
            <a:normAutofit/>
          </a:bodyPr>
          <a:lstStyle/>
          <a:p>
            <a:pPr marL="0" indent="0" algn="l">
              <a:buNone/>
            </a:pPr>
            <a:r>
              <a:rPr lang="en-US" sz="2250" dirty="0">
                <a:solidFill>
                  <a:srgbClr val="F1ECE3"/>
                </a:solidFill>
                <a:latin typeface="IBM Plex Sans" pitchFamily="34" charset="0"/>
                <a:ea typeface="IBM Plex Sans" pitchFamily="34" charset="-122"/>
                <a:cs typeface="IBM Plex Sans" pitchFamily="34" charset="-120"/>
              </a:rPr>
              <a:t>context drift</a:t>
            </a:r>
            <a:endParaRPr lang="en-US" sz="2250" dirty="0"/>
          </a:p>
        </p:txBody>
      </p:sp>
      <p:sp>
        <p:nvSpPr>
          <p:cNvPr id="21" name="Text 19"/>
          <p:cNvSpPr/>
          <p:nvPr/>
        </p:nvSpPr>
        <p:spPr>
          <a:xfrm>
            <a:off x="9740205" y="7193607"/>
            <a:ext cx="767655" cy="447675"/>
          </a:xfrm>
          <a:prstGeom prst="rect">
            <a:avLst/>
          </a:prstGeom>
          <a:noFill/>
          <a:ln/>
        </p:spPr>
        <p:txBody>
          <a:bodyPr wrap="square" lIns="25400" tIns="25400" rIns="25400" bIns="25400" rtlCol="0" anchor="t">
            <a:normAutofit/>
          </a:bodyPr>
          <a:lstStyle/>
          <a:p>
            <a:pPr marL="0" indent="0" algn="l">
              <a:buNone/>
            </a:pPr>
            <a:r>
              <a:rPr lang="en-US" sz="2550" b="1" dirty="0">
                <a:solidFill>
                  <a:srgbClr val="CF5A33"/>
                </a:solidFill>
                <a:latin typeface="Space Grotesk" pitchFamily="34" charset="0"/>
                <a:ea typeface="Space Grotesk" pitchFamily="34" charset="-122"/>
                <a:cs typeface="Space Grotesk" pitchFamily="34" charset="-120"/>
              </a:rPr>
              <a:t>Zero</a:t>
            </a:r>
            <a:endParaRPr lang="en-US" sz="2550" dirty="0"/>
          </a:p>
        </p:txBody>
      </p:sp>
      <p:sp>
        <p:nvSpPr>
          <p:cNvPr id="22" name="Text 20"/>
          <p:cNvSpPr/>
          <p:nvPr/>
        </p:nvSpPr>
        <p:spPr>
          <a:xfrm>
            <a:off x="10622161" y="7212657"/>
            <a:ext cx="3131929" cy="409575"/>
          </a:xfrm>
          <a:prstGeom prst="rect">
            <a:avLst/>
          </a:prstGeom>
          <a:noFill/>
          <a:ln/>
        </p:spPr>
        <p:txBody>
          <a:bodyPr wrap="square" lIns="0" tIns="0" rIns="0" bIns="0" rtlCol="0" anchor="t">
            <a:normAutofit/>
          </a:bodyPr>
          <a:lstStyle/>
          <a:p>
            <a:pPr marL="0" indent="0" algn="l">
              <a:buNone/>
            </a:pPr>
            <a:r>
              <a:rPr lang="en-US" sz="2250" dirty="0">
                <a:solidFill>
                  <a:srgbClr val="F1ECE3"/>
                </a:solidFill>
                <a:latin typeface="IBM Plex Sans" pitchFamily="34" charset="0"/>
                <a:ea typeface="IBM Plex Sans" pitchFamily="34" charset="-122"/>
                <a:cs typeface="IBM Plex Sans" pitchFamily="34" charset="-120"/>
              </a:rPr>
              <a:t>tokens wasted on setup</a:t>
            </a:r>
            <a:endParaRPr lang="en-US" sz="2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A15"/>
        </a:solidFill>
        <a:effectLst/>
      </p:bgPr>
    </p:bg>
    <p:spTree>
      <p:nvGrpSpPr>
        <p:cNvPr id="1" name=""/>
        <p:cNvGrpSpPr/>
        <p:nvPr/>
      </p:nvGrpSpPr>
      <p:grpSpPr>
        <a:xfrm>
          <a:off x="0" y="0"/>
          <a:ext cx="0" cy="0"/>
          <a:chOff x="0" y="0"/>
          <a:chExt cx="0" cy="0"/>
        </a:xfrm>
      </p:grpSpPr>
      <p:sp>
        <p:nvSpPr>
          <p:cNvPr id="2" name="Shape 0"/>
          <p:cNvSpPr/>
          <p:nvPr/>
        </p:nvSpPr>
        <p:spPr>
          <a:xfrm>
            <a:off x="1047750" y="1266825"/>
            <a:ext cx="16192500" cy="9525"/>
          </a:xfrm>
          <a:prstGeom prst="rect">
            <a:avLst/>
          </a:prstGeom>
          <a:solidFill>
            <a:srgbClr val="39332B"/>
          </a:solidFill>
          <a:ln/>
        </p:spPr>
      </p:sp>
      <p:sp>
        <p:nvSpPr>
          <p:cNvPr id="3" name="Text 1"/>
          <p:cNvSpPr/>
          <p:nvPr/>
        </p:nvSpPr>
        <p:spPr>
          <a:xfrm>
            <a:off x="1047750" y="857250"/>
            <a:ext cx="2030760"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CF5A33"/>
                </a:solidFill>
                <a:latin typeface="IBM Plex Mono" pitchFamily="34" charset="0"/>
                <a:ea typeface="IBM Plex Mono" pitchFamily="34" charset="-122"/>
                <a:cs typeface="IBM Plex Mono" pitchFamily="34" charset="-120"/>
              </a:rPr>
              <a:t>THE THROUGHLINE</a:t>
            </a:r>
            <a:endParaRPr lang="en-US" sz="1350" dirty="0"/>
          </a:p>
        </p:txBody>
      </p:sp>
      <p:sp>
        <p:nvSpPr>
          <p:cNvPr id="4" name="Text 2"/>
          <p:cNvSpPr/>
          <p:nvPr/>
        </p:nvSpPr>
        <p:spPr>
          <a:xfrm>
            <a:off x="16328082" y="857250"/>
            <a:ext cx="988368" cy="257175"/>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9A9082"/>
                </a:solidFill>
                <a:latin typeface="IBM Plex Mono" pitchFamily="34" charset="0"/>
                <a:ea typeface="IBM Plex Mono" pitchFamily="34" charset="-122"/>
                <a:cs typeface="IBM Plex Mono" pitchFamily="34" charset="-120"/>
              </a:rPr>
              <a:t>19 / 19</a:t>
            </a:r>
            <a:endParaRPr lang="en-US" sz="1350" dirty="0"/>
          </a:p>
        </p:txBody>
      </p:sp>
      <p:sp>
        <p:nvSpPr>
          <p:cNvPr id="5" name="Text 3"/>
          <p:cNvSpPr/>
          <p:nvPr/>
        </p:nvSpPr>
        <p:spPr>
          <a:xfrm>
            <a:off x="1047750" y="3763863"/>
            <a:ext cx="14716125" cy="838200"/>
          </a:xfrm>
          <a:prstGeom prst="rect">
            <a:avLst/>
          </a:prstGeom>
          <a:noFill/>
          <a:ln/>
        </p:spPr>
        <p:txBody>
          <a:bodyPr wrap="square" lIns="25400" tIns="25400" rIns="25400" bIns="25400" rtlCol="0" anchor="t">
            <a:normAutofit/>
          </a:bodyPr>
          <a:lstStyle/>
          <a:p>
            <a:pPr marL="0" indent="0" algn="l">
              <a:lnSpc>
                <a:spcPct val="100000"/>
              </a:lnSpc>
              <a:buNone/>
            </a:pPr>
            <a:r>
              <a:rPr lang="en-US" sz="6300" b="1" kern="0" spc="-189" dirty="0">
                <a:solidFill>
                  <a:srgbClr val="F1ECE3"/>
                </a:solidFill>
                <a:latin typeface="Space Grotesk" pitchFamily="34" charset="0"/>
                <a:ea typeface="Space Grotesk" pitchFamily="34" charset="-122"/>
                <a:cs typeface="Space Grotesk" pitchFamily="34" charset="-120"/>
              </a:rPr>
              <a:t>Clarity for AI </a:t>
            </a:r>
            <a:r>
              <a:rPr lang="en-US" sz="6300" b="1" kern="0" spc="-189" dirty="0">
                <a:solidFill>
                  <a:srgbClr val="CF5A33"/>
                </a:solidFill>
                <a:latin typeface="Space Grotesk" pitchFamily="34" charset="0"/>
                <a:ea typeface="Space Grotesk" pitchFamily="34" charset="-122"/>
                <a:cs typeface="Space Grotesk" pitchFamily="34" charset="-120"/>
              </a:rPr>
              <a:t>is </a:t>
            </a:r>
            <a:r>
              <a:rPr lang="en-US" sz="6300" b="1" kern="0" spc="-189" dirty="0">
                <a:solidFill>
                  <a:srgbClr val="F1ECE3"/>
                </a:solidFill>
                <a:latin typeface="Space Grotesk" pitchFamily="34" charset="0"/>
                <a:ea typeface="Space Grotesk" pitchFamily="34" charset="-122"/>
                <a:cs typeface="Space Grotesk" pitchFamily="34" charset="-120"/>
              </a:rPr>
              <a:t>clarity for humans.</a:t>
            </a:r>
            <a:endParaRPr lang="en-US" sz="6300" dirty="0"/>
          </a:p>
        </p:txBody>
      </p:sp>
      <p:sp>
        <p:nvSpPr>
          <p:cNvPr id="6" name="Text 4"/>
          <p:cNvSpPr/>
          <p:nvPr/>
        </p:nvSpPr>
        <p:spPr>
          <a:xfrm>
            <a:off x="1047750" y="5040213"/>
            <a:ext cx="6573203" cy="276225"/>
          </a:xfrm>
          <a:prstGeom prst="rect">
            <a:avLst/>
          </a:prstGeom>
          <a:noFill/>
          <a:ln/>
        </p:spPr>
        <p:txBody>
          <a:bodyPr wrap="square" lIns="25400" tIns="25400" rIns="25400" bIns="25400" rtlCol="0" anchor="t">
            <a:normAutofit/>
          </a:bodyPr>
          <a:lstStyle/>
          <a:p>
            <a:pPr marL="0" indent="0" algn="l">
              <a:buNone/>
            </a:pPr>
            <a:r>
              <a:rPr lang="en-US" sz="1500" dirty="0">
                <a:solidFill>
                  <a:srgbClr val="CF5A33"/>
                </a:solidFill>
                <a:latin typeface="IBM Plex Mono" pitchFamily="34" charset="0"/>
                <a:ea typeface="IBM Plex Mono" pitchFamily="34" charset="-122"/>
                <a:cs typeface="IBM Plex Mono" pitchFamily="34" charset="-120"/>
              </a:rPr>
              <a:t>01 — ANATOMY</a:t>
            </a:r>
            <a:endParaRPr lang="en-US" sz="1500" dirty="0"/>
          </a:p>
        </p:txBody>
      </p:sp>
      <p:sp>
        <p:nvSpPr>
          <p:cNvPr id="7" name="Text 5"/>
          <p:cNvSpPr/>
          <p:nvPr/>
        </p:nvSpPr>
        <p:spPr>
          <a:xfrm>
            <a:off x="1047750" y="5411688"/>
            <a:ext cx="6573203" cy="423863"/>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D8CFC1"/>
                </a:solidFill>
                <a:latin typeface="IBM Plex Sans" pitchFamily="34" charset="0"/>
                <a:ea typeface="IBM Plex Sans" pitchFamily="34" charset="-122"/>
                <a:cs typeface="IBM Plex Sans" pitchFamily="34" charset="-120"/>
              </a:rPr>
              <a:t>Clean the file so a stranger can read it cold.</a:t>
            </a:r>
            <a:endParaRPr lang="en-US" sz="2025" dirty="0"/>
          </a:p>
        </p:txBody>
      </p:sp>
      <p:sp>
        <p:nvSpPr>
          <p:cNvPr id="8" name="Text 6"/>
          <p:cNvSpPr/>
          <p:nvPr/>
        </p:nvSpPr>
        <p:spPr>
          <a:xfrm>
            <a:off x="8001000" y="5040213"/>
            <a:ext cx="6573203" cy="276225"/>
          </a:xfrm>
          <a:prstGeom prst="rect">
            <a:avLst/>
          </a:prstGeom>
          <a:noFill/>
          <a:ln/>
        </p:spPr>
        <p:txBody>
          <a:bodyPr wrap="square" lIns="25400" tIns="25400" rIns="25400" bIns="25400" rtlCol="0" anchor="t">
            <a:normAutofit/>
          </a:bodyPr>
          <a:lstStyle/>
          <a:p>
            <a:pPr marL="0" indent="0" algn="l">
              <a:buNone/>
            </a:pPr>
            <a:r>
              <a:rPr lang="en-US" sz="1500" dirty="0">
                <a:solidFill>
                  <a:srgbClr val="CF5A33"/>
                </a:solidFill>
                <a:latin typeface="IBM Plex Mono" pitchFamily="34" charset="0"/>
                <a:ea typeface="IBM Plex Mono" pitchFamily="34" charset="-122"/>
                <a:cs typeface="IBM Plex Mono" pitchFamily="34" charset="-120"/>
              </a:rPr>
              <a:t>02 — SKILL</a:t>
            </a:r>
            <a:endParaRPr lang="en-US" sz="1500" dirty="0"/>
          </a:p>
        </p:txBody>
      </p:sp>
      <p:sp>
        <p:nvSpPr>
          <p:cNvPr id="9" name="Text 7"/>
          <p:cNvSpPr/>
          <p:nvPr/>
        </p:nvSpPr>
        <p:spPr>
          <a:xfrm>
            <a:off x="8001000" y="5411688"/>
            <a:ext cx="6573203" cy="423863"/>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D8CFC1"/>
                </a:solidFill>
                <a:latin typeface="IBM Plex Sans" pitchFamily="34" charset="0"/>
                <a:ea typeface="IBM Plex Sans" pitchFamily="34" charset="-122"/>
                <a:cs typeface="IBM Plex Sans" pitchFamily="34" charset="-120"/>
              </a:rPr>
              <a:t>Encode that clarity once so it's never re-explained.</a:t>
            </a:r>
            <a:endParaRPr lang="en-US" sz="2025" dirty="0"/>
          </a:p>
        </p:txBody>
      </p:sp>
      <p:sp>
        <p:nvSpPr>
          <p:cNvPr id="10" name="Shape 8"/>
          <p:cNvSpPr/>
          <p:nvPr/>
        </p:nvSpPr>
        <p:spPr>
          <a:xfrm>
            <a:off x="1047750" y="8285113"/>
            <a:ext cx="16192500" cy="9525"/>
          </a:xfrm>
          <a:prstGeom prst="rect">
            <a:avLst/>
          </a:prstGeom>
          <a:solidFill>
            <a:srgbClr val="39332B"/>
          </a:solidFill>
          <a:ln/>
        </p:spPr>
      </p:sp>
      <p:sp>
        <p:nvSpPr>
          <p:cNvPr id="11" name="Text 9"/>
          <p:cNvSpPr/>
          <p:nvPr/>
        </p:nvSpPr>
        <p:spPr>
          <a:xfrm>
            <a:off x="1047750" y="8561338"/>
            <a:ext cx="7381670" cy="906512"/>
          </a:xfrm>
          <a:prstGeom prst="rect">
            <a:avLst/>
          </a:prstGeom>
          <a:noFill/>
          <a:ln/>
        </p:spPr>
        <p:txBody>
          <a:bodyPr wrap="square" lIns="25400" tIns="25400" rIns="25400" bIns="25400" rtlCol="0" anchor="t">
            <a:normAutofit/>
          </a:bodyPr>
          <a:lstStyle/>
          <a:p>
            <a:pPr marL="0" indent="0" algn="l">
              <a:lnSpc>
                <a:spcPct val="160000"/>
              </a:lnSpc>
              <a:buNone/>
            </a:pPr>
            <a:r>
              <a:rPr lang="en-US" sz="1425" dirty="0">
                <a:solidFill>
                  <a:srgbClr val="9A9082"/>
                </a:solidFill>
                <a:latin typeface="IBM Plex Mono" pitchFamily="34" charset="0"/>
                <a:ea typeface="IBM Plex Mono" pitchFamily="34" charset="-122"/>
                <a:cs typeface="IBM Plex Mono" pitchFamily="34" charset="-120"/>
              </a:rPr>
              <a:t>Sources </a:t>
            </a:r>
            <a:r>
              <a:rPr lang="en-US" sz="1425" dirty="0">
                <a:solidFill>
                  <a:srgbClr val="F1ECE3"/>
                </a:solidFill>
                <a:latin typeface="IBM Plex Mono" pitchFamily="34" charset="0"/>
                <a:ea typeface="IBM Plex Mono" pitchFamily="34" charset="-122"/>
                <a:cs typeface="IBM Plex Mono" pitchFamily="34" charset="-120"/>
              </a:rPr>
              <a:t>"Anatomy of an AI-Ready Design System" </a:t>
            </a:r>
            <a:r>
              <a:rPr lang="en-US" sz="1425" dirty="0">
                <a:solidFill>
                  <a:srgbClr val="9A9082"/>
                </a:solidFill>
                <a:latin typeface="IBM Plex Mono" pitchFamily="34" charset="0"/>
                <a:ea typeface="IBM Plex Mono" pitchFamily="34" charset="-122"/>
                <a:cs typeface="IBM Plex Mono" pitchFamily="34" charset="-120"/>
              </a:rPr>
              <a:t>— TJ Pitre · Southleft </a:t>
            </a:r>
            <a:r>
              <a:rPr lang="en-US" sz="1425" dirty="0">
                <a:solidFill>
                  <a:srgbClr val="F1ECE3"/>
                </a:solidFill>
                <a:latin typeface="IBM Plex Mono" pitchFamily="34" charset="0"/>
                <a:ea typeface="IBM Plex Mono" pitchFamily="34" charset="-122"/>
                <a:cs typeface="IBM Plex Mono" pitchFamily="34" charset="-120"/>
              </a:rPr>
              <a:t>"Turn Your System into a Claude Skill" </a:t>
            </a:r>
            <a:r>
              <a:rPr lang="en-US" sz="1425" dirty="0">
                <a:solidFill>
                  <a:srgbClr val="9A9082"/>
                </a:solidFill>
                <a:latin typeface="IBM Plex Mono" pitchFamily="34" charset="0"/>
                <a:ea typeface="IBM Plex Mono" pitchFamily="34" charset="-122"/>
                <a:cs typeface="IBM Plex Mono" pitchFamily="34" charset="-120"/>
              </a:rPr>
              <a:t>— Design Systems Collective</a:t>
            </a:r>
            <a:endParaRPr lang="en-US" sz="1425" dirty="0"/>
          </a:p>
        </p:txBody>
      </p:sp>
      <p:sp>
        <p:nvSpPr>
          <p:cNvPr id="12" name="Text 10"/>
          <p:cNvSpPr/>
          <p:nvPr/>
        </p:nvSpPr>
        <p:spPr>
          <a:xfrm>
            <a:off x="14332282" y="9140279"/>
            <a:ext cx="2907968" cy="327571"/>
          </a:xfrm>
          <a:prstGeom prst="rect">
            <a:avLst/>
          </a:prstGeom>
          <a:noFill/>
          <a:ln/>
        </p:spPr>
        <p:txBody>
          <a:bodyPr wrap="square" lIns="25400" tIns="25400" rIns="25400" bIns="25400" rtlCol="0" anchor="t">
            <a:normAutofit/>
          </a:bodyPr>
          <a:lstStyle/>
          <a:p>
            <a:pPr marL="0" indent="0" algn="r">
              <a:lnSpc>
                <a:spcPct val="160000"/>
              </a:lnSpc>
              <a:buNone/>
            </a:pPr>
            <a:r>
              <a:rPr lang="en-US" sz="1425" dirty="0">
                <a:solidFill>
                  <a:srgbClr val="9A9082"/>
                </a:solidFill>
                <a:latin typeface="IBM Plex Mono" pitchFamily="34" charset="0"/>
                <a:ea typeface="IBM Plex Mono" pitchFamily="34" charset="-122"/>
                <a:cs typeface="IBM Plex Mono" pitchFamily="34" charset="-120"/>
              </a:rPr>
              <a:t>Infographic summary · 2026</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2549</Words>
  <Application>Microsoft Macintosh PowerPoint</Application>
  <PresentationFormat>Custom</PresentationFormat>
  <Paragraphs>271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IBM Plex Mono</vt:lpstr>
      <vt:lpstr>IBM Plex Sans</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2</cp:revision>
  <dcterms:created xsi:type="dcterms:W3CDTF">2026-06-15T20:13:28Z</dcterms:created>
  <dcterms:modified xsi:type="dcterms:W3CDTF">2026-06-17T11:06:26Z</dcterms:modified>
</cp:coreProperties>
</file>