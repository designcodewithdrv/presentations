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21.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22.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24387175" cy="13716000"/>
  <p:notesSz cx="13716000" cy="243871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D5D5"/>
    <a:srgbClr val="FFA8A8"/>
    <a:srgbClr val="F88A24"/>
    <a:srgbClr val="A4E3E0"/>
    <a:srgbClr val="5ED1CE"/>
    <a:srgbClr val="FBBB81"/>
    <a:srgbClr val="8FB7FF"/>
    <a:srgbClr val="5993FF"/>
    <a:srgbClr val="33A7A6"/>
    <a:srgbClr val="FAFA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173" autoAdjust="0"/>
  </p:normalViewPr>
  <p:slideViewPr>
    <p:cSldViewPr snapToGrid="0" snapToObjects="1">
      <p:cViewPr varScale="1">
        <p:scale>
          <a:sx n="33" d="100"/>
          <a:sy n="33" d="100"/>
        </p:scale>
        <p:origin x="2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rgbClr val="FFA8A8"/>
            </a:solidFill>
            <a:ln>
              <a:noFill/>
            </a:ln>
            <a:effectLst/>
          </c:spPr>
          <c:invertIfNegative val="0"/>
          <c:cat>
            <c:strRef>
              <c:f>Sheet1!$A$2:$A$4</c:f>
              <c:strCache>
                <c:ptCount val="3"/>
                <c:pt idx="0">
                  <c:v>Homepage</c:v>
                </c:pt>
                <c:pt idx="1">
                  <c:v>Onboarding</c:v>
                </c:pt>
                <c:pt idx="2">
                  <c:v>Checkout Page</c:v>
                </c:pt>
              </c:strCache>
            </c:strRef>
          </c:cat>
          <c:val>
            <c:numRef>
              <c:f>Sheet1!$B$2:$B$4</c:f>
              <c:numCache>
                <c:formatCode>General</c:formatCode>
                <c:ptCount val="3"/>
                <c:pt idx="0">
                  <c:v>4</c:v>
                </c:pt>
                <c:pt idx="1">
                  <c:v>5</c:v>
                </c:pt>
                <c:pt idx="2">
                  <c:v>3</c:v>
                </c:pt>
              </c:numCache>
            </c:numRef>
          </c:val>
          <c:extLst>
            <c:ext xmlns:c16="http://schemas.microsoft.com/office/drawing/2014/chart" uri="{C3380CC4-5D6E-409C-BE32-E72D297353CC}">
              <c16:uniqueId val="{00000000-FD43-4452-9414-A0B7399DFC08}"/>
            </c:ext>
          </c:extLst>
        </c:ser>
        <c:ser>
          <c:idx val="1"/>
          <c:order val="1"/>
          <c:tx>
            <c:strRef>
              <c:f>Sheet1!$C$1</c:f>
              <c:strCache>
                <c:ptCount val="1"/>
                <c:pt idx="0">
                  <c:v>Series 2</c:v>
                </c:pt>
              </c:strCache>
            </c:strRef>
          </c:tx>
          <c:spPr>
            <a:pattFill prst="dkUpDiag">
              <a:fgClr>
                <a:srgbClr val="C2D8FF"/>
              </a:fgClr>
              <a:bgClr>
                <a:srgbClr val="5993FF"/>
              </a:bgClr>
            </a:pattFill>
            <a:ln>
              <a:noFill/>
            </a:ln>
            <a:effectLst/>
          </c:spPr>
          <c:invertIfNegative val="0"/>
          <c:cat>
            <c:strRef>
              <c:f>Sheet1!$A$2:$A$4</c:f>
              <c:strCache>
                <c:ptCount val="3"/>
                <c:pt idx="0">
                  <c:v>Homepage</c:v>
                </c:pt>
                <c:pt idx="1">
                  <c:v>Onboarding</c:v>
                </c:pt>
                <c:pt idx="2">
                  <c:v>Checkout Page</c:v>
                </c:pt>
              </c:strCache>
            </c:strRef>
          </c:cat>
          <c:val>
            <c:numRef>
              <c:f>Sheet1!$C$2:$C$4</c:f>
              <c:numCache>
                <c:formatCode>General</c:formatCode>
                <c:ptCount val="3"/>
                <c:pt idx="0">
                  <c:v>1</c:v>
                </c:pt>
                <c:pt idx="1">
                  <c:v>3</c:v>
                </c:pt>
                <c:pt idx="2">
                  <c:v>1</c:v>
                </c:pt>
              </c:numCache>
            </c:numRef>
          </c:val>
          <c:extLst>
            <c:ext xmlns:c16="http://schemas.microsoft.com/office/drawing/2014/chart" uri="{C3380CC4-5D6E-409C-BE32-E72D297353CC}">
              <c16:uniqueId val="{00000001-FD43-4452-9414-A0B7399DFC08}"/>
            </c:ext>
          </c:extLst>
        </c:ser>
        <c:ser>
          <c:idx val="2"/>
          <c:order val="2"/>
          <c:tx>
            <c:strRef>
              <c:f>Sheet1!$D$1</c:f>
              <c:strCache>
                <c:ptCount val="1"/>
                <c:pt idx="0">
                  <c:v>Series 3</c:v>
                </c:pt>
              </c:strCache>
            </c:strRef>
          </c:tx>
          <c:spPr>
            <a:pattFill prst="dkUpDiag">
              <a:fgClr>
                <a:srgbClr val="FFDDBE"/>
              </a:fgClr>
              <a:bgClr>
                <a:srgbClr val="F88A24"/>
              </a:bgClr>
            </a:pattFill>
            <a:ln>
              <a:noFill/>
            </a:ln>
            <a:effectLst/>
          </c:spPr>
          <c:invertIfNegative val="0"/>
          <c:cat>
            <c:strRef>
              <c:f>Sheet1!$A$2:$A$4</c:f>
              <c:strCache>
                <c:ptCount val="3"/>
                <c:pt idx="0">
                  <c:v>Homepage</c:v>
                </c:pt>
                <c:pt idx="1">
                  <c:v>Onboarding</c:v>
                </c:pt>
                <c:pt idx="2">
                  <c:v>Checkout Page</c:v>
                </c:pt>
              </c:strCache>
            </c:strRef>
          </c:cat>
          <c:val>
            <c:numRef>
              <c:f>Sheet1!$D$2:$D$4</c:f>
              <c:numCache>
                <c:formatCode>General</c:formatCode>
                <c:ptCount val="3"/>
                <c:pt idx="0">
                  <c:v>2</c:v>
                </c:pt>
                <c:pt idx="1">
                  <c:v>2</c:v>
                </c:pt>
                <c:pt idx="2">
                  <c:v>2</c:v>
                </c:pt>
              </c:numCache>
            </c:numRef>
          </c:val>
          <c:extLst>
            <c:ext xmlns:c16="http://schemas.microsoft.com/office/drawing/2014/chart" uri="{C3380CC4-5D6E-409C-BE32-E72D297353CC}">
              <c16:uniqueId val="{00000002-FD43-4452-9414-A0B7399DFC08}"/>
            </c:ext>
          </c:extLst>
        </c:ser>
        <c:dLbls>
          <c:showLegendKey val="0"/>
          <c:showVal val="0"/>
          <c:showCatName val="0"/>
          <c:showSerName val="0"/>
          <c:showPercent val="0"/>
          <c:showBubbleSize val="0"/>
        </c:dLbls>
        <c:gapWidth val="200"/>
        <c:axId val="1146911295"/>
        <c:axId val="1146903135"/>
      </c:barChart>
      <c:catAx>
        <c:axId val="1146911295"/>
        <c:scaling>
          <c:orientation val="minMax"/>
        </c:scaling>
        <c:delete val="0"/>
        <c:axPos val="b"/>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2400" b="0" i="0" u="none" strike="noStrike" kern="1200" baseline="0">
                <a:solidFill>
                  <a:schemeClr val="tx1">
                    <a:lumMod val="65000"/>
                    <a:lumOff val="35000"/>
                  </a:schemeClr>
                </a:solidFill>
                <a:latin typeface="+mn-lt"/>
                <a:ea typeface="+mn-ea"/>
                <a:cs typeface="+mn-cs"/>
              </a:defRPr>
            </a:pPr>
            <a:endParaRPr lang="en-US"/>
          </a:p>
        </c:txPr>
        <c:crossAx val="1146903135"/>
        <c:crosses val="autoZero"/>
        <c:auto val="1"/>
        <c:lblAlgn val="ctr"/>
        <c:lblOffset val="100"/>
        <c:noMultiLvlLbl val="0"/>
      </c:catAx>
      <c:valAx>
        <c:axId val="1146903135"/>
        <c:scaling>
          <c:orientation val="minMax"/>
        </c:scaling>
        <c:delete val="1"/>
        <c:axPos val="l"/>
        <c:numFmt formatCode="General" sourceLinked="1"/>
        <c:majorTickMark val="none"/>
        <c:minorTickMark val="none"/>
        <c:tickLblPos val="nextTo"/>
        <c:crossAx val="1146911295"/>
        <c:crosses val="autoZero"/>
        <c:crossBetween val="between"/>
      </c:valAx>
      <c:spPr>
        <a:noFill/>
        <a:ln w="25400">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2400"/>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698233803093644"/>
          <c:y val="1.7688060996552121E-2"/>
          <c:w val="0.81077734857077799"/>
          <c:h val="0.94440895115369339"/>
        </c:manualLayout>
      </c:layout>
      <c:barChart>
        <c:barDir val="bar"/>
        <c:grouping val="clustered"/>
        <c:varyColors val="0"/>
        <c:ser>
          <c:idx val="0"/>
          <c:order val="0"/>
          <c:tx>
            <c:strRef>
              <c:f>Sheet1!$B$1</c:f>
              <c:strCache>
                <c:ptCount val="1"/>
                <c:pt idx="0">
                  <c:v>Series 1</c:v>
                </c:pt>
              </c:strCache>
            </c:strRef>
          </c:tx>
          <c:spPr>
            <a:solidFill>
              <a:schemeClr val="accent1"/>
            </a:solidFill>
            <a:ln>
              <a:noFill/>
            </a:ln>
            <a:effectLst/>
          </c:spPr>
          <c:invertIfNegative val="0"/>
          <c:dPt>
            <c:idx val="0"/>
            <c:invertIfNegative val="0"/>
            <c:bubble3D val="0"/>
            <c:spPr>
              <a:solidFill>
                <a:srgbClr val="A4E3E0"/>
              </a:solidFill>
              <a:ln>
                <a:noFill/>
              </a:ln>
              <a:effectLst/>
            </c:spPr>
            <c:extLst>
              <c:ext xmlns:c16="http://schemas.microsoft.com/office/drawing/2014/chart" uri="{C3380CC4-5D6E-409C-BE32-E72D297353CC}">
                <c16:uniqueId val="{00000005-B080-4421-9846-EC52463E6185}"/>
              </c:ext>
            </c:extLst>
          </c:dPt>
          <c:dPt>
            <c:idx val="1"/>
            <c:invertIfNegative val="0"/>
            <c:bubble3D val="0"/>
            <c:spPr>
              <a:solidFill>
                <a:srgbClr val="F88A24"/>
              </a:solidFill>
              <a:ln>
                <a:noFill/>
              </a:ln>
              <a:effectLst/>
            </c:spPr>
            <c:extLst>
              <c:ext xmlns:c16="http://schemas.microsoft.com/office/drawing/2014/chart" uri="{C3380CC4-5D6E-409C-BE32-E72D297353CC}">
                <c16:uniqueId val="{00000006-B080-4421-9846-EC52463E6185}"/>
              </c:ext>
            </c:extLst>
          </c:dPt>
          <c:dPt>
            <c:idx val="2"/>
            <c:invertIfNegative val="0"/>
            <c:bubble3D val="0"/>
            <c:spPr>
              <a:solidFill>
                <a:srgbClr val="FFA8A8"/>
              </a:solidFill>
              <a:ln>
                <a:noFill/>
              </a:ln>
              <a:effectLst/>
            </c:spPr>
            <c:extLst>
              <c:ext xmlns:c16="http://schemas.microsoft.com/office/drawing/2014/chart" uri="{C3380CC4-5D6E-409C-BE32-E72D297353CC}">
                <c16:uniqueId val="{00000008-B080-4421-9846-EC52463E6185}"/>
              </c:ext>
            </c:extLst>
          </c:dPt>
          <c:dPt>
            <c:idx val="3"/>
            <c:invertIfNegative val="0"/>
            <c:bubble3D val="0"/>
            <c:spPr>
              <a:solidFill>
                <a:srgbClr val="F88A24"/>
              </a:solidFill>
              <a:ln>
                <a:noFill/>
              </a:ln>
              <a:effectLst/>
            </c:spPr>
            <c:extLst>
              <c:ext xmlns:c16="http://schemas.microsoft.com/office/drawing/2014/chart" uri="{C3380CC4-5D6E-409C-BE32-E72D297353CC}">
                <c16:uniqueId val="{00000007-B080-4421-9846-EC52463E6185}"/>
              </c:ext>
            </c:extLst>
          </c:dPt>
          <c:dPt>
            <c:idx val="4"/>
            <c:invertIfNegative val="0"/>
            <c:bubble3D val="0"/>
            <c:spPr>
              <a:solidFill>
                <a:srgbClr val="FFD5D5"/>
              </a:solidFill>
              <a:ln>
                <a:noFill/>
              </a:ln>
              <a:effectLst/>
            </c:spPr>
            <c:extLst>
              <c:ext xmlns:c16="http://schemas.microsoft.com/office/drawing/2014/chart" uri="{C3380CC4-5D6E-409C-BE32-E72D297353CC}">
                <c16:uniqueId val="{00000009-B080-4421-9846-EC52463E6185}"/>
              </c:ext>
            </c:extLst>
          </c:dPt>
          <c:cat>
            <c:strRef>
              <c:f>Sheet1!$A$2:$A$6</c:f>
              <c:strCache>
                <c:ptCount val="5"/>
                <c:pt idx="0">
                  <c:v>Inconsistent Labels</c:v>
                </c:pt>
                <c:pt idx="1">
                  <c:v>Broken Tabbing</c:v>
                </c:pt>
                <c:pt idx="2">
                  <c:v>Onboarding Nav</c:v>
                </c:pt>
                <c:pt idx="3">
                  <c:v>Low CTA Contrast</c:v>
                </c:pt>
                <c:pt idx="4">
                  <c:v>Form Errors</c:v>
                </c:pt>
              </c:strCache>
            </c:strRef>
          </c:cat>
          <c:val>
            <c:numRef>
              <c:f>Sheet1!$B$2:$B$6</c:f>
              <c:numCache>
                <c:formatCode>General</c:formatCode>
                <c:ptCount val="5"/>
                <c:pt idx="0">
                  <c:v>40</c:v>
                </c:pt>
                <c:pt idx="1">
                  <c:v>50</c:v>
                </c:pt>
                <c:pt idx="2">
                  <c:v>100</c:v>
                </c:pt>
                <c:pt idx="3">
                  <c:v>50</c:v>
                </c:pt>
                <c:pt idx="4">
                  <c:v>100</c:v>
                </c:pt>
              </c:numCache>
            </c:numRef>
          </c:val>
          <c:extLst>
            <c:ext xmlns:c16="http://schemas.microsoft.com/office/drawing/2014/chart" uri="{C3380CC4-5D6E-409C-BE32-E72D297353CC}">
              <c16:uniqueId val="{00000000-B080-4421-9846-EC52463E6185}"/>
            </c:ext>
          </c:extLst>
        </c:ser>
        <c:dLbls>
          <c:showLegendKey val="0"/>
          <c:showVal val="0"/>
          <c:showCatName val="0"/>
          <c:showSerName val="0"/>
          <c:showPercent val="0"/>
          <c:showBubbleSize val="0"/>
        </c:dLbls>
        <c:gapWidth val="0"/>
        <c:axId val="1341458800"/>
        <c:axId val="1341462160"/>
      </c:barChart>
      <c:catAx>
        <c:axId val="1341458800"/>
        <c:scaling>
          <c:orientation val="minMax"/>
        </c:scaling>
        <c:delete val="0"/>
        <c:axPos val="l"/>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lgn="just">
              <a:defRPr sz="2100" b="0" i="0" u="none" strike="noStrike" kern="1200" baseline="0">
                <a:solidFill>
                  <a:schemeClr val="tx1">
                    <a:lumMod val="95000"/>
                    <a:lumOff val="5000"/>
                  </a:schemeClr>
                </a:solidFill>
                <a:latin typeface="Inter Medium" panose="02000503000000020004" pitchFamily="2" charset="0"/>
                <a:ea typeface="Inter Medium" panose="02000503000000020004" pitchFamily="2" charset="0"/>
                <a:cs typeface="+mn-cs"/>
              </a:defRPr>
            </a:pPr>
            <a:endParaRPr lang="en-US"/>
          </a:p>
        </c:txPr>
        <c:crossAx val="1341462160"/>
        <c:crosses val="autoZero"/>
        <c:auto val="1"/>
        <c:lblAlgn val="ctr"/>
        <c:lblOffset val="100"/>
        <c:noMultiLvlLbl val="0"/>
      </c:catAx>
      <c:valAx>
        <c:axId val="1341462160"/>
        <c:scaling>
          <c:orientation val="minMax"/>
        </c:scaling>
        <c:delete val="1"/>
        <c:axPos val="b"/>
        <c:numFmt formatCode="General" sourceLinked="1"/>
        <c:majorTickMark val="none"/>
        <c:minorTickMark val="none"/>
        <c:tickLblPos val="nextTo"/>
        <c:crossAx val="134145880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2800"/>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Series 1</c:v>
                </c:pt>
              </c:strCache>
            </c:strRef>
          </c:tx>
          <c:spPr>
            <a:solidFill>
              <a:schemeClr val="accent1"/>
            </a:solidFill>
            <a:ln>
              <a:noFill/>
            </a:ln>
            <a:effectLst/>
          </c:spPr>
          <c:invertIfNegative val="0"/>
          <c:dPt>
            <c:idx val="0"/>
            <c:invertIfNegative val="0"/>
            <c:bubble3D val="0"/>
            <c:spPr>
              <a:solidFill>
                <a:srgbClr val="A4E3E0"/>
              </a:solidFill>
              <a:ln>
                <a:noFill/>
              </a:ln>
              <a:effectLst/>
            </c:spPr>
            <c:extLst>
              <c:ext xmlns:c16="http://schemas.microsoft.com/office/drawing/2014/chart" uri="{C3380CC4-5D6E-409C-BE32-E72D297353CC}">
                <c16:uniqueId val="{00000001-F96F-4608-B38D-4C7E2065DC4C}"/>
              </c:ext>
            </c:extLst>
          </c:dPt>
          <c:dPt>
            <c:idx val="1"/>
            <c:invertIfNegative val="0"/>
            <c:bubble3D val="0"/>
            <c:spPr>
              <a:solidFill>
                <a:srgbClr val="F88A24"/>
              </a:solidFill>
              <a:ln>
                <a:noFill/>
              </a:ln>
              <a:effectLst/>
            </c:spPr>
            <c:extLst>
              <c:ext xmlns:c16="http://schemas.microsoft.com/office/drawing/2014/chart" uri="{C3380CC4-5D6E-409C-BE32-E72D297353CC}">
                <c16:uniqueId val="{00000003-F96F-4608-B38D-4C7E2065DC4C}"/>
              </c:ext>
            </c:extLst>
          </c:dPt>
          <c:dPt>
            <c:idx val="2"/>
            <c:invertIfNegative val="0"/>
            <c:bubble3D val="0"/>
            <c:spPr>
              <a:solidFill>
                <a:srgbClr val="FFA8A8"/>
              </a:solidFill>
              <a:ln>
                <a:noFill/>
              </a:ln>
              <a:effectLst/>
            </c:spPr>
            <c:extLst>
              <c:ext xmlns:c16="http://schemas.microsoft.com/office/drawing/2014/chart" uri="{C3380CC4-5D6E-409C-BE32-E72D297353CC}">
                <c16:uniqueId val="{00000005-F96F-4608-B38D-4C7E2065DC4C}"/>
              </c:ext>
            </c:extLst>
          </c:dPt>
          <c:dPt>
            <c:idx val="3"/>
            <c:invertIfNegative val="0"/>
            <c:bubble3D val="0"/>
            <c:spPr>
              <a:solidFill>
                <a:srgbClr val="F88A24"/>
              </a:solidFill>
              <a:ln>
                <a:noFill/>
              </a:ln>
              <a:effectLst/>
            </c:spPr>
            <c:extLst>
              <c:ext xmlns:c16="http://schemas.microsoft.com/office/drawing/2014/chart" uri="{C3380CC4-5D6E-409C-BE32-E72D297353CC}">
                <c16:uniqueId val="{00000007-F96F-4608-B38D-4C7E2065DC4C}"/>
              </c:ext>
            </c:extLst>
          </c:dPt>
          <c:dPt>
            <c:idx val="4"/>
            <c:invertIfNegative val="0"/>
            <c:bubble3D val="0"/>
            <c:spPr>
              <a:solidFill>
                <a:srgbClr val="FFD5D5"/>
              </a:solidFill>
              <a:ln>
                <a:noFill/>
              </a:ln>
              <a:effectLst/>
            </c:spPr>
            <c:extLst>
              <c:ext xmlns:c16="http://schemas.microsoft.com/office/drawing/2014/chart" uri="{C3380CC4-5D6E-409C-BE32-E72D297353CC}">
                <c16:uniqueId val="{00000009-F96F-4608-B38D-4C7E2065DC4C}"/>
              </c:ext>
            </c:extLst>
          </c:dPt>
          <c:cat>
            <c:strRef>
              <c:f>Sheet1!$A$2:$A$5</c:f>
              <c:strCache>
                <c:ptCount val="4"/>
                <c:pt idx="0">
                  <c:v>Highlight checkout CTA</c:v>
                </c:pt>
                <c:pt idx="1">
                  <c:v>Add guest checkout option</c:v>
                </c:pt>
                <c:pt idx="2">
                  <c:v>Improve error message clarity</c:v>
                </c:pt>
                <c:pt idx="3">
                  <c:v>Boost mobile tap target sizes</c:v>
                </c:pt>
              </c:strCache>
            </c:strRef>
          </c:cat>
          <c:val>
            <c:numRef>
              <c:f>Sheet1!$B$2:$B$5</c:f>
              <c:numCache>
                <c:formatCode>General</c:formatCode>
                <c:ptCount val="4"/>
                <c:pt idx="0">
                  <c:v>50</c:v>
                </c:pt>
                <c:pt idx="1">
                  <c:v>40</c:v>
                </c:pt>
                <c:pt idx="2">
                  <c:v>100</c:v>
                </c:pt>
                <c:pt idx="3">
                  <c:v>40</c:v>
                </c:pt>
              </c:numCache>
            </c:numRef>
          </c:val>
          <c:extLst>
            <c:ext xmlns:c16="http://schemas.microsoft.com/office/drawing/2014/chart" uri="{C3380CC4-5D6E-409C-BE32-E72D297353CC}">
              <c16:uniqueId val="{0000000A-F96F-4608-B38D-4C7E2065DC4C}"/>
            </c:ext>
          </c:extLst>
        </c:ser>
        <c:dLbls>
          <c:showLegendKey val="0"/>
          <c:showVal val="0"/>
          <c:showCatName val="0"/>
          <c:showSerName val="0"/>
          <c:showPercent val="0"/>
          <c:showBubbleSize val="0"/>
        </c:dLbls>
        <c:gapWidth val="0"/>
        <c:axId val="1341458800"/>
        <c:axId val="1341462160"/>
      </c:barChart>
      <c:catAx>
        <c:axId val="1341458800"/>
        <c:scaling>
          <c:orientation val="minMax"/>
        </c:scaling>
        <c:delete val="0"/>
        <c:axPos val="l"/>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lgn="just">
              <a:defRPr sz="2100" b="0" i="0" u="none" strike="noStrike" kern="1200" baseline="0">
                <a:solidFill>
                  <a:schemeClr val="tx1">
                    <a:lumMod val="95000"/>
                    <a:lumOff val="5000"/>
                  </a:schemeClr>
                </a:solidFill>
                <a:latin typeface="Inter Medium" panose="02000503000000020004" pitchFamily="2" charset="0"/>
                <a:ea typeface="Inter Medium" panose="02000503000000020004" pitchFamily="2" charset="0"/>
                <a:cs typeface="+mn-cs"/>
              </a:defRPr>
            </a:pPr>
            <a:endParaRPr lang="en-US"/>
          </a:p>
        </c:txPr>
        <c:crossAx val="1341462160"/>
        <c:crosses val="autoZero"/>
        <c:auto val="1"/>
        <c:lblAlgn val="ctr"/>
        <c:lblOffset val="100"/>
        <c:noMultiLvlLbl val="0"/>
      </c:catAx>
      <c:valAx>
        <c:axId val="1341462160"/>
        <c:scaling>
          <c:orientation val="minMax"/>
        </c:scaling>
        <c:delete val="1"/>
        <c:axPos val="b"/>
        <c:numFmt formatCode="General" sourceLinked="1"/>
        <c:majorTickMark val="none"/>
        <c:minorTickMark val="none"/>
        <c:tickLblPos val="nextTo"/>
        <c:crossAx val="134145880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2800"/>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rgbClr val="F88A24"/>
              </a:solidFill>
              <a:ln w="19050">
                <a:noFill/>
              </a:ln>
              <a:effectLst/>
            </c:spPr>
            <c:extLst>
              <c:ext xmlns:c16="http://schemas.microsoft.com/office/drawing/2014/chart" uri="{C3380CC4-5D6E-409C-BE32-E72D297353CC}">
                <c16:uniqueId val="{00000001-E054-4EBC-B3B1-57F845707B2C}"/>
              </c:ext>
            </c:extLst>
          </c:dPt>
          <c:dPt>
            <c:idx val="1"/>
            <c:bubble3D val="0"/>
            <c:spPr>
              <a:pattFill prst="wdDnDiag">
                <a:fgClr>
                  <a:srgbClr val="FFA8A8"/>
                </a:fgClr>
                <a:bgClr>
                  <a:schemeClr val="bg1"/>
                </a:bgClr>
              </a:pattFill>
              <a:ln w="190500">
                <a:noFill/>
              </a:ln>
              <a:effectLst/>
            </c:spPr>
            <c:extLst>
              <c:ext xmlns:c16="http://schemas.microsoft.com/office/drawing/2014/chart" uri="{C3380CC4-5D6E-409C-BE32-E72D297353CC}">
                <c16:uniqueId val="{00000003-E054-4EBC-B3B1-57F845707B2C}"/>
              </c:ext>
            </c:extLst>
          </c:dPt>
          <c:dPt>
            <c:idx val="2"/>
            <c:bubble3D val="0"/>
            <c:spPr>
              <a:noFill/>
              <a:ln w="19050">
                <a:noFill/>
              </a:ln>
              <a:effectLst/>
            </c:spPr>
            <c:extLst>
              <c:ext xmlns:c16="http://schemas.microsoft.com/office/drawing/2014/chart" uri="{C3380CC4-5D6E-409C-BE32-E72D297353CC}">
                <c16:uniqueId val="{00000005-E054-4EBC-B3B1-57F845707B2C}"/>
              </c:ext>
            </c:extLst>
          </c:dPt>
          <c:cat>
            <c:strRef>
              <c:f>Sheet1!$A$2:$A$4</c:f>
              <c:strCache>
                <c:ptCount val="3"/>
                <c:pt idx="0">
                  <c:v>1st Qtr</c:v>
                </c:pt>
                <c:pt idx="1">
                  <c:v>2nd Qtr</c:v>
                </c:pt>
                <c:pt idx="2">
                  <c:v>3rd Qtr</c:v>
                </c:pt>
              </c:strCache>
            </c:strRef>
          </c:cat>
          <c:val>
            <c:numRef>
              <c:f>Sheet1!$B$2:$B$4</c:f>
              <c:numCache>
                <c:formatCode>General</c:formatCode>
                <c:ptCount val="3"/>
                <c:pt idx="0">
                  <c:v>40</c:v>
                </c:pt>
                <c:pt idx="1">
                  <c:v>10</c:v>
                </c:pt>
                <c:pt idx="2">
                  <c:v>50</c:v>
                </c:pt>
              </c:numCache>
            </c:numRef>
          </c:val>
          <c:extLst>
            <c:ext xmlns:c16="http://schemas.microsoft.com/office/drawing/2014/chart" uri="{C3380CC4-5D6E-409C-BE32-E72D297353CC}">
              <c16:uniqueId val="{00000006-E054-4EBC-B3B1-57F845707B2C}"/>
            </c:ext>
          </c:extLst>
        </c:ser>
        <c:dLbls>
          <c:showLegendKey val="0"/>
          <c:showVal val="0"/>
          <c:showCatName val="0"/>
          <c:showSerName val="0"/>
          <c:showPercent val="0"/>
          <c:showBubbleSize val="0"/>
          <c:showLeaderLines val="1"/>
        </c:dLbls>
        <c:firstSliceAng val="270"/>
        <c:holeSize val="70"/>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000"/>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Conversion Rate</c:v>
                </c:pt>
              </c:strCache>
            </c:strRef>
          </c:tx>
          <c:spPr>
            <a:solidFill>
              <a:srgbClr val="33A7A6"/>
            </a:solidFill>
            <a:ln>
              <a:noFill/>
            </a:ln>
            <a:effectLst/>
          </c:spPr>
          <c:invertIfNegative val="0"/>
          <c:cat>
            <c:strRef>
              <c:f>Sheet1!$A$2</c:f>
              <c:strCache>
                <c:ptCount val="1"/>
                <c:pt idx="0">
                  <c:v>Category 1</c:v>
                </c:pt>
              </c:strCache>
            </c:strRef>
          </c:cat>
          <c:val>
            <c:numRef>
              <c:f>Sheet1!$B$2</c:f>
              <c:numCache>
                <c:formatCode>General</c:formatCode>
                <c:ptCount val="1"/>
                <c:pt idx="0">
                  <c:v>40</c:v>
                </c:pt>
              </c:numCache>
            </c:numRef>
          </c:val>
          <c:extLst>
            <c:ext xmlns:c16="http://schemas.microsoft.com/office/drawing/2014/chart" uri="{C3380CC4-5D6E-409C-BE32-E72D297353CC}">
              <c16:uniqueId val="{00000000-57FB-49F3-B707-48C57BEA9305}"/>
            </c:ext>
          </c:extLst>
        </c:ser>
        <c:ser>
          <c:idx val="1"/>
          <c:order val="1"/>
          <c:tx>
            <c:strRef>
              <c:f>Sheet1!$C$1</c:f>
              <c:strCache>
                <c:ptCount val="1"/>
                <c:pt idx="0">
                  <c:v>Bounce Rate</c:v>
                </c:pt>
              </c:strCache>
            </c:strRef>
          </c:tx>
          <c:spPr>
            <a:pattFill prst="wdDnDiag">
              <a:fgClr>
                <a:srgbClr val="8FB7FF"/>
              </a:fgClr>
              <a:bgClr>
                <a:srgbClr val="5993FF"/>
              </a:bgClr>
            </a:pattFill>
            <a:ln>
              <a:noFill/>
            </a:ln>
            <a:effectLst/>
          </c:spPr>
          <c:invertIfNegative val="0"/>
          <c:cat>
            <c:strRef>
              <c:f>Sheet1!$A$2</c:f>
              <c:strCache>
                <c:ptCount val="1"/>
                <c:pt idx="0">
                  <c:v>Category 1</c:v>
                </c:pt>
              </c:strCache>
            </c:strRef>
          </c:cat>
          <c:val>
            <c:numRef>
              <c:f>Sheet1!$C$2</c:f>
              <c:numCache>
                <c:formatCode>General</c:formatCode>
                <c:ptCount val="1"/>
                <c:pt idx="0">
                  <c:v>-30</c:v>
                </c:pt>
              </c:numCache>
            </c:numRef>
          </c:val>
          <c:extLst>
            <c:ext xmlns:c16="http://schemas.microsoft.com/office/drawing/2014/chart" uri="{C3380CC4-5D6E-409C-BE32-E72D297353CC}">
              <c16:uniqueId val="{00000001-57FB-49F3-B707-48C57BEA9305}"/>
            </c:ext>
          </c:extLst>
        </c:ser>
        <c:ser>
          <c:idx val="2"/>
          <c:order val="2"/>
          <c:tx>
            <c:strRef>
              <c:f>Sheet1!$D$1</c:f>
              <c:strCache>
                <c:ptCount val="1"/>
                <c:pt idx="0">
                  <c:v>Time on Task</c:v>
                </c:pt>
              </c:strCache>
            </c:strRef>
          </c:tx>
          <c:spPr>
            <a:pattFill prst="wdDnDiag">
              <a:fgClr>
                <a:srgbClr val="FFD5D5"/>
              </a:fgClr>
              <a:bgClr>
                <a:srgbClr val="FFA8A8"/>
              </a:bgClr>
            </a:pattFill>
            <a:ln>
              <a:noFill/>
            </a:ln>
            <a:effectLst/>
          </c:spPr>
          <c:invertIfNegative val="0"/>
          <c:cat>
            <c:strRef>
              <c:f>Sheet1!$A$2</c:f>
              <c:strCache>
                <c:ptCount val="1"/>
                <c:pt idx="0">
                  <c:v>Category 1</c:v>
                </c:pt>
              </c:strCache>
            </c:strRef>
          </c:cat>
          <c:val>
            <c:numRef>
              <c:f>Sheet1!$D$2</c:f>
              <c:numCache>
                <c:formatCode>General</c:formatCode>
                <c:ptCount val="1"/>
                <c:pt idx="0">
                  <c:v>-40</c:v>
                </c:pt>
              </c:numCache>
            </c:numRef>
          </c:val>
          <c:extLst>
            <c:ext xmlns:c16="http://schemas.microsoft.com/office/drawing/2014/chart" uri="{C3380CC4-5D6E-409C-BE32-E72D297353CC}">
              <c16:uniqueId val="{00000002-57FB-49F3-B707-48C57BEA9305}"/>
            </c:ext>
          </c:extLst>
        </c:ser>
        <c:ser>
          <c:idx val="3"/>
          <c:order val="3"/>
          <c:tx>
            <c:strRef>
              <c:f>Sheet1!$E$1</c:f>
              <c:strCache>
                <c:ptCount val="1"/>
                <c:pt idx="0">
                  <c:v>Checkout Drop-Off</c:v>
                </c:pt>
              </c:strCache>
            </c:strRef>
          </c:tx>
          <c:spPr>
            <a:pattFill prst="wdDnDiag">
              <a:fgClr>
                <a:srgbClr val="FBBB81"/>
              </a:fgClr>
              <a:bgClr>
                <a:srgbClr val="F88A24"/>
              </a:bgClr>
            </a:pattFill>
            <a:ln>
              <a:noFill/>
            </a:ln>
            <a:effectLst/>
          </c:spPr>
          <c:invertIfNegative val="0"/>
          <c:cat>
            <c:strRef>
              <c:f>Sheet1!$A$2</c:f>
              <c:strCache>
                <c:ptCount val="1"/>
                <c:pt idx="0">
                  <c:v>Category 1</c:v>
                </c:pt>
              </c:strCache>
            </c:strRef>
          </c:cat>
          <c:val>
            <c:numRef>
              <c:f>Sheet1!$E$2</c:f>
              <c:numCache>
                <c:formatCode>General</c:formatCode>
                <c:ptCount val="1"/>
                <c:pt idx="0">
                  <c:v>-39</c:v>
                </c:pt>
              </c:numCache>
            </c:numRef>
          </c:val>
          <c:extLst>
            <c:ext xmlns:c16="http://schemas.microsoft.com/office/drawing/2014/chart" uri="{C3380CC4-5D6E-409C-BE32-E72D297353CC}">
              <c16:uniqueId val="{00000003-57FB-49F3-B707-48C57BEA9305}"/>
            </c:ext>
          </c:extLst>
        </c:ser>
        <c:dLbls>
          <c:dLblPos val="ctr"/>
          <c:showLegendKey val="0"/>
          <c:showVal val="0"/>
          <c:showCatName val="0"/>
          <c:showSerName val="0"/>
          <c:showPercent val="0"/>
          <c:showBubbleSize val="0"/>
        </c:dLbls>
        <c:gapWidth val="219"/>
        <c:axId val="1320343824"/>
        <c:axId val="1320320304"/>
      </c:barChart>
      <c:catAx>
        <c:axId val="1320343824"/>
        <c:scaling>
          <c:orientation val="minMax"/>
        </c:scaling>
        <c:delete val="1"/>
        <c:axPos val="b"/>
        <c:numFmt formatCode="General" sourceLinked="1"/>
        <c:majorTickMark val="none"/>
        <c:minorTickMark val="none"/>
        <c:tickLblPos val="nextTo"/>
        <c:crossAx val="1320320304"/>
        <c:crosses val="autoZero"/>
        <c:auto val="1"/>
        <c:lblAlgn val="ctr"/>
        <c:lblOffset val="100"/>
        <c:noMultiLvlLbl val="0"/>
      </c:catAx>
      <c:valAx>
        <c:axId val="1320320304"/>
        <c:scaling>
          <c:orientation val="minMax"/>
          <c:max val="40"/>
          <c:min val="-4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bg1"/>
                </a:solidFill>
                <a:latin typeface="Inter Medium" panose="02000503000000020004" pitchFamily="2" charset="0"/>
                <a:ea typeface="Inter Medium" panose="02000503000000020004" pitchFamily="2" charset="0"/>
                <a:cs typeface="+mn-cs"/>
              </a:defRPr>
            </a:pPr>
            <a:endParaRPr lang="en-US"/>
          </a:p>
        </c:txPr>
        <c:crossAx val="1320343824"/>
        <c:crosses val="autoZero"/>
        <c:crossBetween val="between"/>
        <c:majorUnit val="20"/>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dPt>
            <c:idx val="0"/>
            <c:bubble3D val="0"/>
            <c:spPr>
              <a:solidFill>
                <a:srgbClr val="5993FF"/>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1-3F7C-405B-9F84-21336EA4B210}"/>
              </c:ext>
            </c:extLst>
          </c:dPt>
          <c:dPt>
            <c:idx val="1"/>
            <c:bubble3D val="0"/>
            <c:spPr>
              <a:pattFill prst="wdDnDiag">
                <a:fgClr>
                  <a:srgbClr val="FFD1D1"/>
                </a:fgClr>
                <a:bgClr>
                  <a:srgbClr val="FFA8A8"/>
                </a:bgClr>
              </a:patt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2-3F7C-405B-9F84-21336EA4B210}"/>
              </c:ext>
            </c:extLst>
          </c:dPt>
          <c:dPt>
            <c:idx val="2"/>
            <c:bubble3D val="0"/>
            <c:spPr>
              <a:pattFill prst="wdDnDiag">
                <a:fgClr>
                  <a:srgbClr val="F3C79B"/>
                </a:fgClr>
                <a:bgClr>
                  <a:srgbClr val="F88A24"/>
                </a:bgClr>
              </a:patt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3-3F7C-405B-9F84-21336EA4B210}"/>
              </c:ext>
            </c:extLst>
          </c:dPt>
          <c:dPt>
            <c:idx val="3"/>
            <c:bubble3D val="0"/>
            <c:spPr>
              <a:pattFill prst="wdDnDiag">
                <a:fgClr>
                  <a:srgbClr val="5ED1CE"/>
                </a:fgClr>
                <a:bgClr>
                  <a:srgbClr val="33A7A6"/>
                </a:bgClr>
              </a:patt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4-3F7C-405B-9F84-21336EA4B210}"/>
              </c:ext>
            </c:extLst>
          </c:dPt>
          <c:dLbls>
            <c:dLbl>
              <c:idx val="0"/>
              <c:spPr>
                <a:noFill/>
                <a:ln>
                  <a:noFill/>
                </a:ln>
                <a:effectLst/>
              </c:spPr>
              <c:txPr>
                <a:bodyPr rot="0" spcFirstLastPara="1" vertOverflow="ellipsis" vert="horz" wrap="square" lIns="38100" tIns="19050" rIns="38100" bIns="19050" anchor="ctr" anchorCtr="0">
                  <a:noAutofit/>
                </a:bodyPr>
                <a:lstStyle/>
                <a:p>
                  <a:pPr algn="l">
                    <a:defRPr sz="1800" b="0" i="0" u="none" strike="noStrike" kern="1200" baseline="0">
                      <a:solidFill>
                        <a:schemeClr val="lt1"/>
                      </a:solidFill>
                      <a:latin typeface="Inter Medium" panose="02000503000000020004" pitchFamily="2" charset="0"/>
                      <a:ea typeface="Inter Medium" panose="02000503000000020004" pitchFamily="2" charset="0"/>
                      <a:cs typeface="+mn-cs"/>
                    </a:defRPr>
                  </a:pPr>
                  <a:endParaRPr lang="en-US"/>
                </a:p>
              </c:txPr>
              <c:showLegendKey val="0"/>
              <c:showVal val="0"/>
              <c:showCatName val="1"/>
              <c:showSerName val="0"/>
              <c:showPercent val="0"/>
              <c:showBubbleSize val="0"/>
              <c:extLst>
                <c:ext xmlns:c15="http://schemas.microsoft.com/office/drawing/2012/chart" uri="{CE6537A1-D6FC-4f65-9D91-7224C49458BB}">
                  <c15:layout>
                    <c:manualLayout>
                      <c:w val="9.2495766883704922E-2"/>
                      <c:h val="0.13681566977231638"/>
                    </c:manualLayout>
                  </c15:layout>
                </c:ext>
                <c:ext xmlns:c16="http://schemas.microsoft.com/office/drawing/2014/chart" uri="{C3380CC4-5D6E-409C-BE32-E72D297353CC}">
                  <c16:uniqueId val="{00000001-3F7C-405B-9F84-21336EA4B210}"/>
                </c:ext>
              </c:extLst>
            </c:dLbl>
            <c:dLbl>
              <c:idx val="1"/>
              <c:layout>
                <c:manualLayout>
                  <c:x val="1.2498372351484491E-2"/>
                  <c:y val="-1.1592644339686689E-2"/>
                </c:manualLayout>
              </c:layout>
              <c:spPr>
                <a:noFill/>
                <a:ln>
                  <a:noFill/>
                </a:ln>
                <a:effectLst/>
              </c:spPr>
              <c:txPr>
                <a:bodyPr rot="0" spcFirstLastPara="1" vertOverflow="ellipsis" vert="horz" wrap="square" lIns="38100" tIns="19050" rIns="38100" bIns="19050" anchor="ctr" anchorCtr="0">
                  <a:noAutofit/>
                </a:bodyPr>
                <a:lstStyle/>
                <a:p>
                  <a:pPr algn="l">
                    <a:defRPr sz="1800" b="0" i="0" u="none" strike="noStrike" kern="1200" baseline="0">
                      <a:solidFill>
                        <a:schemeClr val="lt1"/>
                      </a:solidFill>
                      <a:latin typeface="Inter Medium" panose="02000503000000020004" pitchFamily="2" charset="0"/>
                      <a:ea typeface="Inter Medium" panose="02000503000000020004" pitchFamily="2" charset="0"/>
                      <a:cs typeface="+mn-cs"/>
                    </a:defRPr>
                  </a:pPr>
                  <a:endParaRPr lang="en-US"/>
                </a:p>
              </c:txPr>
              <c:showLegendKey val="0"/>
              <c:showVal val="0"/>
              <c:showCatName val="1"/>
              <c:showSerName val="0"/>
              <c:showPercent val="0"/>
              <c:showBubbleSize val="0"/>
              <c:extLst>
                <c:ext xmlns:c15="http://schemas.microsoft.com/office/drawing/2012/chart" uri="{CE6537A1-D6FC-4f65-9D91-7224C49458BB}">
                  <c15:layout>
                    <c:manualLayout>
                      <c:w val="0.14486788353165375"/>
                      <c:h val="9.624121490597759E-2"/>
                    </c:manualLayout>
                  </c15:layout>
                </c:ext>
                <c:ext xmlns:c16="http://schemas.microsoft.com/office/drawing/2014/chart" uri="{C3380CC4-5D6E-409C-BE32-E72D297353CC}">
                  <c16:uniqueId val="{00000002-3F7C-405B-9F84-21336EA4B210}"/>
                </c:ext>
              </c:extLst>
            </c:dLbl>
            <c:dLbl>
              <c:idx val="2"/>
              <c:spPr>
                <a:noFill/>
                <a:ln>
                  <a:noFill/>
                </a:ln>
                <a:effectLst/>
              </c:spPr>
              <c:txPr>
                <a:bodyPr rot="0" spcFirstLastPara="1" vertOverflow="ellipsis" vert="horz" wrap="square" lIns="38100" tIns="19050" rIns="38100" bIns="19050" anchor="ctr" anchorCtr="1">
                  <a:noAutofit/>
                </a:bodyPr>
                <a:lstStyle/>
                <a:p>
                  <a:pPr>
                    <a:defRPr sz="1800" b="0" i="0" u="none" strike="noStrike" kern="1200" baseline="0">
                      <a:solidFill>
                        <a:schemeClr val="lt1"/>
                      </a:solidFill>
                      <a:latin typeface="Inter Medium" panose="02000503000000020004" pitchFamily="2" charset="0"/>
                      <a:ea typeface="Inter Medium" panose="02000503000000020004" pitchFamily="2" charset="0"/>
                      <a:cs typeface="+mn-cs"/>
                    </a:defRPr>
                  </a:pPr>
                  <a:endParaRPr lang="en-US"/>
                </a:p>
              </c:txPr>
              <c:showLegendKey val="0"/>
              <c:showVal val="0"/>
              <c:showCatName val="1"/>
              <c:showSerName val="0"/>
              <c:showPercent val="0"/>
              <c:showBubbleSize val="0"/>
              <c:extLst>
                <c:ext xmlns:c15="http://schemas.microsoft.com/office/drawing/2012/chart" uri="{CE6537A1-D6FC-4f65-9D91-7224C49458BB}">
                  <c15:layout>
                    <c:manualLayout>
                      <c:w val="9.1241993153327663E-2"/>
                      <c:h val="9.6777377345282772E-2"/>
                    </c:manualLayout>
                  </c15:layout>
                </c:ext>
                <c:ext xmlns:c16="http://schemas.microsoft.com/office/drawing/2014/chart" uri="{C3380CC4-5D6E-409C-BE32-E72D297353CC}">
                  <c16:uniqueId val="{00000003-3F7C-405B-9F84-21336EA4B210}"/>
                </c:ext>
              </c:extLst>
            </c:dLbl>
            <c:dLbl>
              <c:idx val="3"/>
              <c:spPr>
                <a:noFill/>
                <a:ln>
                  <a:noFill/>
                </a:ln>
                <a:effectLst/>
              </c:spPr>
              <c:txPr>
                <a:bodyPr rot="0" spcFirstLastPara="1" vertOverflow="ellipsis" vert="horz" wrap="square" lIns="38100" tIns="19050" rIns="38100" bIns="19050" anchor="ctr" anchorCtr="1">
                  <a:noAutofit/>
                </a:bodyPr>
                <a:lstStyle/>
                <a:p>
                  <a:pPr>
                    <a:defRPr sz="1800" b="0" i="0" u="none" strike="noStrike" kern="1200" baseline="0">
                      <a:solidFill>
                        <a:schemeClr val="lt1"/>
                      </a:solidFill>
                      <a:latin typeface="Inter Medium" panose="02000503000000020004" pitchFamily="2" charset="0"/>
                      <a:ea typeface="Inter Medium" panose="02000503000000020004" pitchFamily="2" charset="0"/>
                      <a:cs typeface="+mn-cs"/>
                    </a:defRPr>
                  </a:pPr>
                  <a:endParaRPr lang="en-US"/>
                </a:p>
              </c:txPr>
              <c:showLegendKey val="0"/>
              <c:showVal val="0"/>
              <c:showCatName val="1"/>
              <c:showSerName val="0"/>
              <c:showPercent val="0"/>
              <c:showBubbleSize val="0"/>
              <c:extLst>
                <c:ext xmlns:c15="http://schemas.microsoft.com/office/drawing/2012/chart" uri="{CE6537A1-D6FC-4f65-9D91-7224C49458BB}">
                  <c15:layout>
                    <c:manualLayout>
                      <c:w val="9.7038113331328585E-2"/>
                      <c:h val="0.1083700787356653"/>
                    </c:manualLayout>
                  </c15:layout>
                </c:ext>
                <c:ext xmlns:c16="http://schemas.microsoft.com/office/drawing/2014/chart" uri="{C3380CC4-5D6E-409C-BE32-E72D297353CC}">
                  <c16:uniqueId val="{00000004-3F7C-405B-9F84-21336EA4B210}"/>
                </c:ext>
              </c:extLst>
            </c:dLbl>
            <c:spPr>
              <a:noFill/>
              <a:ln>
                <a:noFill/>
              </a:ln>
              <a:effectLst/>
            </c:spPr>
            <c:txPr>
              <a:bodyPr rot="0" spcFirstLastPara="1" vertOverflow="ellipsis" vert="horz" wrap="square" lIns="38100" tIns="19050" rIns="38100" bIns="19050" anchor="ctr" anchorCtr="1">
                <a:spAutoFit/>
              </a:bodyPr>
              <a:lstStyle/>
              <a:p>
                <a:pPr>
                  <a:defRPr sz="2100" b="1" i="0" u="none" strike="noStrike" kern="1200" baseline="0">
                    <a:solidFill>
                      <a:schemeClr val="lt1"/>
                    </a:solidFill>
                    <a:latin typeface="Inter" panose="02000503000000020004" pitchFamily="2" charset="0"/>
                    <a:ea typeface="Inter" panose="02000503000000020004" pitchFamily="2" charset="0"/>
                    <a:cs typeface="+mn-cs"/>
                  </a:defRPr>
                </a:pPr>
                <a:endParaRPr lang="en-US"/>
              </a:p>
            </c:txPr>
            <c:showLegendKey val="0"/>
            <c:showVal val="0"/>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Conversion Rate Uplift</c:v>
                </c:pt>
                <c:pt idx="1">
                  <c:v>Fewer Support Ticket</c:v>
                </c:pt>
                <c:pt idx="2">
                  <c:v>Reduced Drop-off</c:v>
                </c:pt>
                <c:pt idx="3">
                  <c:v>Improved Retention</c:v>
                </c:pt>
              </c:strCache>
            </c:strRef>
          </c:cat>
          <c:val>
            <c:numRef>
              <c:f>Sheet1!$B$2:$B$5</c:f>
              <c:numCache>
                <c:formatCode>General</c:formatCode>
                <c:ptCount val="4"/>
                <c:pt idx="0">
                  <c:v>40</c:v>
                </c:pt>
                <c:pt idx="1">
                  <c:v>20</c:v>
                </c:pt>
                <c:pt idx="2">
                  <c:v>25</c:v>
                </c:pt>
                <c:pt idx="3">
                  <c:v>15</c:v>
                </c:pt>
              </c:numCache>
            </c:numRef>
          </c:val>
          <c:extLst>
            <c:ext xmlns:c15="http://schemas.microsoft.com/office/drawing/2012/chart" uri="{02D57815-91ED-43cb-92C2-25804820EDAC}">
              <c15:filteredSeriesTitle>
                <c15:tx>
                  <c:strRef>
                    <c:extLst>
                      <c:ext uri="{02D57815-91ED-43cb-92C2-25804820EDAC}">
                        <c15:formulaRef>
                          <c15:sqref>Sheet1!$B$1</c15:sqref>
                        </c15:formulaRef>
                      </c:ext>
                    </c:extLst>
                    <c:strCache>
                      <c:ptCount val="1"/>
                      <c:pt idx="0">
                        <c:v>Sales</c:v>
                      </c:pt>
                    </c:strCache>
                  </c:strRef>
                </c15:tx>
              </c15:filteredSeriesTitle>
            </c:ext>
            <c:ext xmlns:c16="http://schemas.microsoft.com/office/drawing/2014/chart" uri="{C3380CC4-5D6E-409C-BE32-E72D297353CC}">
              <c16:uniqueId val="{00000000-3F7C-405B-9F84-21336EA4B210}"/>
            </c:ext>
          </c:extLst>
        </c:ser>
        <c:dLbls>
          <c:showLegendKey val="0"/>
          <c:showVal val="0"/>
          <c:showCatName val="0"/>
          <c:showSerName val="0"/>
          <c:showPercent val="1"/>
          <c:showBubbleSize val="0"/>
          <c:showLeaderLines val="1"/>
        </c:dLbls>
        <c:firstSliceAng val="220"/>
        <c:holeSize val="41"/>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rgbClr val="F88A24"/>
              </a:solidFill>
              <a:ln w="19050">
                <a:noFill/>
              </a:ln>
              <a:effectLst/>
            </c:spPr>
            <c:extLst>
              <c:ext xmlns:c16="http://schemas.microsoft.com/office/drawing/2014/chart" uri="{C3380CC4-5D6E-409C-BE32-E72D297353CC}">
                <c16:uniqueId val="{00000003-5067-4963-AB70-45263C382FBB}"/>
              </c:ext>
            </c:extLst>
          </c:dPt>
          <c:dPt>
            <c:idx val="1"/>
            <c:bubble3D val="0"/>
            <c:spPr>
              <a:pattFill prst="wdDnDiag">
                <a:fgClr>
                  <a:srgbClr val="FFA8A8"/>
                </a:fgClr>
                <a:bgClr>
                  <a:schemeClr val="bg1"/>
                </a:bgClr>
              </a:pattFill>
              <a:ln w="190500">
                <a:solidFill>
                  <a:srgbClr val="FAFAFA"/>
                </a:solidFill>
              </a:ln>
              <a:effectLst/>
            </c:spPr>
            <c:extLst>
              <c:ext xmlns:c16="http://schemas.microsoft.com/office/drawing/2014/chart" uri="{C3380CC4-5D6E-409C-BE32-E72D297353CC}">
                <c16:uniqueId val="{00000002-5067-4963-AB70-45263C382FBB}"/>
              </c:ext>
            </c:extLst>
          </c:dPt>
          <c:dPt>
            <c:idx val="2"/>
            <c:bubble3D val="0"/>
            <c:spPr>
              <a:noFill/>
              <a:ln w="19050">
                <a:noFill/>
              </a:ln>
              <a:effectLst/>
            </c:spPr>
            <c:extLst>
              <c:ext xmlns:c16="http://schemas.microsoft.com/office/drawing/2014/chart" uri="{C3380CC4-5D6E-409C-BE32-E72D297353CC}">
                <c16:uniqueId val="{00000001-5067-4963-AB70-45263C382FBB}"/>
              </c:ext>
            </c:extLst>
          </c:dPt>
          <c:cat>
            <c:strRef>
              <c:f>Sheet1!$A$2:$A$4</c:f>
              <c:strCache>
                <c:ptCount val="3"/>
                <c:pt idx="0">
                  <c:v>1st Qtr</c:v>
                </c:pt>
                <c:pt idx="1">
                  <c:v>2nd Qtr</c:v>
                </c:pt>
                <c:pt idx="2">
                  <c:v>3rd Qtr</c:v>
                </c:pt>
              </c:strCache>
            </c:strRef>
          </c:cat>
          <c:val>
            <c:numRef>
              <c:f>Sheet1!$B$2:$B$4</c:f>
              <c:numCache>
                <c:formatCode>General</c:formatCode>
                <c:ptCount val="3"/>
                <c:pt idx="0">
                  <c:v>30</c:v>
                </c:pt>
                <c:pt idx="1">
                  <c:v>20</c:v>
                </c:pt>
                <c:pt idx="2">
                  <c:v>50</c:v>
                </c:pt>
              </c:numCache>
            </c:numRef>
          </c:val>
          <c:extLst>
            <c:ext xmlns:c16="http://schemas.microsoft.com/office/drawing/2014/chart" uri="{C3380CC4-5D6E-409C-BE32-E72D297353CC}">
              <c16:uniqueId val="{00000000-5067-4963-AB70-45263C382FBB}"/>
            </c:ext>
          </c:extLst>
        </c:ser>
        <c:dLbls>
          <c:showLegendKey val="0"/>
          <c:showVal val="0"/>
          <c:showCatName val="0"/>
          <c:showSerName val="0"/>
          <c:showPercent val="0"/>
          <c:showBubbleSize val="0"/>
          <c:showLeaderLines val="1"/>
        </c:dLbls>
        <c:firstSliceAng val="270"/>
        <c:holeSize val="70"/>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8">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lt1"/>
    </cs:fontRef>
    <cs:defRPr sz="1197" b="1"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scene3d>
        <a:camera prst="orthographicFront"/>
        <a:lightRig rig="brightRoom" dir="t"/>
      </a:scene3d>
      <a:sp3d prstMaterial="flat">
        <a:bevelT w="50800" h="101600" prst="angle"/>
        <a:contourClr>
          <a:srgbClr val="000000"/>
        </a:contourClr>
      </a:sp3d>
    </cs:spPr>
  </cs:dataPoint>
  <cs:dataPoint3D>
    <cs:lnRef idx="0"/>
    <cs:fillRef idx="0">
      <cs:styleClr val="auto"/>
    </cs:fillRef>
    <cs:effectRef idx="0"/>
    <cs:fontRef idx="minor">
      <a:schemeClr val="tx1"/>
    </cs:fontRef>
    <cs:spPr>
      <a:solidFill>
        <a:schemeClr val="phClr"/>
      </a:solidFill>
      <a:ln w="1905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1" i="0" kern="1200" cap="all" spc="50"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510672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EFAULT">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665D817-A180-689B-4E7B-AF788F78522C}"/>
              </a:ext>
            </a:extLst>
          </p:cNvPr>
          <p:cNvSpPr>
            <a:spLocks noGrp="1"/>
          </p:cNvSpPr>
          <p:nvPr>
            <p:ph type="pic" sz="quarter" idx="10"/>
          </p:nvPr>
        </p:nvSpPr>
        <p:spPr>
          <a:xfrm>
            <a:off x="11734800" y="6286500"/>
            <a:ext cx="8534400" cy="5486400"/>
          </a:xfrm>
          <a:prstGeom prst="rect">
            <a:avLst/>
          </a:prstGeom>
        </p:spPr>
        <p:txBody>
          <a:bodyPr/>
          <a:lstStyle/>
          <a:p>
            <a:endParaRPr lang="en-ID"/>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6.svg"/></Relationships>
</file>

<file path=ppt/slides/_rels/slide3.xml.rels><?xml version="1.0" encoding="UTF-8" standalone="yes"?>
<Relationships xmlns="http://schemas.openxmlformats.org/package/2006/relationships"><Relationship Id="rId8" Type="http://schemas.openxmlformats.org/officeDocument/2006/relationships/image" Target="../media/image12.svg"/><Relationship Id="rId13" Type="http://schemas.openxmlformats.org/officeDocument/2006/relationships/image" Target="../media/image17.svg"/><Relationship Id="rId18" Type="http://schemas.openxmlformats.org/officeDocument/2006/relationships/image" Target="../media/image22.png"/><Relationship Id="rId3" Type="http://schemas.openxmlformats.org/officeDocument/2006/relationships/image" Target="../media/image7.png"/><Relationship Id="rId21" Type="http://schemas.openxmlformats.org/officeDocument/2006/relationships/image" Target="../media/image25.svg"/><Relationship Id="rId7" Type="http://schemas.openxmlformats.org/officeDocument/2006/relationships/image" Target="../media/image11.png"/><Relationship Id="rId12" Type="http://schemas.openxmlformats.org/officeDocument/2006/relationships/image" Target="../media/image16.svg"/><Relationship Id="rId17" Type="http://schemas.openxmlformats.org/officeDocument/2006/relationships/image" Target="../media/image21.svg"/><Relationship Id="rId2" Type="http://schemas.openxmlformats.org/officeDocument/2006/relationships/notesSlide" Target="../notesSlides/notesSlide3.xml"/><Relationship Id="rId16" Type="http://schemas.openxmlformats.org/officeDocument/2006/relationships/image" Target="../media/image20.png"/><Relationship Id="rId20" Type="http://schemas.openxmlformats.org/officeDocument/2006/relationships/image" Target="../media/image24.png"/><Relationship Id="rId1" Type="http://schemas.openxmlformats.org/officeDocument/2006/relationships/slideLayout" Target="../slideLayouts/slideLayout1.xml"/><Relationship Id="rId6" Type="http://schemas.openxmlformats.org/officeDocument/2006/relationships/image" Target="../media/image10.svg"/><Relationship Id="rId11" Type="http://schemas.openxmlformats.org/officeDocument/2006/relationships/image" Target="../media/image15.png"/><Relationship Id="rId5" Type="http://schemas.openxmlformats.org/officeDocument/2006/relationships/image" Target="../media/image9.png"/><Relationship Id="rId15" Type="http://schemas.openxmlformats.org/officeDocument/2006/relationships/image" Target="../media/image19.svg"/><Relationship Id="rId10" Type="http://schemas.openxmlformats.org/officeDocument/2006/relationships/image" Target="../media/image14.svg"/><Relationship Id="rId19" Type="http://schemas.openxmlformats.org/officeDocument/2006/relationships/image" Target="../media/image23.svg"/><Relationship Id="rId4" Type="http://schemas.openxmlformats.org/officeDocument/2006/relationships/image" Target="../media/image8.svg"/><Relationship Id="rId9" Type="http://schemas.openxmlformats.org/officeDocument/2006/relationships/image" Target="../media/image13.png"/><Relationship Id="rId14" Type="http://schemas.openxmlformats.org/officeDocument/2006/relationships/image" Target="../media/image18.png"/></Relationships>
</file>

<file path=ppt/slides/_rels/slide4.xml.rels><?xml version="1.0" encoding="UTF-8" standalone="yes"?>
<Relationships xmlns="http://schemas.openxmlformats.org/package/2006/relationships"><Relationship Id="rId8" Type="http://schemas.openxmlformats.org/officeDocument/2006/relationships/image" Target="../media/image31.svg"/><Relationship Id="rId13" Type="http://schemas.openxmlformats.org/officeDocument/2006/relationships/image" Target="../media/image36.png"/><Relationship Id="rId18" Type="http://schemas.openxmlformats.org/officeDocument/2006/relationships/image" Target="../media/image41.svg"/><Relationship Id="rId26" Type="http://schemas.openxmlformats.org/officeDocument/2006/relationships/image" Target="../media/image49.svg"/><Relationship Id="rId3" Type="http://schemas.openxmlformats.org/officeDocument/2006/relationships/image" Target="../media/image26.png"/><Relationship Id="rId21" Type="http://schemas.openxmlformats.org/officeDocument/2006/relationships/image" Target="../media/image44.png"/><Relationship Id="rId7" Type="http://schemas.openxmlformats.org/officeDocument/2006/relationships/image" Target="../media/image30.png"/><Relationship Id="rId12" Type="http://schemas.openxmlformats.org/officeDocument/2006/relationships/image" Target="../media/image35.svg"/><Relationship Id="rId17" Type="http://schemas.openxmlformats.org/officeDocument/2006/relationships/image" Target="../media/image40.png"/><Relationship Id="rId25" Type="http://schemas.openxmlformats.org/officeDocument/2006/relationships/image" Target="../media/image48.png"/><Relationship Id="rId2" Type="http://schemas.openxmlformats.org/officeDocument/2006/relationships/notesSlide" Target="../notesSlides/notesSlide4.xml"/><Relationship Id="rId16" Type="http://schemas.openxmlformats.org/officeDocument/2006/relationships/image" Target="../media/image39.svg"/><Relationship Id="rId20" Type="http://schemas.openxmlformats.org/officeDocument/2006/relationships/image" Target="../media/image43.svg"/><Relationship Id="rId1" Type="http://schemas.openxmlformats.org/officeDocument/2006/relationships/slideLayout" Target="../slideLayouts/slideLayout1.xml"/><Relationship Id="rId6" Type="http://schemas.openxmlformats.org/officeDocument/2006/relationships/image" Target="../media/image29.svg"/><Relationship Id="rId11" Type="http://schemas.openxmlformats.org/officeDocument/2006/relationships/image" Target="../media/image34.png"/><Relationship Id="rId24" Type="http://schemas.openxmlformats.org/officeDocument/2006/relationships/image" Target="../media/image47.svg"/><Relationship Id="rId5" Type="http://schemas.openxmlformats.org/officeDocument/2006/relationships/image" Target="../media/image28.png"/><Relationship Id="rId15" Type="http://schemas.openxmlformats.org/officeDocument/2006/relationships/image" Target="../media/image38.png"/><Relationship Id="rId23" Type="http://schemas.openxmlformats.org/officeDocument/2006/relationships/image" Target="../media/image46.png"/><Relationship Id="rId10" Type="http://schemas.openxmlformats.org/officeDocument/2006/relationships/image" Target="../media/image33.svg"/><Relationship Id="rId19" Type="http://schemas.openxmlformats.org/officeDocument/2006/relationships/image" Target="../media/image42.png"/><Relationship Id="rId4" Type="http://schemas.openxmlformats.org/officeDocument/2006/relationships/image" Target="../media/image27.svg"/><Relationship Id="rId9" Type="http://schemas.openxmlformats.org/officeDocument/2006/relationships/image" Target="../media/image32.png"/><Relationship Id="rId14" Type="http://schemas.openxmlformats.org/officeDocument/2006/relationships/image" Target="../media/image37.svg"/><Relationship Id="rId22" Type="http://schemas.openxmlformats.org/officeDocument/2006/relationships/image" Target="../media/image45.sv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55.svg"/><Relationship Id="rId13" Type="http://schemas.openxmlformats.org/officeDocument/2006/relationships/image" Target="../media/image60.png"/><Relationship Id="rId3" Type="http://schemas.openxmlformats.org/officeDocument/2006/relationships/image" Target="../media/image50.png"/><Relationship Id="rId7" Type="http://schemas.openxmlformats.org/officeDocument/2006/relationships/image" Target="../media/image54.png"/><Relationship Id="rId12" Type="http://schemas.openxmlformats.org/officeDocument/2006/relationships/image" Target="../media/image59.sv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53.svg"/><Relationship Id="rId11" Type="http://schemas.openxmlformats.org/officeDocument/2006/relationships/image" Target="../media/image58.png"/><Relationship Id="rId5" Type="http://schemas.openxmlformats.org/officeDocument/2006/relationships/image" Target="../media/image52.png"/><Relationship Id="rId10" Type="http://schemas.openxmlformats.org/officeDocument/2006/relationships/image" Target="../media/image57.svg"/><Relationship Id="rId4" Type="http://schemas.openxmlformats.org/officeDocument/2006/relationships/image" Target="../media/image51.svg"/><Relationship Id="rId9" Type="http://schemas.openxmlformats.org/officeDocument/2006/relationships/image" Target="../media/image56.png"/><Relationship Id="rId14" Type="http://schemas.openxmlformats.org/officeDocument/2006/relationships/image" Target="../media/image61.svg"/></Relationships>
</file>

<file path=ppt/slides/_rels/slide7.xml.rels><?xml version="1.0" encoding="UTF-8" standalone="yes"?>
<Relationships xmlns="http://schemas.openxmlformats.org/package/2006/relationships"><Relationship Id="rId8" Type="http://schemas.openxmlformats.org/officeDocument/2006/relationships/image" Target="../media/image67.svg"/><Relationship Id="rId3" Type="http://schemas.openxmlformats.org/officeDocument/2006/relationships/image" Target="../media/image62.png"/><Relationship Id="rId7" Type="http://schemas.openxmlformats.org/officeDocument/2006/relationships/image" Target="../media/image66.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65.svg"/><Relationship Id="rId5" Type="http://schemas.openxmlformats.org/officeDocument/2006/relationships/image" Target="../media/image64.png"/><Relationship Id="rId4" Type="http://schemas.openxmlformats.org/officeDocument/2006/relationships/image" Target="../media/image63.svg"/><Relationship Id="rId9" Type="http://schemas.openxmlformats.org/officeDocument/2006/relationships/chart" Target="../charts/chart1.xml"/></Relationships>
</file>

<file path=ppt/slides/_rels/slide8.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69.svg"/></Relationships>
</file>

<file path=ppt/slides/_rels/slide9.xml.rels><?xml version="1.0" encoding="UTF-8" standalone="yes"?>
<Relationships xmlns="http://schemas.openxmlformats.org/package/2006/relationships"><Relationship Id="rId8" Type="http://schemas.openxmlformats.org/officeDocument/2006/relationships/image" Target="../media/image75.svg"/><Relationship Id="rId13" Type="http://schemas.openxmlformats.org/officeDocument/2006/relationships/image" Target="../media/image80.png"/><Relationship Id="rId18" Type="http://schemas.openxmlformats.org/officeDocument/2006/relationships/image" Target="../media/image85.svg"/><Relationship Id="rId3" Type="http://schemas.openxmlformats.org/officeDocument/2006/relationships/image" Target="../media/image70.png"/><Relationship Id="rId7" Type="http://schemas.openxmlformats.org/officeDocument/2006/relationships/image" Target="../media/image74.png"/><Relationship Id="rId12" Type="http://schemas.openxmlformats.org/officeDocument/2006/relationships/image" Target="../media/image79.svg"/><Relationship Id="rId17" Type="http://schemas.openxmlformats.org/officeDocument/2006/relationships/image" Target="../media/image84.png"/><Relationship Id="rId2" Type="http://schemas.openxmlformats.org/officeDocument/2006/relationships/notesSlide" Target="../notesSlides/notesSlide9.xml"/><Relationship Id="rId16" Type="http://schemas.openxmlformats.org/officeDocument/2006/relationships/image" Target="../media/image83.svg"/><Relationship Id="rId1" Type="http://schemas.openxmlformats.org/officeDocument/2006/relationships/slideLayout" Target="../slideLayouts/slideLayout1.xml"/><Relationship Id="rId6" Type="http://schemas.openxmlformats.org/officeDocument/2006/relationships/image" Target="../media/image73.svg"/><Relationship Id="rId11" Type="http://schemas.openxmlformats.org/officeDocument/2006/relationships/image" Target="../media/image78.png"/><Relationship Id="rId5" Type="http://schemas.openxmlformats.org/officeDocument/2006/relationships/image" Target="../media/image72.png"/><Relationship Id="rId15" Type="http://schemas.openxmlformats.org/officeDocument/2006/relationships/image" Target="../media/image82.png"/><Relationship Id="rId10" Type="http://schemas.openxmlformats.org/officeDocument/2006/relationships/image" Target="../media/image77.svg"/><Relationship Id="rId4" Type="http://schemas.openxmlformats.org/officeDocument/2006/relationships/image" Target="../media/image71.svg"/><Relationship Id="rId9" Type="http://schemas.openxmlformats.org/officeDocument/2006/relationships/image" Target="../media/image76.png"/><Relationship Id="rId14" Type="http://schemas.openxmlformats.org/officeDocument/2006/relationships/image" Target="../media/image81.svg"/></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87.svg"/></Relationships>
</file>

<file path=ppt/slides/_rels/slide12.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89.svg"/></Relationships>
</file>

<file path=ppt/slides/_rels/slide13.xml.rels><?xml version="1.0" encoding="UTF-8" standalone="yes"?>
<Relationships xmlns="http://schemas.openxmlformats.org/package/2006/relationships"><Relationship Id="rId8" Type="http://schemas.openxmlformats.org/officeDocument/2006/relationships/image" Target="../media/image47.svg"/><Relationship Id="rId3" Type="http://schemas.openxmlformats.org/officeDocument/2006/relationships/image" Target="../media/image90.png"/><Relationship Id="rId7" Type="http://schemas.openxmlformats.org/officeDocument/2006/relationships/image" Target="../media/image46.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93.svg"/><Relationship Id="rId5" Type="http://schemas.openxmlformats.org/officeDocument/2006/relationships/image" Target="../media/image92.png"/><Relationship Id="rId4" Type="http://schemas.openxmlformats.org/officeDocument/2006/relationships/image" Target="../media/image91.sv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97.svg"/><Relationship Id="rId5" Type="http://schemas.openxmlformats.org/officeDocument/2006/relationships/image" Target="../media/image96.png"/><Relationship Id="rId4" Type="http://schemas.openxmlformats.org/officeDocument/2006/relationships/image" Target="../media/image95.sv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8" Type="http://schemas.openxmlformats.org/officeDocument/2006/relationships/image" Target="../media/image103.svg"/><Relationship Id="rId13" Type="http://schemas.openxmlformats.org/officeDocument/2006/relationships/image" Target="../media/image108.png"/><Relationship Id="rId18" Type="http://schemas.openxmlformats.org/officeDocument/2006/relationships/image" Target="../media/image113.svg"/><Relationship Id="rId3" Type="http://schemas.openxmlformats.org/officeDocument/2006/relationships/image" Target="../media/image98.png"/><Relationship Id="rId7" Type="http://schemas.openxmlformats.org/officeDocument/2006/relationships/image" Target="../media/image102.png"/><Relationship Id="rId12" Type="http://schemas.openxmlformats.org/officeDocument/2006/relationships/image" Target="../media/image107.svg"/><Relationship Id="rId17" Type="http://schemas.openxmlformats.org/officeDocument/2006/relationships/image" Target="../media/image112.png"/><Relationship Id="rId2" Type="http://schemas.openxmlformats.org/officeDocument/2006/relationships/notesSlide" Target="../notesSlides/notesSlide19.xml"/><Relationship Id="rId16" Type="http://schemas.openxmlformats.org/officeDocument/2006/relationships/image" Target="../media/image111.svg"/><Relationship Id="rId1" Type="http://schemas.openxmlformats.org/officeDocument/2006/relationships/slideLayout" Target="../slideLayouts/slideLayout1.xml"/><Relationship Id="rId6" Type="http://schemas.openxmlformats.org/officeDocument/2006/relationships/image" Target="../media/image101.svg"/><Relationship Id="rId11" Type="http://schemas.openxmlformats.org/officeDocument/2006/relationships/image" Target="../media/image106.png"/><Relationship Id="rId5" Type="http://schemas.openxmlformats.org/officeDocument/2006/relationships/image" Target="../media/image100.png"/><Relationship Id="rId15" Type="http://schemas.openxmlformats.org/officeDocument/2006/relationships/image" Target="../media/image110.png"/><Relationship Id="rId10" Type="http://schemas.openxmlformats.org/officeDocument/2006/relationships/image" Target="../media/image105.svg"/><Relationship Id="rId4" Type="http://schemas.openxmlformats.org/officeDocument/2006/relationships/image" Target="../media/image99.svg"/><Relationship Id="rId9" Type="http://schemas.openxmlformats.org/officeDocument/2006/relationships/image" Target="../media/image104.png"/><Relationship Id="rId14" Type="http://schemas.openxmlformats.org/officeDocument/2006/relationships/image" Target="../media/image109.svg"/></Relationships>
</file>

<file path=ppt/slides/_rels/slide20.xml.rels><?xml version="1.0" encoding="UTF-8" standalone="yes"?>
<Relationships xmlns="http://schemas.openxmlformats.org/package/2006/relationships"><Relationship Id="rId8" Type="http://schemas.openxmlformats.org/officeDocument/2006/relationships/chart" Target="../charts/chart5.xml"/><Relationship Id="rId3" Type="http://schemas.openxmlformats.org/officeDocument/2006/relationships/image" Target="../media/image114.png"/><Relationship Id="rId7" Type="http://schemas.openxmlformats.org/officeDocument/2006/relationships/chart" Target="../charts/chart4.xml"/><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117.svg"/><Relationship Id="rId5" Type="http://schemas.openxmlformats.org/officeDocument/2006/relationships/image" Target="../media/image116.png"/><Relationship Id="rId4" Type="http://schemas.openxmlformats.org/officeDocument/2006/relationships/image" Target="../media/image115.svg"/></Relationships>
</file>

<file path=ppt/slides/_rels/slide21.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chart" Target="../charts/chart7.xml"/><Relationship Id="rId5" Type="http://schemas.openxmlformats.org/officeDocument/2006/relationships/image" Target="../media/image120.svg"/><Relationship Id="rId4" Type="http://schemas.openxmlformats.org/officeDocument/2006/relationships/image" Target="../media/image119.png"/></Relationships>
</file>

<file path=ppt/slides/_rels/slide23.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122.svg"/></Relationships>
</file>

<file path=ppt/slides/_rels/slide24.xml.rels><?xml version="1.0" encoding="UTF-8" standalone="yes"?>
<Relationships xmlns="http://schemas.openxmlformats.org/package/2006/relationships"><Relationship Id="rId8" Type="http://schemas.openxmlformats.org/officeDocument/2006/relationships/image" Target="../media/image128.svg"/><Relationship Id="rId13" Type="http://schemas.openxmlformats.org/officeDocument/2006/relationships/image" Target="../media/image133.png"/><Relationship Id="rId18" Type="http://schemas.openxmlformats.org/officeDocument/2006/relationships/image" Target="../media/image138.svg"/><Relationship Id="rId26" Type="http://schemas.openxmlformats.org/officeDocument/2006/relationships/image" Target="../media/image142.svg"/><Relationship Id="rId3" Type="http://schemas.openxmlformats.org/officeDocument/2006/relationships/image" Target="../media/image123.png"/><Relationship Id="rId21" Type="http://schemas.openxmlformats.org/officeDocument/2006/relationships/image" Target="../media/image24.png"/><Relationship Id="rId7" Type="http://schemas.openxmlformats.org/officeDocument/2006/relationships/image" Target="../media/image127.png"/><Relationship Id="rId12" Type="http://schemas.openxmlformats.org/officeDocument/2006/relationships/image" Target="../media/image132.svg"/><Relationship Id="rId17" Type="http://schemas.openxmlformats.org/officeDocument/2006/relationships/image" Target="../media/image137.png"/><Relationship Id="rId25" Type="http://schemas.openxmlformats.org/officeDocument/2006/relationships/image" Target="../media/image141.png"/><Relationship Id="rId2" Type="http://schemas.openxmlformats.org/officeDocument/2006/relationships/notesSlide" Target="../notesSlides/notesSlide24.xml"/><Relationship Id="rId16" Type="http://schemas.openxmlformats.org/officeDocument/2006/relationships/image" Target="../media/image136.svg"/><Relationship Id="rId20" Type="http://schemas.openxmlformats.org/officeDocument/2006/relationships/image" Target="../media/image140.svg"/><Relationship Id="rId29" Type="http://schemas.openxmlformats.org/officeDocument/2006/relationships/image" Target="../media/image145.png"/><Relationship Id="rId1" Type="http://schemas.openxmlformats.org/officeDocument/2006/relationships/slideLayout" Target="../slideLayouts/slideLayout1.xml"/><Relationship Id="rId6" Type="http://schemas.openxmlformats.org/officeDocument/2006/relationships/image" Target="../media/image126.svg"/><Relationship Id="rId11" Type="http://schemas.openxmlformats.org/officeDocument/2006/relationships/image" Target="../media/image131.png"/><Relationship Id="rId24" Type="http://schemas.openxmlformats.org/officeDocument/2006/relationships/image" Target="../media/image45.svg"/><Relationship Id="rId5" Type="http://schemas.openxmlformats.org/officeDocument/2006/relationships/image" Target="../media/image125.png"/><Relationship Id="rId15" Type="http://schemas.openxmlformats.org/officeDocument/2006/relationships/image" Target="../media/image135.png"/><Relationship Id="rId23" Type="http://schemas.openxmlformats.org/officeDocument/2006/relationships/image" Target="../media/image44.png"/><Relationship Id="rId28" Type="http://schemas.openxmlformats.org/officeDocument/2006/relationships/image" Target="../media/image144.svg"/><Relationship Id="rId10" Type="http://schemas.openxmlformats.org/officeDocument/2006/relationships/image" Target="../media/image130.svg"/><Relationship Id="rId19" Type="http://schemas.openxmlformats.org/officeDocument/2006/relationships/image" Target="../media/image139.png"/><Relationship Id="rId4" Type="http://schemas.openxmlformats.org/officeDocument/2006/relationships/image" Target="../media/image124.svg"/><Relationship Id="rId9" Type="http://schemas.openxmlformats.org/officeDocument/2006/relationships/image" Target="../media/image129.png"/><Relationship Id="rId14" Type="http://schemas.openxmlformats.org/officeDocument/2006/relationships/image" Target="../media/image134.svg"/><Relationship Id="rId22" Type="http://schemas.openxmlformats.org/officeDocument/2006/relationships/image" Target="../media/image25.svg"/><Relationship Id="rId27" Type="http://schemas.openxmlformats.org/officeDocument/2006/relationships/image" Target="../media/image143.png"/><Relationship Id="rId30" Type="http://schemas.openxmlformats.org/officeDocument/2006/relationships/image" Target="../media/image146.svg"/></Relationships>
</file>

<file path=ppt/slides/_rels/slide25.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150.svg"/><Relationship Id="rId5" Type="http://schemas.openxmlformats.org/officeDocument/2006/relationships/image" Target="../media/image149.png"/><Relationship Id="rId4" Type="http://schemas.openxmlformats.org/officeDocument/2006/relationships/image" Target="../media/image148.sv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65B618D7-5248-262B-7141-85F9845E71E1}"/>
              </a:ext>
            </a:extLst>
          </p:cNvPr>
          <p:cNvSpPr/>
          <p:nvPr/>
        </p:nvSpPr>
        <p:spPr>
          <a:xfrm>
            <a:off x="0" y="0"/>
            <a:ext cx="24387175" cy="13716000"/>
          </a:xfrm>
          <a:prstGeom prst="rect">
            <a:avLst/>
          </a:prstGeom>
          <a:gradFill flip="none" rotWithShape="1">
            <a:gsLst>
              <a:gs pos="0">
                <a:srgbClr val="EFEFEF"/>
              </a:gs>
              <a:gs pos="76000">
                <a:srgbClr val="FFFFFF"/>
              </a:gs>
            </a:gsLst>
            <a:lin ang="16200000" scaled="0"/>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sz="200"/>
          </a:p>
        </p:txBody>
      </p:sp>
      <p:sp>
        <p:nvSpPr>
          <p:cNvPr id="3" name="Text 0"/>
          <p:cNvSpPr/>
          <p:nvPr/>
        </p:nvSpPr>
        <p:spPr>
          <a:xfrm>
            <a:off x="1473384" y="2616200"/>
            <a:ext cx="11820944" cy="3539067"/>
          </a:xfrm>
          <a:prstGeom prst="rect">
            <a:avLst/>
          </a:prstGeom>
          <a:noFill/>
          <a:ln/>
        </p:spPr>
        <p:txBody>
          <a:bodyPr wrap="square" lIns="0" tIns="0" rIns="0" bIns="0" rtlCol="0" anchor="t"/>
          <a:lstStyle/>
          <a:p>
            <a:pPr marL="0" indent="0" algn="l">
              <a:lnSpc>
                <a:spcPts val="12100"/>
              </a:lnSpc>
              <a:buNone/>
            </a:pPr>
            <a:r>
              <a:rPr lang="en-US" sz="11000" kern="0" spc="-440" dirty="0">
                <a:solidFill>
                  <a:srgbClr val="000000">
                    <a:alpha val="100000"/>
                  </a:srgbClr>
                </a:solidFill>
                <a:latin typeface="Montserrat SemiBold" pitchFamily="34" charset="0"/>
                <a:ea typeface="Montserrat SemiBold" pitchFamily="34" charset="-122"/>
                <a:cs typeface="Montserrat SemiBold" pitchFamily="34" charset="-120"/>
              </a:rPr>
              <a:t>UX Audit Presentation Kit</a:t>
            </a:r>
            <a:endParaRPr lang="en-US" sz="11000" dirty="0"/>
          </a:p>
        </p:txBody>
      </p:sp>
      <p:sp>
        <p:nvSpPr>
          <p:cNvPr id="4" name="Shape 1"/>
          <p:cNvSpPr/>
          <p:nvPr/>
        </p:nvSpPr>
        <p:spPr>
          <a:xfrm>
            <a:off x="10135867" y="8280400"/>
            <a:ext cx="4115314" cy="4114800"/>
          </a:xfrm>
          <a:prstGeom prst="ellipse">
            <a:avLst/>
          </a:prstGeom>
          <a:solidFill>
            <a:srgbClr val="FFD6D6">
              <a:alpha val="100000"/>
            </a:srgbClr>
          </a:solidFill>
          <a:ln w="254000">
            <a:solidFill>
              <a:srgbClr val="FFFFFF"/>
            </a:solidFill>
            <a:prstDash val="solid"/>
          </a:ln>
        </p:spPr>
        <p:txBody>
          <a:bodyPr/>
          <a:lstStyle/>
          <a:p>
            <a:endParaRPr lang="en-ID"/>
          </a:p>
        </p:txBody>
      </p:sp>
      <p:sp>
        <p:nvSpPr>
          <p:cNvPr id="5" name="Shape 2"/>
          <p:cNvSpPr/>
          <p:nvPr/>
        </p:nvSpPr>
        <p:spPr>
          <a:xfrm>
            <a:off x="11748968" y="8280400"/>
            <a:ext cx="4115314" cy="4114800"/>
          </a:xfrm>
          <a:prstGeom prst="ellipse">
            <a:avLst/>
          </a:prstGeom>
          <a:solidFill>
            <a:srgbClr val="FFC896">
              <a:alpha val="100000"/>
            </a:srgbClr>
          </a:solidFill>
          <a:ln w="254000">
            <a:solidFill>
              <a:srgbClr val="FFFFFF"/>
            </a:solidFill>
            <a:prstDash val="solid"/>
          </a:ln>
        </p:spPr>
        <p:txBody>
          <a:bodyPr/>
          <a:lstStyle/>
          <a:p>
            <a:endParaRPr lang="en-ID"/>
          </a:p>
        </p:txBody>
      </p:sp>
      <p:sp>
        <p:nvSpPr>
          <p:cNvPr id="6" name="Shape 3"/>
          <p:cNvSpPr/>
          <p:nvPr/>
        </p:nvSpPr>
        <p:spPr>
          <a:xfrm>
            <a:off x="13362070" y="8280400"/>
            <a:ext cx="4115314" cy="4114800"/>
          </a:xfrm>
          <a:prstGeom prst="ellipse">
            <a:avLst/>
          </a:prstGeom>
          <a:solidFill>
            <a:srgbClr val="5993FF">
              <a:alpha val="100000"/>
            </a:srgbClr>
          </a:solidFill>
          <a:ln w="254000">
            <a:solidFill>
              <a:srgbClr val="FFFFFF"/>
            </a:solidFill>
            <a:prstDash val="solid"/>
          </a:ln>
        </p:spPr>
        <p:txBody>
          <a:bodyPr/>
          <a:lstStyle/>
          <a:p>
            <a:endParaRPr lang="en-ID"/>
          </a:p>
        </p:txBody>
      </p:sp>
      <p:sp>
        <p:nvSpPr>
          <p:cNvPr id="8" name="Text 4"/>
          <p:cNvSpPr/>
          <p:nvPr/>
        </p:nvSpPr>
        <p:spPr>
          <a:xfrm>
            <a:off x="16042105" y="2849033"/>
            <a:ext cx="6901196" cy="1439333"/>
          </a:xfrm>
          <a:prstGeom prst="rect">
            <a:avLst/>
          </a:prstGeom>
          <a:noFill/>
          <a:ln/>
        </p:spPr>
        <p:txBody>
          <a:bodyPr wrap="square" lIns="0" tIns="0" rIns="0" bIns="0" rtlCol="0" anchor="ctr"/>
          <a:lstStyle/>
          <a:p>
            <a:pPr marL="0" indent="0" algn="l">
              <a:lnSpc>
                <a:spcPts val="5100"/>
              </a:lnSpc>
              <a:buNone/>
            </a:pPr>
            <a:r>
              <a:rPr lang="en-US" sz="3400" kern="0" spc="-68" dirty="0">
                <a:solidFill>
                  <a:srgbClr val="B9B9B9">
                    <a:alpha val="100000"/>
                  </a:srgbClr>
                </a:solidFill>
                <a:latin typeface="Inter Medium" pitchFamily="34" charset="0"/>
                <a:ea typeface="Inter Medium" pitchFamily="34" charset="-122"/>
                <a:cs typeface="Inter Medium" pitchFamily="34" charset="-120"/>
              </a:rPr>
              <a:t>Enhancing Usability, One Interaction at a Time</a:t>
            </a:r>
            <a:endParaRPr lang="en-US" sz="3400" dirty="0"/>
          </a:p>
        </p:txBody>
      </p:sp>
      <p:pic>
        <p:nvPicPr>
          <p:cNvPr id="10" name="Image 2"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83060" y="6833427"/>
            <a:ext cx="570747" cy="570675"/>
          </a:xfrm>
          <a:prstGeom prst="rect">
            <a:avLst/>
          </a:prstGeom>
        </p:spPr>
      </p:pic>
      <p:grpSp>
        <p:nvGrpSpPr>
          <p:cNvPr id="16" name="Group 15">
            <a:extLst>
              <a:ext uri="{FF2B5EF4-FFF2-40B4-BE49-F238E27FC236}">
                <a16:creationId xmlns:a16="http://schemas.microsoft.com/office/drawing/2014/main" id="{06C20662-9907-63C9-2383-5D94CA05DE68}"/>
              </a:ext>
            </a:extLst>
          </p:cNvPr>
          <p:cNvGrpSpPr/>
          <p:nvPr/>
        </p:nvGrpSpPr>
        <p:grpSpPr>
          <a:xfrm>
            <a:off x="1473384" y="6197600"/>
            <a:ext cx="1803625" cy="1816100"/>
            <a:chOff x="1473384" y="6197600"/>
            <a:chExt cx="1803625" cy="1816100"/>
          </a:xfrm>
        </p:grpSpPr>
        <p:sp>
          <p:nvSpPr>
            <p:cNvPr id="9" name="Shape 5"/>
            <p:cNvSpPr/>
            <p:nvPr/>
          </p:nvSpPr>
          <p:spPr>
            <a:xfrm>
              <a:off x="1473384" y="6197600"/>
              <a:ext cx="1803625" cy="1816100"/>
            </a:xfrm>
            <a:prstGeom prst="ellipse">
              <a:avLst/>
            </a:prstGeom>
            <a:noFill/>
            <a:ln w="76200">
              <a:solidFill>
                <a:srgbClr val="5993FF"/>
              </a:solidFill>
              <a:prstDash val="solid"/>
            </a:ln>
          </p:spPr>
          <p:txBody>
            <a:bodyPr/>
            <a:lstStyle/>
            <a:p>
              <a:endParaRPr lang="en-ID"/>
            </a:p>
          </p:txBody>
        </p:sp>
        <p:pic>
          <p:nvPicPr>
            <p:cNvPr id="11" name="Image 3"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222778" y="6813561"/>
              <a:ext cx="450896" cy="444490"/>
            </a:xfrm>
            <a:prstGeom prst="rect">
              <a:avLst/>
            </a:prstGeom>
          </p:spPr>
        </p:pic>
      </p:grpSp>
      <p:sp>
        <p:nvSpPr>
          <p:cNvPr id="12" name="Text 6"/>
          <p:cNvSpPr/>
          <p:nvPr/>
        </p:nvSpPr>
        <p:spPr>
          <a:xfrm>
            <a:off x="1473384" y="1524000"/>
            <a:ext cx="1778222" cy="558800"/>
          </a:xfrm>
          <a:prstGeom prst="rect">
            <a:avLst/>
          </a:prstGeom>
          <a:noFill/>
          <a:ln/>
        </p:spPr>
        <p:txBody>
          <a:bodyPr wrap="square" lIns="0" tIns="0" rIns="0" bIns="0" rtlCol="0" anchor="t"/>
          <a:lstStyle/>
          <a:p>
            <a:pPr marL="0" indent="0" algn="l">
              <a:lnSpc>
                <a:spcPts val="3600"/>
              </a:lnSpc>
              <a:buNone/>
            </a:pPr>
            <a:r>
              <a:rPr lang="en-US" sz="2400" kern="0" spc="-48" dirty="0">
                <a:solidFill>
                  <a:srgbClr val="000000">
                    <a:alpha val="100000"/>
                  </a:srgbClr>
                </a:solidFill>
                <a:latin typeface="Inter Regular" pitchFamily="34" charset="0"/>
                <a:ea typeface="Inter Regular" pitchFamily="34" charset="-122"/>
                <a:cs typeface="Inter Regular" pitchFamily="34" charset="-120"/>
              </a:rPr>
              <a:t>Fix the Flow</a:t>
            </a:r>
            <a:endParaRPr lang="en-US" sz="2400" dirty="0"/>
          </a:p>
        </p:txBody>
      </p:sp>
      <p:sp>
        <p:nvSpPr>
          <p:cNvPr id="13" name="Text 7"/>
          <p:cNvSpPr/>
          <p:nvPr/>
        </p:nvSpPr>
        <p:spPr>
          <a:xfrm>
            <a:off x="22062657" y="1524000"/>
            <a:ext cx="838305" cy="558800"/>
          </a:xfrm>
          <a:prstGeom prst="rect">
            <a:avLst/>
          </a:prstGeom>
          <a:noFill/>
          <a:ln/>
        </p:spPr>
        <p:txBody>
          <a:bodyPr wrap="square" lIns="0" tIns="0" rIns="0" bIns="0" rtlCol="0" anchor="t"/>
          <a:lstStyle/>
          <a:p>
            <a:pPr marL="0" indent="0" algn="l">
              <a:lnSpc>
                <a:spcPts val="3600"/>
              </a:lnSpc>
              <a:buNone/>
            </a:pPr>
            <a:r>
              <a:rPr lang="en-US" sz="2400" kern="0" spc="-48" dirty="0">
                <a:solidFill>
                  <a:srgbClr val="000000">
                    <a:alpha val="100000"/>
                  </a:srgbClr>
                </a:solidFill>
                <a:latin typeface="Inter Regular" pitchFamily="34" charset="0"/>
                <a:ea typeface="Inter Regular" pitchFamily="34" charset="-122"/>
                <a:cs typeface="Inter Regular" pitchFamily="34" charset="-120"/>
              </a:rPr>
              <a:t>2025</a:t>
            </a:r>
            <a:endParaRPr lang="en-US" sz="2400" dirty="0"/>
          </a:p>
        </p:txBody>
      </p:sp>
      <p:sp>
        <p:nvSpPr>
          <p:cNvPr id="14" name="Text 8"/>
          <p:cNvSpPr/>
          <p:nvPr/>
        </p:nvSpPr>
        <p:spPr>
          <a:xfrm>
            <a:off x="1473384" y="8860367"/>
            <a:ext cx="6905430" cy="1227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B9B9B9">
                    <a:alpha val="100000"/>
                  </a:srgbClr>
                </a:solidFill>
                <a:latin typeface="Inter Regular" pitchFamily="34" charset="0"/>
                <a:ea typeface="Inter Regular" pitchFamily="34" charset="-122"/>
                <a:cs typeface="Inter Regular" pitchFamily="34" charset="-120"/>
              </a:rPr>
              <a:t>This audit was conducted to help stakeholders understand real-world product interactions and prioritize UX improvements that drive measurable impact.</a:t>
            </a:r>
            <a:endParaRPr lang="en-US" sz="2000" dirty="0"/>
          </a:p>
        </p:txBody>
      </p:sp>
      <p:sp>
        <p:nvSpPr>
          <p:cNvPr id="15" name="Text 9"/>
          <p:cNvSpPr/>
          <p:nvPr/>
        </p:nvSpPr>
        <p:spPr>
          <a:xfrm>
            <a:off x="1473384" y="12115800"/>
            <a:ext cx="6905430" cy="465667"/>
          </a:xfrm>
          <a:prstGeom prst="rect">
            <a:avLst/>
          </a:prstGeom>
          <a:noFill/>
          <a:ln/>
        </p:spPr>
        <p:txBody>
          <a:bodyPr wrap="square" lIns="0" tIns="0" rIns="0" bIns="0" rtlCol="0" anchor="t"/>
          <a:lstStyle/>
          <a:p>
            <a:pPr marL="0" indent="0" algn="l">
              <a:lnSpc>
                <a:spcPts val="3000"/>
              </a:lnSpc>
              <a:buNone/>
            </a:pPr>
            <a:r>
              <a:rPr lang="en-US" sz="2000" kern="0" spc="-40" dirty="0">
                <a:solidFill>
                  <a:srgbClr val="B9B9B9">
                    <a:alpha val="100000"/>
                  </a:srgbClr>
                </a:solidFill>
                <a:latin typeface="Inter Regular" pitchFamily="34" charset="0"/>
                <a:ea typeface="Inter Regular" pitchFamily="34" charset="-122"/>
                <a:cs typeface="Inter Regular" pitchFamily="34" charset="-120"/>
              </a:rPr>
              <a:t>Jhon Daniver</a:t>
            </a:r>
            <a:endParaRPr lang="en-US" sz="2000" dirty="0"/>
          </a:p>
        </p:txBody>
      </p:sp>
      <p:sp>
        <p:nvSpPr>
          <p:cNvPr id="18" name="Picture Placeholder 2">
            <a:extLst>
              <a:ext uri="{FF2B5EF4-FFF2-40B4-BE49-F238E27FC236}">
                <a16:creationId xmlns:a16="http://schemas.microsoft.com/office/drawing/2014/main" id="{7717E321-5B1B-02F5-4EDE-D057D4BE2307}"/>
              </a:ext>
            </a:extLst>
          </p:cNvPr>
          <p:cNvSpPr>
            <a:spLocks noGrp="1"/>
          </p:cNvSpPr>
          <p:nvPr>
            <p:ph type="pic" sz="quarter" idx="10"/>
          </p:nvPr>
        </p:nvSpPr>
        <p:spPr>
          <a:xfrm>
            <a:off x="15210971" y="8515350"/>
            <a:ext cx="7363278" cy="3600450"/>
          </a:xfrm>
          <a:prstGeom prst="roundRect">
            <a:avLst>
              <a:gd name="adj" fmla="val 50000"/>
            </a:avLst>
          </a:prstGeom>
        </p:spPr>
        <p:txBody>
          <a:bodyPr/>
          <a:lstStyle/>
          <a:p>
            <a:endParaRPr lang="en-ID"/>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ED0B968-007D-8B1D-FED7-D00B6C721A41}"/>
              </a:ext>
            </a:extLst>
          </p:cNvPr>
          <p:cNvSpPr/>
          <p:nvPr/>
        </p:nvSpPr>
        <p:spPr>
          <a:xfrm>
            <a:off x="0" y="0"/>
            <a:ext cx="24387175" cy="13716000"/>
          </a:xfrm>
          <a:prstGeom prst="rect">
            <a:avLst/>
          </a:prstGeom>
          <a:gradFill flip="none" rotWithShape="1">
            <a:gsLst>
              <a:gs pos="0">
                <a:srgbClr val="EFEFEF"/>
              </a:gs>
              <a:gs pos="76000">
                <a:srgbClr val="FFFFFF"/>
              </a:gs>
            </a:gsLst>
            <a:lin ang="16200000" scaled="0"/>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sz="700"/>
          </a:p>
        </p:txBody>
      </p:sp>
      <p:sp>
        <p:nvSpPr>
          <p:cNvPr id="3" name="Text 0"/>
          <p:cNvSpPr/>
          <p:nvPr/>
        </p:nvSpPr>
        <p:spPr>
          <a:xfrm>
            <a:off x="1511489" y="5448300"/>
            <a:ext cx="13395941" cy="5075767"/>
          </a:xfrm>
          <a:prstGeom prst="rect">
            <a:avLst/>
          </a:prstGeom>
          <a:noFill/>
          <a:ln/>
        </p:spPr>
        <p:txBody>
          <a:bodyPr wrap="square" lIns="0" tIns="0" rIns="0" bIns="0" rtlCol="0" anchor="t"/>
          <a:lstStyle/>
          <a:p>
            <a:pPr marL="0" indent="0" algn="l">
              <a:lnSpc>
                <a:spcPts val="12100"/>
              </a:lnSpc>
              <a:buNone/>
            </a:pPr>
            <a:r>
              <a:rPr lang="en-US" sz="11000" kern="0" spc="-440" dirty="0">
                <a:solidFill>
                  <a:srgbClr val="000000">
                    <a:alpha val="100000"/>
                  </a:srgbClr>
                </a:solidFill>
                <a:latin typeface="Montserrat SemiBold" pitchFamily="34" charset="0"/>
                <a:ea typeface="Montserrat SemiBold" pitchFamily="34" charset="-122"/>
                <a:cs typeface="Montserrat SemiBold" pitchFamily="34" charset="-120"/>
              </a:rPr>
              <a:t>“</a:t>
            </a:r>
            <a:r>
              <a:rPr lang="en-US" sz="11000" kern="0" spc="-440" dirty="0">
                <a:solidFill>
                  <a:srgbClr val="4EC2C0">
                    <a:alpha val="100000"/>
                  </a:srgbClr>
                </a:solidFill>
                <a:latin typeface="Montserrat SemiBold" pitchFamily="34" charset="0"/>
                <a:ea typeface="Montserrat SemiBold" pitchFamily="34" charset="-122"/>
                <a:cs typeface="Montserrat SemiBold" pitchFamily="34" charset="-120"/>
              </a:rPr>
              <a:t>Good</a:t>
            </a:r>
            <a:r>
              <a:rPr lang="en-US" sz="11000" kern="0" spc="-440" dirty="0">
                <a:solidFill>
                  <a:srgbClr val="000000">
                    <a:alpha val="100000"/>
                  </a:srgbClr>
                </a:solidFill>
                <a:latin typeface="Montserrat SemiBold" pitchFamily="34" charset="0"/>
                <a:ea typeface="Montserrat SemiBold" pitchFamily="34" charset="-122"/>
                <a:cs typeface="Montserrat SemiBold" pitchFamily="34" charset="-120"/>
              </a:rPr>
              <a:t> UX is invisible. </a:t>
            </a:r>
            <a:r>
              <a:rPr lang="en-US" sz="11000" kern="0" spc="-440" dirty="0">
                <a:solidFill>
                  <a:srgbClr val="4EC2C0">
                    <a:alpha val="100000"/>
                  </a:srgbClr>
                </a:solidFill>
                <a:latin typeface="Montserrat SemiBold" pitchFamily="34" charset="0"/>
                <a:ea typeface="Montserrat SemiBold" pitchFamily="34" charset="-122"/>
                <a:cs typeface="Montserrat SemiBold" pitchFamily="34" charset="-120"/>
              </a:rPr>
              <a:t>Great</a:t>
            </a:r>
            <a:r>
              <a:rPr lang="en-US" sz="11000" kern="0" spc="-440" dirty="0">
                <a:solidFill>
                  <a:srgbClr val="000000">
                    <a:alpha val="100000"/>
                  </a:srgbClr>
                </a:solidFill>
                <a:latin typeface="Montserrat SemiBold" pitchFamily="34" charset="0"/>
                <a:ea typeface="Montserrat SemiBold" pitchFamily="34" charset="-122"/>
                <a:cs typeface="Montserrat SemiBold" pitchFamily="34" charset="-120"/>
              </a:rPr>
              <a:t> UX is unforgettable.”</a:t>
            </a:r>
            <a:endParaRPr lang="en-US" sz="11000" dirty="0"/>
          </a:p>
        </p:txBody>
      </p:sp>
      <p:sp>
        <p:nvSpPr>
          <p:cNvPr id="4" name="Text 1"/>
          <p:cNvSpPr/>
          <p:nvPr/>
        </p:nvSpPr>
        <p:spPr>
          <a:xfrm>
            <a:off x="15013276" y="11311467"/>
            <a:ext cx="7883452" cy="846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B9B9B9">
                    <a:alpha val="100000"/>
                  </a:srgbClr>
                </a:solidFill>
                <a:latin typeface="Inter Regular" pitchFamily="34" charset="0"/>
                <a:ea typeface="Inter Regular" pitchFamily="34" charset="-122"/>
                <a:cs typeface="Inter Regular" pitchFamily="34" charset="-120"/>
              </a:rPr>
              <a:t>Our goal is to help stakeholders align on what’s broken, why it matters, and how we can fix it together.</a:t>
            </a:r>
            <a:endParaRPr lang="en-US" sz="2000" dirty="0"/>
          </a:p>
        </p:txBody>
      </p:sp>
      <p:sp>
        <p:nvSpPr>
          <p:cNvPr id="5" name="Text 2"/>
          <p:cNvSpPr/>
          <p:nvPr/>
        </p:nvSpPr>
        <p:spPr>
          <a:xfrm>
            <a:off x="1549594" y="1524000"/>
            <a:ext cx="1778222" cy="558800"/>
          </a:xfrm>
          <a:prstGeom prst="rect">
            <a:avLst/>
          </a:prstGeom>
          <a:noFill/>
          <a:ln/>
        </p:spPr>
        <p:txBody>
          <a:bodyPr wrap="square" lIns="0" tIns="0" rIns="0" bIns="0" rtlCol="0" anchor="t"/>
          <a:lstStyle/>
          <a:p>
            <a:pPr marL="0" indent="0" algn="l">
              <a:lnSpc>
                <a:spcPts val="3600"/>
              </a:lnSpc>
              <a:buNone/>
            </a:pPr>
            <a:r>
              <a:rPr lang="en-US" sz="2400" kern="0" spc="-48" dirty="0">
                <a:solidFill>
                  <a:srgbClr val="000000">
                    <a:alpha val="100000"/>
                  </a:srgbClr>
                </a:solidFill>
                <a:latin typeface="Inter Regular" pitchFamily="34" charset="0"/>
                <a:ea typeface="Inter Regular" pitchFamily="34" charset="-122"/>
                <a:cs typeface="Inter Regular" pitchFamily="34" charset="-120"/>
              </a:rPr>
              <a:t>Fix the Flow</a:t>
            </a:r>
            <a:endParaRPr lang="en-US" sz="2400" dirty="0"/>
          </a:p>
        </p:txBody>
      </p:sp>
      <p:pic>
        <p:nvPicPr>
          <p:cNvPr id="6" name="Image 1"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511489" y="11709400"/>
            <a:ext cx="5112389" cy="50800"/>
          </a:xfrm>
          <a:prstGeom prst="rect">
            <a:avLst/>
          </a:prstGeom>
        </p:spPr>
      </p:pic>
      <p:sp>
        <p:nvSpPr>
          <p:cNvPr id="7" name="Text 3"/>
          <p:cNvSpPr/>
          <p:nvPr/>
        </p:nvSpPr>
        <p:spPr>
          <a:xfrm>
            <a:off x="17706013" y="2611967"/>
            <a:ext cx="5190715" cy="846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This presentation outlines findings from our recent UX audit, including:</a:t>
            </a:r>
            <a:endParaRPr lang="en-US" sz="2000" dirty="0"/>
          </a:p>
        </p:txBody>
      </p:sp>
      <p:sp>
        <p:nvSpPr>
          <p:cNvPr id="8" name="Text 4"/>
          <p:cNvSpPr/>
          <p:nvPr/>
        </p:nvSpPr>
        <p:spPr>
          <a:xfrm>
            <a:off x="17706013" y="3500967"/>
            <a:ext cx="5190715" cy="1989667"/>
          </a:xfrm>
          <a:prstGeom prst="rect">
            <a:avLst/>
          </a:prstGeom>
          <a:noFill/>
          <a:ln/>
        </p:spPr>
        <p:txBody>
          <a:bodyPr wrap="square" lIns="0" tIns="0" rIns="0" bIns="0" rtlCol="0" anchor="ctr"/>
          <a:lstStyle/>
          <a:p>
            <a:pPr marL="685800" lvl="1" indent="-342900" algn="l">
              <a:lnSpc>
                <a:spcPts val="3000"/>
              </a:lnSpc>
              <a:buSzPct val="100000"/>
              <a:buChar char="•"/>
            </a:pPr>
            <a:r>
              <a:rPr lang="en-US" sz="2000" kern="0" spc="-40" dirty="0">
                <a:solidFill>
                  <a:srgbClr val="000000">
                    <a:alpha val="100000"/>
                  </a:srgbClr>
                </a:solidFill>
                <a:latin typeface="Inter Regular" pitchFamily="34" charset="0"/>
                <a:ea typeface="Inter Regular" pitchFamily="34" charset="-122"/>
                <a:cs typeface="Inter Regular" pitchFamily="34" charset="-120"/>
              </a:rPr>
              <a:t>User behavior insights</a:t>
            </a:r>
            <a:endParaRPr lang="en-US" sz="2000" dirty="0"/>
          </a:p>
          <a:p>
            <a:pPr marL="685800" lvl="1" indent="-342900" algn="l">
              <a:lnSpc>
                <a:spcPts val="3000"/>
              </a:lnSpc>
              <a:buSzPct val="100000"/>
              <a:buChar char="•"/>
            </a:pPr>
            <a:r>
              <a:rPr lang="en-US" sz="2000" kern="0" spc="-40" dirty="0">
                <a:solidFill>
                  <a:srgbClr val="000000">
                    <a:alpha val="100000"/>
                  </a:srgbClr>
                </a:solidFill>
                <a:latin typeface="Inter Regular" pitchFamily="34" charset="0"/>
                <a:ea typeface="Inter Regular" pitchFamily="34" charset="-122"/>
                <a:cs typeface="Inter Regular" pitchFamily="34" charset="-120"/>
              </a:rPr>
              <a:t>Key usability pain points</a:t>
            </a:r>
            <a:endParaRPr lang="en-US" sz="2000" dirty="0"/>
          </a:p>
          <a:p>
            <a:pPr marL="685800" lvl="1" indent="-342900" algn="l">
              <a:lnSpc>
                <a:spcPts val="3000"/>
              </a:lnSpc>
              <a:buSzPct val="100000"/>
              <a:buChar char="•"/>
            </a:pPr>
            <a:r>
              <a:rPr lang="en-US" sz="2000" kern="0" spc="-40" dirty="0">
                <a:solidFill>
                  <a:srgbClr val="000000">
                    <a:alpha val="100000"/>
                  </a:srgbClr>
                </a:solidFill>
                <a:latin typeface="Inter Regular" pitchFamily="34" charset="0"/>
                <a:ea typeface="Inter Regular" pitchFamily="34" charset="-122"/>
                <a:cs typeface="Inter Regular" pitchFamily="34" charset="-120"/>
              </a:rPr>
              <a:t>Heuristic evaluation highlights</a:t>
            </a:r>
            <a:endParaRPr lang="en-US" sz="2000" dirty="0"/>
          </a:p>
          <a:p>
            <a:pPr marL="685800" lvl="1" indent="-342900" algn="l">
              <a:lnSpc>
                <a:spcPts val="3000"/>
              </a:lnSpc>
              <a:buSzPct val="100000"/>
              <a:buChar char="•"/>
            </a:pPr>
            <a:r>
              <a:rPr lang="en-US" sz="2000" kern="0" spc="-40" dirty="0">
                <a:solidFill>
                  <a:srgbClr val="000000">
                    <a:alpha val="100000"/>
                  </a:srgbClr>
                </a:solidFill>
                <a:latin typeface="Inter Regular" pitchFamily="34" charset="0"/>
                <a:ea typeface="Inter Regular" pitchFamily="34" charset="-122"/>
                <a:cs typeface="Inter Regular" pitchFamily="34" charset="-120"/>
              </a:rPr>
              <a:t>Actionable recommendations for improvement</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4541"/>
        </a:solidFill>
        <a:effectLst/>
      </p:bgPr>
    </p:bg>
    <p:spTree>
      <p:nvGrpSpPr>
        <p:cNvPr id="1" name=""/>
        <p:cNvGrpSpPr/>
        <p:nvPr/>
      </p:nvGrpSpPr>
      <p:grpSpPr>
        <a:xfrm>
          <a:off x="0" y="0"/>
          <a:ext cx="0" cy="0"/>
          <a:chOff x="0" y="0"/>
          <a:chExt cx="0" cy="0"/>
        </a:xfrm>
      </p:grpSpPr>
      <p:pic>
        <p:nvPicPr>
          <p:cNvPr id="3" name="Image 1"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320540" y="2032000"/>
            <a:ext cx="4826603" cy="4826000"/>
          </a:xfrm>
          <a:prstGeom prst="rect">
            <a:avLst/>
          </a:prstGeom>
        </p:spPr>
      </p:pic>
      <p:sp>
        <p:nvSpPr>
          <p:cNvPr id="4" name="Shape 0"/>
          <p:cNvSpPr/>
          <p:nvPr/>
        </p:nvSpPr>
        <p:spPr>
          <a:xfrm>
            <a:off x="16181822" y="2235200"/>
            <a:ext cx="762095" cy="762000"/>
          </a:xfrm>
          <a:prstGeom prst="ellipse">
            <a:avLst/>
          </a:prstGeom>
          <a:noFill/>
          <a:ln w="50800">
            <a:solidFill>
              <a:srgbClr val="FFFFFF"/>
            </a:solidFill>
            <a:prstDash val="solid"/>
          </a:ln>
        </p:spPr>
        <p:txBody>
          <a:bodyPr/>
          <a:lstStyle/>
          <a:p>
            <a:endParaRPr lang="en-ID"/>
          </a:p>
        </p:txBody>
      </p:sp>
      <p:pic>
        <p:nvPicPr>
          <p:cNvPr id="5" name="Image 2"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6435488" y="2478260"/>
            <a:ext cx="268879" cy="268848"/>
          </a:xfrm>
          <a:prstGeom prst="rect">
            <a:avLst/>
          </a:prstGeom>
        </p:spPr>
      </p:pic>
      <p:pic>
        <p:nvPicPr>
          <p:cNvPr id="6" name="Image 3" descr=" "/>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6467571" y="2468013"/>
            <a:ext cx="247303" cy="242234"/>
          </a:xfrm>
          <a:prstGeom prst="rect">
            <a:avLst/>
          </a:prstGeom>
        </p:spPr>
      </p:pic>
      <p:pic>
        <p:nvPicPr>
          <p:cNvPr id="7" name="Image 4" descr=" "/>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8036254" y="4953000"/>
            <a:ext cx="4826603" cy="4826000"/>
          </a:xfrm>
          <a:prstGeom prst="rect">
            <a:avLst/>
          </a:prstGeom>
        </p:spPr>
      </p:pic>
      <p:sp>
        <p:nvSpPr>
          <p:cNvPr id="8" name="Shape 1"/>
          <p:cNvSpPr/>
          <p:nvPr/>
        </p:nvSpPr>
        <p:spPr>
          <a:xfrm>
            <a:off x="21897537" y="5156200"/>
            <a:ext cx="762095" cy="762000"/>
          </a:xfrm>
          <a:prstGeom prst="ellipse">
            <a:avLst/>
          </a:prstGeom>
          <a:noFill/>
          <a:ln w="50800">
            <a:solidFill>
              <a:srgbClr val="FFFFFF"/>
            </a:solidFill>
            <a:prstDash val="solid"/>
          </a:ln>
        </p:spPr>
        <p:txBody>
          <a:bodyPr/>
          <a:lstStyle/>
          <a:p>
            <a:endParaRPr lang="en-ID"/>
          </a:p>
        </p:txBody>
      </p:sp>
      <p:pic>
        <p:nvPicPr>
          <p:cNvPr id="9" name="Image 5"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2151203" y="5399260"/>
            <a:ext cx="268879" cy="268848"/>
          </a:xfrm>
          <a:prstGeom prst="rect">
            <a:avLst/>
          </a:prstGeom>
        </p:spPr>
      </p:pic>
      <p:pic>
        <p:nvPicPr>
          <p:cNvPr id="10" name="Image 6" descr=" "/>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2183285" y="5389013"/>
            <a:ext cx="247303" cy="242234"/>
          </a:xfrm>
          <a:prstGeom prst="rect">
            <a:avLst/>
          </a:prstGeom>
        </p:spPr>
      </p:pic>
      <p:sp>
        <p:nvSpPr>
          <p:cNvPr id="11" name="Shape 2"/>
          <p:cNvSpPr/>
          <p:nvPr/>
        </p:nvSpPr>
        <p:spPr>
          <a:xfrm>
            <a:off x="16181822" y="8077200"/>
            <a:ext cx="762095" cy="762000"/>
          </a:xfrm>
          <a:prstGeom prst="ellipse">
            <a:avLst/>
          </a:prstGeom>
          <a:noFill/>
          <a:ln w="50800">
            <a:solidFill>
              <a:srgbClr val="FFFFFF"/>
            </a:solidFill>
            <a:prstDash val="solid"/>
          </a:ln>
        </p:spPr>
        <p:txBody>
          <a:bodyPr/>
          <a:lstStyle/>
          <a:p>
            <a:endParaRPr lang="en-ID"/>
          </a:p>
        </p:txBody>
      </p:sp>
      <p:pic>
        <p:nvPicPr>
          <p:cNvPr id="12" name="Image 7" descr=" "/>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6435488" y="8320260"/>
            <a:ext cx="268879" cy="268848"/>
          </a:xfrm>
          <a:prstGeom prst="rect">
            <a:avLst/>
          </a:prstGeom>
        </p:spPr>
      </p:pic>
      <p:pic>
        <p:nvPicPr>
          <p:cNvPr id="13" name="Image 8" descr=" "/>
          <p:cNvPicPr>
            <a:picLocks noChangeAspect="1"/>
          </p:cNvPicPr>
          <p:nvPr/>
        </p:nvPicPr>
        <p:blipFill>
          <a:blip r:embed="rId7">
            <a:extLst>
              <a:ext uri="{96DAC541-7B7A-43D3-8B79-37D633B846F1}">
                <asvg:svgBlip xmlns:asvg="http://schemas.microsoft.com/office/drawing/2016/SVG/main" r:embed="rId13"/>
              </a:ext>
            </a:extLst>
          </a:blip>
          <a:stretch>
            <a:fillRect/>
          </a:stretch>
        </p:blipFill>
        <p:spPr>
          <a:xfrm>
            <a:off x="16467571" y="8310013"/>
            <a:ext cx="247303" cy="242234"/>
          </a:xfrm>
          <a:prstGeom prst="rect">
            <a:avLst/>
          </a:prstGeom>
        </p:spPr>
      </p:pic>
      <p:pic>
        <p:nvPicPr>
          <p:cNvPr id="14" name="Image 9" descr=" "/>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2320540" y="7874000"/>
            <a:ext cx="4826603" cy="4826000"/>
          </a:xfrm>
          <a:prstGeom prst="rect">
            <a:avLst/>
          </a:prstGeom>
        </p:spPr>
      </p:pic>
      <p:sp>
        <p:nvSpPr>
          <p:cNvPr id="15" name="Text 3"/>
          <p:cNvSpPr/>
          <p:nvPr/>
        </p:nvSpPr>
        <p:spPr>
          <a:xfrm>
            <a:off x="12955619" y="4402667"/>
            <a:ext cx="1913706" cy="465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FFFFFF">
                    <a:alpha val="100000"/>
                  </a:srgbClr>
                </a:solidFill>
                <a:latin typeface="Inter Bold" pitchFamily="34" charset="0"/>
                <a:ea typeface="Inter Bold" pitchFamily="34" charset="-122"/>
                <a:cs typeface="Inter Bold" pitchFamily="34" charset="-120"/>
              </a:rPr>
              <a:t>Pages Audited:</a:t>
            </a:r>
            <a:endParaRPr lang="en-US" sz="2000" dirty="0"/>
          </a:p>
        </p:txBody>
      </p:sp>
      <p:sp>
        <p:nvSpPr>
          <p:cNvPr id="16" name="Text 4"/>
          <p:cNvSpPr/>
          <p:nvPr/>
        </p:nvSpPr>
        <p:spPr>
          <a:xfrm>
            <a:off x="12955619" y="5037667"/>
            <a:ext cx="1913706" cy="1227667"/>
          </a:xfrm>
          <a:prstGeom prst="rect">
            <a:avLst/>
          </a:prstGeom>
          <a:noFill/>
          <a:ln/>
        </p:spPr>
        <p:txBody>
          <a:bodyPr wrap="square" lIns="0" tIns="0" rIns="0" bIns="0" rtlCol="0" anchor="ctr"/>
          <a:lstStyle/>
          <a:p>
            <a:pPr marL="685800" lvl="1" indent="-342900" algn="l">
              <a:lnSpc>
                <a:spcPts val="3000"/>
              </a:lnSpc>
              <a:buSzPct val="100000"/>
              <a:buChar char="•"/>
            </a:pPr>
            <a:r>
              <a:rPr lang="en-US" sz="2000" kern="0" spc="-40" dirty="0">
                <a:solidFill>
                  <a:srgbClr val="FFFFFF">
                    <a:alpha val="100000"/>
                  </a:srgbClr>
                </a:solidFill>
                <a:latin typeface="Inter Medium" pitchFamily="34" charset="0"/>
                <a:ea typeface="Inter Medium" pitchFamily="34" charset="-122"/>
                <a:cs typeface="Inter Medium" pitchFamily="34" charset="-120"/>
              </a:rPr>
              <a:t>Homepage</a:t>
            </a:r>
            <a:endParaRPr lang="en-US" sz="2000" dirty="0"/>
          </a:p>
          <a:p>
            <a:pPr marL="685800" lvl="1" indent="-342900" algn="l">
              <a:lnSpc>
                <a:spcPts val="3000"/>
              </a:lnSpc>
              <a:buSzPct val="100000"/>
              <a:buChar char="•"/>
            </a:pPr>
            <a:r>
              <a:rPr lang="en-US" sz="2000" kern="0" spc="-40" dirty="0">
                <a:solidFill>
                  <a:srgbClr val="FFFFFF">
                    <a:alpha val="100000"/>
                  </a:srgbClr>
                </a:solidFill>
                <a:latin typeface="Inter Medium" pitchFamily="34" charset="0"/>
                <a:ea typeface="Inter Medium" pitchFamily="34" charset="-122"/>
                <a:cs typeface="Inter Medium" pitchFamily="34" charset="-120"/>
              </a:rPr>
              <a:t>Onboarding</a:t>
            </a:r>
            <a:endParaRPr lang="en-US" sz="2000" dirty="0"/>
          </a:p>
          <a:p>
            <a:pPr marL="685800" lvl="1" indent="-342900" algn="l">
              <a:lnSpc>
                <a:spcPts val="3000"/>
              </a:lnSpc>
              <a:buSzPct val="100000"/>
              <a:buChar char="•"/>
            </a:pPr>
            <a:r>
              <a:rPr lang="en-US" sz="2000" kern="0" spc="-40" dirty="0">
                <a:solidFill>
                  <a:srgbClr val="FFFFFF">
                    <a:alpha val="100000"/>
                  </a:srgbClr>
                </a:solidFill>
                <a:latin typeface="Inter Medium" pitchFamily="34" charset="0"/>
                <a:ea typeface="Inter Medium" pitchFamily="34" charset="-122"/>
                <a:cs typeface="Inter Medium" pitchFamily="34" charset="-120"/>
              </a:rPr>
              <a:t>Checkout</a:t>
            </a:r>
            <a:endParaRPr lang="en-US" sz="2000" dirty="0"/>
          </a:p>
        </p:txBody>
      </p:sp>
      <p:sp>
        <p:nvSpPr>
          <p:cNvPr id="17" name="Text 5"/>
          <p:cNvSpPr/>
          <p:nvPr/>
        </p:nvSpPr>
        <p:spPr>
          <a:xfrm>
            <a:off x="18671334" y="7704667"/>
            <a:ext cx="3437896" cy="465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FFFFFF">
                    <a:alpha val="100000"/>
                  </a:srgbClr>
                </a:solidFill>
                <a:latin typeface="Inter Bold" pitchFamily="34" charset="0"/>
                <a:ea typeface="Inter Bold" pitchFamily="34" charset="-122"/>
                <a:cs typeface="Inter Bold" pitchFamily="34" charset="-120"/>
              </a:rPr>
              <a:t>Devices Evaluated:</a:t>
            </a:r>
            <a:endParaRPr lang="en-US" sz="2000" dirty="0"/>
          </a:p>
        </p:txBody>
      </p:sp>
      <p:sp>
        <p:nvSpPr>
          <p:cNvPr id="18" name="Text 6"/>
          <p:cNvSpPr/>
          <p:nvPr/>
        </p:nvSpPr>
        <p:spPr>
          <a:xfrm>
            <a:off x="18671334" y="8339667"/>
            <a:ext cx="3437896" cy="846667"/>
          </a:xfrm>
          <a:prstGeom prst="rect">
            <a:avLst/>
          </a:prstGeom>
          <a:noFill/>
          <a:ln/>
        </p:spPr>
        <p:txBody>
          <a:bodyPr wrap="square" lIns="0" tIns="0" rIns="0" bIns="0" rtlCol="0" anchor="ctr"/>
          <a:lstStyle/>
          <a:p>
            <a:pPr marL="685800" lvl="1" indent="-342900" algn="l">
              <a:lnSpc>
                <a:spcPts val="3000"/>
              </a:lnSpc>
              <a:buSzPct val="100000"/>
              <a:buChar char="•"/>
            </a:pPr>
            <a:r>
              <a:rPr lang="en-US" sz="2000" kern="0" spc="-40" dirty="0">
                <a:solidFill>
                  <a:srgbClr val="FFFFFF">
                    <a:alpha val="100000"/>
                  </a:srgbClr>
                </a:solidFill>
                <a:latin typeface="Inter Medium" pitchFamily="34" charset="0"/>
                <a:ea typeface="Inter Medium" pitchFamily="34" charset="-122"/>
                <a:cs typeface="Inter Medium" pitchFamily="34" charset="-120"/>
              </a:rPr>
              <a:t>Mobile (iOS &amp; Android)</a:t>
            </a:r>
            <a:endParaRPr lang="en-US" sz="2000" dirty="0"/>
          </a:p>
          <a:p>
            <a:pPr marL="685800" lvl="1" indent="-342900" algn="l">
              <a:lnSpc>
                <a:spcPts val="3000"/>
              </a:lnSpc>
              <a:buSzPct val="100000"/>
              <a:buChar char="•"/>
            </a:pPr>
            <a:r>
              <a:rPr lang="en-US" sz="2000" kern="0" spc="-40" dirty="0">
                <a:solidFill>
                  <a:srgbClr val="FFFFFF">
                    <a:alpha val="100000"/>
                  </a:srgbClr>
                </a:solidFill>
                <a:latin typeface="Inter Medium" pitchFamily="34" charset="0"/>
                <a:ea typeface="Inter Medium" pitchFamily="34" charset="-122"/>
                <a:cs typeface="Inter Medium" pitchFamily="34" charset="-120"/>
              </a:rPr>
              <a:t>Desktop (Chrome, Safari)</a:t>
            </a:r>
            <a:endParaRPr lang="en-US" sz="2000" dirty="0"/>
          </a:p>
        </p:txBody>
      </p:sp>
      <p:sp>
        <p:nvSpPr>
          <p:cNvPr id="19" name="Text 7"/>
          <p:cNvSpPr/>
          <p:nvPr/>
        </p:nvSpPr>
        <p:spPr>
          <a:xfrm>
            <a:off x="12955619" y="9863667"/>
            <a:ext cx="3450598" cy="465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FFFFFF">
                    <a:alpha val="100000"/>
                  </a:srgbClr>
                </a:solidFill>
                <a:latin typeface="Inter Bold" pitchFamily="34" charset="0"/>
                <a:ea typeface="Inter Bold" pitchFamily="34" charset="-122"/>
                <a:cs typeface="Inter Bold" pitchFamily="34" charset="-120"/>
              </a:rPr>
              <a:t>Business Goals:</a:t>
            </a:r>
            <a:endParaRPr lang="en-US" sz="2000" dirty="0"/>
          </a:p>
        </p:txBody>
      </p:sp>
      <p:sp>
        <p:nvSpPr>
          <p:cNvPr id="20" name="Text 8"/>
          <p:cNvSpPr/>
          <p:nvPr/>
        </p:nvSpPr>
        <p:spPr>
          <a:xfrm>
            <a:off x="12955619" y="10498667"/>
            <a:ext cx="3450598" cy="1608667"/>
          </a:xfrm>
          <a:prstGeom prst="rect">
            <a:avLst/>
          </a:prstGeom>
          <a:noFill/>
          <a:ln/>
        </p:spPr>
        <p:txBody>
          <a:bodyPr wrap="square" lIns="0" tIns="0" rIns="0" bIns="0" rtlCol="0" anchor="ctr"/>
          <a:lstStyle/>
          <a:p>
            <a:pPr marL="685800" lvl="1" indent="-342900" algn="l">
              <a:lnSpc>
                <a:spcPts val="3000"/>
              </a:lnSpc>
              <a:buSzPct val="100000"/>
              <a:buChar char="•"/>
            </a:pPr>
            <a:r>
              <a:rPr lang="en-US" sz="2000" kern="0" spc="-40" dirty="0">
                <a:solidFill>
                  <a:srgbClr val="FFFFFF">
                    <a:alpha val="100000"/>
                  </a:srgbClr>
                </a:solidFill>
                <a:latin typeface="Inter Medium" pitchFamily="34" charset="0"/>
                <a:ea typeface="Inter Medium" pitchFamily="34" charset="-122"/>
                <a:cs typeface="Inter Medium" pitchFamily="34" charset="-120"/>
              </a:rPr>
              <a:t>Improve conversion rate</a:t>
            </a:r>
            <a:endParaRPr lang="en-US" sz="2000" dirty="0"/>
          </a:p>
          <a:p>
            <a:pPr marL="685800" lvl="1" indent="-342900" algn="l">
              <a:lnSpc>
                <a:spcPts val="3000"/>
              </a:lnSpc>
              <a:buSzPct val="100000"/>
              <a:buChar char="•"/>
            </a:pPr>
            <a:r>
              <a:rPr lang="en-US" sz="2000" kern="0" spc="-40" dirty="0">
                <a:solidFill>
                  <a:srgbClr val="FFFFFF">
                    <a:alpha val="100000"/>
                  </a:srgbClr>
                </a:solidFill>
                <a:latin typeface="Inter Medium" pitchFamily="34" charset="0"/>
                <a:ea typeface="Inter Medium" pitchFamily="34" charset="-122"/>
                <a:cs typeface="Inter Medium" pitchFamily="34" charset="-120"/>
              </a:rPr>
              <a:t>Reduce user friction</a:t>
            </a:r>
            <a:endParaRPr lang="en-US" sz="2000" dirty="0"/>
          </a:p>
          <a:p>
            <a:pPr marL="685800" lvl="1" indent="-342900" algn="l">
              <a:lnSpc>
                <a:spcPts val="3000"/>
              </a:lnSpc>
              <a:buSzPct val="100000"/>
              <a:buChar char="•"/>
            </a:pPr>
            <a:r>
              <a:rPr lang="en-US" sz="2000" kern="0" spc="-40" dirty="0">
                <a:solidFill>
                  <a:srgbClr val="FFFFFF">
                    <a:alpha val="100000"/>
                  </a:srgbClr>
                </a:solidFill>
                <a:latin typeface="Inter Medium" pitchFamily="34" charset="0"/>
                <a:ea typeface="Inter Medium" pitchFamily="34" charset="-122"/>
                <a:cs typeface="Inter Medium" pitchFamily="34" charset="-120"/>
              </a:rPr>
              <a:t>Speed up key task completion</a:t>
            </a:r>
            <a:endParaRPr lang="en-US" sz="2000" dirty="0"/>
          </a:p>
        </p:txBody>
      </p:sp>
      <p:pic>
        <p:nvPicPr>
          <p:cNvPr id="21" name="Image 10" descr=" "/>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3012776" y="3638550"/>
            <a:ext cx="495362" cy="495300"/>
          </a:xfrm>
          <a:prstGeom prst="rect">
            <a:avLst/>
          </a:prstGeom>
        </p:spPr>
      </p:pic>
      <p:pic>
        <p:nvPicPr>
          <p:cNvPr id="22" name="Image 11" descr=" "/>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18728404" y="6940521"/>
            <a:ext cx="495449" cy="495301"/>
          </a:xfrm>
          <a:prstGeom prst="rect">
            <a:avLst/>
          </a:prstGeom>
        </p:spPr>
      </p:pic>
      <p:pic>
        <p:nvPicPr>
          <p:cNvPr id="23" name="Image 12" descr=" "/>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13006426" y="9169400"/>
            <a:ext cx="508063" cy="381000"/>
          </a:xfrm>
          <a:prstGeom prst="rect">
            <a:avLst/>
          </a:prstGeom>
        </p:spPr>
      </p:pic>
      <p:sp>
        <p:nvSpPr>
          <p:cNvPr id="24" name="Shape 9"/>
          <p:cNvSpPr/>
          <p:nvPr/>
        </p:nvSpPr>
        <p:spPr>
          <a:xfrm>
            <a:off x="1524191" y="7035800"/>
            <a:ext cx="7849581" cy="5664200"/>
          </a:xfrm>
          <a:prstGeom prst="rect">
            <a:avLst/>
          </a:prstGeom>
          <a:noFill/>
          <a:ln/>
        </p:spPr>
        <p:txBody>
          <a:bodyPr/>
          <a:lstStyle/>
          <a:p>
            <a:endParaRPr lang="en-ID"/>
          </a:p>
        </p:txBody>
      </p:sp>
      <p:sp>
        <p:nvSpPr>
          <p:cNvPr id="25" name="Text 10"/>
          <p:cNvSpPr/>
          <p:nvPr/>
        </p:nvSpPr>
        <p:spPr>
          <a:xfrm>
            <a:off x="1524191" y="6866467"/>
            <a:ext cx="8188290" cy="3996267"/>
          </a:xfrm>
          <a:prstGeom prst="rect">
            <a:avLst/>
          </a:prstGeom>
          <a:noFill/>
          <a:ln/>
        </p:spPr>
        <p:txBody>
          <a:bodyPr wrap="square" lIns="0" tIns="0" rIns="0" bIns="0" rtlCol="0" anchor="ctr"/>
          <a:lstStyle/>
          <a:p>
            <a:pPr marL="0" indent="0" algn="l">
              <a:lnSpc>
                <a:spcPts val="9600"/>
              </a:lnSpc>
              <a:buNone/>
            </a:pPr>
            <a:r>
              <a:rPr lang="en-US" sz="8000" kern="0" spc="-480" dirty="0">
                <a:solidFill>
                  <a:srgbClr val="FFFFFF">
                    <a:alpha val="100000"/>
                  </a:srgbClr>
                </a:solidFill>
                <a:latin typeface="Inter Medium" pitchFamily="34" charset="0"/>
                <a:ea typeface="Inter Medium" pitchFamily="34" charset="-122"/>
                <a:cs typeface="Inter Medium" pitchFamily="34" charset="-120"/>
              </a:rPr>
              <a:t>What We Looked At, and Why It Matters.</a:t>
            </a:r>
            <a:endParaRPr lang="en-US" sz="8000" dirty="0"/>
          </a:p>
        </p:txBody>
      </p:sp>
      <p:sp>
        <p:nvSpPr>
          <p:cNvPr id="26" name="Text 11"/>
          <p:cNvSpPr/>
          <p:nvPr/>
        </p:nvSpPr>
        <p:spPr>
          <a:xfrm>
            <a:off x="1524191" y="11133667"/>
            <a:ext cx="7934258" cy="1608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FFFFFF">
                    <a:alpha val="100000"/>
                  </a:srgbClr>
                </a:solidFill>
                <a:latin typeface="Inter Medium" pitchFamily="34" charset="0"/>
                <a:ea typeface="Inter Medium" pitchFamily="34" charset="-122"/>
                <a:cs typeface="Inter Medium" pitchFamily="34" charset="-120"/>
              </a:rPr>
              <a:t>This audit focused on evaluating critical user flows across mobile and desktop to identify usability issues that may be affecting conversion rates and task completion. Our goal was to uncover friction and prioritize improvements that drive measurable results.</a:t>
            </a:r>
            <a:endParaRPr lang="en-US" sz="2000" dirty="0"/>
          </a:p>
        </p:txBody>
      </p:sp>
      <p:sp>
        <p:nvSpPr>
          <p:cNvPr id="27" name="Text 12"/>
          <p:cNvSpPr/>
          <p:nvPr/>
        </p:nvSpPr>
        <p:spPr>
          <a:xfrm>
            <a:off x="1524191" y="1524000"/>
            <a:ext cx="1778222" cy="558800"/>
          </a:xfrm>
          <a:prstGeom prst="rect">
            <a:avLst/>
          </a:prstGeom>
          <a:noFill/>
          <a:ln/>
        </p:spPr>
        <p:txBody>
          <a:bodyPr wrap="square" lIns="0" tIns="0" rIns="0" bIns="0" rtlCol="0" anchor="t"/>
          <a:lstStyle/>
          <a:p>
            <a:pPr marL="0" indent="0" algn="l">
              <a:lnSpc>
                <a:spcPts val="3600"/>
              </a:lnSpc>
              <a:buNone/>
            </a:pPr>
            <a:r>
              <a:rPr lang="en-US" sz="2400" kern="0" spc="-48" dirty="0">
                <a:solidFill>
                  <a:srgbClr val="FFFFFF">
                    <a:alpha val="100000"/>
                  </a:srgbClr>
                </a:solidFill>
                <a:latin typeface="Inter Regular" pitchFamily="34" charset="0"/>
                <a:ea typeface="Inter Regular" pitchFamily="34" charset="-122"/>
                <a:cs typeface="Inter Regular" pitchFamily="34" charset="-120"/>
              </a:rPr>
              <a:t>Fix the Flow</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1524191" y="4889500"/>
            <a:ext cx="6604826" cy="9855200"/>
          </a:xfrm>
          <a:prstGeom prst="roundRect">
            <a:avLst>
              <a:gd name="adj" fmla="val 3876"/>
            </a:avLst>
          </a:prstGeom>
          <a:solidFill>
            <a:srgbClr val="FFF4F4">
              <a:alpha val="100000"/>
            </a:srgbClr>
          </a:solidFill>
          <a:ln/>
        </p:spPr>
        <p:txBody>
          <a:bodyPr/>
          <a:lstStyle/>
          <a:p>
            <a:endParaRPr lang="en-ID"/>
          </a:p>
        </p:txBody>
      </p:sp>
      <p:sp>
        <p:nvSpPr>
          <p:cNvPr id="4" name="Shape 1"/>
          <p:cNvSpPr/>
          <p:nvPr/>
        </p:nvSpPr>
        <p:spPr>
          <a:xfrm>
            <a:off x="8891111" y="7302500"/>
            <a:ext cx="6604826" cy="7442200"/>
          </a:xfrm>
          <a:prstGeom prst="roundRect">
            <a:avLst>
              <a:gd name="adj" fmla="val 3876"/>
            </a:avLst>
          </a:prstGeom>
          <a:solidFill>
            <a:srgbClr val="EEF4FF">
              <a:alpha val="100000"/>
            </a:srgbClr>
          </a:solidFill>
          <a:ln/>
        </p:spPr>
        <p:txBody>
          <a:bodyPr/>
          <a:lstStyle/>
          <a:p>
            <a:endParaRPr lang="en-ID"/>
          </a:p>
        </p:txBody>
      </p:sp>
      <p:sp>
        <p:nvSpPr>
          <p:cNvPr id="5" name="Shape 2"/>
          <p:cNvSpPr/>
          <p:nvPr/>
        </p:nvSpPr>
        <p:spPr>
          <a:xfrm>
            <a:off x="16296137" y="8547100"/>
            <a:ext cx="6604826" cy="6197600"/>
          </a:xfrm>
          <a:prstGeom prst="roundRect">
            <a:avLst>
              <a:gd name="adj" fmla="val 4131"/>
            </a:avLst>
          </a:prstGeom>
          <a:solidFill>
            <a:srgbClr val="FEF3E9">
              <a:alpha val="100000"/>
            </a:srgbClr>
          </a:solidFill>
          <a:ln/>
        </p:spPr>
        <p:txBody>
          <a:bodyPr/>
          <a:lstStyle/>
          <a:p>
            <a:endParaRPr lang="en-ID"/>
          </a:p>
        </p:txBody>
      </p:sp>
      <p:pic>
        <p:nvPicPr>
          <p:cNvPr id="6" name="Image 1"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891111" y="7302500"/>
            <a:ext cx="6604826" cy="4191000"/>
          </a:xfrm>
          <a:prstGeom prst="rect">
            <a:avLst/>
          </a:prstGeom>
        </p:spPr>
      </p:pic>
      <p:pic>
        <p:nvPicPr>
          <p:cNvPr id="7" name="Image 2"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6296137" y="8547100"/>
            <a:ext cx="6604826" cy="4191000"/>
          </a:xfrm>
          <a:prstGeom prst="rect">
            <a:avLst/>
          </a:prstGeom>
        </p:spPr>
      </p:pic>
      <p:sp>
        <p:nvSpPr>
          <p:cNvPr id="8" name="Shape 3"/>
          <p:cNvSpPr/>
          <p:nvPr/>
        </p:nvSpPr>
        <p:spPr>
          <a:xfrm>
            <a:off x="14556019" y="7480300"/>
            <a:ext cx="762095" cy="762000"/>
          </a:xfrm>
          <a:prstGeom prst="ellipse">
            <a:avLst/>
          </a:prstGeom>
          <a:noFill/>
          <a:ln w="50800">
            <a:solidFill>
              <a:srgbClr val="5993FF"/>
            </a:solidFill>
            <a:prstDash val="solid"/>
          </a:ln>
        </p:spPr>
        <p:txBody>
          <a:bodyPr/>
          <a:lstStyle/>
          <a:p>
            <a:endParaRPr lang="en-ID"/>
          </a:p>
        </p:txBody>
      </p:sp>
      <p:pic>
        <p:nvPicPr>
          <p:cNvPr id="9" name="Image 3" descr=" "/>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4809685" y="7723360"/>
            <a:ext cx="268879" cy="268848"/>
          </a:xfrm>
          <a:prstGeom prst="rect">
            <a:avLst/>
          </a:prstGeom>
        </p:spPr>
      </p:pic>
      <p:pic>
        <p:nvPicPr>
          <p:cNvPr id="10" name="Image 4" descr=" "/>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4841768" y="7713113"/>
            <a:ext cx="247303" cy="242234"/>
          </a:xfrm>
          <a:prstGeom prst="rect">
            <a:avLst/>
          </a:prstGeom>
        </p:spPr>
      </p:pic>
      <p:sp>
        <p:nvSpPr>
          <p:cNvPr id="11" name="Shape 4"/>
          <p:cNvSpPr/>
          <p:nvPr/>
        </p:nvSpPr>
        <p:spPr>
          <a:xfrm>
            <a:off x="21961045" y="8724900"/>
            <a:ext cx="762095" cy="762000"/>
          </a:xfrm>
          <a:prstGeom prst="ellipse">
            <a:avLst/>
          </a:prstGeom>
          <a:noFill/>
          <a:ln w="50800">
            <a:solidFill>
              <a:srgbClr val="F88A24"/>
            </a:solidFill>
            <a:prstDash val="solid"/>
          </a:ln>
        </p:spPr>
        <p:txBody>
          <a:bodyPr/>
          <a:lstStyle/>
          <a:p>
            <a:endParaRPr lang="en-ID"/>
          </a:p>
        </p:txBody>
      </p:sp>
      <p:pic>
        <p:nvPicPr>
          <p:cNvPr id="12" name="Image 5" descr=" "/>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2214711" y="8967960"/>
            <a:ext cx="268879" cy="268848"/>
          </a:xfrm>
          <a:prstGeom prst="rect">
            <a:avLst/>
          </a:prstGeom>
        </p:spPr>
      </p:pic>
      <p:pic>
        <p:nvPicPr>
          <p:cNvPr id="13" name="Image 6" descr=" "/>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2246793" y="8957713"/>
            <a:ext cx="247303" cy="242234"/>
          </a:xfrm>
          <a:prstGeom prst="rect">
            <a:avLst/>
          </a:prstGeom>
        </p:spPr>
      </p:pic>
      <p:sp>
        <p:nvSpPr>
          <p:cNvPr id="14" name="Text 5"/>
          <p:cNvSpPr/>
          <p:nvPr/>
        </p:nvSpPr>
        <p:spPr>
          <a:xfrm>
            <a:off x="9373772" y="8936567"/>
            <a:ext cx="4339709" cy="465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FFFFFF">
                    <a:alpha val="100000"/>
                  </a:srgbClr>
                </a:solidFill>
                <a:latin typeface="Inter Medium" pitchFamily="34" charset="0"/>
                <a:ea typeface="Inter Medium" pitchFamily="34" charset="-122"/>
                <a:cs typeface="Inter Medium" pitchFamily="34" charset="-120"/>
              </a:rPr>
              <a:t>Repeat Buyer</a:t>
            </a:r>
            <a:endParaRPr lang="en-US" sz="2000" dirty="0"/>
          </a:p>
        </p:txBody>
      </p:sp>
      <p:sp>
        <p:nvSpPr>
          <p:cNvPr id="15" name="Text 6"/>
          <p:cNvSpPr/>
          <p:nvPr/>
        </p:nvSpPr>
        <p:spPr>
          <a:xfrm>
            <a:off x="9373772" y="9419167"/>
            <a:ext cx="5571763" cy="1227667"/>
          </a:xfrm>
          <a:prstGeom prst="rect">
            <a:avLst/>
          </a:prstGeom>
          <a:noFill/>
          <a:ln/>
        </p:spPr>
        <p:txBody>
          <a:bodyPr wrap="square" lIns="0" tIns="0" rIns="0" bIns="0" rtlCol="0" anchor="ctr"/>
          <a:lstStyle/>
          <a:p>
            <a:pPr marL="685800" lvl="1" indent="-342900" algn="l">
              <a:lnSpc>
                <a:spcPts val="3000"/>
              </a:lnSpc>
              <a:buSzPct val="100000"/>
              <a:buChar char="•"/>
            </a:pPr>
            <a:r>
              <a:rPr lang="en-US" sz="2000" kern="0" spc="-40" dirty="0">
                <a:solidFill>
                  <a:srgbClr val="FFFFFF">
                    <a:alpha val="100000"/>
                  </a:srgbClr>
                </a:solidFill>
                <a:latin typeface="Inter Regular" pitchFamily="34" charset="0"/>
                <a:ea typeface="Inter Regular" pitchFamily="34" charset="-122"/>
                <a:cs typeface="Inter Regular" pitchFamily="34" charset="-120"/>
              </a:rPr>
              <a:t>Traits: Familiar with brand, speed-focused</a:t>
            </a:r>
            <a:endParaRPr lang="en-US" sz="2000" dirty="0"/>
          </a:p>
          <a:p>
            <a:pPr marL="685800" lvl="1" indent="-342900" algn="l">
              <a:lnSpc>
                <a:spcPts val="3000"/>
              </a:lnSpc>
              <a:buSzPct val="100000"/>
              <a:buChar char="•"/>
            </a:pPr>
            <a:r>
              <a:rPr lang="en-US" sz="2000" kern="0" spc="-40" dirty="0">
                <a:solidFill>
                  <a:srgbClr val="FFFFFF">
                    <a:alpha val="100000"/>
                  </a:srgbClr>
                </a:solidFill>
                <a:latin typeface="Inter Regular" pitchFamily="34" charset="0"/>
                <a:ea typeface="Inter Regular" pitchFamily="34" charset="-122"/>
                <a:cs typeface="Inter Regular" pitchFamily="34" charset="-120"/>
              </a:rPr>
              <a:t>Goals: Fast checkout, easy reorder</a:t>
            </a:r>
            <a:endParaRPr lang="en-US" sz="2000" dirty="0"/>
          </a:p>
          <a:p>
            <a:pPr marL="685800" lvl="1" indent="-342900" algn="l">
              <a:lnSpc>
                <a:spcPts val="3000"/>
              </a:lnSpc>
              <a:buSzPct val="100000"/>
              <a:buChar char="•"/>
            </a:pPr>
            <a:r>
              <a:rPr lang="en-US" sz="2000" kern="0" spc="-40" dirty="0">
                <a:solidFill>
                  <a:srgbClr val="FFFFFF">
                    <a:alpha val="100000"/>
                  </a:srgbClr>
                </a:solidFill>
                <a:latin typeface="Inter Regular" pitchFamily="34" charset="0"/>
                <a:ea typeface="Inter Regular" pitchFamily="34" charset="-122"/>
                <a:cs typeface="Inter Regular" pitchFamily="34" charset="-120"/>
              </a:rPr>
              <a:t>Pain Points: Too many steps, login friction</a:t>
            </a:r>
            <a:endParaRPr lang="en-US" sz="2000" dirty="0"/>
          </a:p>
        </p:txBody>
      </p:sp>
      <p:sp>
        <p:nvSpPr>
          <p:cNvPr id="16" name="Text 7"/>
          <p:cNvSpPr/>
          <p:nvPr/>
        </p:nvSpPr>
        <p:spPr>
          <a:xfrm>
            <a:off x="16766096" y="10168467"/>
            <a:ext cx="2116931" cy="465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FFFFFF">
                    <a:alpha val="100000"/>
                  </a:srgbClr>
                </a:solidFill>
                <a:latin typeface="Inter Medium" pitchFamily="34" charset="0"/>
                <a:ea typeface="Inter Medium" pitchFamily="34" charset="-122"/>
                <a:cs typeface="Inter Medium" pitchFamily="34" charset="-120"/>
              </a:rPr>
              <a:t>Mobile-First User</a:t>
            </a:r>
            <a:endParaRPr lang="en-US" sz="2000" dirty="0"/>
          </a:p>
        </p:txBody>
      </p:sp>
      <p:sp>
        <p:nvSpPr>
          <p:cNvPr id="17" name="Text 8"/>
          <p:cNvSpPr/>
          <p:nvPr/>
        </p:nvSpPr>
        <p:spPr>
          <a:xfrm>
            <a:off x="16766096" y="10651067"/>
            <a:ext cx="5762287" cy="1608667"/>
          </a:xfrm>
          <a:prstGeom prst="rect">
            <a:avLst/>
          </a:prstGeom>
          <a:noFill/>
          <a:ln/>
        </p:spPr>
        <p:txBody>
          <a:bodyPr wrap="square" lIns="0" tIns="0" rIns="0" bIns="0" rtlCol="0" anchor="ctr"/>
          <a:lstStyle/>
          <a:p>
            <a:pPr marL="685800" lvl="1" indent="-342900" algn="l">
              <a:lnSpc>
                <a:spcPts val="3000"/>
              </a:lnSpc>
              <a:buSzPct val="100000"/>
              <a:buChar char="•"/>
            </a:pPr>
            <a:r>
              <a:rPr lang="en-US" sz="2000" kern="0" spc="-40" dirty="0">
                <a:solidFill>
                  <a:srgbClr val="FFFFFF">
                    <a:alpha val="100000"/>
                  </a:srgbClr>
                </a:solidFill>
                <a:latin typeface="Inter Regular" pitchFamily="34" charset="0"/>
                <a:ea typeface="Inter Regular" pitchFamily="34" charset="-122"/>
                <a:cs typeface="Inter Regular" pitchFamily="34" charset="-120"/>
              </a:rPr>
              <a:t>Traits: Scrolls fast, single-handed usage</a:t>
            </a:r>
            <a:endParaRPr lang="en-US" sz="2000" dirty="0"/>
          </a:p>
          <a:p>
            <a:pPr marL="685800" lvl="1" indent="-342900" algn="l">
              <a:lnSpc>
                <a:spcPts val="3000"/>
              </a:lnSpc>
              <a:buSzPct val="100000"/>
              <a:buChar char="•"/>
            </a:pPr>
            <a:r>
              <a:rPr lang="en-US" sz="2000" kern="0" spc="-40" dirty="0">
                <a:solidFill>
                  <a:srgbClr val="FFFFFF">
                    <a:alpha val="100000"/>
                  </a:srgbClr>
                </a:solidFill>
                <a:latin typeface="Inter Regular" pitchFamily="34" charset="0"/>
                <a:ea typeface="Inter Regular" pitchFamily="34" charset="-122"/>
                <a:cs typeface="Inter Regular" pitchFamily="34" charset="-120"/>
              </a:rPr>
              <a:t>Goals: Tap-friendly navigation, intuitive layout</a:t>
            </a:r>
            <a:endParaRPr lang="en-US" sz="2000" dirty="0"/>
          </a:p>
          <a:p>
            <a:pPr marL="685800" lvl="1" indent="-342900" algn="l">
              <a:lnSpc>
                <a:spcPts val="3000"/>
              </a:lnSpc>
              <a:buSzPct val="100000"/>
              <a:buChar char="•"/>
            </a:pPr>
            <a:r>
              <a:rPr lang="en-US" sz="2000" kern="0" spc="-40" dirty="0">
                <a:solidFill>
                  <a:srgbClr val="FFFFFF">
                    <a:alpha val="100000"/>
                  </a:srgbClr>
                </a:solidFill>
                <a:latin typeface="Inter Regular" pitchFamily="34" charset="0"/>
                <a:ea typeface="Inter Regular" pitchFamily="34" charset="-122"/>
                <a:cs typeface="Inter Regular" pitchFamily="34" charset="-120"/>
              </a:rPr>
              <a:t>Pain Points: Tiny buttons, inconsistent screen scaling</a:t>
            </a:r>
            <a:endParaRPr lang="en-US" sz="2000" dirty="0"/>
          </a:p>
        </p:txBody>
      </p:sp>
      <p:pic>
        <p:nvPicPr>
          <p:cNvPr id="18" name="Image 7" descr=" "/>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524191" y="4889500"/>
            <a:ext cx="6604826" cy="4546600"/>
          </a:xfrm>
          <a:prstGeom prst="rect">
            <a:avLst/>
          </a:prstGeom>
        </p:spPr>
      </p:pic>
      <p:sp>
        <p:nvSpPr>
          <p:cNvPr id="19" name="Text 9"/>
          <p:cNvSpPr/>
          <p:nvPr/>
        </p:nvSpPr>
        <p:spPr>
          <a:xfrm>
            <a:off x="2006851" y="6523567"/>
            <a:ext cx="4225395" cy="465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FFFFFF">
                    <a:alpha val="100000"/>
                  </a:srgbClr>
                </a:solidFill>
                <a:latin typeface="Inter Medium" pitchFamily="34" charset="0"/>
                <a:ea typeface="Inter Medium" pitchFamily="34" charset="-122"/>
                <a:cs typeface="Inter Medium" pitchFamily="34" charset="-120"/>
              </a:rPr>
              <a:t>First-Time Shopper</a:t>
            </a:r>
            <a:endParaRPr lang="en-US" sz="2000" dirty="0"/>
          </a:p>
        </p:txBody>
      </p:sp>
      <p:sp>
        <p:nvSpPr>
          <p:cNvPr id="20" name="Text 10"/>
          <p:cNvSpPr/>
          <p:nvPr/>
        </p:nvSpPr>
        <p:spPr>
          <a:xfrm>
            <a:off x="2006851" y="7006167"/>
            <a:ext cx="5584465" cy="1989667"/>
          </a:xfrm>
          <a:prstGeom prst="rect">
            <a:avLst/>
          </a:prstGeom>
          <a:noFill/>
          <a:ln/>
        </p:spPr>
        <p:txBody>
          <a:bodyPr wrap="square" lIns="0" tIns="0" rIns="0" bIns="0" rtlCol="0" anchor="ctr"/>
          <a:lstStyle/>
          <a:p>
            <a:pPr marL="685800" lvl="1" indent="-342900" algn="l">
              <a:lnSpc>
                <a:spcPts val="3000"/>
              </a:lnSpc>
              <a:buSzPct val="100000"/>
              <a:buChar char="•"/>
            </a:pPr>
            <a:r>
              <a:rPr lang="en-US" sz="2000" kern="0" spc="-40" dirty="0">
                <a:solidFill>
                  <a:srgbClr val="FFFFFF">
                    <a:alpha val="100000"/>
                  </a:srgbClr>
                </a:solidFill>
                <a:latin typeface="Inter Regular" pitchFamily="34" charset="0"/>
                <a:ea typeface="Inter Regular" pitchFamily="34" charset="-122"/>
                <a:cs typeface="Inter Regular" pitchFamily="34" charset="-120"/>
              </a:rPr>
              <a:t>Traits: Curious, cautious, price-sensitive</a:t>
            </a:r>
            <a:endParaRPr lang="en-US" sz="2000" dirty="0"/>
          </a:p>
          <a:p>
            <a:pPr marL="685800" lvl="1" indent="-342900" algn="l">
              <a:lnSpc>
                <a:spcPts val="3000"/>
              </a:lnSpc>
              <a:buSzPct val="100000"/>
              <a:buChar char="•"/>
            </a:pPr>
            <a:r>
              <a:rPr lang="en-US" sz="2000" kern="0" spc="-40" dirty="0">
                <a:solidFill>
                  <a:srgbClr val="FFFFFF">
                    <a:alpha val="100000"/>
                  </a:srgbClr>
                </a:solidFill>
                <a:latin typeface="Inter Regular" pitchFamily="34" charset="0"/>
                <a:ea typeface="Inter Regular" pitchFamily="34" charset="-122"/>
                <a:cs typeface="Inter Regular" pitchFamily="34" charset="-120"/>
              </a:rPr>
              <a:t>Goals: Understand value quickly, complete first purchase</a:t>
            </a:r>
            <a:endParaRPr lang="en-US" sz="2000" dirty="0"/>
          </a:p>
          <a:p>
            <a:pPr marL="685800" lvl="1" indent="-342900" algn="l">
              <a:lnSpc>
                <a:spcPts val="3000"/>
              </a:lnSpc>
              <a:buSzPct val="100000"/>
              <a:buChar char="•"/>
            </a:pPr>
            <a:r>
              <a:rPr lang="en-US" sz="2000" kern="0" spc="-40" dirty="0">
                <a:solidFill>
                  <a:srgbClr val="FFFFFF">
                    <a:alpha val="100000"/>
                  </a:srgbClr>
                </a:solidFill>
                <a:latin typeface="Inter Regular" pitchFamily="34" charset="0"/>
                <a:ea typeface="Inter Regular" pitchFamily="34" charset="-122"/>
                <a:cs typeface="Inter Regular" pitchFamily="34" charset="-120"/>
              </a:rPr>
              <a:t>Pain Points: Overwhelmed by choices, unclear onboarding</a:t>
            </a:r>
            <a:endParaRPr lang="en-US" sz="2000" dirty="0"/>
          </a:p>
        </p:txBody>
      </p:sp>
      <p:sp>
        <p:nvSpPr>
          <p:cNvPr id="21" name="Shape 11"/>
          <p:cNvSpPr/>
          <p:nvPr/>
        </p:nvSpPr>
        <p:spPr>
          <a:xfrm>
            <a:off x="7189099" y="5067300"/>
            <a:ext cx="762095" cy="762000"/>
          </a:xfrm>
          <a:prstGeom prst="ellipse">
            <a:avLst/>
          </a:prstGeom>
          <a:noFill/>
          <a:ln w="50800">
            <a:solidFill>
              <a:srgbClr val="FFA8A8"/>
            </a:solidFill>
            <a:prstDash val="solid"/>
          </a:ln>
        </p:spPr>
        <p:txBody>
          <a:bodyPr/>
          <a:lstStyle/>
          <a:p>
            <a:endParaRPr lang="en-ID"/>
          </a:p>
        </p:txBody>
      </p:sp>
      <p:pic>
        <p:nvPicPr>
          <p:cNvPr id="22" name="Image 8" descr=" "/>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7442764" y="5310360"/>
            <a:ext cx="268879" cy="268848"/>
          </a:xfrm>
          <a:prstGeom prst="rect">
            <a:avLst/>
          </a:prstGeom>
        </p:spPr>
      </p:pic>
      <p:pic>
        <p:nvPicPr>
          <p:cNvPr id="23" name="Image 9" descr=" "/>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7474847" y="5300113"/>
            <a:ext cx="247303" cy="242234"/>
          </a:xfrm>
          <a:prstGeom prst="rect">
            <a:avLst/>
          </a:prstGeom>
        </p:spPr>
      </p:pic>
      <p:pic>
        <p:nvPicPr>
          <p:cNvPr id="24" name="Image 10" descr=" "/>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9449981" y="7835900"/>
            <a:ext cx="457257" cy="508000"/>
          </a:xfrm>
          <a:prstGeom prst="rect">
            <a:avLst/>
          </a:prstGeom>
        </p:spPr>
      </p:pic>
      <p:pic>
        <p:nvPicPr>
          <p:cNvPr id="25" name="Image 11" descr=" "/>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16893111" y="9067800"/>
            <a:ext cx="355644" cy="508000"/>
          </a:xfrm>
          <a:prstGeom prst="rect">
            <a:avLst/>
          </a:prstGeom>
        </p:spPr>
      </p:pic>
      <p:pic>
        <p:nvPicPr>
          <p:cNvPr id="26" name="Image 12" descr=" "/>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2091458" y="5422900"/>
            <a:ext cx="440481" cy="508000"/>
          </a:xfrm>
          <a:prstGeom prst="rect">
            <a:avLst/>
          </a:prstGeom>
        </p:spPr>
      </p:pic>
      <p:sp>
        <p:nvSpPr>
          <p:cNvPr id="27" name="Text 12"/>
          <p:cNvSpPr/>
          <p:nvPr/>
        </p:nvSpPr>
        <p:spPr>
          <a:xfrm>
            <a:off x="1524191" y="2484967"/>
            <a:ext cx="7413493" cy="1557867"/>
          </a:xfrm>
          <a:prstGeom prst="rect">
            <a:avLst/>
          </a:prstGeom>
          <a:noFill/>
          <a:ln/>
        </p:spPr>
        <p:txBody>
          <a:bodyPr wrap="square" lIns="0" tIns="0" rIns="0" bIns="0" rtlCol="0" anchor="ctr"/>
          <a:lstStyle/>
          <a:p>
            <a:pPr marL="0" indent="0" algn="l">
              <a:lnSpc>
                <a:spcPts val="9600"/>
              </a:lnSpc>
              <a:buNone/>
            </a:pPr>
            <a:r>
              <a:rPr lang="en-US" sz="8000" kern="0" spc="-480" dirty="0">
                <a:solidFill>
                  <a:srgbClr val="050C29">
                    <a:alpha val="100000"/>
                  </a:srgbClr>
                </a:solidFill>
                <a:latin typeface="Inter Medium" pitchFamily="34" charset="0"/>
                <a:ea typeface="Inter Medium" pitchFamily="34" charset="-122"/>
                <a:cs typeface="Inter Medium" pitchFamily="34" charset="-120"/>
              </a:rPr>
              <a:t>Target Personas</a:t>
            </a:r>
            <a:endParaRPr lang="en-US" sz="8000" dirty="0"/>
          </a:p>
        </p:txBody>
      </p:sp>
      <p:sp>
        <p:nvSpPr>
          <p:cNvPr id="28" name="Shape 13"/>
          <p:cNvSpPr/>
          <p:nvPr/>
        </p:nvSpPr>
        <p:spPr>
          <a:xfrm>
            <a:off x="8891111" y="4889500"/>
            <a:ext cx="13971746" cy="1905000"/>
          </a:xfrm>
          <a:prstGeom prst="rect">
            <a:avLst/>
          </a:prstGeom>
          <a:noFill/>
          <a:ln/>
        </p:spPr>
        <p:txBody>
          <a:bodyPr/>
          <a:lstStyle/>
          <a:p>
            <a:endParaRPr lang="en-ID"/>
          </a:p>
        </p:txBody>
      </p:sp>
      <p:sp>
        <p:nvSpPr>
          <p:cNvPr id="29" name="Text 14"/>
          <p:cNvSpPr/>
          <p:nvPr/>
        </p:nvSpPr>
        <p:spPr>
          <a:xfrm>
            <a:off x="8891111" y="4847167"/>
            <a:ext cx="6689503" cy="1608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050C29">
                    <a:alpha val="100000"/>
                  </a:srgbClr>
                </a:solidFill>
                <a:latin typeface="Inter Regular" pitchFamily="34" charset="0"/>
                <a:ea typeface="Inter Regular" pitchFamily="34" charset="-122"/>
                <a:cs typeface="Inter Regular" pitchFamily="34" charset="-120"/>
              </a:rPr>
              <a:t>The audit covered key customer journeys on both desktop and mobile, with a specific focus on improving task success, reducing drop-offs, and creating a smoother experience across screens.</a:t>
            </a:r>
            <a:endParaRPr lang="en-US" sz="2000" dirty="0"/>
          </a:p>
        </p:txBody>
      </p:sp>
      <p:sp>
        <p:nvSpPr>
          <p:cNvPr id="30" name="Text 15"/>
          <p:cNvSpPr/>
          <p:nvPr/>
        </p:nvSpPr>
        <p:spPr>
          <a:xfrm>
            <a:off x="16296137" y="4847167"/>
            <a:ext cx="6651398" cy="1989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050C29">
                    <a:alpha val="100000"/>
                  </a:srgbClr>
                </a:solidFill>
                <a:latin typeface="Inter Regular" pitchFamily="34" charset="0"/>
                <a:ea typeface="Inter Regular" pitchFamily="34" charset="-122"/>
                <a:cs typeface="Inter Regular" pitchFamily="34" charset="-120"/>
              </a:rPr>
              <a:t>To ensure our UX audit was aligned with real-world behavior, we evaluated the product experience through the lens of three core user types. Each represents a unique interaction pattern and set of goals across key journeys.</a:t>
            </a:r>
            <a:endParaRPr lang="en-US" sz="2000" dirty="0"/>
          </a:p>
        </p:txBody>
      </p:sp>
      <p:sp>
        <p:nvSpPr>
          <p:cNvPr id="31" name="Shape 16"/>
          <p:cNvSpPr/>
          <p:nvPr/>
        </p:nvSpPr>
        <p:spPr>
          <a:xfrm>
            <a:off x="1524191" y="1524000"/>
            <a:ext cx="21325965" cy="457200"/>
          </a:xfrm>
          <a:prstGeom prst="rect">
            <a:avLst/>
          </a:prstGeom>
          <a:noFill/>
          <a:ln/>
        </p:spPr>
        <p:txBody>
          <a:bodyPr/>
          <a:lstStyle/>
          <a:p>
            <a:endParaRPr lang="en-ID"/>
          </a:p>
        </p:txBody>
      </p:sp>
      <p:sp>
        <p:nvSpPr>
          <p:cNvPr id="32" name="Text 17"/>
          <p:cNvSpPr/>
          <p:nvPr/>
        </p:nvSpPr>
        <p:spPr>
          <a:xfrm>
            <a:off x="1524191" y="1524000"/>
            <a:ext cx="1778222" cy="558800"/>
          </a:xfrm>
          <a:prstGeom prst="rect">
            <a:avLst/>
          </a:prstGeom>
          <a:noFill/>
          <a:ln/>
        </p:spPr>
        <p:txBody>
          <a:bodyPr wrap="square" lIns="0" tIns="0" rIns="0" bIns="0" rtlCol="0" anchor="t"/>
          <a:lstStyle/>
          <a:p>
            <a:pPr marL="0" indent="0" algn="l">
              <a:lnSpc>
                <a:spcPts val="3600"/>
              </a:lnSpc>
              <a:buNone/>
            </a:pPr>
            <a:r>
              <a:rPr lang="en-US" sz="2400" kern="0" spc="-48" dirty="0">
                <a:solidFill>
                  <a:srgbClr val="000000">
                    <a:alpha val="100000"/>
                  </a:srgbClr>
                </a:solidFill>
                <a:latin typeface="Inter Regular" pitchFamily="34" charset="0"/>
                <a:ea typeface="Inter Regular" pitchFamily="34" charset="-122"/>
                <a:cs typeface="Inter Regular" pitchFamily="34" charset="-120"/>
              </a:rPr>
              <a:t>Fix the Flow</a:t>
            </a:r>
            <a:endParaRPr lang="en-US" sz="2400" dirty="0"/>
          </a:p>
        </p:txBody>
      </p:sp>
      <p:sp>
        <p:nvSpPr>
          <p:cNvPr id="33" name="Text 18"/>
          <p:cNvSpPr/>
          <p:nvPr/>
        </p:nvSpPr>
        <p:spPr>
          <a:xfrm>
            <a:off x="22113464" y="1524000"/>
            <a:ext cx="838305" cy="558800"/>
          </a:xfrm>
          <a:prstGeom prst="rect">
            <a:avLst/>
          </a:prstGeom>
          <a:noFill/>
          <a:ln/>
        </p:spPr>
        <p:txBody>
          <a:bodyPr wrap="square" lIns="0" tIns="0" rIns="0" bIns="0" rtlCol="0" anchor="t"/>
          <a:lstStyle/>
          <a:p>
            <a:pPr marL="0" indent="0" algn="l">
              <a:lnSpc>
                <a:spcPts val="3600"/>
              </a:lnSpc>
              <a:buNone/>
            </a:pPr>
            <a:r>
              <a:rPr lang="en-US" sz="2400" kern="0" spc="-48" dirty="0">
                <a:solidFill>
                  <a:srgbClr val="000000">
                    <a:alpha val="100000"/>
                  </a:srgbClr>
                </a:solidFill>
                <a:latin typeface="Inter Regular" pitchFamily="34" charset="0"/>
                <a:ea typeface="Inter Regular" pitchFamily="34" charset="-122"/>
                <a:cs typeface="Inter Regular" pitchFamily="34" charset="-120"/>
              </a:rPr>
              <a:t>2025</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39" name="Rectangle 38">
            <a:extLst>
              <a:ext uri="{FF2B5EF4-FFF2-40B4-BE49-F238E27FC236}">
                <a16:creationId xmlns:a16="http://schemas.microsoft.com/office/drawing/2014/main" id="{1CD74B0B-A21F-2B8C-4D85-F27C8C4769EA}"/>
              </a:ext>
            </a:extLst>
          </p:cNvPr>
          <p:cNvSpPr/>
          <p:nvPr/>
        </p:nvSpPr>
        <p:spPr>
          <a:xfrm>
            <a:off x="0" y="0"/>
            <a:ext cx="24387175" cy="13716000"/>
          </a:xfrm>
          <a:prstGeom prst="rect">
            <a:avLst/>
          </a:prstGeom>
          <a:gradFill flip="none" rotWithShape="1">
            <a:gsLst>
              <a:gs pos="0">
                <a:srgbClr val="EFEFEF"/>
              </a:gs>
              <a:gs pos="76000">
                <a:srgbClr val="FFFFFF"/>
              </a:gs>
            </a:gsLst>
            <a:lin ang="16200000" scaled="0"/>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sz="100"/>
          </a:p>
        </p:txBody>
      </p:sp>
      <p:sp>
        <p:nvSpPr>
          <p:cNvPr id="3" name="Shape 0"/>
          <p:cNvSpPr/>
          <p:nvPr/>
        </p:nvSpPr>
        <p:spPr>
          <a:xfrm>
            <a:off x="1524191" y="5588000"/>
            <a:ext cx="11926791" cy="762000"/>
          </a:xfrm>
          <a:prstGeom prst="roundRect">
            <a:avLst>
              <a:gd name="adj" fmla="val 82800"/>
            </a:avLst>
          </a:prstGeom>
          <a:solidFill>
            <a:srgbClr val="F0FBFA">
              <a:alpha val="100000"/>
            </a:srgbClr>
          </a:solidFill>
          <a:ln/>
        </p:spPr>
        <p:txBody>
          <a:bodyPr/>
          <a:lstStyle/>
          <a:p>
            <a:endParaRPr lang="en-ID"/>
          </a:p>
        </p:txBody>
      </p:sp>
      <p:sp>
        <p:nvSpPr>
          <p:cNvPr id="4" name="Shape 1"/>
          <p:cNvSpPr/>
          <p:nvPr/>
        </p:nvSpPr>
        <p:spPr>
          <a:xfrm>
            <a:off x="1524191" y="8636000"/>
            <a:ext cx="11926791" cy="762000"/>
          </a:xfrm>
          <a:prstGeom prst="roundRect">
            <a:avLst>
              <a:gd name="adj" fmla="val 82800"/>
            </a:avLst>
          </a:prstGeom>
          <a:solidFill>
            <a:srgbClr val="F0FBFA">
              <a:alpha val="100000"/>
            </a:srgbClr>
          </a:solidFill>
          <a:ln/>
        </p:spPr>
        <p:txBody>
          <a:bodyPr/>
          <a:lstStyle/>
          <a:p>
            <a:endParaRPr lang="en-ID"/>
          </a:p>
        </p:txBody>
      </p:sp>
      <p:sp>
        <p:nvSpPr>
          <p:cNvPr id="5" name="Shape 2"/>
          <p:cNvSpPr/>
          <p:nvPr/>
        </p:nvSpPr>
        <p:spPr>
          <a:xfrm>
            <a:off x="1524191" y="8636000"/>
            <a:ext cx="2705438" cy="762000"/>
          </a:xfrm>
          <a:prstGeom prst="roundRect">
            <a:avLst>
              <a:gd name="adj" fmla="val 82800"/>
            </a:avLst>
          </a:prstGeom>
          <a:solidFill>
            <a:srgbClr val="4EC2C0">
              <a:alpha val="100000"/>
            </a:srgbClr>
          </a:solidFill>
          <a:ln/>
        </p:spPr>
        <p:txBody>
          <a:bodyPr/>
          <a:lstStyle/>
          <a:p>
            <a:endParaRPr lang="en-ID"/>
          </a:p>
        </p:txBody>
      </p:sp>
      <p:sp>
        <p:nvSpPr>
          <p:cNvPr id="6" name="Shape 3"/>
          <p:cNvSpPr/>
          <p:nvPr/>
        </p:nvSpPr>
        <p:spPr>
          <a:xfrm>
            <a:off x="1524191" y="7112000"/>
            <a:ext cx="11926791" cy="762000"/>
          </a:xfrm>
          <a:prstGeom prst="roundRect">
            <a:avLst>
              <a:gd name="adj" fmla="val 82800"/>
            </a:avLst>
          </a:prstGeom>
          <a:solidFill>
            <a:srgbClr val="F0FBFA">
              <a:alpha val="100000"/>
            </a:srgbClr>
          </a:solidFill>
          <a:ln/>
        </p:spPr>
        <p:txBody>
          <a:bodyPr/>
          <a:lstStyle/>
          <a:p>
            <a:endParaRPr lang="en-ID"/>
          </a:p>
        </p:txBody>
      </p:sp>
      <p:sp>
        <p:nvSpPr>
          <p:cNvPr id="7" name="Shape 4"/>
          <p:cNvSpPr/>
          <p:nvPr/>
        </p:nvSpPr>
        <p:spPr>
          <a:xfrm>
            <a:off x="1524191" y="7112000"/>
            <a:ext cx="2705438" cy="762000"/>
          </a:xfrm>
          <a:prstGeom prst="roundRect">
            <a:avLst>
              <a:gd name="adj" fmla="val 82800"/>
            </a:avLst>
          </a:prstGeom>
          <a:solidFill>
            <a:srgbClr val="4EC2C0">
              <a:alpha val="100000"/>
            </a:srgbClr>
          </a:solidFill>
          <a:ln/>
        </p:spPr>
        <p:txBody>
          <a:bodyPr/>
          <a:lstStyle/>
          <a:p>
            <a:endParaRPr lang="en-ID"/>
          </a:p>
        </p:txBody>
      </p:sp>
      <p:sp>
        <p:nvSpPr>
          <p:cNvPr id="8" name="Shape 5"/>
          <p:cNvSpPr/>
          <p:nvPr/>
        </p:nvSpPr>
        <p:spPr>
          <a:xfrm>
            <a:off x="4229629" y="7112000"/>
            <a:ext cx="2705438" cy="762000"/>
          </a:xfrm>
          <a:prstGeom prst="roundRect">
            <a:avLst>
              <a:gd name="adj" fmla="val 82800"/>
            </a:avLst>
          </a:prstGeom>
          <a:solidFill>
            <a:srgbClr val="F88A24">
              <a:alpha val="100000"/>
            </a:srgbClr>
          </a:solidFill>
          <a:ln/>
        </p:spPr>
        <p:txBody>
          <a:bodyPr/>
          <a:lstStyle/>
          <a:p>
            <a:endParaRPr lang="en-ID"/>
          </a:p>
        </p:txBody>
      </p:sp>
      <p:sp>
        <p:nvSpPr>
          <p:cNvPr id="9" name="Shape 6"/>
          <p:cNvSpPr/>
          <p:nvPr/>
        </p:nvSpPr>
        <p:spPr>
          <a:xfrm>
            <a:off x="4229629" y="5588000"/>
            <a:ext cx="2705438" cy="762000"/>
          </a:xfrm>
          <a:prstGeom prst="roundRect">
            <a:avLst>
              <a:gd name="adj" fmla="val 82800"/>
            </a:avLst>
          </a:prstGeom>
          <a:solidFill>
            <a:srgbClr val="F88A24">
              <a:alpha val="100000"/>
            </a:srgbClr>
          </a:solidFill>
          <a:ln/>
        </p:spPr>
        <p:txBody>
          <a:bodyPr/>
          <a:lstStyle/>
          <a:p>
            <a:endParaRPr lang="en-ID"/>
          </a:p>
        </p:txBody>
      </p:sp>
      <p:sp>
        <p:nvSpPr>
          <p:cNvPr id="10" name="Shape 7"/>
          <p:cNvSpPr/>
          <p:nvPr/>
        </p:nvSpPr>
        <p:spPr>
          <a:xfrm>
            <a:off x="4229629" y="8636000"/>
            <a:ext cx="2705438" cy="762000"/>
          </a:xfrm>
          <a:prstGeom prst="roundRect">
            <a:avLst>
              <a:gd name="adj" fmla="val 82800"/>
            </a:avLst>
          </a:prstGeom>
          <a:solidFill>
            <a:srgbClr val="F88A24">
              <a:alpha val="100000"/>
            </a:srgbClr>
          </a:solidFill>
          <a:ln/>
        </p:spPr>
        <p:txBody>
          <a:bodyPr/>
          <a:lstStyle/>
          <a:p>
            <a:endParaRPr lang="en-ID"/>
          </a:p>
        </p:txBody>
      </p:sp>
      <p:sp>
        <p:nvSpPr>
          <p:cNvPr id="46" name="Shape 0">
            <a:extLst>
              <a:ext uri="{FF2B5EF4-FFF2-40B4-BE49-F238E27FC236}">
                <a16:creationId xmlns:a16="http://schemas.microsoft.com/office/drawing/2014/main" id="{0FCC6D75-0F76-0263-0BCC-75AC4B79CDBB}"/>
              </a:ext>
            </a:extLst>
          </p:cNvPr>
          <p:cNvSpPr/>
          <p:nvPr/>
        </p:nvSpPr>
        <p:spPr>
          <a:xfrm>
            <a:off x="6935066" y="5588000"/>
            <a:ext cx="6427003" cy="762000"/>
          </a:xfrm>
          <a:prstGeom prst="roundRect">
            <a:avLst>
              <a:gd name="adj" fmla="val 82800"/>
            </a:avLst>
          </a:prstGeom>
          <a:pattFill prst="wdDnDiag">
            <a:fgClr>
              <a:srgbClr val="AAE2E0"/>
            </a:fgClr>
            <a:bgClr>
              <a:srgbClr val="F0FBFA"/>
            </a:bgClr>
          </a:pattFill>
          <a:ln/>
        </p:spPr>
        <p:txBody>
          <a:bodyPr/>
          <a:lstStyle/>
          <a:p>
            <a:endParaRPr lang="en-ID" sz="100"/>
          </a:p>
        </p:txBody>
      </p:sp>
      <p:sp>
        <p:nvSpPr>
          <p:cNvPr id="47" name="Shape 1">
            <a:extLst>
              <a:ext uri="{FF2B5EF4-FFF2-40B4-BE49-F238E27FC236}">
                <a16:creationId xmlns:a16="http://schemas.microsoft.com/office/drawing/2014/main" id="{7BD3723F-BDF3-D87F-A596-D686DD050FEE}"/>
              </a:ext>
            </a:extLst>
          </p:cNvPr>
          <p:cNvSpPr/>
          <p:nvPr/>
        </p:nvSpPr>
        <p:spPr>
          <a:xfrm>
            <a:off x="6935066" y="8636000"/>
            <a:ext cx="6427003" cy="762000"/>
          </a:xfrm>
          <a:prstGeom prst="roundRect">
            <a:avLst>
              <a:gd name="adj" fmla="val 82800"/>
            </a:avLst>
          </a:prstGeom>
          <a:pattFill prst="wdDnDiag">
            <a:fgClr>
              <a:srgbClr val="AAE2E0"/>
            </a:fgClr>
            <a:bgClr>
              <a:srgbClr val="F0FBFA"/>
            </a:bgClr>
          </a:pattFill>
          <a:ln/>
        </p:spPr>
        <p:txBody>
          <a:bodyPr/>
          <a:lstStyle/>
          <a:p>
            <a:endParaRPr lang="en-ID" sz="100"/>
          </a:p>
        </p:txBody>
      </p:sp>
      <p:sp>
        <p:nvSpPr>
          <p:cNvPr id="48" name="Shape 3">
            <a:extLst>
              <a:ext uri="{FF2B5EF4-FFF2-40B4-BE49-F238E27FC236}">
                <a16:creationId xmlns:a16="http://schemas.microsoft.com/office/drawing/2014/main" id="{399978E6-90EB-678F-C16B-F14EEC343C39}"/>
              </a:ext>
            </a:extLst>
          </p:cNvPr>
          <p:cNvSpPr/>
          <p:nvPr/>
        </p:nvSpPr>
        <p:spPr>
          <a:xfrm>
            <a:off x="6935066" y="7112000"/>
            <a:ext cx="6427003" cy="762000"/>
          </a:xfrm>
          <a:prstGeom prst="roundRect">
            <a:avLst>
              <a:gd name="adj" fmla="val 82800"/>
            </a:avLst>
          </a:prstGeom>
          <a:pattFill prst="wdDnDiag">
            <a:fgClr>
              <a:srgbClr val="AAE2E0"/>
            </a:fgClr>
            <a:bgClr>
              <a:srgbClr val="F0FBFA"/>
            </a:bgClr>
          </a:pattFill>
          <a:ln/>
        </p:spPr>
        <p:txBody>
          <a:bodyPr/>
          <a:lstStyle/>
          <a:p>
            <a:endParaRPr lang="en-ID" sz="100"/>
          </a:p>
        </p:txBody>
      </p:sp>
      <p:sp>
        <p:nvSpPr>
          <p:cNvPr id="11" name="Shape 8"/>
          <p:cNvSpPr/>
          <p:nvPr/>
        </p:nvSpPr>
        <p:spPr>
          <a:xfrm>
            <a:off x="1524191" y="5588000"/>
            <a:ext cx="2705438" cy="762000"/>
          </a:xfrm>
          <a:prstGeom prst="roundRect">
            <a:avLst>
              <a:gd name="adj" fmla="val 82800"/>
            </a:avLst>
          </a:prstGeom>
          <a:solidFill>
            <a:srgbClr val="4EC2C0">
              <a:alpha val="100000"/>
            </a:srgbClr>
          </a:solidFill>
          <a:ln/>
        </p:spPr>
        <p:txBody>
          <a:bodyPr/>
          <a:lstStyle/>
          <a:p>
            <a:endParaRPr lang="en-ID"/>
          </a:p>
        </p:txBody>
      </p:sp>
      <p:sp>
        <p:nvSpPr>
          <p:cNvPr id="15" name="Shape 9"/>
          <p:cNvSpPr/>
          <p:nvPr/>
        </p:nvSpPr>
        <p:spPr>
          <a:xfrm>
            <a:off x="6846156" y="7112000"/>
            <a:ext cx="4877410" cy="762000"/>
          </a:xfrm>
          <a:prstGeom prst="roundRect">
            <a:avLst>
              <a:gd name="adj" fmla="val 82800"/>
            </a:avLst>
          </a:prstGeom>
          <a:solidFill>
            <a:srgbClr val="FFA8A8">
              <a:alpha val="100000"/>
            </a:srgbClr>
          </a:solidFill>
          <a:ln/>
        </p:spPr>
        <p:txBody>
          <a:bodyPr/>
          <a:lstStyle/>
          <a:p>
            <a:endParaRPr lang="en-ID"/>
          </a:p>
        </p:txBody>
      </p:sp>
      <p:sp>
        <p:nvSpPr>
          <p:cNvPr id="16" name="Shape 10"/>
          <p:cNvSpPr/>
          <p:nvPr/>
        </p:nvSpPr>
        <p:spPr>
          <a:xfrm>
            <a:off x="6846156" y="5588000"/>
            <a:ext cx="3797775" cy="762000"/>
          </a:xfrm>
          <a:prstGeom prst="roundRect">
            <a:avLst>
              <a:gd name="adj" fmla="val 82800"/>
            </a:avLst>
          </a:prstGeom>
          <a:solidFill>
            <a:srgbClr val="FFA8A8">
              <a:alpha val="100000"/>
            </a:srgbClr>
          </a:solidFill>
          <a:ln/>
        </p:spPr>
        <p:txBody>
          <a:bodyPr/>
          <a:lstStyle/>
          <a:p>
            <a:endParaRPr lang="en-ID"/>
          </a:p>
        </p:txBody>
      </p:sp>
      <p:sp>
        <p:nvSpPr>
          <p:cNvPr id="17" name="Shape 11"/>
          <p:cNvSpPr/>
          <p:nvPr/>
        </p:nvSpPr>
        <p:spPr>
          <a:xfrm>
            <a:off x="6846156" y="8636000"/>
            <a:ext cx="3797775" cy="762000"/>
          </a:xfrm>
          <a:prstGeom prst="roundRect">
            <a:avLst>
              <a:gd name="adj" fmla="val 82800"/>
            </a:avLst>
          </a:prstGeom>
          <a:solidFill>
            <a:srgbClr val="FFA8A8">
              <a:alpha val="100000"/>
            </a:srgbClr>
          </a:solidFill>
          <a:ln/>
        </p:spPr>
        <p:txBody>
          <a:bodyPr/>
          <a:lstStyle/>
          <a:p>
            <a:endParaRPr lang="en-ID"/>
          </a:p>
        </p:txBody>
      </p:sp>
      <p:sp>
        <p:nvSpPr>
          <p:cNvPr id="18" name="Text 12"/>
          <p:cNvSpPr/>
          <p:nvPr/>
        </p:nvSpPr>
        <p:spPr>
          <a:xfrm>
            <a:off x="1803625" y="5736167"/>
            <a:ext cx="1291328" cy="465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FFFFFF">
                    <a:alpha val="100000"/>
                  </a:srgbClr>
                </a:solidFill>
                <a:latin typeface="Inter Medium" pitchFamily="34" charset="0"/>
                <a:ea typeface="Inter Medium" pitchFamily="34" charset="-122"/>
                <a:cs typeface="Inter Medium" pitchFamily="34" charset="-120"/>
              </a:rPr>
              <a:t>Heatmaps</a:t>
            </a:r>
            <a:endParaRPr lang="en-US" sz="2000" dirty="0"/>
          </a:p>
        </p:txBody>
      </p:sp>
      <p:sp>
        <p:nvSpPr>
          <p:cNvPr id="19" name="Text 13"/>
          <p:cNvSpPr/>
          <p:nvPr/>
        </p:nvSpPr>
        <p:spPr>
          <a:xfrm>
            <a:off x="3594549" y="5736167"/>
            <a:ext cx="338709" cy="465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FFFFFF">
                    <a:alpha val="100000"/>
                  </a:srgbClr>
                </a:solidFill>
                <a:latin typeface="Inter Medium" pitchFamily="34" charset="0"/>
                <a:ea typeface="Inter Medium" pitchFamily="34" charset="-122"/>
                <a:cs typeface="Inter Medium" pitchFamily="34" charset="-120"/>
              </a:rPr>
              <a:t>→</a:t>
            </a:r>
            <a:endParaRPr lang="en-US" sz="2000" dirty="0"/>
          </a:p>
        </p:txBody>
      </p:sp>
      <p:sp>
        <p:nvSpPr>
          <p:cNvPr id="20" name="Text 14"/>
          <p:cNvSpPr/>
          <p:nvPr/>
        </p:nvSpPr>
        <p:spPr>
          <a:xfrm>
            <a:off x="4509064" y="5736167"/>
            <a:ext cx="808668" cy="465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FFFFFF">
                    <a:alpha val="100000"/>
                  </a:srgbClr>
                </a:solidFill>
                <a:latin typeface="Inter Medium" pitchFamily="34" charset="0"/>
                <a:ea typeface="Inter Medium" pitchFamily="34" charset="-122"/>
                <a:cs typeface="Inter Medium" pitchFamily="34" charset="-120"/>
              </a:rPr>
              <a:t>Hotjar</a:t>
            </a:r>
            <a:endParaRPr lang="en-US" sz="2000" dirty="0"/>
          </a:p>
        </p:txBody>
      </p:sp>
      <p:sp>
        <p:nvSpPr>
          <p:cNvPr id="21" name="Text 15"/>
          <p:cNvSpPr/>
          <p:nvPr/>
        </p:nvSpPr>
        <p:spPr>
          <a:xfrm>
            <a:off x="6432263" y="5736167"/>
            <a:ext cx="338709" cy="465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FFFFFF">
                    <a:alpha val="100000"/>
                  </a:srgbClr>
                </a:solidFill>
                <a:latin typeface="Inter Medium" pitchFamily="34" charset="0"/>
                <a:ea typeface="Inter Medium" pitchFamily="34" charset="-122"/>
                <a:cs typeface="Inter Medium" pitchFamily="34" charset="-120"/>
              </a:rPr>
              <a:t>→</a:t>
            </a:r>
            <a:endParaRPr lang="en-US" sz="2000" dirty="0"/>
          </a:p>
        </p:txBody>
      </p:sp>
      <p:sp>
        <p:nvSpPr>
          <p:cNvPr id="22" name="Text 16"/>
          <p:cNvSpPr/>
          <p:nvPr/>
        </p:nvSpPr>
        <p:spPr>
          <a:xfrm>
            <a:off x="7144643" y="5736167"/>
            <a:ext cx="3285477" cy="465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FFFFFF">
                    <a:alpha val="100000"/>
                  </a:srgbClr>
                </a:solidFill>
                <a:latin typeface="Inter Medium" pitchFamily="34" charset="0"/>
                <a:ea typeface="Inter Medium" pitchFamily="34" charset="-122"/>
                <a:cs typeface="Inter Medium" pitchFamily="34" charset="-120"/>
              </a:rPr>
              <a:t>Scroll fatigue on homepage</a:t>
            </a:r>
            <a:endParaRPr lang="en-US" sz="2000" dirty="0"/>
          </a:p>
        </p:txBody>
      </p:sp>
      <p:sp>
        <p:nvSpPr>
          <p:cNvPr id="23" name="Text 17"/>
          <p:cNvSpPr/>
          <p:nvPr/>
        </p:nvSpPr>
        <p:spPr>
          <a:xfrm>
            <a:off x="1778222" y="7260167"/>
            <a:ext cx="1265925" cy="465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FFFFFF">
                    <a:alpha val="100000"/>
                  </a:srgbClr>
                </a:solidFill>
                <a:latin typeface="Inter Medium" pitchFamily="34" charset="0"/>
                <a:ea typeface="Inter Medium" pitchFamily="34" charset="-122"/>
                <a:cs typeface="Inter Medium" pitchFamily="34" charset="-120"/>
              </a:rPr>
              <a:t>Heuristics</a:t>
            </a:r>
            <a:endParaRPr lang="en-US" sz="2000" dirty="0"/>
          </a:p>
        </p:txBody>
      </p:sp>
      <p:sp>
        <p:nvSpPr>
          <p:cNvPr id="24" name="Text 18"/>
          <p:cNvSpPr/>
          <p:nvPr/>
        </p:nvSpPr>
        <p:spPr>
          <a:xfrm>
            <a:off x="3569146" y="7260167"/>
            <a:ext cx="338709" cy="465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FFFFFF">
                    <a:alpha val="100000"/>
                  </a:srgbClr>
                </a:solidFill>
                <a:latin typeface="Inter Medium" pitchFamily="34" charset="0"/>
                <a:ea typeface="Inter Medium" pitchFamily="34" charset="-122"/>
                <a:cs typeface="Inter Medium" pitchFamily="34" charset="-120"/>
              </a:rPr>
              <a:t>→</a:t>
            </a:r>
            <a:endParaRPr lang="en-US" sz="2000" dirty="0"/>
          </a:p>
        </p:txBody>
      </p:sp>
      <p:sp>
        <p:nvSpPr>
          <p:cNvPr id="25" name="Text 19"/>
          <p:cNvSpPr/>
          <p:nvPr/>
        </p:nvSpPr>
        <p:spPr>
          <a:xfrm>
            <a:off x="4509064" y="7260167"/>
            <a:ext cx="1304030" cy="465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FFFFFF">
                    <a:alpha val="100000"/>
                  </a:srgbClr>
                </a:solidFill>
                <a:latin typeface="Inter Medium" pitchFamily="34" charset="0"/>
                <a:ea typeface="Inter Medium" pitchFamily="34" charset="-122"/>
                <a:cs typeface="Inter Medium" pitchFamily="34" charset="-120"/>
              </a:rPr>
              <a:t>Nielsen 10</a:t>
            </a:r>
            <a:endParaRPr lang="en-US" sz="2000" dirty="0"/>
          </a:p>
        </p:txBody>
      </p:sp>
      <p:sp>
        <p:nvSpPr>
          <p:cNvPr id="26" name="Text 20"/>
          <p:cNvSpPr/>
          <p:nvPr/>
        </p:nvSpPr>
        <p:spPr>
          <a:xfrm>
            <a:off x="6299987" y="7260167"/>
            <a:ext cx="338709" cy="465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FFFFFF">
                    <a:alpha val="100000"/>
                  </a:srgbClr>
                </a:solidFill>
                <a:latin typeface="Inter Medium" pitchFamily="34" charset="0"/>
                <a:ea typeface="Inter Medium" pitchFamily="34" charset="-122"/>
                <a:cs typeface="Inter Medium" pitchFamily="34" charset="-120"/>
              </a:rPr>
              <a:t>→</a:t>
            </a:r>
            <a:endParaRPr lang="en-US" sz="2000" dirty="0"/>
          </a:p>
        </p:txBody>
      </p:sp>
      <p:sp>
        <p:nvSpPr>
          <p:cNvPr id="27" name="Text 21"/>
          <p:cNvSpPr/>
          <p:nvPr/>
        </p:nvSpPr>
        <p:spPr>
          <a:xfrm>
            <a:off x="7106538" y="7260167"/>
            <a:ext cx="4593741" cy="465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FFFFFF">
                    <a:alpha val="100000"/>
                  </a:srgbClr>
                </a:solidFill>
                <a:latin typeface="Inter Medium" pitchFamily="34" charset="0"/>
                <a:ea typeface="Inter Medium" pitchFamily="34" charset="-122"/>
                <a:cs typeface="Inter Medium" pitchFamily="34" charset="-120"/>
              </a:rPr>
              <a:t>Confusing feedback after form submit</a:t>
            </a:r>
            <a:endParaRPr lang="en-US" sz="2000" dirty="0"/>
          </a:p>
        </p:txBody>
      </p:sp>
      <p:sp>
        <p:nvSpPr>
          <p:cNvPr id="28" name="Text 22"/>
          <p:cNvSpPr/>
          <p:nvPr/>
        </p:nvSpPr>
        <p:spPr>
          <a:xfrm>
            <a:off x="1778222" y="8784167"/>
            <a:ext cx="1418344" cy="465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FFFFFF">
                    <a:alpha val="100000"/>
                  </a:srgbClr>
                </a:solidFill>
                <a:latin typeface="Inter Medium" pitchFamily="34" charset="0"/>
                <a:ea typeface="Inter Medium" pitchFamily="34" charset="-122"/>
                <a:cs typeface="Inter Medium" pitchFamily="34" charset="-120"/>
              </a:rPr>
              <a:t>Recordings</a:t>
            </a:r>
            <a:endParaRPr lang="en-US" sz="2000" dirty="0"/>
          </a:p>
        </p:txBody>
      </p:sp>
      <p:sp>
        <p:nvSpPr>
          <p:cNvPr id="29" name="Text 23"/>
          <p:cNvSpPr/>
          <p:nvPr/>
        </p:nvSpPr>
        <p:spPr>
          <a:xfrm>
            <a:off x="3569146" y="8784167"/>
            <a:ext cx="338709" cy="465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FFFFFF">
                    <a:alpha val="100000"/>
                  </a:srgbClr>
                </a:solidFill>
                <a:latin typeface="Inter Medium" pitchFamily="34" charset="0"/>
                <a:ea typeface="Inter Medium" pitchFamily="34" charset="-122"/>
                <a:cs typeface="Inter Medium" pitchFamily="34" charset="-120"/>
              </a:rPr>
              <a:t>→</a:t>
            </a:r>
            <a:endParaRPr lang="en-US" sz="2000" dirty="0"/>
          </a:p>
        </p:txBody>
      </p:sp>
      <p:sp>
        <p:nvSpPr>
          <p:cNvPr id="30" name="Text 24"/>
          <p:cNvSpPr/>
          <p:nvPr/>
        </p:nvSpPr>
        <p:spPr>
          <a:xfrm>
            <a:off x="4509064" y="8784167"/>
            <a:ext cx="808668" cy="465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FFFFFF">
                    <a:alpha val="100000"/>
                  </a:srgbClr>
                </a:solidFill>
                <a:latin typeface="Inter Medium" pitchFamily="34" charset="0"/>
                <a:ea typeface="Inter Medium" pitchFamily="34" charset="-122"/>
                <a:cs typeface="Inter Medium" pitchFamily="34" charset="-120"/>
              </a:rPr>
              <a:t>Hotjar</a:t>
            </a:r>
            <a:endParaRPr lang="en-US" sz="2000" dirty="0"/>
          </a:p>
        </p:txBody>
      </p:sp>
      <p:sp>
        <p:nvSpPr>
          <p:cNvPr id="31" name="Text 25"/>
          <p:cNvSpPr/>
          <p:nvPr/>
        </p:nvSpPr>
        <p:spPr>
          <a:xfrm>
            <a:off x="6338092" y="8784167"/>
            <a:ext cx="338709" cy="465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FFFFFF">
                    <a:alpha val="100000"/>
                  </a:srgbClr>
                </a:solidFill>
                <a:latin typeface="Inter Medium" pitchFamily="34" charset="0"/>
                <a:ea typeface="Inter Medium" pitchFamily="34" charset="-122"/>
                <a:cs typeface="Inter Medium" pitchFamily="34" charset="-120"/>
              </a:rPr>
              <a:t>→</a:t>
            </a:r>
            <a:endParaRPr lang="en-US" sz="2000" dirty="0"/>
          </a:p>
        </p:txBody>
      </p:sp>
      <p:sp>
        <p:nvSpPr>
          <p:cNvPr id="32" name="Text 26"/>
          <p:cNvSpPr/>
          <p:nvPr/>
        </p:nvSpPr>
        <p:spPr>
          <a:xfrm>
            <a:off x="7100187" y="8784167"/>
            <a:ext cx="3374388" cy="465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FFFFFF">
                    <a:alpha val="100000"/>
                  </a:srgbClr>
                </a:solidFill>
                <a:latin typeface="Inter Medium" pitchFamily="34" charset="0"/>
                <a:ea typeface="Inter Medium" pitchFamily="34" charset="-122"/>
                <a:cs typeface="Inter Medium" pitchFamily="34" charset="-120"/>
              </a:rPr>
              <a:t>Rage clicks during checkout</a:t>
            </a:r>
            <a:endParaRPr lang="en-US" sz="2000" dirty="0"/>
          </a:p>
        </p:txBody>
      </p:sp>
      <p:sp>
        <p:nvSpPr>
          <p:cNvPr id="33" name="Text 27"/>
          <p:cNvSpPr/>
          <p:nvPr/>
        </p:nvSpPr>
        <p:spPr>
          <a:xfrm>
            <a:off x="1524191" y="1354667"/>
            <a:ext cx="8188290" cy="2777067"/>
          </a:xfrm>
          <a:prstGeom prst="rect">
            <a:avLst/>
          </a:prstGeom>
          <a:noFill/>
          <a:ln/>
        </p:spPr>
        <p:txBody>
          <a:bodyPr wrap="square" lIns="0" tIns="0" rIns="0" bIns="0" rtlCol="0" anchor="ctr"/>
          <a:lstStyle/>
          <a:p>
            <a:pPr marL="0" indent="0" algn="l">
              <a:lnSpc>
                <a:spcPts val="9600"/>
              </a:lnSpc>
              <a:buNone/>
            </a:pPr>
            <a:r>
              <a:rPr lang="en-US" sz="8000" kern="0" spc="-480" dirty="0">
                <a:solidFill>
                  <a:srgbClr val="050C29">
                    <a:alpha val="100000"/>
                  </a:srgbClr>
                </a:solidFill>
                <a:latin typeface="Inter Medium" pitchFamily="34" charset="0"/>
                <a:ea typeface="Inter Medium" pitchFamily="34" charset="-122"/>
                <a:cs typeface="Inter Medium" pitchFamily="34" charset="-120"/>
              </a:rPr>
              <a:t>UX Research Methods Used</a:t>
            </a:r>
            <a:endParaRPr lang="en-US" sz="8000" dirty="0"/>
          </a:p>
        </p:txBody>
      </p:sp>
      <p:sp>
        <p:nvSpPr>
          <p:cNvPr id="34" name="Text 28"/>
          <p:cNvSpPr/>
          <p:nvPr/>
        </p:nvSpPr>
        <p:spPr>
          <a:xfrm>
            <a:off x="12320540" y="1481667"/>
            <a:ext cx="10626995" cy="1227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050C29">
                    <a:alpha val="100000"/>
                  </a:srgbClr>
                </a:solidFill>
                <a:latin typeface="Inter Medium" pitchFamily="34" charset="0"/>
                <a:ea typeface="Inter Medium" pitchFamily="34" charset="-122"/>
                <a:cs typeface="Inter Medium" pitchFamily="34" charset="-120"/>
              </a:rPr>
              <a:t>To ensure a well-rounded UX audit, we used both qualitative and quantitative research methods. This allowed us to identify usability issues, validate them with user behavior, and extract actionable insights.</a:t>
            </a:r>
            <a:endParaRPr lang="en-US" sz="2000" dirty="0"/>
          </a:p>
        </p:txBody>
      </p:sp>
      <p:sp>
        <p:nvSpPr>
          <p:cNvPr id="35" name="Text 29"/>
          <p:cNvSpPr/>
          <p:nvPr/>
        </p:nvSpPr>
        <p:spPr>
          <a:xfrm>
            <a:off x="15025978" y="5545667"/>
            <a:ext cx="7921557" cy="846667"/>
          </a:xfrm>
          <a:prstGeom prst="rect">
            <a:avLst/>
          </a:prstGeom>
          <a:noFill/>
          <a:ln/>
        </p:spPr>
        <p:txBody>
          <a:bodyPr wrap="square" lIns="0" tIns="0" rIns="0" bIns="0" rtlCol="0" anchor="ctr"/>
          <a:lstStyle/>
          <a:p>
            <a:pPr marL="685800" lvl="1" indent="-342900" algn="l">
              <a:lnSpc>
                <a:spcPts val="3000"/>
              </a:lnSpc>
              <a:buSzPct val="100000"/>
              <a:buChar char="•"/>
            </a:pPr>
            <a:r>
              <a:rPr lang="en-US" sz="2000" kern="0" spc="-40" dirty="0">
                <a:solidFill>
                  <a:srgbClr val="050C29">
                    <a:alpha val="100000"/>
                  </a:srgbClr>
                </a:solidFill>
                <a:latin typeface="Inter Regular" pitchFamily="34" charset="0"/>
                <a:ea typeface="Inter Regular" pitchFamily="34" charset="-122"/>
                <a:cs typeface="Inter Regular" pitchFamily="34" charset="-120"/>
              </a:rPr>
              <a:t>Heatmaps (via Hotjar) revealed where users click, scroll, and drop off highlighting content blindness and misaligned CTAs.</a:t>
            </a:r>
            <a:endParaRPr lang="en-US" sz="2000" dirty="0"/>
          </a:p>
        </p:txBody>
      </p:sp>
      <p:sp>
        <p:nvSpPr>
          <p:cNvPr id="36" name="Text 30"/>
          <p:cNvSpPr/>
          <p:nvPr/>
        </p:nvSpPr>
        <p:spPr>
          <a:xfrm>
            <a:off x="15025978" y="6434667"/>
            <a:ext cx="7921557" cy="1227667"/>
          </a:xfrm>
          <a:prstGeom prst="rect">
            <a:avLst/>
          </a:prstGeom>
          <a:noFill/>
          <a:ln/>
        </p:spPr>
        <p:txBody>
          <a:bodyPr wrap="square" lIns="0" tIns="0" rIns="0" bIns="0" rtlCol="0" anchor="ctr"/>
          <a:lstStyle/>
          <a:p>
            <a:pPr marL="685800" lvl="1" indent="-342900" algn="l">
              <a:lnSpc>
                <a:spcPts val="3000"/>
              </a:lnSpc>
              <a:buSzPct val="100000"/>
              <a:buChar char="•"/>
            </a:pPr>
            <a:r>
              <a:rPr lang="en-US" sz="2000" kern="0" spc="-40" dirty="0">
                <a:solidFill>
                  <a:srgbClr val="050C29">
                    <a:alpha val="100000"/>
                  </a:srgbClr>
                </a:solidFill>
                <a:latin typeface="Inter Regular" pitchFamily="34" charset="0"/>
                <a:ea typeface="Inter Regular" pitchFamily="34" charset="-122"/>
                <a:cs typeface="Inter Regular" pitchFamily="34" charset="-120"/>
              </a:rPr>
              <a:t>Heuristic Evaluation based on Nielsen’s 10 principles exposed design inconsistencies, unclear system feedback, and violations in user control.</a:t>
            </a:r>
            <a:endParaRPr lang="en-US" sz="2000" dirty="0"/>
          </a:p>
        </p:txBody>
      </p:sp>
      <p:sp>
        <p:nvSpPr>
          <p:cNvPr id="37" name="Text 31"/>
          <p:cNvSpPr/>
          <p:nvPr/>
        </p:nvSpPr>
        <p:spPr>
          <a:xfrm>
            <a:off x="15025978" y="7704667"/>
            <a:ext cx="7921557" cy="1227667"/>
          </a:xfrm>
          <a:prstGeom prst="rect">
            <a:avLst/>
          </a:prstGeom>
          <a:noFill/>
          <a:ln/>
        </p:spPr>
        <p:txBody>
          <a:bodyPr wrap="square" lIns="0" tIns="0" rIns="0" bIns="0" rtlCol="0" anchor="ctr"/>
          <a:lstStyle/>
          <a:p>
            <a:pPr marL="685800" lvl="1" indent="-342900" algn="l">
              <a:lnSpc>
                <a:spcPts val="3000"/>
              </a:lnSpc>
              <a:buSzPct val="100000"/>
              <a:buChar char="•"/>
            </a:pPr>
            <a:r>
              <a:rPr lang="en-US" sz="2000" kern="0" spc="-40" dirty="0">
                <a:solidFill>
                  <a:srgbClr val="050C29">
                    <a:alpha val="100000"/>
                  </a:srgbClr>
                </a:solidFill>
                <a:latin typeface="Inter Regular" pitchFamily="34" charset="0"/>
                <a:ea typeface="Inter Regular" pitchFamily="34" charset="-122"/>
                <a:cs typeface="Inter Regular" pitchFamily="34" charset="-120"/>
              </a:rPr>
              <a:t>Screen Recordings &amp; Feedback helped us observe real frustration points rage clicks, hesitation, and abandonment especially in key flows like onboarding and checkout.</a:t>
            </a:r>
            <a:endParaRPr lang="en-US" sz="2000" dirty="0"/>
          </a:p>
        </p:txBody>
      </p:sp>
      <p:sp>
        <p:nvSpPr>
          <p:cNvPr id="38" name="Text 32"/>
          <p:cNvSpPr/>
          <p:nvPr/>
        </p:nvSpPr>
        <p:spPr>
          <a:xfrm>
            <a:off x="1524191" y="10625667"/>
            <a:ext cx="5228820" cy="846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050C29">
                    <a:alpha val="100000"/>
                  </a:srgbClr>
                </a:solidFill>
                <a:latin typeface="Inter Regular" pitchFamily="34" charset="0"/>
                <a:ea typeface="Inter Regular" pitchFamily="34" charset="-122"/>
                <a:cs typeface="Inter Regular" pitchFamily="34" charset="-120"/>
              </a:rPr>
              <a:t>"Data tells you what users do. Research tells you why they do it."</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001D2B7B-5F94-ADA2-1825-2273A57C1D68}"/>
              </a:ext>
            </a:extLst>
          </p:cNvPr>
          <p:cNvSpPr/>
          <p:nvPr/>
        </p:nvSpPr>
        <p:spPr>
          <a:xfrm>
            <a:off x="0" y="0"/>
            <a:ext cx="24387175" cy="13716000"/>
          </a:xfrm>
          <a:prstGeom prst="rect">
            <a:avLst/>
          </a:prstGeom>
          <a:gradFill flip="none" rotWithShape="1">
            <a:gsLst>
              <a:gs pos="0">
                <a:srgbClr val="EFEFEF"/>
              </a:gs>
              <a:gs pos="76000">
                <a:srgbClr val="FFFFFF"/>
              </a:gs>
            </a:gsLst>
            <a:lin ang="16200000" scaled="0"/>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sz="100"/>
          </a:p>
        </p:txBody>
      </p:sp>
      <p:sp>
        <p:nvSpPr>
          <p:cNvPr id="3" name="Text 0"/>
          <p:cNvSpPr/>
          <p:nvPr/>
        </p:nvSpPr>
        <p:spPr>
          <a:xfrm>
            <a:off x="1524191" y="2489200"/>
            <a:ext cx="5444747" cy="2777067"/>
          </a:xfrm>
          <a:prstGeom prst="rect">
            <a:avLst/>
          </a:prstGeom>
          <a:noFill/>
          <a:ln/>
        </p:spPr>
        <p:txBody>
          <a:bodyPr wrap="square" lIns="0" tIns="0" rIns="0" bIns="0" rtlCol="0" anchor="t"/>
          <a:lstStyle/>
          <a:p>
            <a:pPr marL="0" indent="0" algn="l">
              <a:lnSpc>
                <a:spcPts val="9600"/>
              </a:lnSpc>
              <a:buNone/>
            </a:pPr>
            <a:r>
              <a:rPr lang="en-US" sz="8000" kern="0" spc="-480" dirty="0">
                <a:solidFill>
                  <a:srgbClr val="050C29">
                    <a:alpha val="100000"/>
                  </a:srgbClr>
                </a:solidFill>
                <a:latin typeface="Inter Medium" pitchFamily="34" charset="0"/>
                <a:ea typeface="Inter Medium" pitchFamily="34" charset="-122"/>
                <a:cs typeface="Inter Medium" pitchFamily="34" charset="-120"/>
              </a:rPr>
              <a:t>Success Matters</a:t>
            </a:r>
            <a:endParaRPr lang="en-US" sz="8000" dirty="0"/>
          </a:p>
        </p:txBody>
      </p:sp>
      <p:sp>
        <p:nvSpPr>
          <p:cNvPr id="4" name="Text 1"/>
          <p:cNvSpPr/>
          <p:nvPr/>
        </p:nvSpPr>
        <p:spPr>
          <a:xfrm>
            <a:off x="1524191" y="12276667"/>
            <a:ext cx="4022169" cy="465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B9B9B9">
                    <a:alpha val="100000"/>
                  </a:srgbClr>
                </a:solidFill>
                <a:latin typeface="Inter Regular" pitchFamily="34" charset="0"/>
                <a:ea typeface="Inter Regular" pitchFamily="34" charset="-122"/>
                <a:cs typeface="Inter Regular" pitchFamily="34" charset="-120"/>
              </a:rPr>
              <a:t>“If it’s measurable, it’s improvable.”</a:t>
            </a:r>
            <a:endParaRPr lang="en-US" sz="2000" dirty="0"/>
          </a:p>
        </p:txBody>
      </p:sp>
      <p:sp>
        <p:nvSpPr>
          <p:cNvPr id="5" name="Text 2"/>
          <p:cNvSpPr/>
          <p:nvPr/>
        </p:nvSpPr>
        <p:spPr>
          <a:xfrm>
            <a:off x="1524191" y="1524000"/>
            <a:ext cx="1778222" cy="558800"/>
          </a:xfrm>
          <a:prstGeom prst="rect">
            <a:avLst/>
          </a:prstGeom>
          <a:noFill/>
          <a:ln/>
        </p:spPr>
        <p:txBody>
          <a:bodyPr wrap="square" lIns="0" tIns="0" rIns="0" bIns="0" rtlCol="0" anchor="t"/>
          <a:lstStyle/>
          <a:p>
            <a:pPr marL="0" indent="0" algn="l">
              <a:lnSpc>
                <a:spcPts val="3600"/>
              </a:lnSpc>
              <a:buNone/>
            </a:pPr>
            <a:r>
              <a:rPr lang="en-US" sz="2400" kern="0" spc="-48" dirty="0">
                <a:solidFill>
                  <a:srgbClr val="000000">
                    <a:alpha val="100000"/>
                  </a:srgbClr>
                </a:solidFill>
                <a:latin typeface="Inter Regular" pitchFamily="34" charset="0"/>
                <a:ea typeface="Inter Regular" pitchFamily="34" charset="-122"/>
                <a:cs typeface="Inter Regular" pitchFamily="34" charset="-120"/>
              </a:rPr>
              <a:t>Fix the Flow</a:t>
            </a:r>
            <a:endParaRPr lang="en-US" sz="2400" dirty="0"/>
          </a:p>
        </p:txBody>
      </p:sp>
      <p:sp>
        <p:nvSpPr>
          <p:cNvPr id="6" name="Text 3"/>
          <p:cNvSpPr/>
          <p:nvPr/>
        </p:nvSpPr>
        <p:spPr>
          <a:xfrm>
            <a:off x="1524191" y="5710767"/>
            <a:ext cx="6295754" cy="465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Task Success Rate</a:t>
            </a:r>
            <a:endParaRPr lang="en-US" sz="2000" dirty="0"/>
          </a:p>
        </p:txBody>
      </p:sp>
      <p:sp>
        <p:nvSpPr>
          <p:cNvPr id="7" name="Text 4"/>
          <p:cNvSpPr/>
          <p:nvPr/>
        </p:nvSpPr>
        <p:spPr>
          <a:xfrm>
            <a:off x="1524191" y="6231467"/>
            <a:ext cx="6295754" cy="846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000000">
                    <a:alpha val="100000"/>
                  </a:srgbClr>
                </a:solidFill>
                <a:latin typeface="Inter Regular" pitchFamily="34" charset="0"/>
                <a:ea typeface="Inter Regular" pitchFamily="34" charset="-122"/>
                <a:cs typeface="Inter Regular" pitchFamily="34" charset="-120"/>
              </a:rPr>
              <a:t>Goal: Increase successful completion of key tasks (signup, checkout, etc.)</a:t>
            </a:r>
            <a:endParaRPr lang="en-US" sz="2000" dirty="0"/>
          </a:p>
        </p:txBody>
      </p:sp>
      <p:pic>
        <p:nvPicPr>
          <p:cNvPr id="8" name="Image 1"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559120" y="5267325"/>
            <a:ext cx="311189" cy="311150"/>
          </a:xfrm>
          <a:prstGeom prst="rect">
            <a:avLst/>
          </a:prstGeom>
        </p:spPr>
      </p:pic>
      <p:sp>
        <p:nvSpPr>
          <p:cNvPr id="9" name="Text 5"/>
          <p:cNvSpPr/>
          <p:nvPr/>
        </p:nvSpPr>
        <p:spPr>
          <a:xfrm>
            <a:off x="1524191" y="7895167"/>
            <a:ext cx="6295754" cy="465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Drop-off Rate on Mobile</a:t>
            </a:r>
            <a:endParaRPr lang="en-US" sz="2000" dirty="0"/>
          </a:p>
        </p:txBody>
      </p:sp>
      <p:sp>
        <p:nvSpPr>
          <p:cNvPr id="10" name="Text 6"/>
          <p:cNvSpPr/>
          <p:nvPr/>
        </p:nvSpPr>
        <p:spPr>
          <a:xfrm>
            <a:off x="1524191" y="8415867"/>
            <a:ext cx="6295754" cy="846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000000">
                    <a:alpha val="100000"/>
                  </a:srgbClr>
                </a:solidFill>
                <a:latin typeface="Inter Regular" pitchFamily="34" charset="0"/>
                <a:ea typeface="Inter Regular" pitchFamily="34" charset="-122"/>
                <a:cs typeface="Inter Regular" pitchFamily="34" charset="-120"/>
              </a:rPr>
              <a:t>Goal: Decrease abandonment during critical flows like onboarding and purchase</a:t>
            </a:r>
            <a:endParaRPr lang="en-US" sz="2000" dirty="0"/>
          </a:p>
        </p:txBody>
      </p:sp>
      <p:pic>
        <p:nvPicPr>
          <p:cNvPr id="11" name="Image 2"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574997" y="7467600"/>
            <a:ext cx="279435" cy="279400"/>
          </a:xfrm>
          <a:prstGeom prst="rect">
            <a:avLst/>
          </a:prstGeom>
        </p:spPr>
      </p:pic>
      <p:sp>
        <p:nvSpPr>
          <p:cNvPr id="12" name="Text 7"/>
          <p:cNvSpPr/>
          <p:nvPr/>
        </p:nvSpPr>
        <p:spPr>
          <a:xfrm>
            <a:off x="1524191" y="10079567"/>
            <a:ext cx="6295754" cy="465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Time on Task</a:t>
            </a:r>
            <a:endParaRPr lang="en-US" sz="2000" dirty="0"/>
          </a:p>
        </p:txBody>
      </p:sp>
      <p:sp>
        <p:nvSpPr>
          <p:cNvPr id="13" name="Text 8"/>
          <p:cNvSpPr/>
          <p:nvPr/>
        </p:nvSpPr>
        <p:spPr>
          <a:xfrm>
            <a:off x="1524191" y="10600267"/>
            <a:ext cx="6295754" cy="846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000000">
                    <a:alpha val="100000"/>
                  </a:srgbClr>
                </a:solidFill>
                <a:latin typeface="Inter Regular" pitchFamily="34" charset="0"/>
                <a:ea typeface="Inter Regular" pitchFamily="34" charset="-122"/>
                <a:cs typeface="Inter Regular" pitchFamily="34" charset="-120"/>
              </a:rPr>
              <a:t>Goal: Reduce unnecessary steps and streamline user journeys for faster completion</a:t>
            </a:r>
            <a:endParaRPr lang="en-US" sz="2000" dirty="0"/>
          </a:p>
        </p:txBody>
      </p:sp>
      <p:pic>
        <p:nvPicPr>
          <p:cNvPr id="14" name="Image 3" descr=" "/>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559120" y="9636125"/>
            <a:ext cx="311189" cy="311150"/>
          </a:xfrm>
          <a:prstGeom prst="rect">
            <a:avLst/>
          </a:prstGeom>
        </p:spPr>
      </p:pic>
      <p:sp>
        <p:nvSpPr>
          <p:cNvPr id="16" name="Shape 10"/>
          <p:cNvSpPr/>
          <p:nvPr/>
        </p:nvSpPr>
        <p:spPr>
          <a:xfrm>
            <a:off x="14721140" y="7073900"/>
            <a:ext cx="4318540" cy="4318000"/>
          </a:xfrm>
          <a:prstGeom prst="ellipse">
            <a:avLst/>
          </a:prstGeom>
          <a:solidFill>
            <a:srgbClr val="D9F4F2">
              <a:alpha val="100000"/>
            </a:srgbClr>
          </a:solidFill>
          <a:ln/>
        </p:spPr>
        <p:txBody>
          <a:bodyPr/>
          <a:lstStyle/>
          <a:p>
            <a:endParaRPr lang="en-ID"/>
          </a:p>
        </p:txBody>
      </p:sp>
      <p:sp>
        <p:nvSpPr>
          <p:cNvPr id="17" name="Shape 11"/>
          <p:cNvSpPr/>
          <p:nvPr/>
        </p:nvSpPr>
        <p:spPr>
          <a:xfrm>
            <a:off x="19306413" y="7835900"/>
            <a:ext cx="3556445" cy="3556000"/>
          </a:xfrm>
          <a:prstGeom prst="ellipse">
            <a:avLst/>
          </a:prstGeom>
          <a:solidFill>
            <a:srgbClr val="D9F4F2">
              <a:alpha val="100000"/>
            </a:srgbClr>
          </a:solidFill>
          <a:ln/>
        </p:spPr>
        <p:txBody>
          <a:bodyPr/>
          <a:lstStyle/>
          <a:p>
            <a:endParaRPr lang="en-ID"/>
          </a:p>
        </p:txBody>
      </p:sp>
      <p:grpSp>
        <p:nvGrpSpPr>
          <p:cNvPr id="33" name="Group 32">
            <a:extLst>
              <a:ext uri="{FF2B5EF4-FFF2-40B4-BE49-F238E27FC236}">
                <a16:creationId xmlns:a16="http://schemas.microsoft.com/office/drawing/2014/main" id="{F5DEF5E0-C05D-C411-20C0-27C7C57CB0D4}"/>
              </a:ext>
            </a:extLst>
          </p:cNvPr>
          <p:cNvGrpSpPr/>
          <p:nvPr/>
        </p:nvGrpSpPr>
        <p:grpSpPr>
          <a:xfrm>
            <a:off x="9627803" y="6565900"/>
            <a:ext cx="4826603" cy="4826000"/>
            <a:chOff x="9627803" y="6565900"/>
            <a:chExt cx="4826603" cy="4826000"/>
          </a:xfrm>
        </p:grpSpPr>
        <p:sp>
          <p:nvSpPr>
            <p:cNvPr id="15" name="Shape 9"/>
            <p:cNvSpPr/>
            <p:nvPr/>
          </p:nvSpPr>
          <p:spPr>
            <a:xfrm>
              <a:off x="9627803" y="6565900"/>
              <a:ext cx="4826603" cy="4826000"/>
            </a:xfrm>
            <a:prstGeom prst="ellipse">
              <a:avLst/>
            </a:prstGeom>
            <a:solidFill>
              <a:srgbClr val="FFD6D6">
                <a:alpha val="100000"/>
              </a:srgbClr>
            </a:solidFill>
            <a:ln/>
          </p:spPr>
          <p:txBody>
            <a:bodyPr/>
            <a:lstStyle/>
            <a:p>
              <a:endParaRPr lang="en-ID"/>
            </a:p>
          </p:txBody>
        </p:sp>
        <p:sp>
          <p:nvSpPr>
            <p:cNvPr id="18" name="Shape 12"/>
            <p:cNvSpPr/>
            <p:nvPr/>
          </p:nvSpPr>
          <p:spPr>
            <a:xfrm>
              <a:off x="10288286" y="7874000"/>
              <a:ext cx="3518340" cy="3517900"/>
            </a:xfrm>
            <a:prstGeom prst="ellipse">
              <a:avLst/>
            </a:prstGeom>
            <a:solidFill>
              <a:srgbClr val="FFA8A8">
                <a:alpha val="100000"/>
              </a:srgbClr>
            </a:solidFill>
            <a:ln/>
          </p:spPr>
          <p:txBody>
            <a:bodyPr/>
            <a:lstStyle/>
            <a:p>
              <a:endParaRPr lang="en-ID"/>
            </a:p>
          </p:txBody>
        </p:sp>
      </p:grpSp>
      <p:pic>
        <p:nvPicPr>
          <p:cNvPr id="21" name="Image 4" descr=" "/>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602400" y="2679700"/>
            <a:ext cx="25403" cy="6311900"/>
          </a:xfrm>
          <a:prstGeom prst="rect">
            <a:avLst/>
          </a:prstGeom>
        </p:spPr>
      </p:pic>
      <p:pic>
        <p:nvPicPr>
          <p:cNvPr id="22" name="Image 5" descr=" "/>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4695737" y="2679675"/>
            <a:ext cx="38353" cy="6558164"/>
          </a:xfrm>
          <a:prstGeom prst="rect">
            <a:avLst/>
          </a:prstGeom>
        </p:spPr>
      </p:pic>
      <p:pic>
        <p:nvPicPr>
          <p:cNvPr id="23" name="Image 6" descr=" "/>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9281010" y="2679700"/>
            <a:ext cx="25403" cy="7010400"/>
          </a:xfrm>
          <a:prstGeom prst="rect">
            <a:avLst/>
          </a:prstGeom>
        </p:spPr>
      </p:pic>
      <p:grpSp>
        <p:nvGrpSpPr>
          <p:cNvPr id="34" name="Group 33">
            <a:extLst>
              <a:ext uri="{FF2B5EF4-FFF2-40B4-BE49-F238E27FC236}">
                <a16:creationId xmlns:a16="http://schemas.microsoft.com/office/drawing/2014/main" id="{5649EA3C-A268-FDE9-B357-07FBAF4E1CB5}"/>
              </a:ext>
            </a:extLst>
          </p:cNvPr>
          <p:cNvGrpSpPr/>
          <p:nvPr/>
        </p:nvGrpSpPr>
        <p:grpSpPr>
          <a:xfrm>
            <a:off x="14721140" y="7073900"/>
            <a:ext cx="4318540" cy="4318000"/>
            <a:chOff x="14721140" y="7073900"/>
            <a:chExt cx="4318540" cy="4318000"/>
          </a:xfrm>
        </p:grpSpPr>
        <p:sp>
          <p:nvSpPr>
            <p:cNvPr id="19" name="Shape 13"/>
            <p:cNvSpPr/>
            <p:nvPr/>
          </p:nvSpPr>
          <p:spPr>
            <a:xfrm>
              <a:off x="14721140" y="7073900"/>
              <a:ext cx="4318540" cy="4318000"/>
            </a:xfrm>
            <a:prstGeom prst="ellipse">
              <a:avLst/>
            </a:prstGeom>
            <a:solidFill>
              <a:srgbClr val="ABC8FF">
                <a:alpha val="100000"/>
              </a:srgbClr>
            </a:solidFill>
            <a:ln/>
          </p:spPr>
          <p:txBody>
            <a:bodyPr/>
            <a:lstStyle/>
            <a:p>
              <a:endParaRPr lang="en-ID"/>
            </a:p>
          </p:txBody>
        </p:sp>
        <p:sp>
          <p:nvSpPr>
            <p:cNvPr id="24" name="Shape 15"/>
            <p:cNvSpPr/>
            <p:nvPr/>
          </p:nvSpPr>
          <p:spPr>
            <a:xfrm>
              <a:off x="15343518" y="8318500"/>
              <a:ext cx="3073784" cy="3073400"/>
            </a:xfrm>
            <a:prstGeom prst="ellipse">
              <a:avLst/>
            </a:prstGeom>
            <a:solidFill>
              <a:srgbClr val="5993FF">
                <a:alpha val="100000"/>
              </a:srgbClr>
            </a:solidFill>
            <a:ln/>
          </p:spPr>
          <p:txBody>
            <a:bodyPr/>
            <a:lstStyle/>
            <a:p>
              <a:endParaRPr lang="en-ID"/>
            </a:p>
          </p:txBody>
        </p:sp>
      </p:grpSp>
      <p:grpSp>
        <p:nvGrpSpPr>
          <p:cNvPr id="35" name="Group 34">
            <a:extLst>
              <a:ext uri="{FF2B5EF4-FFF2-40B4-BE49-F238E27FC236}">
                <a16:creationId xmlns:a16="http://schemas.microsoft.com/office/drawing/2014/main" id="{25F88327-774F-8627-6913-E0EB9B6219BB}"/>
              </a:ext>
            </a:extLst>
          </p:cNvPr>
          <p:cNvGrpSpPr/>
          <p:nvPr/>
        </p:nvGrpSpPr>
        <p:grpSpPr>
          <a:xfrm>
            <a:off x="19306413" y="7835900"/>
            <a:ext cx="3556445" cy="3556000"/>
            <a:chOff x="19306413" y="7835900"/>
            <a:chExt cx="3556445" cy="3556000"/>
          </a:xfrm>
        </p:grpSpPr>
        <p:sp>
          <p:nvSpPr>
            <p:cNvPr id="20" name="Shape 14"/>
            <p:cNvSpPr/>
            <p:nvPr/>
          </p:nvSpPr>
          <p:spPr>
            <a:xfrm>
              <a:off x="19306413" y="7835900"/>
              <a:ext cx="3556445" cy="3556000"/>
            </a:xfrm>
            <a:prstGeom prst="ellipse">
              <a:avLst/>
            </a:prstGeom>
            <a:solidFill>
              <a:srgbClr val="FFC896">
                <a:alpha val="100000"/>
              </a:srgbClr>
            </a:solidFill>
            <a:ln/>
          </p:spPr>
          <p:txBody>
            <a:bodyPr/>
            <a:lstStyle/>
            <a:p>
              <a:endParaRPr lang="en-ID"/>
            </a:p>
          </p:txBody>
        </p:sp>
        <p:sp>
          <p:nvSpPr>
            <p:cNvPr id="25" name="Shape 16"/>
            <p:cNvSpPr/>
            <p:nvPr/>
          </p:nvSpPr>
          <p:spPr>
            <a:xfrm>
              <a:off x="19776372" y="8788400"/>
              <a:ext cx="2603825" cy="2603500"/>
            </a:xfrm>
            <a:prstGeom prst="ellipse">
              <a:avLst/>
            </a:prstGeom>
            <a:solidFill>
              <a:srgbClr val="F88A24">
                <a:alpha val="100000"/>
              </a:srgbClr>
            </a:solidFill>
            <a:ln/>
          </p:spPr>
          <p:txBody>
            <a:bodyPr/>
            <a:lstStyle/>
            <a:p>
              <a:endParaRPr lang="en-ID"/>
            </a:p>
          </p:txBody>
        </p:sp>
      </p:grpSp>
      <p:sp>
        <p:nvSpPr>
          <p:cNvPr id="26" name="Text 17"/>
          <p:cNvSpPr/>
          <p:nvPr/>
        </p:nvSpPr>
        <p:spPr>
          <a:xfrm>
            <a:off x="9881835" y="2531533"/>
            <a:ext cx="2912897" cy="1363133"/>
          </a:xfrm>
          <a:prstGeom prst="rect">
            <a:avLst/>
          </a:prstGeom>
          <a:noFill/>
          <a:ln/>
        </p:spPr>
        <p:txBody>
          <a:bodyPr wrap="square" lIns="0" tIns="0" rIns="0" bIns="0" rtlCol="0" anchor="ctr"/>
          <a:lstStyle/>
          <a:p>
            <a:pPr marL="0" indent="0" algn="l">
              <a:lnSpc>
                <a:spcPts val="8400"/>
              </a:lnSpc>
              <a:buNone/>
            </a:pPr>
            <a:r>
              <a:rPr lang="en-US" sz="7000" kern="0" spc="-420" dirty="0">
                <a:solidFill>
                  <a:srgbClr val="050C29">
                    <a:alpha val="100000"/>
                  </a:srgbClr>
                </a:solidFill>
                <a:latin typeface="Inter Medium" pitchFamily="34" charset="0"/>
                <a:ea typeface="Inter Medium" pitchFamily="34" charset="-122"/>
                <a:cs typeface="Inter Medium" pitchFamily="34" charset="-120"/>
              </a:rPr>
              <a:t>68%</a:t>
            </a:r>
            <a:endParaRPr lang="en-US" sz="7000" dirty="0"/>
          </a:p>
        </p:txBody>
      </p:sp>
      <p:sp>
        <p:nvSpPr>
          <p:cNvPr id="27" name="Text 18"/>
          <p:cNvSpPr/>
          <p:nvPr/>
        </p:nvSpPr>
        <p:spPr>
          <a:xfrm>
            <a:off x="9881835" y="3746500"/>
            <a:ext cx="2718140" cy="558800"/>
          </a:xfrm>
          <a:prstGeom prst="rect">
            <a:avLst/>
          </a:prstGeom>
          <a:noFill/>
          <a:ln/>
        </p:spPr>
        <p:txBody>
          <a:bodyPr wrap="square" lIns="0" tIns="0" rIns="0" bIns="0" rtlCol="0" anchor="t"/>
          <a:lstStyle/>
          <a:p>
            <a:pPr marL="0" indent="0" algn="l">
              <a:lnSpc>
                <a:spcPts val="3600"/>
              </a:lnSpc>
              <a:buNone/>
            </a:pPr>
            <a:r>
              <a:rPr lang="en-US" sz="2400" kern="0" spc="-48" dirty="0">
                <a:solidFill>
                  <a:srgbClr val="000000">
                    <a:alpha val="100000"/>
                  </a:srgbClr>
                </a:solidFill>
                <a:latin typeface="Inter Regular" pitchFamily="34" charset="0"/>
                <a:ea typeface="Inter Regular" pitchFamily="34" charset="-122"/>
                <a:cs typeface="Inter Regular" pitchFamily="34" charset="-120"/>
              </a:rPr>
              <a:t>Task Success Rate</a:t>
            </a:r>
            <a:endParaRPr lang="en-US" sz="2400" dirty="0"/>
          </a:p>
        </p:txBody>
      </p:sp>
      <p:sp>
        <p:nvSpPr>
          <p:cNvPr id="28" name="Text 19"/>
          <p:cNvSpPr/>
          <p:nvPr/>
        </p:nvSpPr>
        <p:spPr>
          <a:xfrm>
            <a:off x="14987873" y="2531533"/>
            <a:ext cx="3217736" cy="1363133"/>
          </a:xfrm>
          <a:prstGeom prst="rect">
            <a:avLst/>
          </a:prstGeom>
          <a:noFill/>
          <a:ln/>
        </p:spPr>
        <p:txBody>
          <a:bodyPr wrap="square" lIns="0" tIns="0" rIns="0" bIns="0" rtlCol="0" anchor="ctr"/>
          <a:lstStyle/>
          <a:p>
            <a:pPr marL="0" indent="0" algn="l">
              <a:lnSpc>
                <a:spcPts val="8400"/>
              </a:lnSpc>
              <a:buNone/>
            </a:pPr>
            <a:r>
              <a:rPr lang="en-US" sz="7000" kern="0" spc="-420" dirty="0">
                <a:solidFill>
                  <a:srgbClr val="050C29">
                    <a:alpha val="100000"/>
                  </a:srgbClr>
                </a:solidFill>
                <a:latin typeface="Inter Medium" pitchFamily="34" charset="0"/>
                <a:ea typeface="Inter Medium" pitchFamily="34" charset="-122"/>
                <a:cs typeface="Inter Medium" pitchFamily="34" charset="-120"/>
              </a:rPr>
              <a:t>45%</a:t>
            </a:r>
            <a:endParaRPr lang="en-US" sz="7000" dirty="0"/>
          </a:p>
        </p:txBody>
      </p:sp>
      <p:sp>
        <p:nvSpPr>
          <p:cNvPr id="29" name="Text 20"/>
          <p:cNvSpPr/>
          <p:nvPr/>
        </p:nvSpPr>
        <p:spPr>
          <a:xfrm>
            <a:off x="14987873" y="3746500"/>
            <a:ext cx="3022978" cy="558800"/>
          </a:xfrm>
          <a:prstGeom prst="rect">
            <a:avLst/>
          </a:prstGeom>
          <a:noFill/>
          <a:ln/>
        </p:spPr>
        <p:txBody>
          <a:bodyPr wrap="square" lIns="0" tIns="0" rIns="0" bIns="0" rtlCol="0" anchor="t"/>
          <a:lstStyle/>
          <a:p>
            <a:pPr marL="0" indent="0" algn="l">
              <a:lnSpc>
                <a:spcPts val="3600"/>
              </a:lnSpc>
              <a:buNone/>
            </a:pPr>
            <a:r>
              <a:rPr lang="en-US" sz="2400" kern="0" spc="-48" dirty="0">
                <a:solidFill>
                  <a:srgbClr val="000000">
                    <a:alpha val="100000"/>
                  </a:srgbClr>
                </a:solidFill>
                <a:latin typeface="Inter Regular" pitchFamily="34" charset="0"/>
                <a:ea typeface="Inter Regular" pitchFamily="34" charset="-122"/>
                <a:cs typeface="Inter Regular" pitchFamily="34" charset="-120"/>
              </a:rPr>
              <a:t>Mobile Drop-off Rate</a:t>
            </a:r>
            <a:endParaRPr lang="en-US" sz="2400" dirty="0"/>
          </a:p>
        </p:txBody>
      </p:sp>
      <p:sp>
        <p:nvSpPr>
          <p:cNvPr id="30" name="Text 21"/>
          <p:cNvSpPr/>
          <p:nvPr/>
        </p:nvSpPr>
        <p:spPr>
          <a:xfrm>
            <a:off x="19547743" y="2531533"/>
            <a:ext cx="3243139" cy="1363133"/>
          </a:xfrm>
          <a:prstGeom prst="rect">
            <a:avLst/>
          </a:prstGeom>
          <a:noFill/>
          <a:ln/>
        </p:spPr>
        <p:txBody>
          <a:bodyPr wrap="square" lIns="0" tIns="0" rIns="0" bIns="0" rtlCol="0" anchor="ctr"/>
          <a:lstStyle/>
          <a:p>
            <a:pPr marL="0" indent="0" algn="l">
              <a:lnSpc>
                <a:spcPts val="8400"/>
              </a:lnSpc>
              <a:buNone/>
            </a:pPr>
            <a:r>
              <a:rPr lang="en-US" sz="7000" kern="0" spc="-420" dirty="0">
                <a:solidFill>
                  <a:srgbClr val="050C29">
                    <a:alpha val="100000"/>
                  </a:srgbClr>
                </a:solidFill>
                <a:latin typeface="Inter Medium" pitchFamily="34" charset="0"/>
                <a:ea typeface="Inter Medium" pitchFamily="34" charset="-122"/>
                <a:cs typeface="Inter Medium" pitchFamily="34" charset="-120"/>
              </a:rPr>
              <a:t>3m 45s</a:t>
            </a:r>
            <a:endParaRPr lang="en-US" sz="7000" dirty="0"/>
          </a:p>
        </p:txBody>
      </p:sp>
      <p:sp>
        <p:nvSpPr>
          <p:cNvPr id="31" name="Text 22"/>
          <p:cNvSpPr/>
          <p:nvPr/>
        </p:nvSpPr>
        <p:spPr>
          <a:xfrm>
            <a:off x="19547743" y="3746500"/>
            <a:ext cx="3048381" cy="558800"/>
          </a:xfrm>
          <a:prstGeom prst="rect">
            <a:avLst/>
          </a:prstGeom>
          <a:noFill/>
          <a:ln/>
        </p:spPr>
        <p:txBody>
          <a:bodyPr wrap="square" lIns="0" tIns="0" rIns="0" bIns="0" rtlCol="0" anchor="t"/>
          <a:lstStyle/>
          <a:p>
            <a:pPr marL="0" indent="0" algn="l">
              <a:lnSpc>
                <a:spcPts val="3600"/>
              </a:lnSpc>
              <a:buNone/>
            </a:pPr>
            <a:r>
              <a:rPr lang="en-US" sz="2400" kern="0" spc="-48" dirty="0">
                <a:solidFill>
                  <a:srgbClr val="000000">
                    <a:alpha val="100000"/>
                  </a:srgbClr>
                </a:solidFill>
                <a:latin typeface="Inter Regular" pitchFamily="34" charset="0"/>
                <a:ea typeface="Inter Regular" pitchFamily="34" charset="-122"/>
                <a:cs typeface="Inter Regular" pitchFamily="34" charset="-120"/>
              </a:rPr>
              <a:t>Time on Task (avg)</a:t>
            </a: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79D471F4-D5E2-0A66-A135-8C607BC8D041}"/>
              </a:ext>
            </a:extLst>
          </p:cNvPr>
          <p:cNvSpPr/>
          <p:nvPr/>
        </p:nvSpPr>
        <p:spPr>
          <a:xfrm>
            <a:off x="0" y="0"/>
            <a:ext cx="24387175" cy="13716000"/>
          </a:xfrm>
          <a:prstGeom prst="rect">
            <a:avLst/>
          </a:prstGeom>
          <a:gradFill flip="none" rotWithShape="1">
            <a:gsLst>
              <a:gs pos="0">
                <a:srgbClr val="EFEFEF"/>
              </a:gs>
              <a:gs pos="76000">
                <a:srgbClr val="FFFFFF"/>
              </a:gs>
            </a:gsLst>
            <a:lin ang="16200000" scaled="0"/>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sz="100"/>
          </a:p>
        </p:txBody>
      </p:sp>
      <p:sp>
        <p:nvSpPr>
          <p:cNvPr id="3" name="Text 0"/>
          <p:cNvSpPr/>
          <p:nvPr/>
        </p:nvSpPr>
        <p:spPr>
          <a:xfrm>
            <a:off x="1524191" y="1354667"/>
            <a:ext cx="8188290" cy="2777067"/>
          </a:xfrm>
          <a:prstGeom prst="rect">
            <a:avLst/>
          </a:prstGeom>
          <a:noFill/>
          <a:ln/>
        </p:spPr>
        <p:txBody>
          <a:bodyPr wrap="square" lIns="0" tIns="0" rIns="0" bIns="0" rtlCol="0" anchor="ctr"/>
          <a:lstStyle/>
          <a:p>
            <a:pPr marL="0" indent="0" algn="l">
              <a:lnSpc>
                <a:spcPts val="9600"/>
              </a:lnSpc>
              <a:buNone/>
            </a:pPr>
            <a:r>
              <a:rPr lang="en-US" sz="8000" kern="0" spc="-480" dirty="0">
                <a:solidFill>
                  <a:srgbClr val="050C29">
                    <a:alpha val="100000"/>
                  </a:srgbClr>
                </a:solidFill>
                <a:latin typeface="Inter Medium" pitchFamily="34" charset="0"/>
                <a:ea typeface="Inter Medium" pitchFamily="34" charset="-122"/>
                <a:cs typeface="Inter Medium" pitchFamily="34" charset="-120"/>
              </a:rPr>
              <a:t>UX Heatmap Highlights</a:t>
            </a:r>
            <a:endParaRPr lang="en-US" sz="8000" dirty="0"/>
          </a:p>
        </p:txBody>
      </p:sp>
      <p:sp>
        <p:nvSpPr>
          <p:cNvPr id="4" name="Text 1"/>
          <p:cNvSpPr/>
          <p:nvPr/>
        </p:nvSpPr>
        <p:spPr>
          <a:xfrm>
            <a:off x="12320540" y="1481667"/>
            <a:ext cx="10626995" cy="1227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Heatmaps allowed us to visualize real user interactions across key screens. By tracking clicks, scroll depth, and bounce points, we identified critical usability gaps and areas where user attention did not align with intended actions.</a:t>
            </a:r>
            <a:endParaRPr lang="en-US" sz="2000" dirty="0"/>
          </a:p>
        </p:txBody>
      </p:sp>
      <p:sp>
        <p:nvSpPr>
          <p:cNvPr id="5" name="Text 2"/>
          <p:cNvSpPr/>
          <p:nvPr/>
        </p:nvSpPr>
        <p:spPr>
          <a:xfrm>
            <a:off x="15025978" y="4796367"/>
            <a:ext cx="7375388" cy="465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050C29">
                    <a:alpha val="100000"/>
                  </a:srgbClr>
                </a:solidFill>
                <a:latin typeface="Inter Medium" pitchFamily="34" charset="0"/>
                <a:ea typeface="Inter Medium" pitchFamily="34" charset="-122"/>
                <a:cs typeface="Inter Medium" pitchFamily="34" charset="-120"/>
              </a:rPr>
              <a:t>Homepage</a:t>
            </a:r>
            <a:endParaRPr lang="en-US" sz="2000" dirty="0"/>
          </a:p>
        </p:txBody>
      </p:sp>
      <p:sp>
        <p:nvSpPr>
          <p:cNvPr id="6" name="Text 3"/>
          <p:cNvSpPr/>
          <p:nvPr/>
        </p:nvSpPr>
        <p:spPr>
          <a:xfrm>
            <a:off x="15025978" y="5177367"/>
            <a:ext cx="7375388" cy="465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050C29">
                    <a:alpha val="100000"/>
                  </a:srgbClr>
                </a:solidFill>
                <a:latin typeface="Inter Regular" pitchFamily="34" charset="0"/>
                <a:ea typeface="Inter Regular" pitchFamily="34" charset="-122"/>
                <a:cs typeface="Inter Regular" pitchFamily="34" charset="-120"/>
              </a:rPr>
              <a:t>Users clicking heavily on secondary links instead of CTA.</a:t>
            </a:r>
            <a:endParaRPr lang="en-US" sz="2000" dirty="0"/>
          </a:p>
        </p:txBody>
      </p:sp>
      <p:sp>
        <p:nvSpPr>
          <p:cNvPr id="7" name="Text 4"/>
          <p:cNvSpPr/>
          <p:nvPr/>
        </p:nvSpPr>
        <p:spPr>
          <a:xfrm>
            <a:off x="15025978" y="5786967"/>
            <a:ext cx="7375388" cy="465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050C29">
                    <a:alpha val="100000"/>
                  </a:srgbClr>
                </a:solidFill>
                <a:latin typeface="Inter Medium" pitchFamily="34" charset="0"/>
                <a:ea typeface="Inter Medium" pitchFamily="34" charset="-122"/>
                <a:cs typeface="Inter Medium" pitchFamily="34" charset="-120"/>
              </a:rPr>
              <a:t>Onboarding</a:t>
            </a:r>
            <a:endParaRPr lang="en-US" sz="2000" dirty="0"/>
          </a:p>
        </p:txBody>
      </p:sp>
      <p:sp>
        <p:nvSpPr>
          <p:cNvPr id="8" name="Text 5"/>
          <p:cNvSpPr/>
          <p:nvPr/>
        </p:nvSpPr>
        <p:spPr>
          <a:xfrm>
            <a:off x="15025978" y="6167967"/>
            <a:ext cx="6765712" cy="846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050C29">
                    <a:alpha val="100000"/>
                  </a:srgbClr>
                </a:solidFill>
                <a:latin typeface="Inter Regular" pitchFamily="34" charset="0"/>
                <a:ea typeface="Inter Regular" pitchFamily="34" charset="-122"/>
                <a:cs typeface="Inter Regular" pitchFamily="34" charset="-120"/>
              </a:rPr>
              <a:t>Form field confusion users click repeatedly outside expected flows.</a:t>
            </a:r>
            <a:endParaRPr lang="en-US" sz="2000" dirty="0"/>
          </a:p>
        </p:txBody>
      </p:sp>
      <p:sp>
        <p:nvSpPr>
          <p:cNvPr id="9" name="Text 6"/>
          <p:cNvSpPr/>
          <p:nvPr/>
        </p:nvSpPr>
        <p:spPr>
          <a:xfrm>
            <a:off x="15025978" y="7158567"/>
            <a:ext cx="7375388" cy="465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050C29">
                    <a:alpha val="100000"/>
                  </a:srgbClr>
                </a:solidFill>
                <a:latin typeface="Inter Medium" pitchFamily="34" charset="0"/>
                <a:ea typeface="Inter Medium" pitchFamily="34" charset="-122"/>
                <a:cs typeface="Inter Medium" pitchFamily="34" charset="-120"/>
              </a:rPr>
              <a:t>Checkout Page</a:t>
            </a:r>
            <a:endParaRPr lang="en-US" sz="2000" dirty="0"/>
          </a:p>
        </p:txBody>
      </p:sp>
      <p:sp>
        <p:nvSpPr>
          <p:cNvPr id="10" name="Text 7"/>
          <p:cNvSpPr/>
          <p:nvPr/>
        </p:nvSpPr>
        <p:spPr>
          <a:xfrm>
            <a:off x="15025978" y="7539567"/>
            <a:ext cx="6308455" cy="1227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050C29">
                    <a:alpha val="100000"/>
                  </a:srgbClr>
                </a:solidFill>
                <a:latin typeface="Inter Regular" pitchFamily="34" charset="0"/>
                <a:ea typeface="Inter Regular" pitchFamily="34" charset="-122"/>
                <a:cs typeface="Inter Regular" pitchFamily="34" charset="-120"/>
              </a:rPr>
              <a:t>Important CTA button (e.g., "Complete Purchase") is under-clicked compared to other less important areas.</a:t>
            </a:r>
            <a:endParaRPr lang="en-US" sz="2000" dirty="0"/>
          </a:p>
        </p:txBody>
      </p:sp>
      <p:pic>
        <p:nvPicPr>
          <p:cNvPr id="11" name="Image 1"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524191" y="12103100"/>
            <a:ext cx="5144143" cy="50800"/>
          </a:xfrm>
          <a:prstGeom prst="rect">
            <a:avLst/>
          </a:prstGeom>
        </p:spPr>
      </p:pic>
      <p:sp>
        <p:nvSpPr>
          <p:cNvPr id="12" name="Text 8"/>
          <p:cNvSpPr/>
          <p:nvPr/>
        </p:nvSpPr>
        <p:spPr>
          <a:xfrm>
            <a:off x="12320540" y="11895667"/>
            <a:ext cx="10626995" cy="465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B9B9B9">
                    <a:alpha val="100000"/>
                  </a:srgbClr>
                </a:solidFill>
                <a:latin typeface="Inter Medium" pitchFamily="34" charset="0"/>
                <a:ea typeface="Inter Medium" pitchFamily="34" charset="-122"/>
                <a:cs typeface="Inter Medium" pitchFamily="34" charset="-120"/>
              </a:rPr>
              <a:t>“Users vote with their clicks. Heatmaps show where we win—or lose—their attention.”</a:t>
            </a:r>
            <a:endParaRPr lang="en-US" sz="2000" dirty="0"/>
          </a:p>
        </p:txBody>
      </p:sp>
      <p:sp>
        <p:nvSpPr>
          <p:cNvPr id="13" name="Shape 9"/>
          <p:cNvSpPr/>
          <p:nvPr/>
        </p:nvSpPr>
        <p:spPr>
          <a:xfrm>
            <a:off x="15025978" y="9461500"/>
            <a:ext cx="254032" cy="254000"/>
          </a:xfrm>
          <a:prstGeom prst="ellipse">
            <a:avLst/>
          </a:prstGeom>
          <a:solidFill>
            <a:srgbClr val="FFA8A8">
              <a:alpha val="100000"/>
            </a:srgbClr>
          </a:solidFill>
          <a:ln/>
        </p:spPr>
        <p:txBody>
          <a:bodyPr/>
          <a:lstStyle/>
          <a:p>
            <a:endParaRPr lang="en-ID"/>
          </a:p>
        </p:txBody>
      </p:sp>
      <p:sp>
        <p:nvSpPr>
          <p:cNvPr id="14" name="Text 10"/>
          <p:cNvSpPr/>
          <p:nvPr/>
        </p:nvSpPr>
        <p:spPr>
          <a:xfrm>
            <a:off x="15407026" y="9355667"/>
            <a:ext cx="1519957" cy="465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Scroll Depth</a:t>
            </a:r>
            <a:endParaRPr lang="en-US" sz="2000" dirty="0"/>
          </a:p>
        </p:txBody>
      </p:sp>
      <p:sp>
        <p:nvSpPr>
          <p:cNvPr id="2" name="Shape 0">
            <a:extLst>
              <a:ext uri="{FF2B5EF4-FFF2-40B4-BE49-F238E27FC236}">
                <a16:creationId xmlns:a16="http://schemas.microsoft.com/office/drawing/2014/main" id="{869395D8-AF1E-D098-C9C8-F6179E15649B}"/>
              </a:ext>
            </a:extLst>
          </p:cNvPr>
          <p:cNvSpPr/>
          <p:nvPr/>
        </p:nvSpPr>
        <p:spPr>
          <a:xfrm>
            <a:off x="5962650" y="4398434"/>
            <a:ext cx="1162050" cy="682020"/>
          </a:xfrm>
          <a:prstGeom prst="roundRect">
            <a:avLst>
              <a:gd name="adj" fmla="val 50000"/>
            </a:avLst>
          </a:prstGeom>
          <a:pattFill prst="wdDnDiag">
            <a:fgClr>
              <a:srgbClr val="AAE2E0"/>
            </a:fgClr>
            <a:bgClr>
              <a:srgbClr val="F0FBFA"/>
            </a:bgClr>
          </a:pattFill>
          <a:ln/>
        </p:spPr>
        <p:txBody>
          <a:bodyPr/>
          <a:lstStyle/>
          <a:p>
            <a:endParaRPr lang="en-ID" sz="100"/>
          </a:p>
        </p:txBody>
      </p:sp>
      <p:sp>
        <p:nvSpPr>
          <p:cNvPr id="15" name="Shape 11"/>
          <p:cNvSpPr/>
          <p:nvPr/>
        </p:nvSpPr>
        <p:spPr>
          <a:xfrm>
            <a:off x="15025978" y="9944100"/>
            <a:ext cx="254032" cy="254000"/>
          </a:xfrm>
          <a:prstGeom prst="ellipse">
            <a:avLst/>
          </a:prstGeom>
          <a:solidFill>
            <a:srgbClr val="5993FF">
              <a:alpha val="100000"/>
            </a:srgbClr>
          </a:solidFill>
          <a:ln/>
        </p:spPr>
        <p:txBody>
          <a:bodyPr/>
          <a:lstStyle/>
          <a:p>
            <a:endParaRPr lang="en-ID"/>
          </a:p>
        </p:txBody>
      </p:sp>
      <p:sp>
        <p:nvSpPr>
          <p:cNvPr id="16" name="Text 12"/>
          <p:cNvSpPr/>
          <p:nvPr/>
        </p:nvSpPr>
        <p:spPr>
          <a:xfrm>
            <a:off x="15407026" y="9838267"/>
            <a:ext cx="1812093" cy="465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CTA Click Rate</a:t>
            </a:r>
            <a:endParaRPr lang="en-US" sz="2000" dirty="0"/>
          </a:p>
        </p:txBody>
      </p:sp>
      <p:sp>
        <p:nvSpPr>
          <p:cNvPr id="17" name="Shape 13"/>
          <p:cNvSpPr/>
          <p:nvPr/>
        </p:nvSpPr>
        <p:spPr>
          <a:xfrm>
            <a:off x="15025978" y="10426700"/>
            <a:ext cx="254032" cy="254000"/>
          </a:xfrm>
          <a:prstGeom prst="ellipse">
            <a:avLst/>
          </a:prstGeom>
          <a:solidFill>
            <a:srgbClr val="F88A24">
              <a:alpha val="100000"/>
            </a:srgbClr>
          </a:solidFill>
          <a:ln/>
        </p:spPr>
        <p:txBody>
          <a:bodyPr/>
          <a:lstStyle/>
          <a:p>
            <a:endParaRPr lang="en-ID"/>
          </a:p>
        </p:txBody>
      </p:sp>
      <p:sp>
        <p:nvSpPr>
          <p:cNvPr id="18" name="Text 14"/>
          <p:cNvSpPr/>
          <p:nvPr/>
        </p:nvSpPr>
        <p:spPr>
          <a:xfrm>
            <a:off x="15407026" y="10320867"/>
            <a:ext cx="2752011" cy="465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Unexpected Click Rate</a:t>
            </a:r>
            <a:endParaRPr lang="en-US" sz="2000" dirty="0"/>
          </a:p>
        </p:txBody>
      </p:sp>
      <p:grpSp>
        <p:nvGrpSpPr>
          <p:cNvPr id="51" name="Group 50">
            <a:extLst>
              <a:ext uri="{FF2B5EF4-FFF2-40B4-BE49-F238E27FC236}">
                <a16:creationId xmlns:a16="http://schemas.microsoft.com/office/drawing/2014/main" id="{88A6F614-05C8-212F-03B1-70CD130F6A69}"/>
              </a:ext>
            </a:extLst>
          </p:cNvPr>
          <p:cNvGrpSpPr/>
          <p:nvPr/>
        </p:nvGrpSpPr>
        <p:grpSpPr>
          <a:xfrm>
            <a:off x="1524191" y="4724400"/>
            <a:ext cx="12117314" cy="6350000"/>
            <a:chOff x="1524191" y="4724400"/>
            <a:chExt cx="12117314" cy="6350000"/>
          </a:xfrm>
        </p:grpSpPr>
        <p:pic>
          <p:nvPicPr>
            <p:cNvPr id="19" name="Image 2"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248181" y="5067300"/>
              <a:ext cx="10669334" cy="25400"/>
            </a:xfrm>
            <a:prstGeom prst="rect">
              <a:avLst/>
            </a:prstGeom>
          </p:spPr>
        </p:pic>
        <p:pic>
          <p:nvPicPr>
            <p:cNvPr id="20" name="Image 3"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248181" y="6007100"/>
              <a:ext cx="10669334" cy="25400"/>
            </a:xfrm>
            <a:prstGeom prst="rect">
              <a:avLst/>
            </a:prstGeom>
          </p:spPr>
        </p:pic>
        <p:pic>
          <p:nvPicPr>
            <p:cNvPr id="21" name="Image 4"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248181" y="6946900"/>
              <a:ext cx="10669334" cy="25400"/>
            </a:xfrm>
            <a:prstGeom prst="rect">
              <a:avLst/>
            </a:prstGeom>
          </p:spPr>
        </p:pic>
        <p:pic>
          <p:nvPicPr>
            <p:cNvPr id="22" name="Image 5"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248181" y="7886700"/>
              <a:ext cx="10669334" cy="25400"/>
            </a:xfrm>
            <a:prstGeom prst="rect">
              <a:avLst/>
            </a:prstGeom>
          </p:spPr>
        </p:pic>
        <p:pic>
          <p:nvPicPr>
            <p:cNvPr id="23" name="Image 6"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248181" y="8826500"/>
              <a:ext cx="10669334" cy="25400"/>
            </a:xfrm>
            <a:prstGeom prst="rect">
              <a:avLst/>
            </a:prstGeom>
          </p:spPr>
        </p:pic>
        <p:pic>
          <p:nvPicPr>
            <p:cNvPr id="24" name="Image 7"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248181" y="9766300"/>
              <a:ext cx="10669334" cy="25400"/>
            </a:xfrm>
            <a:prstGeom prst="rect">
              <a:avLst/>
            </a:prstGeom>
          </p:spPr>
        </p:pic>
        <p:pic>
          <p:nvPicPr>
            <p:cNvPr id="25" name="Image 8"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248181" y="10706100"/>
              <a:ext cx="10669334" cy="25400"/>
            </a:xfrm>
            <a:prstGeom prst="rect">
              <a:avLst/>
            </a:prstGeom>
          </p:spPr>
        </p:pic>
        <p:pic>
          <p:nvPicPr>
            <p:cNvPr id="26" name="Image 9" descr=" "/>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524191" y="4724400"/>
              <a:ext cx="12117314" cy="6350000"/>
            </a:xfrm>
            <a:prstGeom prst="rect">
              <a:avLst/>
            </a:prstGeom>
          </p:spPr>
        </p:pic>
      </p:grpSp>
      <p:graphicFrame>
        <p:nvGraphicFramePr>
          <p:cNvPr id="50" name="Chart 49">
            <a:extLst>
              <a:ext uri="{FF2B5EF4-FFF2-40B4-BE49-F238E27FC236}">
                <a16:creationId xmlns:a16="http://schemas.microsoft.com/office/drawing/2014/main" id="{44B5218F-56E2-549E-F221-F0A5FEBFA289}"/>
              </a:ext>
            </a:extLst>
          </p:cNvPr>
          <p:cNvGraphicFramePr/>
          <p:nvPr>
            <p:extLst>
              <p:ext uri="{D42A27DB-BD31-4B8C-83A1-F6EECF244321}">
                <p14:modId xmlns:p14="http://schemas.microsoft.com/office/powerpoint/2010/main" val="4219016907"/>
              </p:ext>
            </p:extLst>
          </p:nvPr>
        </p:nvGraphicFramePr>
        <p:xfrm>
          <a:off x="1179956" y="4072467"/>
          <a:ext cx="12371610" cy="7628467"/>
        </p:xfrm>
        <a:graphic>
          <a:graphicData uri="http://schemas.openxmlformats.org/drawingml/2006/chart">
            <c:chart xmlns:c="http://schemas.openxmlformats.org/drawingml/2006/chart" xmlns:r="http://schemas.openxmlformats.org/officeDocument/2006/relationships" r:id="rId9"/>
          </a:graphicData>
        </a:graphic>
      </p:graphicFrame>
      <p:sp>
        <p:nvSpPr>
          <p:cNvPr id="46" name="Text 27"/>
          <p:cNvSpPr/>
          <p:nvPr/>
        </p:nvSpPr>
        <p:spPr>
          <a:xfrm>
            <a:off x="6236479" y="4457700"/>
            <a:ext cx="778577" cy="651480"/>
          </a:xfrm>
          <a:prstGeom prst="rect">
            <a:avLst/>
          </a:prstGeom>
          <a:noFill/>
          <a:ln/>
        </p:spPr>
        <p:txBody>
          <a:bodyPr wrap="square" lIns="0" tIns="0" rIns="0" bIns="0" rtlCol="0" anchor="t"/>
          <a:lstStyle/>
          <a:p>
            <a:pPr marL="0" indent="0" algn="l">
              <a:lnSpc>
                <a:spcPts val="4184"/>
              </a:lnSpc>
              <a:buNone/>
            </a:pPr>
            <a:r>
              <a:rPr lang="en-US" sz="2789" kern="0" spc="-56" dirty="0">
                <a:solidFill>
                  <a:srgbClr val="050C29">
                    <a:alpha val="100000"/>
                  </a:srgbClr>
                </a:solidFill>
                <a:latin typeface="Inter Medium" pitchFamily="34" charset="0"/>
                <a:ea typeface="Inter Medium" pitchFamily="34" charset="-122"/>
                <a:cs typeface="Inter Medium" pitchFamily="34" charset="-120"/>
              </a:rPr>
              <a:t>70+</a:t>
            </a:r>
            <a:endParaRPr lang="en-US" sz="2789"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D6CF3A3B-0943-D5FC-F79F-0FA9AFF7A052}"/>
              </a:ext>
            </a:extLst>
          </p:cNvPr>
          <p:cNvSpPr/>
          <p:nvPr/>
        </p:nvSpPr>
        <p:spPr>
          <a:xfrm>
            <a:off x="0" y="0"/>
            <a:ext cx="24387175" cy="13716000"/>
          </a:xfrm>
          <a:prstGeom prst="rect">
            <a:avLst/>
          </a:prstGeom>
          <a:gradFill flip="none" rotWithShape="1">
            <a:gsLst>
              <a:gs pos="0">
                <a:srgbClr val="EFEFEF"/>
              </a:gs>
              <a:gs pos="76000">
                <a:srgbClr val="FFFFFF"/>
              </a:gs>
            </a:gsLst>
            <a:lin ang="16200000" scaled="0"/>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sz="100"/>
          </a:p>
        </p:txBody>
      </p:sp>
      <p:sp>
        <p:nvSpPr>
          <p:cNvPr id="3" name="Text 0"/>
          <p:cNvSpPr/>
          <p:nvPr/>
        </p:nvSpPr>
        <p:spPr>
          <a:xfrm>
            <a:off x="1524191" y="7450667"/>
            <a:ext cx="9128208" cy="2777067"/>
          </a:xfrm>
          <a:prstGeom prst="rect">
            <a:avLst/>
          </a:prstGeom>
          <a:noFill/>
          <a:ln/>
        </p:spPr>
        <p:txBody>
          <a:bodyPr wrap="square" lIns="0" tIns="0" rIns="0" bIns="0" rtlCol="0" anchor="ctr"/>
          <a:lstStyle/>
          <a:p>
            <a:pPr marL="0" indent="0" algn="l">
              <a:lnSpc>
                <a:spcPts val="9600"/>
              </a:lnSpc>
              <a:buNone/>
            </a:pPr>
            <a:r>
              <a:rPr lang="en-US" sz="8000" kern="0" spc="-480" dirty="0">
                <a:solidFill>
                  <a:srgbClr val="050C29">
                    <a:alpha val="100000"/>
                  </a:srgbClr>
                </a:solidFill>
                <a:latin typeface="Inter Medium" pitchFamily="34" charset="0"/>
                <a:ea typeface="Inter Medium" pitchFamily="34" charset="-122"/>
                <a:cs typeface="Inter Medium" pitchFamily="34" charset="-120"/>
              </a:rPr>
              <a:t>Heuristic Evaluation Summary</a:t>
            </a:r>
            <a:endParaRPr lang="en-US" sz="8000" dirty="0"/>
          </a:p>
        </p:txBody>
      </p:sp>
      <p:sp>
        <p:nvSpPr>
          <p:cNvPr id="4" name="Text 1"/>
          <p:cNvSpPr/>
          <p:nvPr/>
        </p:nvSpPr>
        <p:spPr>
          <a:xfrm>
            <a:off x="1524191" y="10498667"/>
            <a:ext cx="7921557" cy="1608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We conducted a heuristic evaluation using Nielsen’s 10 Usability Heuristics as a framework. Each principle was scored based on observed compliance, with color coding to prioritize areas for improvement. </a:t>
            </a:r>
            <a:endParaRPr lang="en-US" sz="2000" dirty="0"/>
          </a:p>
        </p:txBody>
      </p:sp>
      <p:sp>
        <p:nvSpPr>
          <p:cNvPr id="5" name="Text 2"/>
          <p:cNvSpPr/>
          <p:nvPr/>
        </p:nvSpPr>
        <p:spPr>
          <a:xfrm>
            <a:off x="1524191" y="1481667"/>
            <a:ext cx="7934258" cy="846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“Heuristics act like a checklist for UX health and ours revealed clear opportunities to strengthen the experience.”</a:t>
            </a:r>
            <a:endParaRPr lang="en-US" sz="2000" dirty="0"/>
          </a:p>
        </p:txBody>
      </p:sp>
      <p:sp>
        <p:nvSpPr>
          <p:cNvPr id="6" name="Shape 3"/>
          <p:cNvSpPr/>
          <p:nvPr/>
        </p:nvSpPr>
        <p:spPr>
          <a:xfrm>
            <a:off x="10948768" y="3937000"/>
            <a:ext cx="1651206" cy="1651000"/>
          </a:xfrm>
          <a:prstGeom prst="ellipse">
            <a:avLst/>
          </a:prstGeom>
          <a:solidFill>
            <a:srgbClr val="FFA8A8">
              <a:alpha val="100000"/>
            </a:srgbClr>
          </a:solidFill>
          <a:ln/>
        </p:spPr>
        <p:txBody>
          <a:bodyPr/>
          <a:lstStyle/>
          <a:p>
            <a:endParaRPr lang="en-ID"/>
          </a:p>
        </p:txBody>
      </p:sp>
      <p:sp>
        <p:nvSpPr>
          <p:cNvPr id="7" name="Shape 4"/>
          <p:cNvSpPr/>
          <p:nvPr/>
        </p:nvSpPr>
        <p:spPr>
          <a:xfrm>
            <a:off x="10948768" y="7188200"/>
            <a:ext cx="1651206" cy="1651000"/>
          </a:xfrm>
          <a:prstGeom prst="ellipse">
            <a:avLst/>
          </a:prstGeom>
          <a:solidFill>
            <a:srgbClr val="5993FF">
              <a:alpha val="100000"/>
            </a:srgbClr>
          </a:solidFill>
          <a:ln/>
        </p:spPr>
        <p:txBody>
          <a:bodyPr/>
          <a:lstStyle/>
          <a:p>
            <a:endParaRPr lang="en-ID"/>
          </a:p>
        </p:txBody>
      </p:sp>
      <p:sp>
        <p:nvSpPr>
          <p:cNvPr id="8" name="Shape 5"/>
          <p:cNvSpPr/>
          <p:nvPr/>
        </p:nvSpPr>
        <p:spPr>
          <a:xfrm>
            <a:off x="10948768" y="10439400"/>
            <a:ext cx="1651206" cy="1651000"/>
          </a:xfrm>
          <a:prstGeom prst="ellipse">
            <a:avLst/>
          </a:prstGeom>
          <a:solidFill>
            <a:srgbClr val="F88A24">
              <a:alpha val="100000"/>
            </a:srgbClr>
          </a:solidFill>
          <a:ln/>
        </p:spPr>
        <p:txBody>
          <a:bodyPr/>
          <a:lstStyle/>
          <a:p>
            <a:endParaRPr lang="en-ID"/>
          </a:p>
        </p:txBody>
      </p:sp>
      <p:sp>
        <p:nvSpPr>
          <p:cNvPr id="9" name="Text 6"/>
          <p:cNvSpPr/>
          <p:nvPr/>
        </p:nvSpPr>
        <p:spPr>
          <a:xfrm>
            <a:off x="11450481" y="4529667"/>
            <a:ext cx="732458" cy="465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Good</a:t>
            </a:r>
            <a:endParaRPr lang="en-US" sz="2000" dirty="0"/>
          </a:p>
        </p:txBody>
      </p:sp>
      <p:sp>
        <p:nvSpPr>
          <p:cNvPr id="10" name="Text 7"/>
          <p:cNvSpPr/>
          <p:nvPr/>
        </p:nvSpPr>
        <p:spPr>
          <a:xfrm>
            <a:off x="13184248" y="4021667"/>
            <a:ext cx="4542934" cy="465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Match between system and real world</a:t>
            </a:r>
            <a:endParaRPr lang="en-US" sz="2000" dirty="0"/>
          </a:p>
        </p:txBody>
      </p:sp>
      <p:sp>
        <p:nvSpPr>
          <p:cNvPr id="11" name="Text 8"/>
          <p:cNvSpPr/>
          <p:nvPr/>
        </p:nvSpPr>
        <p:spPr>
          <a:xfrm>
            <a:off x="13184248" y="4529667"/>
            <a:ext cx="4542934" cy="465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Recognition rather than recall</a:t>
            </a:r>
            <a:endParaRPr lang="en-US" sz="2000" dirty="0"/>
          </a:p>
        </p:txBody>
      </p:sp>
      <p:sp>
        <p:nvSpPr>
          <p:cNvPr id="12" name="Text 9"/>
          <p:cNvSpPr/>
          <p:nvPr/>
        </p:nvSpPr>
        <p:spPr>
          <a:xfrm>
            <a:off x="13184248" y="5037667"/>
            <a:ext cx="4542934" cy="465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Aesthetic and minimalist design</a:t>
            </a:r>
            <a:endParaRPr lang="en-US" sz="2000" dirty="0"/>
          </a:p>
        </p:txBody>
      </p:sp>
      <p:sp>
        <p:nvSpPr>
          <p:cNvPr id="13" name="Text 10"/>
          <p:cNvSpPr/>
          <p:nvPr/>
        </p:nvSpPr>
        <p:spPr>
          <a:xfrm>
            <a:off x="18493511" y="4021667"/>
            <a:ext cx="3945960" cy="465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000000">
                    <a:alpha val="100000"/>
                  </a:srgbClr>
                </a:solidFill>
                <a:latin typeface="Inter Regular" pitchFamily="34" charset="0"/>
                <a:ea typeface="Inter Regular" pitchFamily="34" charset="-122"/>
                <a:cs typeface="Inter Regular" pitchFamily="34" charset="-120"/>
              </a:rPr>
              <a:t>Language mostly user-centered</a:t>
            </a:r>
            <a:endParaRPr lang="en-US" sz="2000" dirty="0"/>
          </a:p>
        </p:txBody>
      </p:sp>
      <p:sp>
        <p:nvSpPr>
          <p:cNvPr id="14" name="Text 11"/>
          <p:cNvSpPr/>
          <p:nvPr/>
        </p:nvSpPr>
        <p:spPr>
          <a:xfrm>
            <a:off x="18493511" y="4529667"/>
            <a:ext cx="3945960" cy="465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000000">
                    <a:alpha val="100000"/>
                  </a:srgbClr>
                </a:solidFill>
                <a:latin typeface="Inter Regular" pitchFamily="34" charset="0"/>
                <a:ea typeface="Inter Regular" pitchFamily="34" charset="-122"/>
                <a:cs typeface="Inter Regular" pitchFamily="34" charset="-120"/>
              </a:rPr>
              <a:t>Clear menu options</a:t>
            </a:r>
            <a:endParaRPr lang="en-US" sz="2000" dirty="0"/>
          </a:p>
        </p:txBody>
      </p:sp>
      <p:sp>
        <p:nvSpPr>
          <p:cNvPr id="15" name="Text 12"/>
          <p:cNvSpPr/>
          <p:nvPr/>
        </p:nvSpPr>
        <p:spPr>
          <a:xfrm>
            <a:off x="18493511" y="5037667"/>
            <a:ext cx="3945960" cy="465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000000">
                    <a:alpha val="100000"/>
                  </a:srgbClr>
                </a:solidFill>
                <a:latin typeface="Inter Regular" pitchFamily="34" charset="0"/>
                <a:ea typeface="Inter Regular" pitchFamily="34" charset="-122"/>
                <a:cs typeface="Inter Regular" pitchFamily="34" charset="-120"/>
              </a:rPr>
              <a:t>Clean layout, minimal distractions</a:t>
            </a:r>
            <a:endParaRPr lang="en-US" sz="2000" dirty="0"/>
          </a:p>
        </p:txBody>
      </p:sp>
      <p:pic>
        <p:nvPicPr>
          <p:cNvPr id="16" name="Image 1"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948768" y="6381750"/>
            <a:ext cx="11914089" cy="12700"/>
          </a:xfrm>
          <a:prstGeom prst="rect">
            <a:avLst/>
          </a:prstGeom>
        </p:spPr>
      </p:pic>
      <p:sp>
        <p:nvSpPr>
          <p:cNvPr id="17" name="Text 13"/>
          <p:cNvSpPr/>
          <p:nvPr/>
        </p:nvSpPr>
        <p:spPr>
          <a:xfrm>
            <a:off x="11202800" y="7780867"/>
            <a:ext cx="1227820" cy="465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Moderate</a:t>
            </a:r>
            <a:endParaRPr lang="en-US" sz="2000" dirty="0"/>
          </a:p>
        </p:txBody>
      </p:sp>
      <p:sp>
        <p:nvSpPr>
          <p:cNvPr id="18" name="Text 14"/>
          <p:cNvSpPr/>
          <p:nvPr/>
        </p:nvSpPr>
        <p:spPr>
          <a:xfrm>
            <a:off x="13209651" y="7272867"/>
            <a:ext cx="3679227" cy="465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Visibility of system status</a:t>
            </a:r>
            <a:endParaRPr lang="en-US" sz="2000" dirty="0"/>
          </a:p>
        </p:txBody>
      </p:sp>
      <p:sp>
        <p:nvSpPr>
          <p:cNvPr id="19" name="Text 15"/>
          <p:cNvSpPr/>
          <p:nvPr/>
        </p:nvSpPr>
        <p:spPr>
          <a:xfrm>
            <a:off x="13209651" y="7780867"/>
            <a:ext cx="3679227" cy="465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Consistency and standards</a:t>
            </a:r>
            <a:endParaRPr lang="en-US" sz="2000" dirty="0"/>
          </a:p>
        </p:txBody>
      </p:sp>
      <p:sp>
        <p:nvSpPr>
          <p:cNvPr id="20" name="Text 16"/>
          <p:cNvSpPr/>
          <p:nvPr/>
        </p:nvSpPr>
        <p:spPr>
          <a:xfrm>
            <a:off x="13209651" y="8288867"/>
            <a:ext cx="3679227" cy="465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Flexibility and efficiency of use</a:t>
            </a:r>
            <a:endParaRPr lang="en-US" sz="2000" dirty="0"/>
          </a:p>
        </p:txBody>
      </p:sp>
      <p:sp>
        <p:nvSpPr>
          <p:cNvPr id="21" name="Text 17"/>
          <p:cNvSpPr/>
          <p:nvPr/>
        </p:nvSpPr>
        <p:spPr>
          <a:xfrm>
            <a:off x="18518915" y="7272867"/>
            <a:ext cx="4403217" cy="465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000000">
                    <a:alpha val="100000"/>
                  </a:srgbClr>
                </a:solidFill>
                <a:latin typeface="Inter Regular" pitchFamily="34" charset="0"/>
                <a:ea typeface="Inter Regular" pitchFamily="34" charset="-122"/>
                <a:cs typeface="Inter Regular" pitchFamily="34" charset="-120"/>
              </a:rPr>
              <a:t>Lack of feedback on form submission</a:t>
            </a:r>
            <a:endParaRPr lang="en-US" sz="2000" dirty="0"/>
          </a:p>
        </p:txBody>
      </p:sp>
      <p:sp>
        <p:nvSpPr>
          <p:cNvPr id="22" name="Text 18"/>
          <p:cNvSpPr/>
          <p:nvPr/>
        </p:nvSpPr>
        <p:spPr>
          <a:xfrm>
            <a:off x="18518915" y="7780867"/>
            <a:ext cx="4403217" cy="465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000000">
                    <a:alpha val="100000"/>
                  </a:srgbClr>
                </a:solidFill>
                <a:latin typeface="Inter Regular" pitchFamily="34" charset="0"/>
                <a:ea typeface="Inter Regular" pitchFamily="34" charset="-122"/>
                <a:cs typeface="Inter Regular" pitchFamily="34" charset="-120"/>
              </a:rPr>
              <a:t>Button labeling inconsistencies</a:t>
            </a:r>
            <a:endParaRPr lang="en-US" sz="2000" dirty="0"/>
          </a:p>
        </p:txBody>
      </p:sp>
      <p:sp>
        <p:nvSpPr>
          <p:cNvPr id="23" name="Text 19"/>
          <p:cNvSpPr/>
          <p:nvPr/>
        </p:nvSpPr>
        <p:spPr>
          <a:xfrm>
            <a:off x="18518915" y="8288867"/>
            <a:ext cx="4403217" cy="465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000000">
                    <a:alpha val="100000"/>
                  </a:srgbClr>
                </a:solidFill>
                <a:latin typeface="Inter Regular" pitchFamily="34" charset="0"/>
                <a:ea typeface="Inter Regular" pitchFamily="34" charset="-122"/>
                <a:cs typeface="Inter Regular" pitchFamily="34" charset="-120"/>
              </a:rPr>
              <a:t>No shortcuts for power users</a:t>
            </a:r>
            <a:endParaRPr lang="en-US" sz="2000" dirty="0"/>
          </a:p>
        </p:txBody>
      </p:sp>
      <p:pic>
        <p:nvPicPr>
          <p:cNvPr id="24" name="Image 2"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948768" y="9632950"/>
            <a:ext cx="11914089" cy="12700"/>
          </a:xfrm>
          <a:prstGeom prst="rect">
            <a:avLst/>
          </a:prstGeom>
        </p:spPr>
      </p:pic>
      <p:sp>
        <p:nvSpPr>
          <p:cNvPr id="25" name="Text 20"/>
          <p:cNvSpPr/>
          <p:nvPr/>
        </p:nvSpPr>
        <p:spPr>
          <a:xfrm>
            <a:off x="11361570" y="11032067"/>
            <a:ext cx="910280" cy="465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Critical</a:t>
            </a:r>
            <a:endParaRPr lang="en-US" sz="2000" dirty="0"/>
          </a:p>
        </p:txBody>
      </p:sp>
      <p:sp>
        <p:nvSpPr>
          <p:cNvPr id="26" name="Text 21"/>
          <p:cNvSpPr/>
          <p:nvPr/>
        </p:nvSpPr>
        <p:spPr>
          <a:xfrm>
            <a:off x="13184248" y="10524067"/>
            <a:ext cx="4758861" cy="465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User control and freedom</a:t>
            </a:r>
            <a:endParaRPr lang="en-US" sz="2000" dirty="0"/>
          </a:p>
        </p:txBody>
      </p:sp>
      <p:sp>
        <p:nvSpPr>
          <p:cNvPr id="27" name="Text 22"/>
          <p:cNvSpPr/>
          <p:nvPr/>
        </p:nvSpPr>
        <p:spPr>
          <a:xfrm>
            <a:off x="13184248" y="11032067"/>
            <a:ext cx="4758861" cy="465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Error prevention</a:t>
            </a:r>
            <a:endParaRPr lang="en-US" sz="2000" dirty="0"/>
          </a:p>
        </p:txBody>
      </p:sp>
      <p:sp>
        <p:nvSpPr>
          <p:cNvPr id="28" name="Text 23"/>
          <p:cNvSpPr/>
          <p:nvPr/>
        </p:nvSpPr>
        <p:spPr>
          <a:xfrm>
            <a:off x="13184248" y="11540067"/>
            <a:ext cx="4758861" cy="465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Help users recognize, diagnose, recover</a:t>
            </a:r>
            <a:endParaRPr lang="en-US" sz="2000" dirty="0"/>
          </a:p>
        </p:txBody>
      </p:sp>
      <p:sp>
        <p:nvSpPr>
          <p:cNvPr id="29" name="Text 24"/>
          <p:cNvSpPr/>
          <p:nvPr/>
        </p:nvSpPr>
        <p:spPr>
          <a:xfrm>
            <a:off x="18493511" y="10524067"/>
            <a:ext cx="4288903" cy="465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000000">
                    <a:alpha val="100000"/>
                  </a:srgbClr>
                </a:solidFill>
                <a:latin typeface="Inter Regular" pitchFamily="34" charset="0"/>
                <a:ea typeface="Inter Regular" pitchFamily="34" charset="-122"/>
                <a:cs typeface="Inter Regular" pitchFamily="34" charset="-120"/>
              </a:rPr>
              <a:t>No easy undo for checkout mistakes</a:t>
            </a:r>
            <a:endParaRPr lang="en-US" sz="2000" dirty="0"/>
          </a:p>
        </p:txBody>
      </p:sp>
      <p:sp>
        <p:nvSpPr>
          <p:cNvPr id="30" name="Text 25"/>
          <p:cNvSpPr/>
          <p:nvPr/>
        </p:nvSpPr>
        <p:spPr>
          <a:xfrm>
            <a:off x="18493511" y="11032067"/>
            <a:ext cx="4288903" cy="465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000000">
                    <a:alpha val="100000"/>
                  </a:srgbClr>
                </a:solidFill>
                <a:latin typeface="Inter Regular" pitchFamily="34" charset="0"/>
                <a:ea typeface="Inter Regular" pitchFamily="34" charset="-122"/>
                <a:cs typeface="Inter Regular" pitchFamily="34" charset="-120"/>
              </a:rPr>
              <a:t>No warnings before critical actions</a:t>
            </a:r>
            <a:endParaRPr lang="en-US" sz="2000" dirty="0"/>
          </a:p>
        </p:txBody>
      </p:sp>
      <p:sp>
        <p:nvSpPr>
          <p:cNvPr id="31" name="Text 26"/>
          <p:cNvSpPr/>
          <p:nvPr/>
        </p:nvSpPr>
        <p:spPr>
          <a:xfrm>
            <a:off x="18493511" y="11540067"/>
            <a:ext cx="4288903" cy="465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000000">
                    <a:alpha val="100000"/>
                  </a:srgbClr>
                </a:solidFill>
                <a:latin typeface="Inter Regular" pitchFamily="34" charset="0"/>
                <a:ea typeface="Inter Regular" pitchFamily="34" charset="-122"/>
                <a:cs typeface="Inter Regular" pitchFamily="34" charset="-120"/>
              </a:rPr>
              <a:t>Error messages vague or missing</a:t>
            </a:r>
            <a:endParaRPr lang="en-US" sz="2000" dirty="0"/>
          </a:p>
        </p:txBody>
      </p:sp>
      <p:sp>
        <p:nvSpPr>
          <p:cNvPr id="32" name="Text 27"/>
          <p:cNvSpPr/>
          <p:nvPr/>
        </p:nvSpPr>
        <p:spPr>
          <a:xfrm>
            <a:off x="22113464" y="1524000"/>
            <a:ext cx="838305" cy="558800"/>
          </a:xfrm>
          <a:prstGeom prst="rect">
            <a:avLst/>
          </a:prstGeom>
          <a:noFill/>
          <a:ln/>
        </p:spPr>
        <p:txBody>
          <a:bodyPr wrap="square" lIns="0" tIns="0" rIns="0" bIns="0" rtlCol="0" anchor="t"/>
          <a:lstStyle/>
          <a:p>
            <a:pPr marL="0" indent="0" algn="l">
              <a:lnSpc>
                <a:spcPts val="3600"/>
              </a:lnSpc>
              <a:buNone/>
            </a:pPr>
            <a:r>
              <a:rPr lang="en-US" sz="2400" kern="0" spc="-48" dirty="0">
                <a:solidFill>
                  <a:srgbClr val="000000">
                    <a:alpha val="100000"/>
                  </a:srgbClr>
                </a:solidFill>
                <a:latin typeface="Inter Regular" pitchFamily="34" charset="0"/>
                <a:ea typeface="Inter Regular" pitchFamily="34" charset="-122"/>
                <a:cs typeface="Inter Regular" pitchFamily="34" charset="-120"/>
              </a:rPr>
              <a:t>2025</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90A0B"/>
        </a:solidFill>
        <a:effectLst/>
      </p:bgPr>
    </p:bg>
    <p:spTree>
      <p:nvGrpSpPr>
        <p:cNvPr id="1" name=""/>
        <p:cNvGrpSpPr/>
        <p:nvPr/>
      </p:nvGrpSpPr>
      <p:grpSpPr>
        <a:xfrm>
          <a:off x="0" y="0"/>
          <a:ext cx="0" cy="0"/>
          <a:chOff x="0" y="0"/>
          <a:chExt cx="0" cy="0"/>
        </a:xfrm>
      </p:grpSpPr>
      <p:sp>
        <p:nvSpPr>
          <p:cNvPr id="2" name="Text 0"/>
          <p:cNvSpPr/>
          <p:nvPr/>
        </p:nvSpPr>
        <p:spPr>
          <a:xfrm>
            <a:off x="1473384" y="2815167"/>
            <a:ext cx="8226395" cy="1557867"/>
          </a:xfrm>
          <a:prstGeom prst="rect">
            <a:avLst/>
          </a:prstGeom>
          <a:noFill/>
          <a:ln/>
        </p:spPr>
        <p:txBody>
          <a:bodyPr wrap="square" lIns="0" tIns="0" rIns="0" bIns="0" rtlCol="0" anchor="ctr"/>
          <a:lstStyle/>
          <a:p>
            <a:pPr marL="0" indent="0" algn="l">
              <a:lnSpc>
                <a:spcPts val="9600"/>
              </a:lnSpc>
              <a:buNone/>
            </a:pPr>
            <a:r>
              <a:rPr lang="en-US" sz="8000" kern="0" spc="-480" dirty="0">
                <a:solidFill>
                  <a:srgbClr val="FFFFFF">
                    <a:alpha val="100000"/>
                  </a:srgbClr>
                </a:solidFill>
                <a:latin typeface="Inter Medium" pitchFamily="34" charset="0"/>
                <a:ea typeface="Inter Medium" pitchFamily="34" charset="-122"/>
                <a:cs typeface="Inter Medium" pitchFamily="34" charset="-120"/>
              </a:rPr>
              <a:t>Accessibility Gaps</a:t>
            </a:r>
            <a:endParaRPr lang="en-US" sz="8000" dirty="0"/>
          </a:p>
        </p:txBody>
      </p:sp>
      <p:sp>
        <p:nvSpPr>
          <p:cNvPr id="3" name="Text 1"/>
          <p:cNvSpPr/>
          <p:nvPr/>
        </p:nvSpPr>
        <p:spPr>
          <a:xfrm>
            <a:off x="13260457" y="2942167"/>
            <a:ext cx="9687077" cy="1608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FFFFFF">
                    <a:alpha val="100000"/>
                  </a:srgbClr>
                </a:solidFill>
                <a:latin typeface="Inter Regular" pitchFamily="34" charset="0"/>
                <a:ea typeface="Inter Regular" pitchFamily="34" charset="-122"/>
                <a:cs typeface="Inter Regular" pitchFamily="34" charset="-120"/>
              </a:rPr>
              <a:t>Accessibility isn’t just about compliance it’s about ensuring everyone can navigate and benefit from the product. Our audit highlighted several areas where improvements are needed to meet WCAG (Web Content Accessibility Guidelines) standards.</a:t>
            </a:r>
            <a:endParaRPr lang="en-US" sz="2000" dirty="0"/>
          </a:p>
        </p:txBody>
      </p:sp>
      <p:sp>
        <p:nvSpPr>
          <p:cNvPr id="4" name="Text 2"/>
          <p:cNvSpPr/>
          <p:nvPr/>
        </p:nvSpPr>
        <p:spPr>
          <a:xfrm>
            <a:off x="13260457" y="11552767"/>
            <a:ext cx="9687077" cy="846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FFFFFF">
                    <a:alpha val="100000"/>
                  </a:srgbClr>
                </a:solidFill>
                <a:latin typeface="Inter Medium" pitchFamily="34" charset="0"/>
                <a:ea typeface="Inter Medium" pitchFamily="34" charset="-122"/>
                <a:cs typeface="Inter Medium" pitchFamily="34" charset="-120"/>
              </a:rPr>
              <a:t>“Accessibility isn’t a nice-to-have—it’s a must-have for usability and legal compliance.”</a:t>
            </a:r>
            <a:endParaRPr lang="en-US" sz="2000" dirty="0"/>
          </a:p>
        </p:txBody>
      </p:sp>
      <p:pic>
        <p:nvPicPr>
          <p:cNvPr id="5" name="Image 0"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080210" y="5727700"/>
            <a:ext cx="6401600" cy="4546600"/>
          </a:xfrm>
          <a:prstGeom prst="rect">
            <a:avLst/>
          </a:prstGeom>
        </p:spPr>
      </p:pic>
      <p:sp>
        <p:nvSpPr>
          <p:cNvPr id="6" name="Shape 3"/>
          <p:cNvSpPr/>
          <p:nvPr/>
        </p:nvSpPr>
        <p:spPr>
          <a:xfrm>
            <a:off x="21465683" y="5981700"/>
            <a:ext cx="762095" cy="762000"/>
          </a:xfrm>
          <a:prstGeom prst="ellipse">
            <a:avLst/>
          </a:prstGeom>
          <a:noFill/>
          <a:ln w="50800">
            <a:solidFill>
              <a:srgbClr val="FFFFFF"/>
            </a:solidFill>
            <a:prstDash val="solid"/>
          </a:ln>
        </p:spPr>
        <p:txBody>
          <a:bodyPr/>
          <a:lstStyle/>
          <a:p>
            <a:endParaRPr lang="en-ID"/>
          </a:p>
        </p:txBody>
      </p:sp>
      <p:pic>
        <p:nvPicPr>
          <p:cNvPr id="7" name="Image 1"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1719349" y="6224758"/>
            <a:ext cx="268879" cy="268849"/>
          </a:xfrm>
          <a:prstGeom prst="rect">
            <a:avLst/>
          </a:prstGeom>
        </p:spPr>
      </p:pic>
      <p:pic>
        <p:nvPicPr>
          <p:cNvPr id="8" name="Image 2" descr=" "/>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1751431" y="6214514"/>
            <a:ext cx="247303" cy="242233"/>
          </a:xfrm>
          <a:prstGeom prst="rect">
            <a:avLst/>
          </a:prstGeom>
        </p:spPr>
      </p:pic>
      <p:pic>
        <p:nvPicPr>
          <p:cNvPr id="9" name="Image 3" descr=" "/>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814902" y="5727700"/>
            <a:ext cx="6401600" cy="4546600"/>
          </a:xfrm>
          <a:prstGeom prst="rect">
            <a:avLst/>
          </a:prstGeom>
        </p:spPr>
      </p:pic>
      <p:sp>
        <p:nvSpPr>
          <p:cNvPr id="10" name="Shape 4"/>
          <p:cNvSpPr/>
          <p:nvPr/>
        </p:nvSpPr>
        <p:spPr>
          <a:xfrm>
            <a:off x="14200375" y="5981700"/>
            <a:ext cx="762095" cy="762000"/>
          </a:xfrm>
          <a:prstGeom prst="ellipse">
            <a:avLst/>
          </a:prstGeom>
          <a:noFill/>
          <a:ln w="50800">
            <a:solidFill>
              <a:srgbClr val="FFFFFF"/>
            </a:solidFill>
            <a:prstDash val="solid"/>
          </a:ln>
        </p:spPr>
        <p:txBody>
          <a:bodyPr/>
          <a:lstStyle/>
          <a:p>
            <a:endParaRPr lang="en-ID"/>
          </a:p>
        </p:txBody>
      </p:sp>
      <p:pic>
        <p:nvPicPr>
          <p:cNvPr id="11" name="Image 4"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4454041" y="6224758"/>
            <a:ext cx="268879" cy="268849"/>
          </a:xfrm>
          <a:prstGeom prst="rect">
            <a:avLst/>
          </a:prstGeom>
        </p:spPr>
      </p:pic>
      <p:pic>
        <p:nvPicPr>
          <p:cNvPr id="12" name="Image 5" descr=" "/>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4486123" y="6214514"/>
            <a:ext cx="247303" cy="242233"/>
          </a:xfrm>
          <a:prstGeom prst="rect">
            <a:avLst/>
          </a:prstGeom>
        </p:spPr>
      </p:pic>
      <p:pic>
        <p:nvPicPr>
          <p:cNvPr id="13" name="Image 6" descr=" "/>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524191" y="5727700"/>
            <a:ext cx="6401600" cy="4546600"/>
          </a:xfrm>
          <a:prstGeom prst="rect">
            <a:avLst/>
          </a:prstGeom>
        </p:spPr>
      </p:pic>
      <p:sp>
        <p:nvSpPr>
          <p:cNvPr id="14" name="Text 5"/>
          <p:cNvSpPr/>
          <p:nvPr/>
        </p:nvSpPr>
        <p:spPr>
          <a:xfrm>
            <a:off x="9449981" y="7691967"/>
            <a:ext cx="4822369" cy="1989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FFFFFF">
                    <a:alpha val="100000"/>
                  </a:srgbClr>
                </a:solidFill>
                <a:latin typeface="Inter Medium" pitchFamily="34" charset="0"/>
                <a:ea typeface="Inter Medium" pitchFamily="34" charset="-122"/>
                <a:cs typeface="Inter Medium" pitchFamily="34" charset="-120"/>
              </a:rPr>
              <a:t>Color Contrast:</a:t>
            </a:r>
            <a:endParaRPr lang="en-US" sz="2000" dirty="0"/>
          </a:p>
          <a:p>
            <a:pPr marL="685800" lvl="1" indent="-342900" algn="l">
              <a:lnSpc>
                <a:spcPts val="3000"/>
              </a:lnSpc>
              <a:buSzPct val="100000"/>
              <a:buChar char="•"/>
            </a:pPr>
            <a:r>
              <a:rPr lang="en-US" sz="2000" kern="0" spc="-40" dirty="0">
                <a:solidFill>
                  <a:srgbClr val="FFFFFF">
                    <a:alpha val="100000"/>
                  </a:srgbClr>
                </a:solidFill>
                <a:latin typeface="Inter Medium" pitchFamily="34" charset="0"/>
                <a:ea typeface="Inter Medium" pitchFamily="34" charset="-122"/>
                <a:cs typeface="Inter Medium" pitchFamily="34" charset="-120"/>
              </a:rPr>
              <a:t>Several buttons and text blocks fail minimum contrast ratios (4.5:1).</a:t>
            </a:r>
            <a:endParaRPr lang="en-US" sz="2000" dirty="0"/>
          </a:p>
          <a:p>
            <a:pPr marL="685800" lvl="1" indent="-342900" algn="l">
              <a:lnSpc>
                <a:spcPts val="3000"/>
              </a:lnSpc>
              <a:buSzPct val="100000"/>
              <a:buChar char="•"/>
            </a:pPr>
            <a:r>
              <a:rPr lang="en-US" sz="2000" kern="0" spc="-40" dirty="0">
                <a:solidFill>
                  <a:srgbClr val="FFFFFF">
                    <a:alpha val="100000"/>
                  </a:srgbClr>
                </a:solidFill>
                <a:latin typeface="Inter Medium" pitchFamily="34" charset="0"/>
                <a:ea typeface="Inter Medium" pitchFamily="34" charset="-122"/>
                <a:cs typeface="Inter Medium" pitchFamily="34" charset="-120"/>
              </a:rPr>
              <a:t>Low contrast in placeholder text inside forms.</a:t>
            </a:r>
            <a:endParaRPr lang="en-US" sz="2000" dirty="0"/>
          </a:p>
        </p:txBody>
      </p:sp>
      <p:sp>
        <p:nvSpPr>
          <p:cNvPr id="15" name="Text 6"/>
          <p:cNvSpPr/>
          <p:nvPr/>
        </p:nvSpPr>
        <p:spPr>
          <a:xfrm>
            <a:off x="16715289" y="7691967"/>
            <a:ext cx="5343134" cy="1989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FFFFFF">
                    <a:alpha val="100000"/>
                  </a:srgbClr>
                </a:solidFill>
                <a:latin typeface="Inter Medium" pitchFamily="34" charset="0"/>
                <a:ea typeface="Inter Medium" pitchFamily="34" charset="-122"/>
                <a:cs typeface="Inter Medium" pitchFamily="34" charset="-120"/>
              </a:rPr>
              <a:t>Keyboard Navigation:</a:t>
            </a:r>
            <a:endParaRPr lang="en-US" sz="2000" dirty="0"/>
          </a:p>
          <a:p>
            <a:pPr marL="685800" lvl="1" indent="-342900" algn="l">
              <a:lnSpc>
                <a:spcPts val="3000"/>
              </a:lnSpc>
              <a:buSzPct val="100000"/>
              <a:buChar char="•"/>
            </a:pPr>
            <a:r>
              <a:rPr lang="en-US" sz="2000" kern="0" spc="-40" dirty="0">
                <a:solidFill>
                  <a:srgbClr val="FFFFFF">
                    <a:alpha val="100000"/>
                  </a:srgbClr>
                </a:solidFill>
                <a:latin typeface="Inter Medium" pitchFamily="34" charset="0"/>
                <a:ea typeface="Inter Medium" pitchFamily="34" charset="-122"/>
                <a:cs typeface="Inter Medium" pitchFamily="34" charset="-120"/>
              </a:rPr>
              <a:t>Some forms and menus are not reachable or properly focusable with keyboard only.</a:t>
            </a:r>
            <a:endParaRPr lang="en-US" sz="2000" dirty="0"/>
          </a:p>
          <a:p>
            <a:pPr marL="685800" lvl="1" indent="-342900" algn="l">
              <a:lnSpc>
                <a:spcPts val="3000"/>
              </a:lnSpc>
              <a:buSzPct val="100000"/>
              <a:buChar char="•"/>
            </a:pPr>
            <a:r>
              <a:rPr lang="en-US" sz="2000" kern="0" spc="-40" dirty="0">
                <a:solidFill>
                  <a:srgbClr val="FFFFFF">
                    <a:alpha val="100000"/>
                  </a:srgbClr>
                </a:solidFill>
                <a:latin typeface="Inter Medium" pitchFamily="34" charset="0"/>
                <a:ea typeface="Inter Medium" pitchFamily="34" charset="-122"/>
                <a:cs typeface="Inter Medium" pitchFamily="34" charset="-120"/>
              </a:rPr>
              <a:t>Missing focus indicators (outlines) on interactive elements.</a:t>
            </a:r>
            <a:endParaRPr lang="en-US" sz="2000" dirty="0"/>
          </a:p>
        </p:txBody>
      </p:sp>
      <p:sp>
        <p:nvSpPr>
          <p:cNvPr id="16" name="Text 7"/>
          <p:cNvSpPr/>
          <p:nvPr/>
        </p:nvSpPr>
        <p:spPr>
          <a:xfrm>
            <a:off x="2159270" y="7691967"/>
            <a:ext cx="5228820" cy="1989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FFFFFF">
                    <a:alpha val="100000"/>
                  </a:srgbClr>
                </a:solidFill>
                <a:latin typeface="Inter Medium" pitchFamily="34" charset="0"/>
                <a:ea typeface="Inter Medium" pitchFamily="34" charset="-122"/>
                <a:cs typeface="Inter Medium" pitchFamily="34" charset="-120"/>
              </a:rPr>
              <a:t>Visual Hierarchy:</a:t>
            </a:r>
            <a:endParaRPr lang="en-US" sz="2000" dirty="0"/>
          </a:p>
          <a:p>
            <a:pPr marL="685800" lvl="1" indent="-342900" algn="l">
              <a:lnSpc>
                <a:spcPts val="3000"/>
              </a:lnSpc>
              <a:buSzPct val="100000"/>
              <a:buChar char="•"/>
            </a:pPr>
            <a:r>
              <a:rPr lang="en-US" sz="2000" kern="0" spc="-40" dirty="0">
                <a:solidFill>
                  <a:srgbClr val="FFFFFF">
                    <a:alpha val="100000"/>
                  </a:srgbClr>
                </a:solidFill>
                <a:latin typeface="Inter Medium" pitchFamily="34" charset="0"/>
                <a:ea typeface="Inter Medium" pitchFamily="34" charset="-122"/>
                <a:cs typeface="Inter Medium" pitchFamily="34" charset="-120"/>
              </a:rPr>
              <a:t>Headings are not properly nested  (e.g., H1 &gt; H3 without H2).</a:t>
            </a:r>
            <a:endParaRPr lang="en-US" sz="2000" dirty="0"/>
          </a:p>
          <a:p>
            <a:pPr marL="685800" lvl="1" indent="-342900" algn="l">
              <a:lnSpc>
                <a:spcPts val="3000"/>
              </a:lnSpc>
              <a:buSzPct val="100000"/>
              <a:buChar char="•"/>
            </a:pPr>
            <a:r>
              <a:rPr lang="en-US" sz="2000" kern="0" spc="-40" dirty="0">
                <a:solidFill>
                  <a:srgbClr val="FFFFFF">
                    <a:alpha val="100000"/>
                  </a:srgbClr>
                </a:solidFill>
                <a:latin typeface="Inter Medium" pitchFamily="34" charset="0"/>
                <a:ea typeface="Inter Medium" pitchFamily="34" charset="-122"/>
                <a:cs typeface="Inter Medium" pitchFamily="34" charset="-120"/>
              </a:rPr>
              <a:t>Important elements (e.g., CTAs) lack visual distinction.</a:t>
            </a:r>
            <a:endParaRPr lang="en-US" sz="2000" dirty="0"/>
          </a:p>
        </p:txBody>
      </p:sp>
      <p:pic>
        <p:nvPicPr>
          <p:cNvPr id="22" name="Image 12" descr=" "/>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6750851" y="6880861"/>
            <a:ext cx="538552" cy="335279"/>
          </a:xfrm>
          <a:prstGeom prst="rect">
            <a:avLst/>
          </a:prstGeom>
        </p:spPr>
      </p:pic>
      <p:sp>
        <p:nvSpPr>
          <p:cNvPr id="23" name="Shape 8"/>
          <p:cNvSpPr/>
          <p:nvPr/>
        </p:nvSpPr>
        <p:spPr>
          <a:xfrm>
            <a:off x="6909664" y="5981700"/>
            <a:ext cx="762095" cy="762000"/>
          </a:xfrm>
          <a:prstGeom prst="ellipse">
            <a:avLst/>
          </a:prstGeom>
          <a:noFill/>
          <a:ln w="50800">
            <a:solidFill>
              <a:srgbClr val="FFFFFF"/>
            </a:solidFill>
            <a:prstDash val="solid"/>
          </a:ln>
        </p:spPr>
        <p:txBody>
          <a:bodyPr/>
          <a:lstStyle/>
          <a:p>
            <a:endParaRPr lang="en-ID"/>
          </a:p>
        </p:txBody>
      </p:sp>
      <p:pic>
        <p:nvPicPr>
          <p:cNvPr id="24" name="Image 13"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163329" y="6224758"/>
            <a:ext cx="268879" cy="268849"/>
          </a:xfrm>
          <a:prstGeom prst="rect">
            <a:avLst/>
          </a:prstGeom>
        </p:spPr>
      </p:pic>
      <p:pic>
        <p:nvPicPr>
          <p:cNvPr id="25" name="Image 14" descr=" "/>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195412" y="6214514"/>
            <a:ext cx="247303" cy="242233"/>
          </a:xfrm>
          <a:prstGeom prst="rect">
            <a:avLst/>
          </a:prstGeom>
        </p:spPr>
      </p:pic>
      <p:sp>
        <p:nvSpPr>
          <p:cNvPr id="26" name="Text 9"/>
          <p:cNvSpPr/>
          <p:nvPr/>
        </p:nvSpPr>
        <p:spPr>
          <a:xfrm>
            <a:off x="1498787" y="1524000"/>
            <a:ext cx="1778222" cy="558800"/>
          </a:xfrm>
          <a:prstGeom prst="rect">
            <a:avLst/>
          </a:prstGeom>
          <a:noFill/>
          <a:ln/>
        </p:spPr>
        <p:txBody>
          <a:bodyPr wrap="square" lIns="0" tIns="0" rIns="0" bIns="0" rtlCol="0" anchor="t"/>
          <a:lstStyle/>
          <a:p>
            <a:pPr marL="0" indent="0" algn="l">
              <a:lnSpc>
                <a:spcPts val="3600"/>
              </a:lnSpc>
              <a:buNone/>
            </a:pPr>
            <a:r>
              <a:rPr lang="en-US" sz="2400" kern="0" spc="-48" dirty="0">
                <a:solidFill>
                  <a:srgbClr val="FFFFFF">
                    <a:alpha val="100000"/>
                  </a:srgbClr>
                </a:solidFill>
                <a:latin typeface="Inter Regular" pitchFamily="34" charset="0"/>
                <a:ea typeface="Inter Regular" pitchFamily="34" charset="-122"/>
                <a:cs typeface="Inter Regular" pitchFamily="34" charset="-120"/>
              </a:rPr>
              <a:t>Fix the Flow</a:t>
            </a:r>
            <a:endParaRPr lang="en-US" sz="2400" dirty="0"/>
          </a:p>
        </p:txBody>
      </p:sp>
      <p:sp>
        <p:nvSpPr>
          <p:cNvPr id="27" name="Text 10"/>
          <p:cNvSpPr/>
          <p:nvPr/>
        </p:nvSpPr>
        <p:spPr>
          <a:xfrm>
            <a:off x="22113464" y="1524000"/>
            <a:ext cx="838305" cy="558800"/>
          </a:xfrm>
          <a:prstGeom prst="rect">
            <a:avLst/>
          </a:prstGeom>
          <a:noFill/>
          <a:ln/>
        </p:spPr>
        <p:txBody>
          <a:bodyPr wrap="square" lIns="0" tIns="0" rIns="0" bIns="0" rtlCol="0" anchor="t"/>
          <a:lstStyle/>
          <a:p>
            <a:pPr marL="0" indent="0" algn="l">
              <a:lnSpc>
                <a:spcPts val="3600"/>
              </a:lnSpc>
              <a:buNone/>
            </a:pPr>
            <a:r>
              <a:rPr lang="en-US" sz="2400" kern="0" spc="-48" dirty="0">
                <a:solidFill>
                  <a:srgbClr val="FFFFFF">
                    <a:alpha val="100000"/>
                  </a:srgbClr>
                </a:solidFill>
                <a:latin typeface="Inter Regular" pitchFamily="34" charset="0"/>
                <a:ea typeface="Inter Regular" pitchFamily="34" charset="-122"/>
                <a:cs typeface="Inter Regular" pitchFamily="34" charset="-120"/>
              </a:rPr>
              <a:t>2025</a:t>
            </a:r>
            <a:endParaRPr lang="en-US" sz="2400" dirty="0"/>
          </a:p>
        </p:txBody>
      </p:sp>
      <p:pic>
        <p:nvPicPr>
          <p:cNvPr id="29" name="Graphic 28">
            <a:extLst>
              <a:ext uri="{FF2B5EF4-FFF2-40B4-BE49-F238E27FC236}">
                <a16:creationId xmlns:a16="http://schemas.microsoft.com/office/drawing/2014/main" id="{35061977-5CF1-EA94-F769-651353D826DD}"/>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9437280" y="6735119"/>
            <a:ext cx="609676" cy="609676"/>
          </a:xfrm>
          <a:prstGeom prst="rect">
            <a:avLst/>
          </a:prstGeom>
        </p:spPr>
      </p:pic>
      <p:pic>
        <p:nvPicPr>
          <p:cNvPr id="31" name="Graphic 30">
            <a:extLst>
              <a:ext uri="{FF2B5EF4-FFF2-40B4-BE49-F238E27FC236}">
                <a16:creationId xmlns:a16="http://schemas.microsoft.com/office/drawing/2014/main" id="{C24E3E2E-086E-6866-2A75-B4962B71F0FB}"/>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2159270" y="6738697"/>
            <a:ext cx="609676" cy="60967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287CBEE6-41B0-B50B-3800-E26338F6AAFD}"/>
              </a:ext>
            </a:extLst>
          </p:cNvPr>
          <p:cNvSpPr/>
          <p:nvPr/>
        </p:nvSpPr>
        <p:spPr>
          <a:xfrm>
            <a:off x="0" y="0"/>
            <a:ext cx="24387175" cy="13716000"/>
          </a:xfrm>
          <a:prstGeom prst="rect">
            <a:avLst/>
          </a:prstGeom>
          <a:gradFill flip="none" rotWithShape="1">
            <a:gsLst>
              <a:gs pos="0">
                <a:srgbClr val="EFEFEF"/>
              </a:gs>
              <a:gs pos="76000">
                <a:srgbClr val="FFFFFF"/>
              </a:gs>
            </a:gsLst>
            <a:lin ang="16200000" scaled="0"/>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sz="100"/>
          </a:p>
        </p:txBody>
      </p:sp>
      <p:sp>
        <p:nvSpPr>
          <p:cNvPr id="28" name="Shape 0">
            <a:extLst>
              <a:ext uri="{FF2B5EF4-FFF2-40B4-BE49-F238E27FC236}">
                <a16:creationId xmlns:a16="http://schemas.microsoft.com/office/drawing/2014/main" id="{E80952BC-C32F-4BE9-972E-73A207B82E9A}"/>
              </a:ext>
            </a:extLst>
          </p:cNvPr>
          <p:cNvSpPr/>
          <p:nvPr/>
        </p:nvSpPr>
        <p:spPr>
          <a:xfrm>
            <a:off x="15399658" y="4445000"/>
            <a:ext cx="7336518" cy="4787900"/>
          </a:xfrm>
          <a:prstGeom prst="roundRect">
            <a:avLst>
              <a:gd name="adj" fmla="val 0"/>
            </a:avLst>
          </a:prstGeom>
          <a:pattFill prst="wdDnDiag">
            <a:fgClr>
              <a:srgbClr val="AAE2E0"/>
            </a:fgClr>
            <a:bgClr>
              <a:srgbClr val="F0FBFA"/>
            </a:bgClr>
          </a:pattFill>
          <a:ln/>
        </p:spPr>
        <p:txBody>
          <a:bodyPr/>
          <a:lstStyle/>
          <a:p>
            <a:endParaRPr lang="en-ID" sz="100"/>
          </a:p>
        </p:txBody>
      </p:sp>
      <p:graphicFrame>
        <p:nvGraphicFramePr>
          <p:cNvPr id="4" name="Chart 3">
            <a:extLst>
              <a:ext uri="{FF2B5EF4-FFF2-40B4-BE49-F238E27FC236}">
                <a16:creationId xmlns:a16="http://schemas.microsoft.com/office/drawing/2014/main" id="{CFA49170-1347-3038-D589-6771D9BFCB6C}"/>
              </a:ext>
            </a:extLst>
          </p:cNvPr>
          <p:cNvGraphicFramePr/>
          <p:nvPr>
            <p:extLst>
              <p:ext uri="{D42A27DB-BD31-4B8C-83A1-F6EECF244321}">
                <p14:modId xmlns:p14="http://schemas.microsoft.com/office/powerpoint/2010/main" val="726934778"/>
              </p:ext>
            </p:extLst>
          </p:nvPr>
        </p:nvGraphicFramePr>
        <p:xfrm>
          <a:off x="9449938" y="4324488"/>
          <a:ext cx="15563327" cy="5025989"/>
        </p:xfrm>
        <a:graphic>
          <a:graphicData uri="http://schemas.openxmlformats.org/drawingml/2006/chart">
            <c:chart xmlns:c="http://schemas.openxmlformats.org/drawingml/2006/chart" xmlns:r="http://schemas.openxmlformats.org/officeDocument/2006/relationships" r:id="rId3"/>
          </a:graphicData>
        </a:graphic>
      </p:graphicFrame>
      <p:sp>
        <p:nvSpPr>
          <p:cNvPr id="16" name="Text 10"/>
          <p:cNvSpPr/>
          <p:nvPr/>
        </p:nvSpPr>
        <p:spPr>
          <a:xfrm>
            <a:off x="1511489" y="1354667"/>
            <a:ext cx="8200992" cy="2777067"/>
          </a:xfrm>
          <a:prstGeom prst="rect">
            <a:avLst/>
          </a:prstGeom>
          <a:noFill/>
          <a:ln/>
        </p:spPr>
        <p:txBody>
          <a:bodyPr wrap="square" lIns="0" tIns="0" rIns="0" bIns="0" rtlCol="0" anchor="ctr"/>
          <a:lstStyle/>
          <a:p>
            <a:pPr marL="0" indent="0" algn="l">
              <a:lnSpc>
                <a:spcPts val="9600"/>
              </a:lnSpc>
              <a:buNone/>
            </a:pPr>
            <a:r>
              <a:rPr lang="en-US" sz="8000" kern="0" spc="-480" dirty="0">
                <a:solidFill>
                  <a:srgbClr val="050C29">
                    <a:alpha val="100000"/>
                  </a:srgbClr>
                </a:solidFill>
                <a:latin typeface="Inter Medium" pitchFamily="34" charset="0"/>
                <a:ea typeface="Inter Medium" pitchFamily="34" charset="-122"/>
                <a:cs typeface="Inter Medium" pitchFamily="34" charset="-120"/>
              </a:rPr>
              <a:t>Usability Issue Priority Table</a:t>
            </a:r>
            <a:endParaRPr lang="en-US" sz="8000" dirty="0"/>
          </a:p>
        </p:txBody>
      </p:sp>
      <p:sp>
        <p:nvSpPr>
          <p:cNvPr id="17" name="Text 11"/>
          <p:cNvSpPr/>
          <p:nvPr/>
        </p:nvSpPr>
        <p:spPr>
          <a:xfrm>
            <a:off x="1511489" y="4402667"/>
            <a:ext cx="7604017" cy="1608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Not all UX problems are created equal. This table prioritizes usability issues based on their user impact, frequency of occurrence, and overall business risk, so we can target the highest-value fixes first.</a:t>
            </a:r>
            <a:endParaRPr lang="en-US" sz="2000" dirty="0"/>
          </a:p>
        </p:txBody>
      </p:sp>
      <p:sp>
        <p:nvSpPr>
          <p:cNvPr id="18" name="Text 12"/>
          <p:cNvSpPr/>
          <p:nvPr/>
        </p:nvSpPr>
        <p:spPr>
          <a:xfrm>
            <a:off x="1613102" y="11298767"/>
            <a:ext cx="6943535" cy="846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“Addressing High Priority issues first is expected to deliver the biggest usability gains.”</a:t>
            </a:r>
            <a:endParaRPr lang="en-US" sz="2000" dirty="0"/>
          </a:p>
        </p:txBody>
      </p:sp>
      <p:sp>
        <p:nvSpPr>
          <p:cNvPr id="19" name="Text 13"/>
          <p:cNvSpPr/>
          <p:nvPr/>
        </p:nvSpPr>
        <p:spPr>
          <a:xfrm>
            <a:off x="22100762" y="1498600"/>
            <a:ext cx="838305" cy="558800"/>
          </a:xfrm>
          <a:prstGeom prst="rect">
            <a:avLst/>
          </a:prstGeom>
          <a:noFill/>
          <a:ln/>
        </p:spPr>
        <p:txBody>
          <a:bodyPr wrap="square" lIns="0" tIns="0" rIns="0" bIns="0" rtlCol="0" anchor="t"/>
          <a:lstStyle/>
          <a:p>
            <a:pPr marL="0" indent="0" algn="l">
              <a:lnSpc>
                <a:spcPts val="3600"/>
              </a:lnSpc>
              <a:buNone/>
            </a:pPr>
            <a:r>
              <a:rPr lang="en-US" sz="2400" kern="0" spc="-48" dirty="0">
                <a:solidFill>
                  <a:srgbClr val="000000">
                    <a:alpha val="100000"/>
                  </a:srgbClr>
                </a:solidFill>
                <a:latin typeface="Inter Regular" pitchFamily="34" charset="0"/>
                <a:ea typeface="Inter Regular" pitchFamily="34" charset="-122"/>
                <a:cs typeface="Inter Regular" pitchFamily="34" charset="-120"/>
              </a:rPr>
              <a:t>2025</a:t>
            </a:r>
            <a:endParaRPr lang="en-US" sz="2400" dirty="0"/>
          </a:p>
        </p:txBody>
      </p:sp>
      <p:sp>
        <p:nvSpPr>
          <p:cNvPr id="20" name="Shape 14"/>
          <p:cNvSpPr/>
          <p:nvPr/>
        </p:nvSpPr>
        <p:spPr>
          <a:xfrm>
            <a:off x="16105613" y="11353800"/>
            <a:ext cx="321254" cy="321213"/>
          </a:xfrm>
          <a:prstGeom prst="ellipse">
            <a:avLst/>
          </a:prstGeom>
          <a:solidFill>
            <a:srgbClr val="FFA8A8">
              <a:alpha val="100000"/>
            </a:srgbClr>
          </a:solidFill>
          <a:ln/>
        </p:spPr>
        <p:txBody>
          <a:bodyPr/>
          <a:lstStyle/>
          <a:p>
            <a:endParaRPr lang="en-ID"/>
          </a:p>
        </p:txBody>
      </p:sp>
      <p:sp>
        <p:nvSpPr>
          <p:cNvPr id="21" name="Text 15"/>
          <p:cNvSpPr/>
          <p:nvPr/>
        </p:nvSpPr>
        <p:spPr>
          <a:xfrm>
            <a:off x="16477668" y="11311467"/>
            <a:ext cx="6468822" cy="465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High Priority = Form Errors, Onboarding Navigation</a:t>
            </a:r>
            <a:endParaRPr lang="en-US" sz="2000" dirty="0"/>
          </a:p>
        </p:txBody>
      </p:sp>
      <p:sp>
        <p:nvSpPr>
          <p:cNvPr id="22" name="Shape 16"/>
          <p:cNvSpPr/>
          <p:nvPr/>
        </p:nvSpPr>
        <p:spPr>
          <a:xfrm>
            <a:off x="16105613" y="11823700"/>
            <a:ext cx="321254" cy="321213"/>
          </a:xfrm>
          <a:prstGeom prst="ellipse">
            <a:avLst/>
          </a:prstGeom>
          <a:solidFill>
            <a:srgbClr val="F88A24">
              <a:alpha val="100000"/>
            </a:srgbClr>
          </a:solidFill>
          <a:ln/>
        </p:spPr>
        <p:txBody>
          <a:bodyPr/>
          <a:lstStyle/>
          <a:p>
            <a:endParaRPr lang="en-ID"/>
          </a:p>
        </p:txBody>
      </p:sp>
      <p:sp>
        <p:nvSpPr>
          <p:cNvPr id="23" name="Text 17"/>
          <p:cNvSpPr/>
          <p:nvPr/>
        </p:nvSpPr>
        <p:spPr>
          <a:xfrm>
            <a:off x="16477668" y="11781367"/>
            <a:ext cx="6468822" cy="465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Medium Priority = Low CTA Contrast, Broken Tabbing</a:t>
            </a:r>
            <a:endParaRPr lang="en-US" sz="2000" dirty="0"/>
          </a:p>
        </p:txBody>
      </p:sp>
      <p:sp>
        <p:nvSpPr>
          <p:cNvPr id="24" name="Shape 18"/>
          <p:cNvSpPr/>
          <p:nvPr/>
        </p:nvSpPr>
        <p:spPr>
          <a:xfrm>
            <a:off x="16105613" y="12293600"/>
            <a:ext cx="321254" cy="321213"/>
          </a:xfrm>
          <a:prstGeom prst="ellipse">
            <a:avLst/>
          </a:prstGeom>
          <a:solidFill>
            <a:srgbClr val="A4E3E0">
              <a:alpha val="100000"/>
            </a:srgbClr>
          </a:solidFill>
          <a:ln/>
        </p:spPr>
        <p:txBody>
          <a:bodyPr/>
          <a:lstStyle/>
          <a:p>
            <a:endParaRPr lang="en-ID"/>
          </a:p>
        </p:txBody>
      </p:sp>
      <p:sp>
        <p:nvSpPr>
          <p:cNvPr id="25" name="Text 19"/>
          <p:cNvSpPr/>
          <p:nvPr/>
        </p:nvSpPr>
        <p:spPr>
          <a:xfrm>
            <a:off x="16478710" y="12251267"/>
            <a:ext cx="6468822" cy="465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Low Priority = Inconsistent Labels</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CDA57A0A-7F37-CE4E-DF0E-997A44D7D25D}"/>
              </a:ext>
            </a:extLst>
          </p:cNvPr>
          <p:cNvSpPr/>
          <p:nvPr/>
        </p:nvSpPr>
        <p:spPr>
          <a:xfrm>
            <a:off x="0" y="0"/>
            <a:ext cx="24387175" cy="13716000"/>
          </a:xfrm>
          <a:prstGeom prst="rect">
            <a:avLst/>
          </a:prstGeom>
          <a:gradFill flip="none" rotWithShape="1">
            <a:gsLst>
              <a:gs pos="0">
                <a:srgbClr val="EFEFEF"/>
              </a:gs>
              <a:gs pos="76000">
                <a:srgbClr val="FFFFFF"/>
              </a:gs>
            </a:gsLst>
            <a:lin ang="16200000" scaled="0"/>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sz="100"/>
          </a:p>
        </p:txBody>
      </p:sp>
      <p:sp>
        <p:nvSpPr>
          <p:cNvPr id="30" name="Oval 29">
            <a:extLst>
              <a:ext uri="{FF2B5EF4-FFF2-40B4-BE49-F238E27FC236}">
                <a16:creationId xmlns:a16="http://schemas.microsoft.com/office/drawing/2014/main" id="{E67BB3C9-69DF-6EEA-2048-8EC2D2E97427}"/>
              </a:ext>
            </a:extLst>
          </p:cNvPr>
          <p:cNvSpPr/>
          <p:nvPr/>
        </p:nvSpPr>
        <p:spPr>
          <a:xfrm>
            <a:off x="6705504" y="5691117"/>
            <a:ext cx="5776984" cy="5776984"/>
          </a:xfrm>
          <a:prstGeom prst="ellipse">
            <a:avLst/>
          </a:prstGeom>
          <a:pattFill prst="wdDnDiag">
            <a:fgClr>
              <a:srgbClr val="FDEDDE"/>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sz="700" dirty="0"/>
          </a:p>
        </p:txBody>
      </p:sp>
      <p:sp>
        <p:nvSpPr>
          <p:cNvPr id="3" name="Text 0"/>
          <p:cNvSpPr/>
          <p:nvPr/>
        </p:nvSpPr>
        <p:spPr>
          <a:xfrm>
            <a:off x="1524191" y="2616200"/>
            <a:ext cx="8188290" cy="2777067"/>
          </a:xfrm>
          <a:prstGeom prst="rect">
            <a:avLst/>
          </a:prstGeom>
          <a:noFill/>
          <a:ln/>
        </p:spPr>
        <p:txBody>
          <a:bodyPr wrap="square" lIns="0" tIns="0" rIns="0" bIns="0" rtlCol="0" anchor="t"/>
          <a:lstStyle/>
          <a:p>
            <a:pPr marL="0" indent="0" algn="l">
              <a:lnSpc>
                <a:spcPts val="9600"/>
              </a:lnSpc>
              <a:buNone/>
            </a:pPr>
            <a:r>
              <a:rPr lang="en-US" sz="8000" kern="0" spc="-480" dirty="0">
                <a:solidFill>
                  <a:srgbClr val="050C29">
                    <a:alpha val="100000"/>
                  </a:srgbClr>
                </a:solidFill>
                <a:latin typeface="Inter Medium" pitchFamily="34" charset="0"/>
                <a:ea typeface="Inter Medium" pitchFamily="34" charset="-122"/>
                <a:cs typeface="Inter Medium" pitchFamily="34" charset="-120"/>
              </a:rPr>
              <a:t>Journey Breakdowns</a:t>
            </a:r>
            <a:endParaRPr lang="en-US" sz="8000" dirty="0"/>
          </a:p>
        </p:txBody>
      </p:sp>
      <p:sp>
        <p:nvSpPr>
          <p:cNvPr id="4" name="Text 1"/>
          <p:cNvSpPr/>
          <p:nvPr/>
        </p:nvSpPr>
        <p:spPr>
          <a:xfrm>
            <a:off x="1524191" y="1524000"/>
            <a:ext cx="1778222" cy="558800"/>
          </a:xfrm>
          <a:prstGeom prst="rect">
            <a:avLst/>
          </a:prstGeom>
          <a:noFill/>
          <a:ln/>
        </p:spPr>
        <p:txBody>
          <a:bodyPr wrap="square" lIns="0" tIns="0" rIns="0" bIns="0" rtlCol="0" anchor="t"/>
          <a:lstStyle/>
          <a:p>
            <a:pPr marL="0" indent="0" algn="l">
              <a:lnSpc>
                <a:spcPts val="3600"/>
              </a:lnSpc>
              <a:buNone/>
            </a:pPr>
            <a:r>
              <a:rPr lang="en-US" sz="2400" kern="0" spc="-48" dirty="0">
                <a:solidFill>
                  <a:srgbClr val="000000">
                    <a:alpha val="100000"/>
                  </a:srgbClr>
                </a:solidFill>
                <a:latin typeface="Inter Regular" pitchFamily="34" charset="0"/>
                <a:ea typeface="Inter Regular" pitchFamily="34" charset="-122"/>
                <a:cs typeface="Inter Regular" pitchFamily="34" charset="-120"/>
              </a:rPr>
              <a:t>Fix the Flow</a:t>
            </a:r>
            <a:endParaRPr lang="en-US" sz="2400" dirty="0"/>
          </a:p>
        </p:txBody>
      </p:sp>
      <p:sp>
        <p:nvSpPr>
          <p:cNvPr id="5" name="Text 2"/>
          <p:cNvSpPr/>
          <p:nvPr/>
        </p:nvSpPr>
        <p:spPr>
          <a:xfrm>
            <a:off x="15025978" y="2573867"/>
            <a:ext cx="7921557" cy="1608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We mapped the user journey for key flows (e.g., Checkout) to identify where users encounter the most friction, hesitation, or abandonment. Each step was analyzed based on observed behavior and usability heuristics.</a:t>
            </a:r>
            <a:endParaRPr lang="en-US" sz="2000" dirty="0"/>
          </a:p>
        </p:txBody>
      </p:sp>
      <p:sp>
        <p:nvSpPr>
          <p:cNvPr id="6" name="Text 3"/>
          <p:cNvSpPr/>
          <p:nvPr/>
        </p:nvSpPr>
        <p:spPr>
          <a:xfrm>
            <a:off x="1524191" y="12276667"/>
            <a:ext cx="6092528" cy="465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“A smooth journey converts. Every bump adds risk.”</a:t>
            </a:r>
            <a:endParaRPr lang="en-US" sz="2000" dirty="0"/>
          </a:p>
        </p:txBody>
      </p:sp>
      <p:pic>
        <p:nvPicPr>
          <p:cNvPr id="7" name="Image 1"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7750469" y="12496800"/>
            <a:ext cx="5125091" cy="25400"/>
          </a:xfrm>
          <a:prstGeom prst="rect">
            <a:avLst/>
          </a:prstGeom>
        </p:spPr>
      </p:pic>
      <p:sp>
        <p:nvSpPr>
          <p:cNvPr id="8" name="Shape 4"/>
          <p:cNvSpPr/>
          <p:nvPr/>
        </p:nvSpPr>
        <p:spPr>
          <a:xfrm>
            <a:off x="1524191" y="5689600"/>
            <a:ext cx="5804625" cy="5803900"/>
          </a:xfrm>
          <a:prstGeom prst="ellipse">
            <a:avLst/>
          </a:prstGeom>
          <a:solidFill>
            <a:srgbClr val="F6FAFA">
              <a:alpha val="100000"/>
            </a:srgbClr>
          </a:solidFill>
          <a:ln w="50800">
            <a:solidFill>
              <a:srgbClr val="87D9D6"/>
            </a:solidFill>
            <a:prstDash val="solid"/>
          </a:ln>
        </p:spPr>
        <p:txBody>
          <a:bodyPr/>
          <a:lstStyle/>
          <a:p>
            <a:endParaRPr lang="en-ID"/>
          </a:p>
        </p:txBody>
      </p:sp>
      <p:sp>
        <p:nvSpPr>
          <p:cNvPr id="31" name="Oval 30">
            <a:extLst>
              <a:ext uri="{FF2B5EF4-FFF2-40B4-BE49-F238E27FC236}">
                <a16:creationId xmlns:a16="http://schemas.microsoft.com/office/drawing/2014/main" id="{51988213-4FD1-460B-BE11-A13D5B870200}"/>
              </a:ext>
            </a:extLst>
          </p:cNvPr>
          <p:cNvSpPr/>
          <p:nvPr/>
        </p:nvSpPr>
        <p:spPr>
          <a:xfrm>
            <a:off x="17077282" y="5710167"/>
            <a:ext cx="5776984" cy="5776984"/>
          </a:xfrm>
          <a:prstGeom prst="ellipse">
            <a:avLst/>
          </a:prstGeom>
          <a:pattFill prst="wdDnDiag">
            <a:fgClr>
              <a:srgbClr val="FDEDDE"/>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sz="500" dirty="0"/>
          </a:p>
        </p:txBody>
      </p:sp>
      <p:sp>
        <p:nvSpPr>
          <p:cNvPr id="10" name="Shape 5"/>
          <p:cNvSpPr/>
          <p:nvPr/>
        </p:nvSpPr>
        <p:spPr>
          <a:xfrm>
            <a:off x="6706438" y="5689600"/>
            <a:ext cx="5804625" cy="5803900"/>
          </a:xfrm>
          <a:prstGeom prst="ellipse">
            <a:avLst/>
          </a:prstGeom>
          <a:noFill/>
          <a:ln w="50800">
            <a:solidFill>
              <a:srgbClr val="F88A24"/>
            </a:solidFill>
            <a:prstDash val="solid"/>
          </a:ln>
        </p:spPr>
        <p:txBody>
          <a:bodyPr/>
          <a:lstStyle/>
          <a:p>
            <a:endParaRPr lang="en-ID"/>
          </a:p>
        </p:txBody>
      </p:sp>
      <p:sp>
        <p:nvSpPr>
          <p:cNvPr id="11" name="Shape 6"/>
          <p:cNvSpPr/>
          <p:nvPr/>
        </p:nvSpPr>
        <p:spPr>
          <a:xfrm>
            <a:off x="11875984" y="5689600"/>
            <a:ext cx="5804625" cy="5803900"/>
          </a:xfrm>
          <a:prstGeom prst="ellipse">
            <a:avLst/>
          </a:prstGeom>
          <a:solidFill>
            <a:srgbClr val="FCF6F6">
              <a:alpha val="100000"/>
            </a:srgbClr>
          </a:solidFill>
          <a:ln w="50800">
            <a:solidFill>
              <a:srgbClr val="FFA8A8"/>
            </a:solidFill>
            <a:prstDash val="solid"/>
          </a:ln>
        </p:spPr>
        <p:txBody>
          <a:bodyPr/>
          <a:lstStyle/>
          <a:p>
            <a:endParaRPr lang="en-ID"/>
          </a:p>
        </p:txBody>
      </p:sp>
      <p:sp>
        <p:nvSpPr>
          <p:cNvPr id="13" name="Shape 7"/>
          <p:cNvSpPr/>
          <p:nvPr/>
        </p:nvSpPr>
        <p:spPr>
          <a:xfrm>
            <a:off x="17058232" y="5702300"/>
            <a:ext cx="5804625" cy="5803900"/>
          </a:xfrm>
          <a:prstGeom prst="ellipse">
            <a:avLst/>
          </a:prstGeom>
          <a:noFill/>
          <a:ln w="50800">
            <a:solidFill>
              <a:srgbClr val="F88A24"/>
            </a:solidFill>
            <a:prstDash val="solid"/>
          </a:ln>
        </p:spPr>
        <p:txBody>
          <a:bodyPr/>
          <a:lstStyle/>
          <a:p>
            <a:endParaRPr lang="en-ID"/>
          </a:p>
        </p:txBody>
      </p:sp>
      <p:sp>
        <p:nvSpPr>
          <p:cNvPr id="14" name="Text 8"/>
          <p:cNvSpPr/>
          <p:nvPr/>
        </p:nvSpPr>
        <p:spPr>
          <a:xfrm>
            <a:off x="2514914" y="7518400"/>
            <a:ext cx="3823178" cy="558800"/>
          </a:xfrm>
          <a:prstGeom prst="rect">
            <a:avLst/>
          </a:prstGeom>
          <a:noFill/>
          <a:ln/>
        </p:spPr>
        <p:txBody>
          <a:bodyPr wrap="square" lIns="0" tIns="0" rIns="0" bIns="0" rtlCol="0" anchor="ctr"/>
          <a:lstStyle/>
          <a:p>
            <a:pPr marL="0" indent="0" algn="ctr">
              <a:lnSpc>
                <a:spcPts val="3600"/>
              </a:lnSpc>
              <a:buNone/>
            </a:pPr>
            <a:r>
              <a:rPr lang="en-US" sz="2400" kern="0" spc="-48" dirty="0">
                <a:solidFill>
                  <a:srgbClr val="000000">
                    <a:alpha val="100000"/>
                  </a:srgbClr>
                </a:solidFill>
                <a:latin typeface="Inter Bold" pitchFamily="34" charset="0"/>
                <a:ea typeface="Inter Bold" pitchFamily="34" charset="-122"/>
                <a:cs typeface="Inter Bold" pitchFamily="34" charset="-120"/>
              </a:rPr>
              <a:t>Step 1</a:t>
            </a:r>
            <a:endParaRPr lang="en-US" sz="2400" dirty="0"/>
          </a:p>
        </p:txBody>
      </p:sp>
      <p:sp>
        <p:nvSpPr>
          <p:cNvPr id="15" name="Text 9"/>
          <p:cNvSpPr/>
          <p:nvPr/>
        </p:nvSpPr>
        <p:spPr>
          <a:xfrm>
            <a:off x="2514914" y="8077200"/>
            <a:ext cx="3823178" cy="558800"/>
          </a:xfrm>
          <a:prstGeom prst="rect">
            <a:avLst/>
          </a:prstGeom>
          <a:noFill/>
          <a:ln/>
        </p:spPr>
        <p:txBody>
          <a:bodyPr wrap="square" lIns="0" tIns="0" rIns="0" bIns="0" rtlCol="0" anchor="ctr"/>
          <a:lstStyle/>
          <a:p>
            <a:pPr marL="0" indent="0" algn="ctr">
              <a:lnSpc>
                <a:spcPts val="3600"/>
              </a:lnSpc>
              <a:buNone/>
            </a:pPr>
            <a:r>
              <a:rPr lang="en-US" sz="2400" kern="0" spc="-48" dirty="0">
                <a:solidFill>
                  <a:srgbClr val="000000">
                    <a:alpha val="100000"/>
                  </a:srgbClr>
                </a:solidFill>
                <a:latin typeface="Inter Medium" pitchFamily="34" charset="0"/>
                <a:ea typeface="Inter Medium" pitchFamily="34" charset="-122"/>
                <a:cs typeface="Inter Medium" pitchFamily="34" charset="-120"/>
              </a:rPr>
              <a:t>Add to Cart</a:t>
            </a:r>
            <a:endParaRPr lang="en-US" sz="2400" dirty="0"/>
          </a:p>
        </p:txBody>
      </p:sp>
      <p:sp>
        <p:nvSpPr>
          <p:cNvPr id="16" name="Text 10"/>
          <p:cNvSpPr/>
          <p:nvPr/>
        </p:nvSpPr>
        <p:spPr>
          <a:xfrm>
            <a:off x="2565721" y="8644467"/>
            <a:ext cx="3806242" cy="465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000000">
                    <a:alpha val="100000"/>
                  </a:srgbClr>
                </a:solidFill>
                <a:latin typeface="Inter Regular" pitchFamily="34" charset="0"/>
                <a:ea typeface="Inter Regular" pitchFamily="34" charset="-122"/>
                <a:cs typeface="Inter Regular" pitchFamily="34" charset="-120"/>
              </a:rPr>
              <a:t>Observed Issue : Clear and easy</a:t>
            </a:r>
            <a:endParaRPr lang="en-US" sz="2000" dirty="0"/>
          </a:p>
        </p:txBody>
      </p:sp>
      <p:sp>
        <p:nvSpPr>
          <p:cNvPr id="17" name="Text 11"/>
          <p:cNvSpPr/>
          <p:nvPr/>
        </p:nvSpPr>
        <p:spPr>
          <a:xfrm>
            <a:off x="7824178" y="7518400"/>
            <a:ext cx="3556445" cy="558800"/>
          </a:xfrm>
          <a:prstGeom prst="rect">
            <a:avLst/>
          </a:prstGeom>
          <a:noFill/>
          <a:ln/>
        </p:spPr>
        <p:txBody>
          <a:bodyPr wrap="square" lIns="0" tIns="0" rIns="0" bIns="0" rtlCol="0" anchor="ctr"/>
          <a:lstStyle/>
          <a:p>
            <a:pPr marL="0" indent="0" algn="ctr">
              <a:lnSpc>
                <a:spcPts val="3600"/>
              </a:lnSpc>
              <a:buNone/>
            </a:pPr>
            <a:r>
              <a:rPr lang="en-US" sz="2400" kern="0" spc="-48" dirty="0">
                <a:solidFill>
                  <a:srgbClr val="000000">
                    <a:alpha val="100000"/>
                  </a:srgbClr>
                </a:solidFill>
                <a:latin typeface="Inter Bold" pitchFamily="34" charset="0"/>
                <a:ea typeface="Inter Bold" pitchFamily="34" charset="-122"/>
                <a:cs typeface="Inter Bold" pitchFamily="34" charset="-120"/>
              </a:rPr>
              <a:t>Step 2</a:t>
            </a:r>
            <a:endParaRPr lang="en-US" sz="2400" dirty="0"/>
          </a:p>
        </p:txBody>
      </p:sp>
      <p:sp>
        <p:nvSpPr>
          <p:cNvPr id="18" name="Text 12"/>
          <p:cNvSpPr/>
          <p:nvPr/>
        </p:nvSpPr>
        <p:spPr>
          <a:xfrm>
            <a:off x="7824178" y="8077200"/>
            <a:ext cx="3556445" cy="558800"/>
          </a:xfrm>
          <a:prstGeom prst="rect">
            <a:avLst/>
          </a:prstGeom>
          <a:noFill/>
          <a:ln/>
        </p:spPr>
        <p:txBody>
          <a:bodyPr wrap="square" lIns="0" tIns="0" rIns="0" bIns="0" rtlCol="0" anchor="ctr"/>
          <a:lstStyle/>
          <a:p>
            <a:pPr marL="0" indent="0" algn="ctr">
              <a:lnSpc>
                <a:spcPts val="3600"/>
              </a:lnSpc>
              <a:buNone/>
            </a:pPr>
            <a:r>
              <a:rPr lang="en-US" sz="2400" kern="0" spc="-48" dirty="0">
                <a:solidFill>
                  <a:srgbClr val="000000">
                    <a:alpha val="100000"/>
                  </a:srgbClr>
                </a:solidFill>
                <a:latin typeface="Inter Medium" pitchFamily="34" charset="0"/>
                <a:ea typeface="Inter Medium" pitchFamily="34" charset="-122"/>
                <a:cs typeface="Inter Medium" pitchFamily="34" charset="-120"/>
              </a:rPr>
              <a:t>Proceed to Checkout</a:t>
            </a:r>
            <a:endParaRPr lang="en-US" sz="2400" dirty="0"/>
          </a:p>
        </p:txBody>
      </p:sp>
      <p:sp>
        <p:nvSpPr>
          <p:cNvPr id="19" name="Text 13"/>
          <p:cNvSpPr/>
          <p:nvPr/>
        </p:nvSpPr>
        <p:spPr>
          <a:xfrm>
            <a:off x="7832646" y="8644467"/>
            <a:ext cx="3539509" cy="846667"/>
          </a:xfrm>
          <a:prstGeom prst="rect">
            <a:avLst/>
          </a:prstGeom>
          <a:noFill/>
          <a:ln/>
        </p:spPr>
        <p:txBody>
          <a:bodyPr wrap="square" lIns="0" tIns="0" rIns="0" bIns="0" rtlCol="0" anchor="ctr"/>
          <a:lstStyle/>
          <a:p>
            <a:pPr marL="0" indent="0" algn="ctr">
              <a:lnSpc>
                <a:spcPts val="3000"/>
              </a:lnSpc>
              <a:buNone/>
            </a:pPr>
            <a:r>
              <a:rPr lang="en-US" sz="2000" kern="0" spc="-40" dirty="0">
                <a:solidFill>
                  <a:srgbClr val="000000">
                    <a:alpha val="100000"/>
                  </a:srgbClr>
                </a:solidFill>
                <a:latin typeface="Inter Regular" pitchFamily="34" charset="0"/>
                <a:ea typeface="Inter Regular" pitchFamily="34" charset="-122"/>
                <a:cs typeface="Inter Regular" pitchFamily="34" charset="-120"/>
              </a:rPr>
              <a:t>Observed Issue : Button not prominent enough</a:t>
            </a:r>
            <a:endParaRPr lang="en-US" sz="2000" dirty="0"/>
          </a:p>
        </p:txBody>
      </p:sp>
      <p:sp>
        <p:nvSpPr>
          <p:cNvPr id="20" name="Text 14"/>
          <p:cNvSpPr/>
          <p:nvPr/>
        </p:nvSpPr>
        <p:spPr>
          <a:xfrm>
            <a:off x="12955619" y="7518400"/>
            <a:ext cx="3645356" cy="558800"/>
          </a:xfrm>
          <a:prstGeom prst="rect">
            <a:avLst/>
          </a:prstGeom>
          <a:noFill/>
          <a:ln/>
        </p:spPr>
        <p:txBody>
          <a:bodyPr wrap="square" lIns="0" tIns="0" rIns="0" bIns="0" rtlCol="0" anchor="ctr"/>
          <a:lstStyle/>
          <a:p>
            <a:pPr marL="0" indent="0" algn="ctr">
              <a:lnSpc>
                <a:spcPts val="3600"/>
              </a:lnSpc>
              <a:buNone/>
            </a:pPr>
            <a:r>
              <a:rPr lang="en-US" sz="2400" kern="0" spc="-48" dirty="0">
                <a:solidFill>
                  <a:srgbClr val="000000">
                    <a:alpha val="100000"/>
                  </a:srgbClr>
                </a:solidFill>
                <a:latin typeface="Inter Bold" pitchFamily="34" charset="0"/>
                <a:ea typeface="Inter Bold" pitchFamily="34" charset="-122"/>
                <a:cs typeface="Inter Bold" pitchFamily="34" charset="-120"/>
              </a:rPr>
              <a:t>Step 3</a:t>
            </a:r>
            <a:endParaRPr lang="en-US" sz="2400" dirty="0"/>
          </a:p>
        </p:txBody>
      </p:sp>
      <p:sp>
        <p:nvSpPr>
          <p:cNvPr id="21" name="Text 15"/>
          <p:cNvSpPr/>
          <p:nvPr/>
        </p:nvSpPr>
        <p:spPr>
          <a:xfrm>
            <a:off x="12955619" y="8077200"/>
            <a:ext cx="3645356" cy="558800"/>
          </a:xfrm>
          <a:prstGeom prst="rect">
            <a:avLst/>
          </a:prstGeom>
          <a:noFill/>
          <a:ln/>
        </p:spPr>
        <p:txBody>
          <a:bodyPr wrap="square" lIns="0" tIns="0" rIns="0" bIns="0" rtlCol="0" anchor="ctr"/>
          <a:lstStyle/>
          <a:p>
            <a:pPr marL="0" indent="0" algn="ctr">
              <a:lnSpc>
                <a:spcPts val="3600"/>
              </a:lnSpc>
              <a:buNone/>
            </a:pPr>
            <a:r>
              <a:rPr lang="en-US" sz="2400" kern="0" spc="-48" dirty="0">
                <a:solidFill>
                  <a:srgbClr val="000000">
                    <a:alpha val="100000"/>
                  </a:srgbClr>
                </a:solidFill>
                <a:latin typeface="Inter Medium" pitchFamily="34" charset="0"/>
                <a:ea typeface="Inter Medium" pitchFamily="34" charset="-122"/>
                <a:cs typeface="Inter Medium" pitchFamily="34" charset="-120"/>
              </a:rPr>
              <a:t> Login / Shipping Details</a:t>
            </a:r>
            <a:endParaRPr lang="en-US" sz="2400" dirty="0"/>
          </a:p>
        </p:txBody>
      </p:sp>
      <p:sp>
        <p:nvSpPr>
          <p:cNvPr id="22" name="Text 16"/>
          <p:cNvSpPr/>
          <p:nvPr/>
        </p:nvSpPr>
        <p:spPr>
          <a:xfrm>
            <a:off x="12964087" y="8644467"/>
            <a:ext cx="3628420" cy="846667"/>
          </a:xfrm>
          <a:prstGeom prst="rect">
            <a:avLst/>
          </a:prstGeom>
          <a:noFill/>
          <a:ln/>
        </p:spPr>
        <p:txBody>
          <a:bodyPr wrap="square" lIns="0" tIns="0" rIns="0" bIns="0" rtlCol="0" anchor="ctr"/>
          <a:lstStyle/>
          <a:p>
            <a:pPr marL="0" indent="0" algn="ctr">
              <a:lnSpc>
                <a:spcPts val="3000"/>
              </a:lnSpc>
              <a:buNone/>
            </a:pPr>
            <a:r>
              <a:rPr lang="en-US" sz="2000" kern="0" spc="-40" dirty="0">
                <a:solidFill>
                  <a:srgbClr val="000000">
                    <a:alpha val="100000"/>
                  </a:srgbClr>
                </a:solidFill>
                <a:latin typeface="Inter Regular" pitchFamily="34" charset="0"/>
                <a:ea typeface="Inter Regular" pitchFamily="34" charset="-122"/>
                <a:cs typeface="Inter Regular" pitchFamily="34" charset="-120"/>
              </a:rPr>
              <a:t>Observed Issue : Drop-off due to forced login, long fields</a:t>
            </a:r>
            <a:endParaRPr lang="en-US" sz="2000" dirty="0"/>
          </a:p>
        </p:txBody>
      </p:sp>
      <p:sp>
        <p:nvSpPr>
          <p:cNvPr id="23" name="Text 17"/>
          <p:cNvSpPr/>
          <p:nvPr/>
        </p:nvSpPr>
        <p:spPr>
          <a:xfrm>
            <a:off x="18061657" y="7518400"/>
            <a:ext cx="3696162" cy="558800"/>
          </a:xfrm>
          <a:prstGeom prst="rect">
            <a:avLst/>
          </a:prstGeom>
          <a:noFill/>
          <a:ln/>
        </p:spPr>
        <p:txBody>
          <a:bodyPr wrap="square" lIns="0" tIns="0" rIns="0" bIns="0" rtlCol="0" anchor="ctr"/>
          <a:lstStyle/>
          <a:p>
            <a:pPr marL="0" indent="0" algn="ctr">
              <a:lnSpc>
                <a:spcPts val="3600"/>
              </a:lnSpc>
              <a:buNone/>
            </a:pPr>
            <a:r>
              <a:rPr lang="en-US" sz="2400" kern="0" spc="-48" dirty="0">
                <a:solidFill>
                  <a:srgbClr val="000000">
                    <a:alpha val="100000"/>
                  </a:srgbClr>
                </a:solidFill>
                <a:latin typeface="Inter Bold" pitchFamily="34" charset="0"/>
                <a:ea typeface="Inter Bold" pitchFamily="34" charset="-122"/>
                <a:cs typeface="Inter Bold" pitchFamily="34" charset="-120"/>
              </a:rPr>
              <a:t>Step 4</a:t>
            </a:r>
            <a:endParaRPr lang="en-US" sz="2400" dirty="0"/>
          </a:p>
        </p:txBody>
      </p:sp>
      <p:sp>
        <p:nvSpPr>
          <p:cNvPr id="24" name="Text 18"/>
          <p:cNvSpPr/>
          <p:nvPr/>
        </p:nvSpPr>
        <p:spPr>
          <a:xfrm>
            <a:off x="18061657" y="8077200"/>
            <a:ext cx="3696162" cy="558800"/>
          </a:xfrm>
          <a:prstGeom prst="rect">
            <a:avLst/>
          </a:prstGeom>
          <a:noFill/>
          <a:ln/>
        </p:spPr>
        <p:txBody>
          <a:bodyPr wrap="square" lIns="0" tIns="0" rIns="0" bIns="0" rtlCol="0" anchor="ctr"/>
          <a:lstStyle/>
          <a:p>
            <a:pPr marL="0" indent="0" algn="ctr">
              <a:lnSpc>
                <a:spcPts val="3600"/>
              </a:lnSpc>
              <a:buNone/>
            </a:pPr>
            <a:r>
              <a:rPr lang="en-US" sz="2400" kern="0" spc="-48" dirty="0">
                <a:solidFill>
                  <a:srgbClr val="000000">
                    <a:alpha val="100000"/>
                  </a:srgbClr>
                </a:solidFill>
                <a:latin typeface="Inter Medium" pitchFamily="34" charset="0"/>
                <a:ea typeface="Inter Medium" pitchFamily="34" charset="-122"/>
                <a:cs typeface="Inter Medium" pitchFamily="34" charset="-120"/>
              </a:rPr>
              <a:t>Payment &amp; Confirmation</a:t>
            </a:r>
            <a:endParaRPr lang="en-US" sz="2400" dirty="0"/>
          </a:p>
        </p:txBody>
      </p:sp>
      <p:sp>
        <p:nvSpPr>
          <p:cNvPr id="25" name="Text 19"/>
          <p:cNvSpPr/>
          <p:nvPr/>
        </p:nvSpPr>
        <p:spPr>
          <a:xfrm>
            <a:off x="18070125" y="8644467"/>
            <a:ext cx="3679227" cy="846667"/>
          </a:xfrm>
          <a:prstGeom prst="rect">
            <a:avLst/>
          </a:prstGeom>
          <a:noFill/>
          <a:ln/>
        </p:spPr>
        <p:txBody>
          <a:bodyPr wrap="square" lIns="0" tIns="0" rIns="0" bIns="0" rtlCol="0" anchor="ctr"/>
          <a:lstStyle/>
          <a:p>
            <a:pPr marL="0" indent="0" algn="ctr">
              <a:lnSpc>
                <a:spcPts val="3000"/>
              </a:lnSpc>
              <a:buNone/>
            </a:pPr>
            <a:r>
              <a:rPr lang="en-US" sz="2000" kern="0" spc="-40" dirty="0">
                <a:solidFill>
                  <a:srgbClr val="000000">
                    <a:alpha val="100000"/>
                  </a:srgbClr>
                </a:solidFill>
                <a:latin typeface="Inter Regular" pitchFamily="34" charset="0"/>
                <a:ea typeface="Inter Regular" pitchFamily="34" charset="-122"/>
                <a:cs typeface="Inter Regular" pitchFamily="34" charset="-120"/>
              </a:rPr>
              <a:t>Observed Issue : Field fatigue, no progress indicator</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C86BEFC8-EE5E-E109-8143-D3160F3E5A72}"/>
              </a:ext>
            </a:extLst>
          </p:cNvPr>
          <p:cNvSpPr/>
          <p:nvPr/>
        </p:nvSpPr>
        <p:spPr>
          <a:xfrm>
            <a:off x="0" y="0"/>
            <a:ext cx="24387175" cy="13716000"/>
          </a:xfrm>
          <a:prstGeom prst="rect">
            <a:avLst/>
          </a:prstGeom>
          <a:gradFill flip="none" rotWithShape="1">
            <a:gsLst>
              <a:gs pos="0">
                <a:srgbClr val="EFEFEF"/>
              </a:gs>
              <a:gs pos="76000">
                <a:srgbClr val="FFFFFF"/>
              </a:gs>
            </a:gsLst>
            <a:lin ang="16200000" scaled="0"/>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sz="100"/>
          </a:p>
        </p:txBody>
      </p:sp>
      <p:sp>
        <p:nvSpPr>
          <p:cNvPr id="24" name="Oval 23">
            <a:extLst>
              <a:ext uri="{FF2B5EF4-FFF2-40B4-BE49-F238E27FC236}">
                <a16:creationId xmlns:a16="http://schemas.microsoft.com/office/drawing/2014/main" id="{83729CB3-F543-DEA4-B05D-2B176F6E0A18}"/>
              </a:ext>
            </a:extLst>
          </p:cNvPr>
          <p:cNvSpPr/>
          <p:nvPr/>
        </p:nvSpPr>
        <p:spPr>
          <a:xfrm flipV="1">
            <a:off x="14854359" y="6210845"/>
            <a:ext cx="2311833" cy="2311833"/>
          </a:xfrm>
          <a:prstGeom prst="ellipse">
            <a:avLst/>
          </a:prstGeom>
          <a:pattFill prst="wdDnDiag">
            <a:fgClr>
              <a:srgbClr val="D0E0FF"/>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sz="400" dirty="0"/>
          </a:p>
        </p:txBody>
      </p:sp>
      <p:sp>
        <p:nvSpPr>
          <p:cNvPr id="23" name="Oval 22">
            <a:extLst>
              <a:ext uri="{FF2B5EF4-FFF2-40B4-BE49-F238E27FC236}">
                <a16:creationId xmlns:a16="http://schemas.microsoft.com/office/drawing/2014/main" id="{E8910ACA-7B27-A0E9-252E-3A2D5D9EA056}"/>
              </a:ext>
            </a:extLst>
          </p:cNvPr>
          <p:cNvSpPr/>
          <p:nvPr/>
        </p:nvSpPr>
        <p:spPr>
          <a:xfrm flipV="1">
            <a:off x="15046408" y="9466871"/>
            <a:ext cx="1929261" cy="1929261"/>
          </a:xfrm>
          <a:prstGeom prst="ellipse">
            <a:avLst/>
          </a:prstGeom>
          <a:pattFill prst="wdDnDiag">
            <a:fgClr>
              <a:srgbClr val="FEDBDB"/>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sz="500" dirty="0"/>
          </a:p>
        </p:txBody>
      </p:sp>
      <p:sp>
        <p:nvSpPr>
          <p:cNvPr id="25" name="Oval 24">
            <a:extLst>
              <a:ext uri="{FF2B5EF4-FFF2-40B4-BE49-F238E27FC236}">
                <a16:creationId xmlns:a16="http://schemas.microsoft.com/office/drawing/2014/main" id="{9CE902D1-BFDC-A433-70B1-4587055F557E}"/>
              </a:ext>
            </a:extLst>
          </p:cNvPr>
          <p:cNvSpPr/>
          <p:nvPr/>
        </p:nvSpPr>
        <p:spPr>
          <a:xfrm flipV="1">
            <a:off x="15070387" y="3372591"/>
            <a:ext cx="1905238" cy="1905238"/>
          </a:xfrm>
          <a:prstGeom prst="ellipse">
            <a:avLst/>
          </a:prstGeom>
          <a:pattFill prst="wdDnDiag">
            <a:fgClr>
              <a:srgbClr val="FFE6D0"/>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sz="100" dirty="0"/>
          </a:p>
        </p:txBody>
      </p:sp>
      <p:sp>
        <p:nvSpPr>
          <p:cNvPr id="3" name="Text 0"/>
          <p:cNvSpPr/>
          <p:nvPr/>
        </p:nvSpPr>
        <p:spPr>
          <a:xfrm>
            <a:off x="17464683" y="3513667"/>
            <a:ext cx="5482852" cy="1608667"/>
          </a:xfrm>
          <a:prstGeom prst="rect">
            <a:avLst/>
          </a:prstGeom>
          <a:noFill/>
          <a:ln/>
        </p:spPr>
        <p:txBody>
          <a:bodyPr wrap="square" lIns="0" tIns="0" rIns="0" bIns="0" rtlCol="0" anchor="ctr"/>
          <a:lstStyle/>
          <a:p>
            <a:pPr marL="685800" lvl="1" indent="-342900" algn="l">
              <a:lnSpc>
                <a:spcPts val="3000"/>
              </a:lnSpc>
              <a:buSzPct val="100000"/>
              <a:buChar char="•"/>
            </a:pPr>
            <a:r>
              <a:rPr lang="en-US" sz="2000" kern="0" spc="-40" dirty="0">
                <a:solidFill>
                  <a:srgbClr val="050C29">
                    <a:alpha val="100000"/>
                  </a:srgbClr>
                </a:solidFill>
                <a:latin typeface="Inter Medium" pitchFamily="34" charset="0"/>
                <a:ea typeface="Inter Medium" pitchFamily="34" charset="-122"/>
                <a:cs typeface="Inter Medium" pitchFamily="34" charset="-120"/>
              </a:rPr>
              <a:t>Profile Settings Page : Overloaded with seldom-used options</a:t>
            </a:r>
            <a:endParaRPr lang="en-US" sz="2000" dirty="0"/>
          </a:p>
          <a:p>
            <a:pPr marL="685800" lvl="1" indent="-342900" algn="l">
              <a:lnSpc>
                <a:spcPts val="3000"/>
              </a:lnSpc>
              <a:buSzPct val="100000"/>
              <a:buChar char="•"/>
            </a:pPr>
            <a:r>
              <a:rPr lang="en-US" sz="2000" kern="0" spc="-40" dirty="0">
                <a:solidFill>
                  <a:srgbClr val="050C29">
                    <a:alpha val="100000"/>
                  </a:srgbClr>
                </a:solidFill>
                <a:latin typeface="Inter Medium" pitchFamily="34" charset="0"/>
                <a:ea typeface="Inter Medium" pitchFamily="34" charset="-122"/>
                <a:cs typeface="Inter Medium" pitchFamily="34" charset="-120"/>
              </a:rPr>
              <a:t>Search Functionality : Slow response, no autocomplete suggestions</a:t>
            </a:r>
            <a:endParaRPr lang="en-US" sz="2000" dirty="0"/>
          </a:p>
        </p:txBody>
      </p:sp>
      <p:pic>
        <p:nvPicPr>
          <p:cNvPr id="4" name="Image 1"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5915089" y="0"/>
            <a:ext cx="177822" cy="13716000"/>
          </a:xfrm>
          <a:prstGeom prst="rect">
            <a:avLst/>
          </a:prstGeom>
        </p:spPr>
      </p:pic>
      <p:sp>
        <p:nvSpPr>
          <p:cNvPr id="6" name="Text 1"/>
          <p:cNvSpPr/>
          <p:nvPr/>
        </p:nvSpPr>
        <p:spPr>
          <a:xfrm>
            <a:off x="1524191" y="3251200"/>
            <a:ext cx="8188290" cy="2777067"/>
          </a:xfrm>
          <a:prstGeom prst="rect">
            <a:avLst/>
          </a:prstGeom>
          <a:noFill/>
          <a:ln/>
        </p:spPr>
        <p:txBody>
          <a:bodyPr wrap="square" lIns="0" tIns="0" rIns="0" bIns="0" rtlCol="0" anchor="t"/>
          <a:lstStyle/>
          <a:p>
            <a:pPr marL="0" indent="0" algn="l">
              <a:lnSpc>
                <a:spcPts val="9600"/>
              </a:lnSpc>
              <a:buNone/>
            </a:pPr>
            <a:r>
              <a:rPr lang="en-US" sz="8000" kern="0" spc="-480" dirty="0">
                <a:solidFill>
                  <a:srgbClr val="050C29">
                    <a:alpha val="100000"/>
                  </a:srgbClr>
                </a:solidFill>
                <a:latin typeface="Inter Medium" pitchFamily="34" charset="0"/>
                <a:ea typeface="Inter Medium" pitchFamily="34" charset="-122"/>
                <a:cs typeface="Inter Medium" pitchFamily="34" charset="-120"/>
              </a:rPr>
              <a:t>UX Debt Summary</a:t>
            </a:r>
            <a:endParaRPr lang="en-US" sz="8000" dirty="0"/>
          </a:p>
        </p:txBody>
      </p:sp>
      <p:sp>
        <p:nvSpPr>
          <p:cNvPr id="7" name="Text 2"/>
          <p:cNvSpPr/>
          <p:nvPr/>
        </p:nvSpPr>
        <p:spPr>
          <a:xfrm>
            <a:off x="1524191" y="1524000"/>
            <a:ext cx="1778222" cy="558800"/>
          </a:xfrm>
          <a:prstGeom prst="rect">
            <a:avLst/>
          </a:prstGeom>
          <a:noFill/>
          <a:ln/>
        </p:spPr>
        <p:txBody>
          <a:bodyPr wrap="square" lIns="0" tIns="0" rIns="0" bIns="0" rtlCol="0" anchor="t"/>
          <a:lstStyle/>
          <a:p>
            <a:pPr marL="0" indent="0" algn="l">
              <a:lnSpc>
                <a:spcPts val="3600"/>
              </a:lnSpc>
              <a:buNone/>
            </a:pPr>
            <a:r>
              <a:rPr lang="en-US" sz="2400" kern="0" spc="-48" dirty="0">
                <a:solidFill>
                  <a:srgbClr val="000000">
                    <a:alpha val="100000"/>
                  </a:srgbClr>
                </a:solidFill>
                <a:latin typeface="Inter Regular" pitchFamily="34" charset="0"/>
                <a:ea typeface="Inter Regular" pitchFamily="34" charset="-122"/>
                <a:cs typeface="Inter Regular" pitchFamily="34" charset="-120"/>
              </a:rPr>
              <a:t>Fix the Flow</a:t>
            </a:r>
            <a:endParaRPr lang="en-US" sz="2400" dirty="0"/>
          </a:p>
        </p:txBody>
      </p:sp>
      <p:sp>
        <p:nvSpPr>
          <p:cNvPr id="8" name="Text 3"/>
          <p:cNvSpPr/>
          <p:nvPr/>
        </p:nvSpPr>
        <p:spPr>
          <a:xfrm>
            <a:off x="1524191" y="6028267"/>
            <a:ext cx="7934258" cy="1989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Beyond isolated usability bugs, some issues stem from outdated design patterns, old components, or legacy workflows that have accumulated over time. Addressing this UX debt will not only fix user pain points but also create a more scalable, future-proof product.</a:t>
            </a:r>
            <a:endParaRPr lang="en-US" sz="2000" dirty="0"/>
          </a:p>
        </p:txBody>
      </p:sp>
      <p:sp>
        <p:nvSpPr>
          <p:cNvPr id="9" name="Text 4"/>
          <p:cNvSpPr/>
          <p:nvPr/>
        </p:nvSpPr>
        <p:spPr>
          <a:xfrm>
            <a:off x="1524191" y="10625667"/>
            <a:ext cx="6702204" cy="846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Oldest areas (2018) are priority for update</a:t>
            </a:r>
            <a:endParaRPr lang="en-US" sz="2000" dirty="0"/>
          </a:p>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Recent but still problematic areas (2019–2020) in orange</a:t>
            </a:r>
            <a:endParaRPr lang="en-US" sz="2000" dirty="0"/>
          </a:p>
        </p:txBody>
      </p:sp>
      <p:sp>
        <p:nvSpPr>
          <p:cNvPr id="10" name="Text 5"/>
          <p:cNvSpPr/>
          <p:nvPr/>
        </p:nvSpPr>
        <p:spPr>
          <a:xfrm>
            <a:off x="13489086" y="3890433"/>
            <a:ext cx="1210885" cy="791633"/>
          </a:xfrm>
          <a:prstGeom prst="rect">
            <a:avLst/>
          </a:prstGeom>
          <a:noFill/>
          <a:ln/>
        </p:spPr>
        <p:txBody>
          <a:bodyPr wrap="square" lIns="0" tIns="0" rIns="0" bIns="0" rtlCol="0" anchor="ctr"/>
          <a:lstStyle/>
          <a:p>
            <a:pPr marL="0" indent="0" algn="l">
              <a:lnSpc>
                <a:spcPts val="5100"/>
              </a:lnSpc>
              <a:buNone/>
            </a:pPr>
            <a:r>
              <a:rPr lang="en-US" sz="3400" kern="0" spc="-68" dirty="0">
                <a:solidFill>
                  <a:srgbClr val="000000">
                    <a:alpha val="100000"/>
                  </a:srgbClr>
                </a:solidFill>
                <a:latin typeface="Inter Medium" pitchFamily="34" charset="0"/>
                <a:ea typeface="Inter Medium" pitchFamily="34" charset="-122"/>
                <a:cs typeface="Inter Medium" pitchFamily="34" charset="-120"/>
              </a:rPr>
              <a:t>2020</a:t>
            </a:r>
            <a:endParaRPr lang="en-US" sz="3400" dirty="0"/>
          </a:p>
        </p:txBody>
      </p:sp>
      <p:sp>
        <p:nvSpPr>
          <p:cNvPr id="11" name="Text 6"/>
          <p:cNvSpPr/>
          <p:nvPr/>
        </p:nvSpPr>
        <p:spPr>
          <a:xfrm>
            <a:off x="13489086" y="6963833"/>
            <a:ext cx="1147377" cy="791633"/>
          </a:xfrm>
          <a:prstGeom prst="rect">
            <a:avLst/>
          </a:prstGeom>
          <a:noFill/>
          <a:ln/>
        </p:spPr>
        <p:txBody>
          <a:bodyPr wrap="square" lIns="0" tIns="0" rIns="0" bIns="0" rtlCol="0" anchor="ctr"/>
          <a:lstStyle/>
          <a:p>
            <a:pPr marL="0" indent="0" algn="l">
              <a:lnSpc>
                <a:spcPts val="5100"/>
              </a:lnSpc>
              <a:buNone/>
            </a:pPr>
            <a:r>
              <a:rPr lang="en-US" sz="3400" kern="0" spc="-68" dirty="0">
                <a:solidFill>
                  <a:srgbClr val="000000">
                    <a:alpha val="100000"/>
                  </a:srgbClr>
                </a:solidFill>
                <a:latin typeface="Inter Medium" pitchFamily="34" charset="0"/>
                <a:ea typeface="Inter Medium" pitchFamily="34" charset="-122"/>
                <a:cs typeface="Inter Medium" pitchFamily="34" charset="-120"/>
              </a:rPr>
              <a:t>2019</a:t>
            </a:r>
            <a:endParaRPr lang="en-US" sz="3400" dirty="0"/>
          </a:p>
        </p:txBody>
      </p:sp>
      <p:sp>
        <p:nvSpPr>
          <p:cNvPr id="12" name="Text 7"/>
          <p:cNvSpPr/>
          <p:nvPr/>
        </p:nvSpPr>
        <p:spPr>
          <a:xfrm>
            <a:off x="13489086" y="10037233"/>
            <a:ext cx="1147377" cy="791633"/>
          </a:xfrm>
          <a:prstGeom prst="rect">
            <a:avLst/>
          </a:prstGeom>
          <a:noFill/>
          <a:ln/>
        </p:spPr>
        <p:txBody>
          <a:bodyPr wrap="square" lIns="0" tIns="0" rIns="0" bIns="0" rtlCol="0" anchor="ctr"/>
          <a:lstStyle/>
          <a:p>
            <a:pPr marL="0" indent="0" algn="l">
              <a:lnSpc>
                <a:spcPts val="5100"/>
              </a:lnSpc>
              <a:buNone/>
            </a:pPr>
            <a:r>
              <a:rPr lang="en-US" sz="3400" kern="0" spc="-68" dirty="0">
                <a:solidFill>
                  <a:srgbClr val="000000">
                    <a:alpha val="100000"/>
                  </a:srgbClr>
                </a:solidFill>
                <a:latin typeface="Inter Medium" pitchFamily="34" charset="0"/>
                <a:ea typeface="Inter Medium" pitchFamily="34" charset="-122"/>
                <a:cs typeface="Inter Medium" pitchFamily="34" charset="-120"/>
              </a:rPr>
              <a:t>2018</a:t>
            </a:r>
            <a:endParaRPr lang="en-US" sz="3400" dirty="0"/>
          </a:p>
        </p:txBody>
      </p:sp>
      <p:sp>
        <p:nvSpPr>
          <p:cNvPr id="13" name="Shape 8"/>
          <p:cNvSpPr/>
          <p:nvPr/>
        </p:nvSpPr>
        <p:spPr>
          <a:xfrm>
            <a:off x="15368921" y="3683000"/>
            <a:ext cx="1270159" cy="1270000"/>
          </a:xfrm>
          <a:prstGeom prst="ellipse">
            <a:avLst/>
          </a:prstGeom>
          <a:solidFill>
            <a:srgbClr val="F88A24">
              <a:alpha val="100000"/>
            </a:srgbClr>
          </a:solidFill>
          <a:ln/>
        </p:spPr>
        <p:txBody>
          <a:bodyPr/>
          <a:lstStyle/>
          <a:p>
            <a:endParaRPr lang="en-ID"/>
          </a:p>
        </p:txBody>
      </p:sp>
      <p:sp>
        <p:nvSpPr>
          <p:cNvPr id="14" name="Shape 9"/>
          <p:cNvSpPr/>
          <p:nvPr/>
        </p:nvSpPr>
        <p:spPr>
          <a:xfrm>
            <a:off x="15051381" y="3365500"/>
            <a:ext cx="1905238" cy="1905000"/>
          </a:xfrm>
          <a:prstGeom prst="ellipse">
            <a:avLst/>
          </a:prstGeom>
          <a:noFill/>
          <a:ln w="12700">
            <a:solidFill>
              <a:srgbClr val="F88A24"/>
            </a:solidFill>
            <a:prstDash val="solid"/>
          </a:ln>
        </p:spPr>
        <p:txBody>
          <a:bodyPr/>
          <a:lstStyle/>
          <a:p>
            <a:endParaRPr lang="en-ID"/>
          </a:p>
        </p:txBody>
      </p:sp>
      <p:sp>
        <p:nvSpPr>
          <p:cNvPr id="16" name="Shape 10"/>
          <p:cNvSpPr/>
          <p:nvPr/>
        </p:nvSpPr>
        <p:spPr>
          <a:xfrm>
            <a:off x="15051381" y="9474200"/>
            <a:ext cx="1905238" cy="1905000"/>
          </a:xfrm>
          <a:prstGeom prst="ellipse">
            <a:avLst/>
          </a:prstGeom>
          <a:noFill/>
          <a:ln w="12700">
            <a:solidFill>
              <a:srgbClr val="FFA8A8"/>
            </a:solidFill>
            <a:prstDash val="solid"/>
          </a:ln>
        </p:spPr>
        <p:txBody>
          <a:bodyPr/>
          <a:lstStyle/>
          <a:p>
            <a:endParaRPr lang="en-ID"/>
          </a:p>
        </p:txBody>
      </p:sp>
      <p:sp>
        <p:nvSpPr>
          <p:cNvPr id="17" name="Shape 11"/>
          <p:cNvSpPr/>
          <p:nvPr/>
        </p:nvSpPr>
        <p:spPr>
          <a:xfrm>
            <a:off x="15368921" y="9779000"/>
            <a:ext cx="1270159" cy="1270000"/>
          </a:xfrm>
          <a:prstGeom prst="ellipse">
            <a:avLst/>
          </a:prstGeom>
          <a:solidFill>
            <a:srgbClr val="FFA8A8">
              <a:alpha val="100000"/>
            </a:srgbClr>
          </a:solidFill>
          <a:ln/>
        </p:spPr>
        <p:txBody>
          <a:bodyPr/>
          <a:lstStyle/>
          <a:p>
            <a:endParaRPr lang="en-ID"/>
          </a:p>
        </p:txBody>
      </p:sp>
      <p:sp>
        <p:nvSpPr>
          <p:cNvPr id="19" name="Shape 12"/>
          <p:cNvSpPr/>
          <p:nvPr/>
        </p:nvSpPr>
        <p:spPr>
          <a:xfrm>
            <a:off x="14860857" y="6210300"/>
            <a:ext cx="2286286" cy="2286000"/>
          </a:xfrm>
          <a:prstGeom prst="ellipse">
            <a:avLst/>
          </a:prstGeom>
          <a:noFill/>
          <a:ln w="12700">
            <a:solidFill>
              <a:srgbClr val="5993FF"/>
            </a:solidFill>
            <a:prstDash val="solid"/>
          </a:ln>
        </p:spPr>
        <p:txBody>
          <a:bodyPr/>
          <a:lstStyle/>
          <a:p>
            <a:endParaRPr lang="en-ID"/>
          </a:p>
        </p:txBody>
      </p:sp>
      <p:sp>
        <p:nvSpPr>
          <p:cNvPr id="20" name="Shape 13"/>
          <p:cNvSpPr/>
          <p:nvPr/>
        </p:nvSpPr>
        <p:spPr>
          <a:xfrm>
            <a:off x="15203800" y="6553200"/>
            <a:ext cx="1587698" cy="1587500"/>
          </a:xfrm>
          <a:prstGeom prst="ellipse">
            <a:avLst/>
          </a:prstGeom>
          <a:solidFill>
            <a:srgbClr val="5993FF">
              <a:alpha val="100000"/>
            </a:srgbClr>
          </a:solidFill>
          <a:ln/>
        </p:spPr>
        <p:txBody>
          <a:bodyPr/>
          <a:lstStyle/>
          <a:p>
            <a:endParaRPr lang="en-ID"/>
          </a:p>
        </p:txBody>
      </p:sp>
      <p:sp>
        <p:nvSpPr>
          <p:cNvPr id="21" name="Text 14"/>
          <p:cNvSpPr/>
          <p:nvPr/>
        </p:nvSpPr>
        <p:spPr>
          <a:xfrm>
            <a:off x="17464683" y="6752167"/>
            <a:ext cx="5482852" cy="1608667"/>
          </a:xfrm>
          <a:prstGeom prst="rect">
            <a:avLst/>
          </a:prstGeom>
          <a:noFill/>
          <a:ln/>
        </p:spPr>
        <p:txBody>
          <a:bodyPr wrap="square" lIns="0" tIns="0" rIns="0" bIns="0" rtlCol="0" anchor="ctr"/>
          <a:lstStyle/>
          <a:p>
            <a:pPr marL="685800" lvl="1" indent="-342900" algn="l">
              <a:lnSpc>
                <a:spcPts val="3000"/>
              </a:lnSpc>
              <a:buSzPct val="100000"/>
              <a:buChar char="•"/>
            </a:pPr>
            <a:r>
              <a:rPr lang="en-US" sz="2000" kern="0" spc="-40" dirty="0">
                <a:solidFill>
                  <a:srgbClr val="050C29">
                    <a:alpha val="100000"/>
                  </a:srgbClr>
                </a:solidFill>
                <a:latin typeface="Inter Medium" pitchFamily="34" charset="0"/>
                <a:ea typeface="Inter Medium" pitchFamily="34" charset="-122"/>
                <a:cs typeface="Inter Medium" pitchFamily="34" charset="-120"/>
              </a:rPr>
              <a:t>Checkout Form : Requires manual address input, no auto-complete</a:t>
            </a:r>
            <a:endParaRPr lang="en-US" sz="2000" dirty="0"/>
          </a:p>
          <a:p>
            <a:pPr marL="685800" lvl="1" indent="-342900" algn="l">
              <a:lnSpc>
                <a:spcPts val="3000"/>
              </a:lnSpc>
              <a:buSzPct val="100000"/>
              <a:buChar char="•"/>
            </a:pPr>
            <a:r>
              <a:rPr lang="en-US" sz="2000" kern="0" spc="-40" dirty="0">
                <a:solidFill>
                  <a:srgbClr val="050C29">
                    <a:alpha val="100000"/>
                  </a:srgbClr>
                </a:solidFill>
                <a:latin typeface="Inter Medium" pitchFamily="34" charset="0"/>
                <a:ea typeface="Inter Medium" pitchFamily="34" charset="-122"/>
                <a:cs typeface="Inter Medium" pitchFamily="34" charset="-120"/>
              </a:rPr>
              <a:t>Password Reset Flow : Confusing multi-email steps</a:t>
            </a:r>
            <a:endParaRPr lang="en-US" sz="2000" dirty="0"/>
          </a:p>
        </p:txBody>
      </p:sp>
      <p:sp>
        <p:nvSpPr>
          <p:cNvPr id="22" name="Text 15"/>
          <p:cNvSpPr/>
          <p:nvPr/>
        </p:nvSpPr>
        <p:spPr>
          <a:xfrm>
            <a:off x="17464683" y="9609667"/>
            <a:ext cx="5482852" cy="1608667"/>
          </a:xfrm>
          <a:prstGeom prst="rect">
            <a:avLst/>
          </a:prstGeom>
          <a:noFill/>
          <a:ln/>
        </p:spPr>
        <p:txBody>
          <a:bodyPr wrap="square" lIns="0" tIns="0" rIns="0" bIns="0" rtlCol="0" anchor="ctr"/>
          <a:lstStyle/>
          <a:p>
            <a:pPr marL="685800" lvl="1" indent="-342900" algn="l">
              <a:lnSpc>
                <a:spcPts val="3000"/>
              </a:lnSpc>
              <a:buSzPct val="100000"/>
              <a:buChar char="•"/>
            </a:pPr>
            <a:r>
              <a:rPr lang="en-US" sz="2000" kern="0" spc="-40" dirty="0">
                <a:solidFill>
                  <a:srgbClr val="050C29">
                    <a:alpha val="100000"/>
                  </a:srgbClr>
                </a:solidFill>
                <a:latin typeface="Inter Medium" pitchFamily="34" charset="0"/>
                <a:ea typeface="Inter Medium" pitchFamily="34" charset="-122"/>
                <a:cs typeface="Inter Medium" pitchFamily="34" charset="-120"/>
              </a:rPr>
              <a:t>Mobile Navigation Menu : Small tap targets, no sticky header</a:t>
            </a:r>
            <a:endParaRPr lang="en-US" sz="2000" dirty="0"/>
          </a:p>
          <a:p>
            <a:pPr marL="685800" lvl="1" indent="-342900" algn="l">
              <a:lnSpc>
                <a:spcPts val="3000"/>
              </a:lnSpc>
              <a:buSzPct val="100000"/>
              <a:buChar char="•"/>
            </a:pPr>
            <a:r>
              <a:rPr lang="en-US" sz="2000" kern="0" spc="-40" dirty="0">
                <a:solidFill>
                  <a:srgbClr val="050C29">
                    <a:alpha val="100000"/>
                  </a:srgbClr>
                </a:solidFill>
                <a:latin typeface="Inter Medium" pitchFamily="34" charset="0"/>
                <a:ea typeface="Inter Medium" pitchFamily="34" charset="-122"/>
                <a:cs typeface="Inter Medium" pitchFamily="34" charset="-120"/>
              </a:rPr>
              <a:t>Product Filtering (Category Page) : Filters not collapsible on mobile</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AE57AA2E-8319-963A-6730-26ACF6445DD1}"/>
              </a:ext>
            </a:extLst>
          </p:cNvPr>
          <p:cNvSpPr/>
          <p:nvPr/>
        </p:nvSpPr>
        <p:spPr>
          <a:xfrm>
            <a:off x="0" y="0"/>
            <a:ext cx="24387175" cy="13716000"/>
          </a:xfrm>
          <a:prstGeom prst="rect">
            <a:avLst/>
          </a:prstGeom>
          <a:gradFill flip="none" rotWithShape="1">
            <a:gsLst>
              <a:gs pos="0">
                <a:srgbClr val="EFEFEF"/>
              </a:gs>
              <a:gs pos="76000">
                <a:srgbClr val="FFFFFF"/>
              </a:gs>
            </a:gsLst>
            <a:lin ang="16200000" scaled="0"/>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sz="100"/>
          </a:p>
        </p:txBody>
      </p:sp>
      <p:sp>
        <p:nvSpPr>
          <p:cNvPr id="3" name="Text 0"/>
          <p:cNvSpPr/>
          <p:nvPr/>
        </p:nvSpPr>
        <p:spPr>
          <a:xfrm>
            <a:off x="1524191" y="2590800"/>
            <a:ext cx="10881027" cy="2777067"/>
          </a:xfrm>
          <a:prstGeom prst="rect">
            <a:avLst/>
          </a:prstGeom>
          <a:noFill/>
          <a:ln/>
        </p:spPr>
        <p:txBody>
          <a:bodyPr wrap="square" lIns="0" tIns="0" rIns="0" bIns="0" rtlCol="0" anchor="t"/>
          <a:lstStyle/>
          <a:p>
            <a:pPr marL="0" indent="0" algn="l">
              <a:lnSpc>
                <a:spcPts val="9600"/>
              </a:lnSpc>
              <a:buNone/>
            </a:pPr>
            <a:r>
              <a:rPr lang="en-US" sz="8000" kern="0" spc="-480" dirty="0">
                <a:solidFill>
                  <a:srgbClr val="050C29">
                    <a:alpha val="100000"/>
                  </a:srgbClr>
                </a:solidFill>
                <a:latin typeface="Inter Medium" pitchFamily="34" charset="0"/>
                <a:ea typeface="Inter Medium" pitchFamily="34" charset="-122"/>
                <a:cs typeface="Inter Medium" pitchFamily="34" charset="-120"/>
              </a:rPr>
              <a:t>Voice of Customer Snapshot</a:t>
            </a:r>
            <a:endParaRPr lang="en-US" sz="8000" dirty="0"/>
          </a:p>
        </p:txBody>
      </p:sp>
      <p:sp>
        <p:nvSpPr>
          <p:cNvPr id="4" name="Text 1"/>
          <p:cNvSpPr/>
          <p:nvPr/>
        </p:nvSpPr>
        <p:spPr>
          <a:xfrm>
            <a:off x="1524191" y="1524000"/>
            <a:ext cx="1778222" cy="558800"/>
          </a:xfrm>
          <a:prstGeom prst="rect">
            <a:avLst/>
          </a:prstGeom>
          <a:noFill/>
          <a:ln/>
        </p:spPr>
        <p:txBody>
          <a:bodyPr wrap="square" lIns="0" tIns="0" rIns="0" bIns="0" rtlCol="0" anchor="t"/>
          <a:lstStyle/>
          <a:p>
            <a:pPr marL="0" indent="0" algn="l">
              <a:lnSpc>
                <a:spcPts val="3600"/>
              </a:lnSpc>
              <a:buNone/>
            </a:pPr>
            <a:r>
              <a:rPr lang="en-US" sz="2400" kern="0" spc="-48" dirty="0">
                <a:solidFill>
                  <a:srgbClr val="000000">
                    <a:alpha val="100000"/>
                  </a:srgbClr>
                </a:solidFill>
                <a:latin typeface="Inter Regular" pitchFamily="34" charset="0"/>
                <a:ea typeface="Inter Regular" pitchFamily="34" charset="-122"/>
                <a:cs typeface="Inter Regular" pitchFamily="34" charset="-120"/>
              </a:rPr>
              <a:t>Fix the Flow</a:t>
            </a:r>
            <a:endParaRPr lang="en-US" sz="2400" dirty="0"/>
          </a:p>
        </p:txBody>
      </p:sp>
      <p:sp>
        <p:nvSpPr>
          <p:cNvPr id="5" name="Text 2"/>
          <p:cNvSpPr/>
          <p:nvPr/>
        </p:nvSpPr>
        <p:spPr>
          <a:xfrm>
            <a:off x="12320540" y="2865967"/>
            <a:ext cx="10626995" cy="1227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Alongside behavioral data, we collected direct user feedback during testing and session recordings. These qualitative insights highlight emotional responses, common complaints, and opportunities for UX improvement that pure analytics can miss.</a:t>
            </a:r>
            <a:endParaRPr lang="en-US" sz="2000" dirty="0"/>
          </a:p>
        </p:txBody>
      </p:sp>
      <p:sp>
        <p:nvSpPr>
          <p:cNvPr id="6" name="Text 3"/>
          <p:cNvSpPr/>
          <p:nvPr/>
        </p:nvSpPr>
        <p:spPr>
          <a:xfrm>
            <a:off x="1524191" y="11349567"/>
            <a:ext cx="6257649" cy="465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When users talk, they point us exactly where it hurts.</a:t>
            </a:r>
            <a:endParaRPr lang="en-US" sz="2000" dirty="0"/>
          </a:p>
        </p:txBody>
      </p:sp>
      <p:sp>
        <p:nvSpPr>
          <p:cNvPr id="7" name="Shape 4"/>
          <p:cNvSpPr/>
          <p:nvPr/>
        </p:nvSpPr>
        <p:spPr>
          <a:xfrm>
            <a:off x="15241905" y="5956300"/>
            <a:ext cx="7620953" cy="4546600"/>
          </a:xfrm>
          <a:prstGeom prst="roundRect">
            <a:avLst>
              <a:gd name="adj" fmla="val 9453"/>
            </a:avLst>
          </a:prstGeom>
          <a:solidFill>
            <a:srgbClr val="FFA8A8">
              <a:alpha val="100000"/>
            </a:srgbClr>
          </a:solidFill>
          <a:ln/>
        </p:spPr>
        <p:txBody>
          <a:bodyPr/>
          <a:lstStyle/>
          <a:p>
            <a:endParaRPr lang="en-ID"/>
          </a:p>
        </p:txBody>
      </p:sp>
      <p:sp>
        <p:nvSpPr>
          <p:cNvPr id="8" name="Shape 5"/>
          <p:cNvSpPr/>
          <p:nvPr/>
        </p:nvSpPr>
        <p:spPr>
          <a:xfrm>
            <a:off x="8230629" y="5956300"/>
            <a:ext cx="7913089" cy="4546600"/>
          </a:xfrm>
          <a:prstGeom prst="roundRect">
            <a:avLst>
              <a:gd name="adj" fmla="val 9453"/>
            </a:avLst>
          </a:prstGeom>
          <a:solidFill>
            <a:srgbClr val="5993FF">
              <a:alpha val="100000"/>
            </a:srgbClr>
          </a:solidFill>
          <a:ln/>
        </p:spPr>
        <p:txBody>
          <a:bodyPr/>
          <a:lstStyle/>
          <a:p>
            <a:endParaRPr lang="en-ID"/>
          </a:p>
        </p:txBody>
      </p:sp>
      <p:sp>
        <p:nvSpPr>
          <p:cNvPr id="9" name="Shape 6"/>
          <p:cNvSpPr/>
          <p:nvPr/>
        </p:nvSpPr>
        <p:spPr>
          <a:xfrm>
            <a:off x="1524191" y="5956300"/>
            <a:ext cx="7620953" cy="4546600"/>
          </a:xfrm>
          <a:prstGeom prst="roundRect">
            <a:avLst>
              <a:gd name="adj" fmla="val 9453"/>
            </a:avLst>
          </a:prstGeom>
          <a:solidFill>
            <a:srgbClr val="F88A24">
              <a:alpha val="100000"/>
            </a:srgbClr>
          </a:solidFill>
          <a:ln/>
        </p:spPr>
        <p:txBody>
          <a:bodyPr/>
          <a:lstStyle/>
          <a:p>
            <a:endParaRPr lang="en-ID"/>
          </a:p>
        </p:txBody>
      </p:sp>
      <p:sp>
        <p:nvSpPr>
          <p:cNvPr id="10" name="Text 7"/>
          <p:cNvSpPr/>
          <p:nvPr/>
        </p:nvSpPr>
        <p:spPr>
          <a:xfrm>
            <a:off x="2032254" y="9190567"/>
            <a:ext cx="6283052" cy="846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F2F2F2">
                    <a:alpha val="100000"/>
                  </a:srgbClr>
                </a:solidFill>
                <a:latin typeface="Inter Regular" pitchFamily="34" charset="0"/>
                <a:ea typeface="Inter Regular" pitchFamily="34" charset="-122"/>
                <a:cs typeface="Inter Regular" pitchFamily="34" charset="-120"/>
              </a:rPr>
              <a:t>“I wasn’t sure if my payment went through no clear message.”</a:t>
            </a:r>
            <a:endParaRPr lang="en-US" sz="2000" dirty="0"/>
          </a:p>
        </p:txBody>
      </p:sp>
      <p:sp>
        <p:nvSpPr>
          <p:cNvPr id="11" name="Text 8"/>
          <p:cNvSpPr/>
          <p:nvPr/>
        </p:nvSpPr>
        <p:spPr>
          <a:xfrm>
            <a:off x="9653206" y="9190567"/>
            <a:ext cx="5190715" cy="846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FFFFFF">
                    <a:alpha val="100000"/>
                  </a:srgbClr>
                </a:solidFill>
                <a:latin typeface="Inter Regular" pitchFamily="34" charset="0"/>
                <a:ea typeface="Inter Regular" pitchFamily="34" charset="-122"/>
                <a:cs typeface="Inter Regular" pitchFamily="34" charset="-120"/>
              </a:rPr>
              <a:t>“Why do I have to create an account just to look around?”</a:t>
            </a:r>
            <a:endParaRPr lang="en-US" sz="2000" dirty="0"/>
          </a:p>
        </p:txBody>
      </p:sp>
      <p:sp>
        <p:nvSpPr>
          <p:cNvPr id="12" name="Text 9"/>
          <p:cNvSpPr/>
          <p:nvPr/>
        </p:nvSpPr>
        <p:spPr>
          <a:xfrm>
            <a:off x="16651781" y="9190567"/>
            <a:ext cx="5190715" cy="846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FFFFFF">
                    <a:alpha val="100000"/>
                  </a:srgbClr>
                </a:solidFill>
                <a:latin typeface="Inter Regular" pitchFamily="34" charset="0"/>
                <a:ea typeface="Inter Regular" pitchFamily="34" charset="-122"/>
                <a:cs typeface="Inter Regular" pitchFamily="34" charset="-120"/>
              </a:rPr>
              <a:t>“I kept tapping but nothing happened on my screen.”</a:t>
            </a:r>
            <a:endParaRPr lang="en-US" sz="2000" dirty="0"/>
          </a:p>
        </p:txBody>
      </p:sp>
      <p:sp>
        <p:nvSpPr>
          <p:cNvPr id="13" name="Text 10"/>
          <p:cNvSpPr/>
          <p:nvPr/>
        </p:nvSpPr>
        <p:spPr>
          <a:xfrm>
            <a:off x="2032254" y="8597900"/>
            <a:ext cx="3022978" cy="558800"/>
          </a:xfrm>
          <a:prstGeom prst="rect">
            <a:avLst/>
          </a:prstGeom>
          <a:noFill/>
          <a:ln/>
        </p:spPr>
        <p:txBody>
          <a:bodyPr wrap="square" lIns="0" tIns="0" rIns="0" bIns="0" rtlCol="0" anchor="ctr"/>
          <a:lstStyle/>
          <a:p>
            <a:pPr marL="0" indent="0" algn="l">
              <a:lnSpc>
                <a:spcPts val="3600"/>
              </a:lnSpc>
              <a:buNone/>
            </a:pPr>
            <a:r>
              <a:rPr lang="en-US" sz="2400" kern="0" spc="-48" dirty="0">
                <a:solidFill>
                  <a:srgbClr val="FFFFFF">
                    <a:alpha val="100000"/>
                  </a:srgbClr>
                </a:solidFill>
                <a:latin typeface="Inter Medium" pitchFamily="34" charset="0"/>
                <a:ea typeface="Inter Medium" pitchFamily="34" charset="-122"/>
                <a:cs typeface="Inter Medium" pitchFamily="34" charset="-120"/>
              </a:rPr>
              <a:t>Checkout Confusion</a:t>
            </a:r>
            <a:endParaRPr lang="en-US" sz="2400" dirty="0"/>
          </a:p>
        </p:txBody>
      </p:sp>
      <p:sp>
        <p:nvSpPr>
          <p:cNvPr id="14" name="Text 11"/>
          <p:cNvSpPr/>
          <p:nvPr/>
        </p:nvSpPr>
        <p:spPr>
          <a:xfrm>
            <a:off x="9653206" y="8597900"/>
            <a:ext cx="3073784" cy="558800"/>
          </a:xfrm>
          <a:prstGeom prst="rect">
            <a:avLst/>
          </a:prstGeom>
          <a:noFill/>
          <a:ln/>
        </p:spPr>
        <p:txBody>
          <a:bodyPr wrap="square" lIns="0" tIns="0" rIns="0" bIns="0" rtlCol="0" anchor="ctr"/>
          <a:lstStyle/>
          <a:p>
            <a:pPr marL="0" indent="0" algn="l">
              <a:lnSpc>
                <a:spcPts val="3600"/>
              </a:lnSpc>
              <a:buNone/>
            </a:pPr>
            <a:r>
              <a:rPr lang="en-US" sz="2400" kern="0" spc="-48" dirty="0">
                <a:solidFill>
                  <a:srgbClr val="FFFFFF">
                    <a:alpha val="100000"/>
                  </a:srgbClr>
                </a:solidFill>
                <a:latin typeface="Inter Medium" pitchFamily="34" charset="0"/>
                <a:ea typeface="Inter Medium" pitchFamily="34" charset="-122"/>
                <a:cs typeface="Inter Medium" pitchFamily="34" charset="-120"/>
              </a:rPr>
              <a:t>Onboarding Drop-off</a:t>
            </a:r>
            <a:endParaRPr lang="en-US" sz="2400" dirty="0"/>
          </a:p>
        </p:txBody>
      </p:sp>
      <p:sp>
        <p:nvSpPr>
          <p:cNvPr id="15" name="Text 12"/>
          <p:cNvSpPr/>
          <p:nvPr/>
        </p:nvSpPr>
        <p:spPr>
          <a:xfrm>
            <a:off x="16651781" y="8597900"/>
            <a:ext cx="3022978" cy="558800"/>
          </a:xfrm>
          <a:prstGeom prst="rect">
            <a:avLst/>
          </a:prstGeom>
          <a:noFill/>
          <a:ln/>
        </p:spPr>
        <p:txBody>
          <a:bodyPr wrap="square" lIns="0" tIns="0" rIns="0" bIns="0" rtlCol="0" anchor="ctr"/>
          <a:lstStyle/>
          <a:p>
            <a:pPr marL="0" indent="0" algn="l">
              <a:lnSpc>
                <a:spcPts val="3600"/>
              </a:lnSpc>
              <a:buNone/>
            </a:pPr>
            <a:r>
              <a:rPr lang="en-US" sz="2400" kern="0" spc="-48" dirty="0">
                <a:solidFill>
                  <a:srgbClr val="FFFFFF">
                    <a:alpha val="100000"/>
                  </a:srgbClr>
                </a:solidFill>
                <a:latin typeface="Inter Medium" pitchFamily="34" charset="0"/>
                <a:ea typeface="Inter Medium" pitchFamily="34" charset="-122"/>
                <a:cs typeface="Inter Medium" pitchFamily="34" charset="-120"/>
              </a:rPr>
              <a:t>Mobile Frustration</a:t>
            </a:r>
            <a:endParaRPr lang="en-US" sz="2400" dirty="0"/>
          </a:p>
        </p:txBody>
      </p:sp>
      <p:pic>
        <p:nvPicPr>
          <p:cNvPr id="16" name="Image 1"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108464" y="7962900"/>
            <a:ext cx="457257" cy="508000"/>
          </a:xfrm>
          <a:prstGeom prst="rect">
            <a:avLst/>
          </a:prstGeom>
        </p:spPr>
      </p:pic>
      <p:pic>
        <p:nvPicPr>
          <p:cNvPr id="17" name="Image 2"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729416" y="7988300"/>
            <a:ext cx="457257" cy="457200"/>
          </a:xfrm>
          <a:prstGeom prst="rect">
            <a:avLst/>
          </a:prstGeom>
        </p:spPr>
      </p:pic>
      <p:pic>
        <p:nvPicPr>
          <p:cNvPr id="18" name="Image 3" descr=" "/>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6778797" y="7962900"/>
            <a:ext cx="355644" cy="50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4F4"/>
        </a:solidFill>
        <a:effectLst/>
      </p:bgPr>
    </p:bg>
    <p:spTree>
      <p:nvGrpSpPr>
        <p:cNvPr id="1" name=""/>
        <p:cNvGrpSpPr/>
        <p:nvPr/>
      </p:nvGrpSpPr>
      <p:grpSpPr>
        <a:xfrm>
          <a:off x="0" y="0"/>
          <a:ext cx="0" cy="0"/>
          <a:chOff x="0" y="0"/>
          <a:chExt cx="0" cy="0"/>
        </a:xfrm>
      </p:grpSpPr>
      <p:sp>
        <p:nvSpPr>
          <p:cNvPr id="2" name="Text 0"/>
          <p:cNvSpPr/>
          <p:nvPr/>
        </p:nvSpPr>
        <p:spPr>
          <a:xfrm>
            <a:off x="1498787" y="2501900"/>
            <a:ext cx="8188290" cy="2777067"/>
          </a:xfrm>
          <a:prstGeom prst="rect">
            <a:avLst/>
          </a:prstGeom>
          <a:noFill/>
          <a:ln/>
        </p:spPr>
        <p:txBody>
          <a:bodyPr wrap="square" lIns="0" tIns="0" rIns="0" bIns="0" rtlCol="0" anchor="t"/>
          <a:lstStyle/>
          <a:p>
            <a:pPr marL="0" indent="0" algn="l">
              <a:lnSpc>
                <a:spcPts val="9600"/>
              </a:lnSpc>
              <a:buNone/>
            </a:pPr>
            <a:r>
              <a:rPr lang="en-US" sz="8000" kern="0" spc="-480" dirty="0">
                <a:solidFill>
                  <a:srgbClr val="050C29">
                    <a:alpha val="100000"/>
                  </a:srgbClr>
                </a:solidFill>
                <a:latin typeface="Inter Medium" pitchFamily="34" charset="0"/>
                <a:ea typeface="Inter Medium" pitchFamily="34" charset="-122"/>
                <a:cs typeface="Inter Medium" pitchFamily="34" charset="-120"/>
              </a:rPr>
              <a:t>Proposed UX Improvements</a:t>
            </a:r>
            <a:endParaRPr lang="en-US" sz="8000" dirty="0"/>
          </a:p>
        </p:txBody>
      </p:sp>
      <p:sp>
        <p:nvSpPr>
          <p:cNvPr id="3" name="Text 1"/>
          <p:cNvSpPr/>
          <p:nvPr/>
        </p:nvSpPr>
        <p:spPr>
          <a:xfrm>
            <a:off x="1498787" y="1524000"/>
            <a:ext cx="1778222" cy="558800"/>
          </a:xfrm>
          <a:prstGeom prst="rect">
            <a:avLst/>
          </a:prstGeom>
          <a:noFill/>
          <a:ln/>
        </p:spPr>
        <p:txBody>
          <a:bodyPr wrap="square" lIns="0" tIns="0" rIns="0" bIns="0" rtlCol="0" anchor="t"/>
          <a:lstStyle/>
          <a:p>
            <a:pPr marL="0" indent="0" algn="l">
              <a:lnSpc>
                <a:spcPts val="3600"/>
              </a:lnSpc>
              <a:buNone/>
            </a:pPr>
            <a:r>
              <a:rPr lang="en-US" sz="2400" kern="0" spc="-48" dirty="0">
                <a:solidFill>
                  <a:srgbClr val="000000">
                    <a:alpha val="100000"/>
                  </a:srgbClr>
                </a:solidFill>
                <a:latin typeface="Inter Regular" pitchFamily="34" charset="0"/>
                <a:ea typeface="Inter Regular" pitchFamily="34" charset="-122"/>
                <a:cs typeface="Inter Regular" pitchFamily="34" charset="-120"/>
              </a:rPr>
              <a:t>Fix the Flow</a:t>
            </a:r>
            <a:endParaRPr lang="en-US" sz="2400" dirty="0"/>
          </a:p>
        </p:txBody>
      </p:sp>
      <p:sp>
        <p:nvSpPr>
          <p:cNvPr id="4" name="Text 2"/>
          <p:cNvSpPr/>
          <p:nvPr/>
        </p:nvSpPr>
        <p:spPr>
          <a:xfrm>
            <a:off x="12320540" y="2459567"/>
            <a:ext cx="10626995" cy="1227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Based on the identified usability issues, we’ve outlined specific and actionable UX improvements. These solutions aim to reduce friction, enhance usability, and align with best practices in interaction design.</a:t>
            </a:r>
            <a:endParaRPr lang="en-US" sz="2000" dirty="0"/>
          </a:p>
        </p:txBody>
      </p:sp>
      <p:grpSp>
        <p:nvGrpSpPr>
          <p:cNvPr id="30" name="Group 29">
            <a:extLst>
              <a:ext uri="{FF2B5EF4-FFF2-40B4-BE49-F238E27FC236}">
                <a16:creationId xmlns:a16="http://schemas.microsoft.com/office/drawing/2014/main" id="{295B1871-F164-00A4-36E4-7B5183653A14}"/>
              </a:ext>
            </a:extLst>
          </p:cNvPr>
          <p:cNvGrpSpPr/>
          <p:nvPr/>
        </p:nvGrpSpPr>
        <p:grpSpPr>
          <a:xfrm>
            <a:off x="0" y="4114800"/>
            <a:ext cx="24387048" cy="6921500"/>
            <a:chOff x="0" y="4114800"/>
            <a:chExt cx="24387048" cy="6921500"/>
          </a:xfrm>
        </p:grpSpPr>
        <p:sp>
          <p:nvSpPr>
            <p:cNvPr id="5" name="Shape 3"/>
            <p:cNvSpPr/>
            <p:nvPr/>
          </p:nvSpPr>
          <p:spPr>
            <a:xfrm>
              <a:off x="0" y="8839200"/>
              <a:ext cx="4877410" cy="2197100"/>
            </a:xfrm>
            <a:prstGeom prst="rect">
              <a:avLst/>
            </a:prstGeom>
            <a:solidFill>
              <a:srgbClr val="87D9D6">
                <a:alpha val="100000"/>
              </a:srgbClr>
            </a:solidFill>
            <a:ln/>
          </p:spPr>
          <p:txBody>
            <a:bodyPr/>
            <a:lstStyle/>
            <a:p>
              <a:endParaRPr lang="en-ID"/>
            </a:p>
          </p:txBody>
        </p:sp>
        <p:sp>
          <p:nvSpPr>
            <p:cNvPr id="6" name="Shape 4"/>
            <p:cNvSpPr/>
            <p:nvPr/>
          </p:nvSpPr>
          <p:spPr>
            <a:xfrm>
              <a:off x="4877410" y="7810500"/>
              <a:ext cx="4877410" cy="2197100"/>
            </a:xfrm>
            <a:prstGeom prst="rect">
              <a:avLst/>
            </a:prstGeom>
            <a:solidFill>
              <a:srgbClr val="87D9D6">
                <a:alpha val="100000"/>
              </a:srgbClr>
            </a:solidFill>
            <a:ln/>
          </p:spPr>
          <p:txBody>
            <a:bodyPr/>
            <a:lstStyle/>
            <a:p>
              <a:endParaRPr lang="en-ID"/>
            </a:p>
          </p:txBody>
        </p:sp>
        <p:sp>
          <p:nvSpPr>
            <p:cNvPr id="7" name="Shape 5"/>
            <p:cNvSpPr/>
            <p:nvPr/>
          </p:nvSpPr>
          <p:spPr>
            <a:xfrm>
              <a:off x="9754819" y="6642100"/>
              <a:ext cx="4877410" cy="2197100"/>
            </a:xfrm>
            <a:prstGeom prst="rect">
              <a:avLst/>
            </a:prstGeom>
            <a:solidFill>
              <a:srgbClr val="87D9D6">
                <a:alpha val="100000"/>
              </a:srgbClr>
            </a:solidFill>
            <a:ln/>
          </p:spPr>
          <p:txBody>
            <a:bodyPr/>
            <a:lstStyle/>
            <a:p>
              <a:endParaRPr lang="en-ID"/>
            </a:p>
          </p:txBody>
        </p:sp>
        <p:sp>
          <p:nvSpPr>
            <p:cNvPr id="8" name="Shape 6"/>
            <p:cNvSpPr/>
            <p:nvPr/>
          </p:nvSpPr>
          <p:spPr>
            <a:xfrm>
              <a:off x="14632229" y="5511800"/>
              <a:ext cx="4877410" cy="2197100"/>
            </a:xfrm>
            <a:prstGeom prst="rect">
              <a:avLst/>
            </a:prstGeom>
            <a:solidFill>
              <a:srgbClr val="87D9D6">
                <a:alpha val="100000"/>
              </a:srgbClr>
            </a:solidFill>
            <a:ln/>
          </p:spPr>
          <p:txBody>
            <a:bodyPr/>
            <a:lstStyle/>
            <a:p>
              <a:endParaRPr lang="en-ID"/>
            </a:p>
          </p:txBody>
        </p:sp>
        <p:sp>
          <p:nvSpPr>
            <p:cNvPr id="9" name="Shape 7"/>
            <p:cNvSpPr/>
            <p:nvPr/>
          </p:nvSpPr>
          <p:spPr>
            <a:xfrm>
              <a:off x="19509638" y="4114800"/>
              <a:ext cx="4877410" cy="2197100"/>
            </a:xfrm>
            <a:prstGeom prst="rect">
              <a:avLst/>
            </a:prstGeom>
            <a:solidFill>
              <a:srgbClr val="87D9D6">
                <a:alpha val="100000"/>
              </a:srgbClr>
            </a:solidFill>
            <a:ln/>
          </p:spPr>
          <p:txBody>
            <a:bodyPr/>
            <a:lstStyle/>
            <a:p>
              <a:endParaRPr lang="en-ID"/>
            </a:p>
          </p:txBody>
        </p:sp>
      </p:grpSp>
      <p:grpSp>
        <p:nvGrpSpPr>
          <p:cNvPr id="29" name="Group 28">
            <a:extLst>
              <a:ext uri="{FF2B5EF4-FFF2-40B4-BE49-F238E27FC236}">
                <a16:creationId xmlns:a16="http://schemas.microsoft.com/office/drawing/2014/main" id="{60ADCD22-1257-DB72-9D85-EF27D0063DBE}"/>
              </a:ext>
            </a:extLst>
          </p:cNvPr>
          <p:cNvGrpSpPr/>
          <p:nvPr/>
        </p:nvGrpSpPr>
        <p:grpSpPr>
          <a:xfrm>
            <a:off x="0" y="6311900"/>
            <a:ext cx="24387048" cy="7404100"/>
            <a:chOff x="0" y="6311900"/>
            <a:chExt cx="24387048" cy="7404100"/>
          </a:xfrm>
        </p:grpSpPr>
        <p:sp>
          <p:nvSpPr>
            <p:cNvPr id="10" name="Shape 8"/>
            <p:cNvSpPr/>
            <p:nvPr/>
          </p:nvSpPr>
          <p:spPr>
            <a:xfrm>
              <a:off x="0" y="11036300"/>
              <a:ext cx="4877410" cy="2679700"/>
            </a:xfrm>
            <a:prstGeom prst="rect">
              <a:avLst/>
            </a:prstGeom>
            <a:solidFill>
              <a:srgbClr val="5993FF">
                <a:alpha val="100000"/>
              </a:srgbClr>
            </a:solidFill>
            <a:ln/>
          </p:spPr>
          <p:txBody>
            <a:bodyPr/>
            <a:lstStyle/>
            <a:p>
              <a:endParaRPr lang="en-ID"/>
            </a:p>
          </p:txBody>
        </p:sp>
        <p:sp>
          <p:nvSpPr>
            <p:cNvPr id="11" name="Shape 9"/>
            <p:cNvSpPr/>
            <p:nvPr/>
          </p:nvSpPr>
          <p:spPr>
            <a:xfrm>
              <a:off x="4877410" y="10007600"/>
              <a:ext cx="4877410" cy="3708400"/>
            </a:xfrm>
            <a:prstGeom prst="rect">
              <a:avLst/>
            </a:prstGeom>
            <a:solidFill>
              <a:srgbClr val="5993FF">
                <a:alpha val="100000"/>
              </a:srgbClr>
            </a:solidFill>
            <a:ln/>
          </p:spPr>
          <p:txBody>
            <a:bodyPr/>
            <a:lstStyle/>
            <a:p>
              <a:endParaRPr lang="en-ID"/>
            </a:p>
          </p:txBody>
        </p:sp>
        <p:sp>
          <p:nvSpPr>
            <p:cNvPr id="12" name="Shape 10"/>
            <p:cNvSpPr/>
            <p:nvPr/>
          </p:nvSpPr>
          <p:spPr>
            <a:xfrm>
              <a:off x="9754819" y="8839200"/>
              <a:ext cx="4877410" cy="4876800"/>
            </a:xfrm>
            <a:prstGeom prst="rect">
              <a:avLst/>
            </a:prstGeom>
            <a:solidFill>
              <a:srgbClr val="5993FF">
                <a:alpha val="100000"/>
              </a:srgbClr>
            </a:solidFill>
            <a:ln/>
          </p:spPr>
          <p:txBody>
            <a:bodyPr/>
            <a:lstStyle/>
            <a:p>
              <a:endParaRPr lang="en-ID"/>
            </a:p>
          </p:txBody>
        </p:sp>
        <p:sp>
          <p:nvSpPr>
            <p:cNvPr id="13" name="Shape 11"/>
            <p:cNvSpPr/>
            <p:nvPr/>
          </p:nvSpPr>
          <p:spPr>
            <a:xfrm>
              <a:off x="14632229" y="7708900"/>
              <a:ext cx="4877410" cy="6007100"/>
            </a:xfrm>
            <a:prstGeom prst="rect">
              <a:avLst/>
            </a:prstGeom>
            <a:solidFill>
              <a:srgbClr val="5993FF">
                <a:alpha val="100000"/>
              </a:srgbClr>
            </a:solidFill>
            <a:ln/>
          </p:spPr>
          <p:txBody>
            <a:bodyPr/>
            <a:lstStyle/>
            <a:p>
              <a:endParaRPr lang="en-ID"/>
            </a:p>
          </p:txBody>
        </p:sp>
        <p:sp>
          <p:nvSpPr>
            <p:cNvPr id="14" name="Shape 12"/>
            <p:cNvSpPr/>
            <p:nvPr/>
          </p:nvSpPr>
          <p:spPr>
            <a:xfrm>
              <a:off x="19509638" y="6311900"/>
              <a:ext cx="4877410" cy="7404100"/>
            </a:xfrm>
            <a:prstGeom prst="rect">
              <a:avLst/>
            </a:prstGeom>
            <a:solidFill>
              <a:srgbClr val="5993FF">
                <a:alpha val="100000"/>
              </a:srgbClr>
            </a:solidFill>
            <a:ln/>
          </p:spPr>
          <p:txBody>
            <a:bodyPr/>
            <a:lstStyle/>
            <a:p>
              <a:endParaRPr lang="en-ID"/>
            </a:p>
          </p:txBody>
        </p:sp>
      </p:grpSp>
      <p:sp>
        <p:nvSpPr>
          <p:cNvPr id="15" name="Text 13"/>
          <p:cNvSpPr/>
          <p:nvPr/>
        </p:nvSpPr>
        <p:spPr>
          <a:xfrm>
            <a:off x="1524191" y="9431867"/>
            <a:ext cx="2218544" cy="846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Hidden Checkout CTA</a:t>
            </a:r>
            <a:endParaRPr lang="en-US" sz="2000" dirty="0"/>
          </a:p>
        </p:txBody>
      </p:sp>
      <p:sp>
        <p:nvSpPr>
          <p:cNvPr id="16" name="Text 14"/>
          <p:cNvSpPr/>
          <p:nvPr/>
        </p:nvSpPr>
        <p:spPr>
          <a:xfrm>
            <a:off x="1524191" y="11628967"/>
            <a:ext cx="2218544" cy="846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Increase size and contrast</a:t>
            </a:r>
            <a:endParaRPr lang="en-US" sz="2000" dirty="0"/>
          </a:p>
        </p:txBody>
      </p:sp>
      <p:sp>
        <p:nvSpPr>
          <p:cNvPr id="17" name="Text 15"/>
          <p:cNvSpPr/>
          <p:nvPr/>
        </p:nvSpPr>
        <p:spPr>
          <a:xfrm>
            <a:off x="5512489" y="10828867"/>
            <a:ext cx="2218544" cy="846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Enable guest checkout</a:t>
            </a:r>
            <a:endParaRPr lang="en-US" sz="2000" dirty="0"/>
          </a:p>
        </p:txBody>
      </p:sp>
      <p:sp>
        <p:nvSpPr>
          <p:cNvPr id="18" name="Text 16"/>
          <p:cNvSpPr/>
          <p:nvPr/>
        </p:nvSpPr>
        <p:spPr>
          <a:xfrm>
            <a:off x="5512489" y="8403167"/>
            <a:ext cx="2218544" cy="846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Forced login during browsing</a:t>
            </a:r>
            <a:endParaRPr lang="en-US" sz="2000" dirty="0"/>
          </a:p>
        </p:txBody>
      </p:sp>
      <p:sp>
        <p:nvSpPr>
          <p:cNvPr id="19" name="Text 17"/>
          <p:cNvSpPr/>
          <p:nvPr/>
        </p:nvSpPr>
        <p:spPr>
          <a:xfrm>
            <a:off x="10389899" y="7234767"/>
            <a:ext cx="2218544" cy="846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Overlong address forms</a:t>
            </a:r>
            <a:endParaRPr lang="en-US" sz="2000" dirty="0"/>
          </a:p>
        </p:txBody>
      </p:sp>
      <p:sp>
        <p:nvSpPr>
          <p:cNvPr id="20" name="Text 18"/>
          <p:cNvSpPr/>
          <p:nvPr/>
        </p:nvSpPr>
        <p:spPr>
          <a:xfrm>
            <a:off x="10389899" y="9431867"/>
            <a:ext cx="2434471" cy="846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Break into steps + show progress bar</a:t>
            </a:r>
            <a:endParaRPr lang="en-US" sz="2000" dirty="0"/>
          </a:p>
        </p:txBody>
      </p:sp>
      <p:sp>
        <p:nvSpPr>
          <p:cNvPr id="21" name="Text 19"/>
          <p:cNvSpPr/>
          <p:nvPr/>
        </p:nvSpPr>
        <p:spPr>
          <a:xfrm>
            <a:off x="15267308" y="8301567"/>
            <a:ext cx="2536084" cy="846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Simplify language and offer solutions</a:t>
            </a:r>
            <a:endParaRPr lang="en-US" sz="2000" dirty="0"/>
          </a:p>
        </p:txBody>
      </p:sp>
      <p:sp>
        <p:nvSpPr>
          <p:cNvPr id="22" name="Text 20"/>
          <p:cNvSpPr/>
          <p:nvPr/>
        </p:nvSpPr>
        <p:spPr>
          <a:xfrm>
            <a:off x="20144718" y="6904567"/>
            <a:ext cx="2802817" cy="1227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Increase touch areas to meet mobile standards</a:t>
            </a:r>
            <a:endParaRPr lang="en-US" sz="2000" dirty="0"/>
          </a:p>
        </p:txBody>
      </p:sp>
      <p:sp>
        <p:nvSpPr>
          <p:cNvPr id="23" name="Text 21"/>
          <p:cNvSpPr/>
          <p:nvPr/>
        </p:nvSpPr>
        <p:spPr>
          <a:xfrm>
            <a:off x="15267308" y="6104467"/>
            <a:ext cx="2218544" cy="846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Confusing error messages</a:t>
            </a:r>
            <a:endParaRPr lang="en-US" sz="2000" dirty="0"/>
          </a:p>
        </p:txBody>
      </p:sp>
      <p:sp>
        <p:nvSpPr>
          <p:cNvPr id="24" name="Text 22"/>
          <p:cNvSpPr/>
          <p:nvPr/>
        </p:nvSpPr>
        <p:spPr>
          <a:xfrm>
            <a:off x="20144718" y="4707467"/>
            <a:ext cx="2218544" cy="846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Tiny mobile tap targets</a:t>
            </a:r>
            <a:endParaRPr lang="en-US" sz="2000" dirty="0"/>
          </a:p>
        </p:txBody>
      </p:sp>
      <p:sp>
        <p:nvSpPr>
          <p:cNvPr id="25" name="Text 23"/>
          <p:cNvSpPr/>
          <p:nvPr/>
        </p:nvSpPr>
        <p:spPr>
          <a:xfrm>
            <a:off x="1905238" y="5558367"/>
            <a:ext cx="1062699" cy="465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Problem</a:t>
            </a:r>
            <a:endParaRPr lang="en-US" sz="2000" dirty="0"/>
          </a:p>
        </p:txBody>
      </p:sp>
      <p:sp>
        <p:nvSpPr>
          <p:cNvPr id="26" name="Text 24"/>
          <p:cNvSpPr/>
          <p:nvPr/>
        </p:nvSpPr>
        <p:spPr>
          <a:xfrm>
            <a:off x="1905238" y="5990167"/>
            <a:ext cx="1049998" cy="465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Solution</a:t>
            </a:r>
            <a:endParaRPr lang="en-US" sz="2000" dirty="0"/>
          </a:p>
        </p:txBody>
      </p:sp>
      <p:sp>
        <p:nvSpPr>
          <p:cNvPr id="27" name="Shape 25"/>
          <p:cNvSpPr/>
          <p:nvPr/>
        </p:nvSpPr>
        <p:spPr>
          <a:xfrm>
            <a:off x="1524191" y="5664200"/>
            <a:ext cx="254032" cy="254000"/>
          </a:xfrm>
          <a:prstGeom prst="ellipse">
            <a:avLst/>
          </a:prstGeom>
          <a:solidFill>
            <a:srgbClr val="87D9D6">
              <a:alpha val="100000"/>
            </a:srgbClr>
          </a:solidFill>
          <a:ln/>
        </p:spPr>
        <p:txBody>
          <a:bodyPr/>
          <a:lstStyle/>
          <a:p>
            <a:endParaRPr lang="en-ID"/>
          </a:p>
        </p:txBody>
      </p:sp>
      <p:sp>
        <p:nvSpPr>
          <p:cNvPr id="28" name="Shape 26"/>
          <p:cNvSpPr/>
          <p:nvPr/>
        </p:nvSpPr>
        <p:spPr>
          <a:xfrm>
            <a:off x="1524191" y="6096000"/>
            <a:ext cx="254032" cy="254000"/>
          </a:xfrm>
          <a:prstGeom prst="ellipse">
            <a:avLst/>
          </a:prstGeom>
          <a:solidFill>
            <a:srgbClr val="5993FF">
              <a:alpha val="100000"/>
            </a:srgbClr>
          </a:solidFill>
          <a:ln/>
        </p:spPr>
        <p:txBody>
          <a:bodyPr/>
          <a:lstStyle/>
          <a:p>
            <a:endParaRPr lang="en-ID"/>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87E260E9-416A-3517-E046-17405DC11992}"/>
              </a:ext>
            </a:extLst>
          </p:cNvPr>
          <p:cNvSpPr/>
          <p:nvPr/>
        </p:nvSpPr>
        <p:spPr>
          <a:xfrm>
            <a:off x="0" y="0"/>
            <a:ext cx="24387175" cy="13716000"/>
          </a:xfrm>
          <a:prstGeom prst="rect">
            <a:avLst/>
          </a:prstGeom>
          <a:gradFill flip="none" rotWithShape="1">
            <a:gsLst>
              <a:gs pos="0">
                <a:srgbClr val="EFEFEF"/>
              </a:gs>
              <a:gs pos="76000">
                <a:srgbClr val="FFFFFF"/>
              </a:gs>
            </a:gsLst>
            <a:lin ang="16200000" scaled="0"/>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sz="100"/>
          </a:p>
        </p:txBody>
      </p:sp>
      <p:sp>
        <p:nvSpPr>
          <p:cNvPr id="3" name="Text 0"/>
          <p:cNvSpPr/>
          <p:nvPr/>
        </p:nvSpPr>
        <p:spPr>
          <a:xfrm>
            <a:off x="1524191" y="2959100"/>
            <a:ext cx="5736884" cy="3996267"/>
          </a:xfrm>
          <a:prstGeom prst="rect">
            <a:avLst/>
          </a:prstGeom>
          <a:noFill/>
          <a:ln/>
        </p:spPr>
        <p:txBody>
          <a:bodyPr wrap="square" lIns="0" tIns="0" rIns="0" bIns="0" rtlCol="0" anchor="t"/>
          <a:lstStyle/>
          <a:p>
            <a:pPr marL="0" indent="0" algn="l">
              <a:lnSpc>
                <a:spcPts val="9600"/>
              </a:lnSpc>
              <a:buNone/>
            </a:pPr>
            <a:r>
              <a:rPr lang="en-US" sz="8000" kern="0" spc="-480" dirty="0">
                <a:solidFill>
                  <a:srgbClr val="050C29">
                    <a:alpha val="100000"/>
                  </a:srgbClr>
                </a:solidFill>
                <a:latin typeface="Inter Medium" pitchFamily="34" charset="0"/>
                <a:ea typeface="Inter Medium" pitchFamily="34" charset="-122"/>
                <a:cs typeface="Inter Medium" pitchFamily="34" charset="-120"/>
              </a:rPr>
              <a:t>Before &amp; After Visual Comparison</a:t>
            </a:r>
            <a:endParaRPr lang="en-US" sz="8000" dirty="0"/>
          </a:p>
        </p:txBody>
      </p:sp>
      <p:sp>
        <p:nvSpPr>
          <p:cNvPr id="4" name="Text 1"/>
          <p:cNvSpPr/>
          <p:nvPr/>
        </p:nvSpPr>
        <p:spPr>
          <a:xfrm>
            <a:off x="1524191" y="10143067"/>
            <a:ext cx="6625995" cy="1227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We visually compared key pages before and after implementing UX recommendations to demonstrate immediate user-facing improvements.</a:t>
            </a:r>
            <a:endParaRPr lang="en-US" sz="2000" dirty="0"/>
          </a:p>
        </p:txBody>
      </p:sp>
      <p:sp>
        <p:nvSpPr>
          <p:cNvPr id="23" name="Oval 22">
            <a:extLst>
              <a:ext uri="{FF2B5EF4-FFF2-40B4-BE49-F238E27FC236}">
                <a16:creationId xmlns:a16="http://schemas.microsoft.com/office/drawing/2014/main" id="{AEAC3C6D-C84B-A04E-BD52-46C6A0D396A7}"/>
              </a:ext>
            </a:extLst>
          </p:cNvPr>
          <p:cNvSpPr/>
          <p:nvPr/>
        </p:nvSpPr>
        <p:spPr>
          <a:xfrm flipV="1">
            <a:off x="15292707" y="3752849"/>
            <a:ext cx="7554024" cy="7554024"/>
          </a:xfrm>
          <a:prstGeom prst="ellipse">
            <a:avLst/>
          </a:prstGeom>
          <a:pattFill prst="wdDnDiag">
            <a:fgClr>
              <a:srgbClr val="D0E0FF"/>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sz="500" dirty="0"/>
          </a:p>
        </p:txBody>
      </p:sp>
      <p:sp>
        <p:nvSpPr>
          <p:cNvPr id="21" name="Oval 20">
            <a:extLst>
              <a:ext uri="{FF2B5EF4-FFF2-40B4-BE49-F238E27FC236}">
                <a16:creationId xmlns:a16="http://schemas.microsoft.com/office/drawing/2014/main" id="{77651C64-07DF-C0F1-A36C-E4B4D92DF31E}"/>
              </a:ext>
            </a:extLst>
          </p:cNvPr>
          <p:cNvSpPr/>
          <p:nvPr/>
        </p:nvSpPr>
        <p:spPr>
          <a:xfrm flipV="1">
            <a:off x="8541302" y="4381496"/>
            <a:ext cx="6299201" cy="6299201"/>
          </a:xfrm>
          <a:prstGeom prst="ellipse">
            <a:avLst/>
          </a:prstGeom>
          <a:pattFill prst="wdDnDiag">
            <a:fgClr>
              <a:srgbClr val="FEDBDB"/>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sz="500" dirty="0"/>
          </a:p>
        </p:txBody>
      </p:sp>
      <p:sp>
        <p:nvSpPr>
          <p:cNvPr id="7" name="Shape 2"/>
          <p:cNvSpPr/>
          <p:nvPr/>
        </p:nvSpPr>
        <p:spPr>
          <a:xfrm>
            <a:off x="15254607" y="3721100"/>
            <a:ext cx="7608251" cy="7607300"/>
          </a:xfrm>
          <a:prstGeom prst="ellipse">
            <a:avLst/>
          </a:prstGeom>
          <a:noFill/>
          <a:ln w="50800">
            <a:solidFill>
              <a:srgbClr val="87D9D6"/>
            </a:solidFill>
            <a:prstDash val="solid"/>
          </a:ln>
        </p:spPr>
        <p:txBody>
          <a:bodyPr/>
          <a:lstStyle/>
          <a:p>
            <a:endParaRPr lang="en-ID"/>
          </a:p>
        </p:txBody>
      </p:sp>
      <p:sp>
        <p:nvSpPr>
          <p:cNvPr id="8" name="Shape 3"/>
          <p:cNvSpPr/>
          <p:nvPr/>
        </p:nvSpPr>
        <p:spPr>
          <a:xfrm>
            <a:off x="15229203" y="3771900"/>
            <a:ext cx="2540318" cy="2540000"/>
          </a:xfrm>
          <a:prstGeom prst="ellipse">
            <a:avLst/>
          </a:prstGeom>
          <a:solidFill>
            <a:srgbClr val="87D9D6">
              <a:alpha val="100000"/>
            </a:srgbClr>
          </a:solidFill>
          <a:ln/>
        </p:spPr>
        <p:txBody>
          <a:bodyPr/>
          <a:lstStyle/>
          <a:p>
            <a:endParaRPr lang="en-ID"/>
          </a:p>
        </p:txBody>
      </p:sp>
      <p:sp>
        <p:nvSpPr>
          <p:cNvPr id="9" name="Shape 4"/>
          <p:cNvSpPr/>
          <p:nvPr/>
        </p:nvSpPr>
        <p:spPr>
          <a:xfrm>
            <a:off x="21961045" y="9207500"/>
            <a:ext cx="635079" cy="635000"/>
          </a:xfrm>
          <a:prstGeom prst="ellipse">
            <a:avLst/>
          </a:prstGeom>
          <a:solidFill>
            <a:srgbClr val="87D9D6">
              <a:alpha val="100000"/>
            </a:srgbClr>
          </a:solidFill>
          <a:ln/>
        </p:spPr>
        <p:txBody>
          <a:bodyPr/>
          <a:lstStyle/>
          <a:p>
            <a:endParaRPr lang="en-ID"/>
          </a:p>
        </p:txBody>
      </p:sp>
      <p:sp>
        <p:nvSpPr>
          <p:cNvPr id="10" name="Shape 5"/>
          <p:cNvSpPr/>
          <p:nvPr/>
        </p:nvSpPr>
        <p:spPr>
          <a:xfrm>
            <a:off x="8510064" y="4419600"/>
            <a:ext cx="2108464" cy="2108200"/>
          </a:xfrm>
          <a:prstGeom prst="ellipse">
            <a:avLst/>
          </a:prstGeom>
          <a:solidFill>
            <a:srgbClr val="FFA8A8">
              <a:alpha val="100000"/>
            </a:srgbClr>
          </a:solidFill>
          <a:ln/>
        </p:spPr>
        <p:txBody>
          <a:bodyPr/>
          <a:lstStyle/>
          <a:p>
            <a:endParaRPr lang="en-ID"/>
          </a:p>
        </p:txBody>
      </p:sp>
      <p:pic>
        <p:nvPicPr>
          <p:cNvPr id="11" name="Image 3"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156419" y="4622800"/>
            <a:ext cx="5804625" cy="5803900"/>
          </a:xfrm>
          <a:prstGeom prst="rect">
            <a:avLst/>
          </a:prstGeom>
        </p:spPr>
      </p:pic>
      <p:pic>
        <p:nvPicPr>
          <p:cNvPr id="12" name="Image 4"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259457" y="5118100"/>
            <a:ext cx="4826640" cy="4826000"/>
          </a:xfrm>
          <a:prstGeom prst="rect">
            <a:avLst/>
          </a:prstGeom>
        </p:spPr>
      </p:pic>
      <p:sp>
        <p:nvSpPr>
          <p:cNvPr id="13" name="Shape 6"/>
          <p:cNvSpPr/>
          <p:nvPr/>
        </p:nvSpPr>
        <p:spPr>
          <a:xfrm>
            <a:off x="8522765" y="4381500"/>
            <a:ext cx="6299987" cy="6299200"/>
          </a:xfrm>
          <a:prstGeom prst="ellipse">
            <a:avLst/>
          </a:prstGeom>
          <a:noFill/>
          <a:ln w="50800">
            <a:solidFill>
              <a:srgbClr val="FFA8A8"/>
            </a:solidFill>
            <a:prstDash val="solid"/>
          </a:ln>
        </p:spPr>
        <p:txBody>
          <a:bodyPr/>
          <a:lstStyle/>
          <a:p>
            <a:endParaRPr lang="en-ID"/>
          </a:p>
        </p:txBody>
      </p:sp>
      <p:sp>
        <p:nvSpPr>
          <p:cNvPr id="14" name="Shape 7"/>
          <p:cNvSpPr/>
          <p:nvPr/>
        </p:nvSpPr>
        <p:spPr>
          <a:xfrm>
            <a:off x="13819327" y="9296400"/>
            <a:ext cx="520765" cy="520700"/>
          </a:xfrm>
          <a:prstGeom prst="ellipse">
            <a:avLst/>
          </a:prstGeom>
          <a:solidFill>
            <a:srgbClr val="FFA8A8">
              <a:alpha val="100000"/>
            </a:srgbClr>
          </a:solidFill>
          <a:ln/>
        </p:spPr>
        <p:txBody>
          <a:bodyPr/>
          <a:lstStyle/>
          <a:p>
            <a:endParaRPr lang="en-ID"/>
          </a:p>
        </p:txBody>
      </p:sp>
      <p:sp>
        <p:nvSpPr>
          <p:cNvPr id="15" name="Text 8"/>
          <p:cNvSpPr/>
          <p:nvPr/>
        </p:nvSpPr>
        <p:spPr>
          <a:xfrm>
            <a:off x="9881835" y="6434667"/>
            <a:ext cx="3666525" cy="2535767"/>
          </a:xfrm>
          <a:prstGeom prst="rect">
            <a:avLst/>
          </a:prstGeom>
          <a:noFill/>
          <a:ln/>
        </p:spPr>
        <p:txBody>
          <a:bodyPr wrap="square" lIns="0" tIns="0" rIns="0" bIns="0" rtlCol="0" anchor="ctr"/>
          <a:lstStyle/>
          <a:p>
            <a:pPr marL="685800" lvl="1" indent="-342900" algn="l">
              <a:lnSpc>
                <a:spcPts val="3000"/>
              </a:lnSpc>
              <a:buSzPct val="100000"/>
              <a:buChar char="•"/>
            </a:pPr>
            <a:r>
              <a:rPr lang="en-US" sz="2000" kern="0" spc="-40" dirty="0">
                <a:solidFill>
                  <a:srgbClr val="FFFFFF">
                    <a:alpha val="100000"/>
                  </a:srgbClr>
                </a:solidFill>
                <a:latin typeface="Inter Medium" pitchFamily="34" charset="0"/>
                <a:ea typeface="Inter Medium" pitchFamily="34" charset="-122"/>
                <a:cs typeface="Inter Medium" pitchFamily="34" charset="-120"/>
              </a:rPr>
              <a:t>Small CTA button hidden below the fold</a:t>
            </a:r>
            <a:endParaRPr lang="en-US" sz="2000" dirty="0"/>
          </a:p>
          <a:p>
            <a:pPr marL="685800" lvl="1" indent="-342900" algn="l">
              <a:lnSpc>
                <a:spcPts val="3000"/>
              </a:lnSpc>
              <a:buSzPct val="100000"/>
              <a:buChar char="•"/>
            </a:pPr>
            <a:r>
              <a:rPr lang="en-US" sz="2000" kern="0" spc="-40" dirty="0">
                <a:solidFill>
                  <a:srgbClr val="FFFFFF">
                    <a:alpha val="100000"/>
                  </a:srgbClr>
                </a:solidFill>
                <a:latin typeface="Inter Medium" pitchFamily="34" charset="0"/>
                <a:ea typeface="Inter Medium" pitchFamily="34" charset="-122"/>
                <a:cs typeface="Inter Medium" pitchFamily="34" charset="-120"/>
              </a:rPr>
              <a:t>Overcrowded layout with inconsistent spacing</a:t>
            </a:r>
            <a:endParaRPr lang="en-US" sz="2000" dirty="0"/>
          </a:p>
          <a:p>
            <a:pPr marL="685800" lvl="1" indent="-342900" algn="l">
              <a:lnSpc>
                <a:spcPts val="3000"/>
              </a:lnSpc>
              <a:buSzPct val="100000"/>
              <a:buChar char="•"/>
            </a:pPr>
            <a:r>
              <a:rPr lang="en-US" sz="2000" kern="0" spc="-40" dirty="0">
                <a:solidFill>
                  <a:srgbClr val="FFFFFF">
                    <a:alpha val="100000"/>
                  </a:srgbClr>
                </a:solidFill>
                <a:latin typeface="Inter Medium" pitchFamily="34" charset="0"/>
                <a:ea typeface="Inter Medium" pitchFamily="34" charset="-122"/>
                <a:cs typeface="Inter Medium" pitchFamily="34" charset="-120"/>
              </a:rPr>
              <a:t>Weak visual hierarchy and lack of focus</a:t>
            </a:r>
            <a:endParaRPr lang="en-US" sz="2000" dirty="0"/>
          </a:p>
        </p:txBody>
      </p:sp>
      <p:sp>
        <p:nvSpPr>
          <p:cNvPr id="16" name="Text 9"/>
          <p:cNvSpPr/>
          <p:nvPr/>
        </p:nvSpPr>
        <p:spPr>
          <a:xfrm>
            <a:off x="17337667" y="6447367"/>
            <a:ext cx="3514106" cy="2370667"/>
          </a:xfrm>
          <a:prstGeom prst="rect">
            <a:avLst/>
          </a:prstGeom>
          <a:noFill/>
          <a:ln/>
        </p:spPr>
        <p:txBody>
          <a:bodyPr wrap="square" lIns="0" tIns="0" rIns="0" bIns="0" rtlCol="0" anchor="ctr"/>
          <a:lstStyle/>
          <a:p>
            <a:pPr marL="685800" lvl="1" indent="-342900" algn="l">
              <a:lnSpc>
                <a:spcPts val="3000"/>
              </a:lnSpc>
              <a:buSzPct val="100000"/>
              <a:buChar char="•"/>
            </a:pPr>
            <a:r>
              <a:rPr lang="en-US" sz="2000" kern="0" spc="-40" dirty="0">
                <a:solidFill>
                  <a:srgbClr val="FFFFFF">
                    <a:alpha val="100000"/>
                  </a:srgbClr>
                </a:solidFill>
                <a:latin typeface="Inter Medium" pitchFamily="34" charset="0"/>
                <a:ea typeface="Inter Medium" pitchFamily="34" charset="-122"/>
                <a:cs typeface="Inter Medium" pitchFamily="34" charset="-120"/>
              </a:rPr>
              <a:t>Large, high-contrast CTA button above the fold</a:t>
            </a:r>
            <a:endParaRPr lang="en-US" sz="2000" dirty="0"/>
          </a:p>
          <a:p>
            <a:pPr marL="685800" lvl="1" indent="-342900" algn="l">
              <a:lnSpc>
                <a:spcPts val="3000"/>
              </a:lnSpc>
              <a:buSzPct val="100000"/>
              <a:buChar char="•"/>
            </a:pPr>
            <a:r>
              <a:rPr lang="en-US" sz="2000" kern="0" spc="-40" dirty="0">
                <a:solidFill>
                  <a:srgbClr val="FFFFFF">
                    <a:alpha val="100000"/>
                  </a:srgbClr>
                </a:solidFill>
                <a:latin typeface="Inter Medium" pitchFamily="34" charset="0"/>
                <a:ea typeface="Inter Medium" pitchFamily="34" charset="-122"/>
                <a:cs typeface="Inter Medium" pitchFamily="34" charset="-120"/>
              </a:rPr>
              <a:t>Consistent padding and clearer content grouping</a:t>
            </a:r>
            <a:endParaRPr lang="en-US" sz="2000" dirty="0"/>
          </a:p>
          <a:p>
            <a:pPr marL="685800" lvl="1" indent="-342900" algn="l">
              <a:lnSpc>
                <a:spcPts val="3000"/>
              </a:lnSpc>
              <a:buSzPct val="100000"/>
              <a:buChar char="•"/>
            </a:pPr>
            <a:r>
              <a:rPr lang="en-US" sz="2000" kern="0" spc="-40" dirty="0">
                <a:solidFill>
                  <a:srgbClr val="FFFFFF">
                    <a:alpha val="100000"/>
                  </a:srgbClr>
                </a:solidFill>
                <a:latin typeface="Inter Medium" pitchFamily="34" charset="0"/>
                <a:ea typeface="Inter Medium" pitchFamily="34" charset="-122"/>
                <a:cs typeface="Inter Medium" pitchFamily="34" charset="-120"/>
              </a:rPr>
              <a:t>Stronger visual hierarchy guiding user action</a:t>
            </a:r>
            <a:endParaRPr lang="en-US" sz="2000" dirty="0"/>
          </a:p>
        </p:txBody>
      </p:sp>
      <p:sp>
        <p:nvSpPr>
          <p:cNvPr id="17" name="Text 10"/>
          <p:cNvSpPr/>
          <p:nvPr/>
        </p:nvSpPr>
        <p:spPr>
          <a:xfrm>
            <a:off x="9170546" y="5240867"/>
            <a:ext cx="859474" cy="465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FFFFFF">
                    <a:alpha val="100000"/>
                  </a:srgbClr>
                </a:solidFill>
                <a:latin typeface="Inter Medium" pitchFamily="34" charset="0"/>
                <a:ea typeface="Inter Medium" pitchFamily="34" charset="-122"/>
                <a:cs typeface="Inter Medium" pitchFamily="34" charset="-120"/>
              </a:rPr>
              <a:t>Before</a:t>
            </a:r>
            <a:endParaRPr lang="en-US" sz="2000" dirty="0"/>
          </a:p>
        </p:txBody>
      </p:sp>
      <p:sp>
        <p:nvSpPr>
          <p:cNvPr id="18" name="Text 11"/>
          <p:cNvSpPr/>
          <p:nvPr/>
        </p:nvSpPr>
        <p:spPr>
          <a:xfrm>
            <a:off x="16194524" y="4809067"/>
            <a:ext cx="681652" cy="465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FFFFFF">
                    <a:alpha val="100000"/>
                  </a:srgbClr>
                </a:solidFill>
                <a:latin typeface="Inter Medium" pitchFamily="34" charset="0"/>
                <a:ea typeface="Inter Medium" pitchFamily="34" charset="-122"/>
                <a:cs typeface="Inter Medium" pitchFamily="34" charset="-120"/>
              </a:rPr>
              <a:t>After</a:t>
            </a:r>
            <a:endParaRPr lang="en-US" sz="2000" dirty="0"/>
          </a:p>
        </p:txBody>
      </p:sp>
      <p:sp>
        <p:nvSpPr>
          <p:cNvPr id="19" name="Text 12"/>
          <p:cNvSpPr/>
          <p:nvPr/>
        </p:nvSpPr>
        <p:spPr>
          <a:xfrm>
            <a:off x="1524191" y="1524000"/>
            <a:ext cx="1778222" cy="558800"/>
          </a:xfrm>
          <a:prstGeom prst="rect">
            <a:avLst/>
          </a:prstGeom>
          <a:noFill/>
          <a:ln/>
        </p:spPr>
        <p:txBody>
          <a:bodyPr wrap="square" lIns="0" tIns="0" rIns="0" bIns="0" rtlCol="0" anchor="t"/>
          <a:lstStyle/>
          <a:p>
            <a:pPr marL="0" indent="0" algn="l">
              <a:lnSpc>
                <a:spcPts val="3600"/>
              </a:lnSpc>
              <a:buNone/>
            </a:pPr>
            <a:r>
              <a:rPr lang="en-US" sz="2400" kern="0" spc="-48" dirty="0">
                <a:solidFill>
                  <a:srgbClr val="000000">
                    <a:alpha val="100000"/>
                  </a:srgbClr>
                </a:solidFill>
                <a:latin typeface="Inter Regular" pitchFamily="34" charset="0"/>
                <a:ea typeface="Inter Regular" pitchFamily="34" charset="-122"/>
                <a:cs typeface="Inter Regular" pitchFamily="34" charset="-120"/>
              </a:rPr>
              <a:t>Fix the Flow</a:t>
            </a:r>
            <a:endParaRPr lang="en-US" sz="2400" dirty="0"/>
          </a:p>
        </p:txBody>
      </p:sp>
      <p:sp>
        <p:nvSpPr>
          <p:cNvPr id="20" name="Text 13"/>
          <p:cNvSpPr/>
          <p:nvPr/>
        </p:nvSpPr>
        <p:spPr>
          <a:xfrm>
            <a:off x="22113464" y="1524000"/>
            <a:ext cx="838305" cy="558800"/>
          </a:xfrm>
          <a:prstGeom prst="rect">
            <a:avLst/>
          </a:prstGeom>
          <a:noFill/>
          <a:ln/>
        </p:spPr>
        <p:txBody>
          <a:bodyPr wrap="square" lIns="0" tIns="0" rIns="0" bIns="0" rtlCol="0" anchor="t"/>
          <a:lstStyle/>
          <a:p>
            <a:pPr marL="0" indent="0" algn="l">
              <a:lnSpc>
                <a:spcPts val="3600"/>
              </a:lnSpc>
              <a:buNone/>
            </a:pPr>
            <a:r>
              <a:rPr lang="en-US" sz="2400" kern="0" spc="-48" dirty="0">
                <a:solidFill>
                  <a:srgbClr val="000000">
                    <a:alpha val="100000"/>
                  </a:srgbClr>
                </a:solidFill>
                <a:latin typeface="Inter Regular" pitchFamily="34" charset="0"/>
                <a:ea typeface="Inter Regular" pitchFamily="34" charset="-122"/>
                <a:cs typeface="Inter Regular" pitchFamily="34" charset="-120"/>
              </a:rPr>
              <a:t>2025</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4541"/>
        </a:solidFill>
        <a:effectLst/>
      </p:bgPr>
    </p:bg>
    <p:spTree>
      <p:nvGrpSpPr>
        <p:cNvPr id="1" name=""/>
        <p:cNvGrpSpPr/>
        <p:nvPr/>
      </p:nvGrpSpPr>
      <p:grpSpPr>
        <a:xfrm>
          <a:off x="0" y="0"/>
          <a:ext cx="0" cy="0"/>
          <a:chOff x="0" y="0"/>
          <a:chExt cx="0" cy="0"/>
        </a:xfrm>
      </p:grpSpPr>
      <p:sp>
        <p:nvSpPr>
          <p:cNvPr id="2" name="Text 0"/>
          <p:cNvSpPr/>
          <p:nvPr/>
        </p:nvSpPr>
        <p:spPr>
          <a:xfrm>
            <a:off x="1524191" y="1524000"/>
            <a:ext cx="1778222" cy="558800"/>
          </a:xfrm>
          <a:prstGeom prst="rect">
            <a:avLst/>
          </a:prstGeom>
          <a:noFill/>
          <a:ln/>
        </p:spPr>
        <p:txBody>
          <a:bodyPr wrap="square" lIns="0" tIns="0" rIns="0" bIns="0" rtlCol="0" anchor="t"/>
          <a:lstStyle/>
          <a:p>
            <a:pPr marL="0" indent="0" algn="l">
              <a:lnSpc>
                <a:spcPts val="3600"/>
              </a:lnSpc>
              <a:buNone/>
            </a:pPr>
            <a:r>
              <a:rPr lang="en-US" sz="2400" kern="0" spc="-48" dirty="0">
                <a:solidFill>
                  <a:srgbClr val="FFFFFF">
                    <a:alpha val="100000"/>
                  </a:srgbClr>
                </a:solidFill>
                <a:latin typeface="Inter Regular" pitchFamily="34" charset="0"/>
                <a:ea typeface="Inter Regular" pitchFamily="34" charset="-122"/>
                <a:cs typeface="Inter Regular" pitchFamily="34" charset="-120"/>
              </a:rPr>
              <a:t>Fix the Flow</a:t>
            </a:r>
            <a:endParaRPr lang="en-US" sz="2400" dirty="0"/>
          </a:p>
        </p:txBody>
      </p:sp>
      <p:sp>
        <p:nvSpPr>
          <p:cNvPr id="3" name="Text 1"/>
          <p:cNvSpPr/>
          <p:nvPr/>
        </p:nvSpPr>
        <p:spPr>
          <a:xfrm>
            <a:off x="1524191" y="2489200"/>
            <a:ext cx="9217119" cy="1557867"/>
          </a:xfrm>
          <a:prstGeom prst="rect">
            <a:avLst/>
          </a:prstGeom>
          <a:noFill/>
          <a:ln/>
        </p:spPr>
        <p:txBody>
          <a:bodyPr wrap="square" lIns="0" tIns="0" rIns="0" bIns="0" rtlCol="0" anchor="t"/>
          <a:lstStyle/>
          <a:p>
            <a:pPr marL="0" indent="0" algn="l">
              <a:lnSpc>
                <a:spcPts val="9600"/>
              </a:lnSpc>
              <a:buNone/>
            </a:pPr>
            <a:r>
              <a:rPr lang="en-US" sz="8000" kern="0" spc="-480" dirty="0">
                <a:solidFill>
                  <a:srgbClr val="FFFFFF">
                    <a:alpha val="100000"/>
                  </a:srgbClr>
                </a:solidFill>
                <a:latin typeface="Inter Medium" pitchFamily="34" charset="0"/>
                <a:ea typeface="Inter Medium" pitchFamily="34" charset="-122"/>
                <a:cs typeface="Inter Medium" pitchFamily="34" charset="-120"/>
              </a:rPr>
              <a:t>Revised User Flows</a:t>
            </a:r>
            <a:endParaRPr lang="en-US" sz="8000" dirty="0"/>
          </a:p>
        </p:txBody>
      </p:sp>
      <p:sp>
        <p:nvSpPr>
          <p:cNvPr id="4" name="Text 2"/>
          <p:cNvSpPr/>
          <p:nvPr/>
        </p:nvSpPr>
        <p:spPr>
          <a:xfrm>
            <a:off x="14771946" y="2446867"/>
            <a:ext cx="8175588" cy="1227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FFFFFF">
                    <a:alpha val="100000"/>
                  </a:srgbClr>
                </a:solidFill>
                <a:latin typeface="Inter Medium" pitchFamily="34" charset="0"/>
                <a:ea typeface="Inter Medium" pitchFamily="34" charset="-122"/>
                <a:cs typeface="Inter Medium" pitchFamily="34" charset="-120"/>
              </a:rPr>
              <a:t>We simplified the user journeys by reducing unnecessary steps and adding real-time feedback mechanisms, creating a faster and more satisfying experience.</a:t>
            </a:r>
            <a:endParaRPr lang="en-US" sz="2000" dirty="0"/>
          </a:p>
        </p:txBody>
      </p:sp>
      <p:sp>
        <p:nvSpPr>
          <p:cNvPr id="5" name="Text 3"/>
          <p:cNvSpPr/>
          <p:nvPr/>
        </p:nvSpPr>
        <p:spPr>
          <a:xfrm>
            <a:off x="13717715" y="12276667"/>
            <a:ext cx="9039296" cy="465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FFFFFF">
                    <a:alpha val="100000"/>
                  </a:srgbClr>
                </a:solidFill>
                <a:latin typeface="Inter Medium" pitchFamily="34" charset="0"/>
                <a:ea typeface="Inter Medium" pitchFamily="34" charset="-122"/>
                <a:cs typeface="Inter Medium" pitchFamily="34" charset="-120"/>
              </a:rPr>
              <a:t>“Simplifying the path isn’t about shortcuts it’s about removing invisible walls.”</a:t>
            </a:r>
            <a:endParaRPr lang="en-US" sz="2000" dirty="0"/>
          </a:p>
        </p:txBody>
      </p:sp>
      <p:sp>
        <p:nvSpPr>
          <p:cNvPr id="6" name="Shape 4"/>
          <p:cNvSpPr/>
          <p:nvPr/>
        </p:nvSpPr>
        <p:spPr>
          <a:xfrm>
            <a:off x="1524191" y="4610100"/>
            <a:ext cx="7036679" cy="7035800"/>
          </a:xfrm>
          <a:prstGeom prst="ellipse">
            <a:avLst/>
          </a:prstGeom>
          <a:solidFill>
            <a:srgbClr val="FFA8A8">
              <a:alpha val="100000"/>
            </a:srgbClr>
          </a:solidFill>
          <a:ln/>
        </p:spPr>
        <p:txBody>
          <a:bodyPr/>
          <a:lstStyle/>
          <a:p>
            <a:endParaRPr lang="en-ID"/>
          </a:p>
        </p:txBody>
      </p:sp>
      <p:sp>
        <p:nvSpPr>
          <p:cNvPr id="7" name="Text 5"/>
          <p:cNvSpPr/>
          <p:nvPr/>
        </p:nvSpPr>
        <p:spPr>
          <a:xfrm>
            <a:off x="4445556" y="7738533"/>
            <a:ext cx="1337901" cy="791633"/>
          </a:xfrm>
          <a:prstGeom prst="rect">
            <a:avLst/>
          </a:prstGeom>
          <a:noFill/>
          <a:ln/>
        </p:spPr>
        <p:txBody>
          <a:bodyPr wrap="square" lIns="0" tIns="0" rIns="0" bIns="0" rtlCol="0" anchor="ctr"/>
          <a:lstStyle/>
          <a:p>
            <a:pPr marL="0" indent="0" algn="l">
              <a:lnSpc>
                <a:spcPts val="5100"/>
              </a:lnSpc>
              <a:buNone/>
            </a:pPr>
            <a:r>
              <a:rPr lang="en-US" sz="3400" kern="0" spc="-68" dirty="0">
                <a:solidFill>
                  <a:srgbClr val="FFFFFF">
                    <a:alpha val="100000"/>
                  </a:srgbClr>
                </a:solidFill>
                <a:latin typeface="Inter Medium" pitchFamily="34" charset="0"/>
                <a:ea typeface="Inter Medium" pitchFamily="34" charset="-122"/>
                <a:cs typeface="Inter Medium" pitchFamily="34" charset="-120"/>
              </a:rPr>
              <a:t>Home</a:t>
            </a:r>
            <a:endParaRPr lang="en-US" sz="3400" dirty="0"/>
          </a:p>
        </p:txBody>
      </p:sp>
      <p:sp>
        <p:nvSpPr>
          <p:cNvPr id="16" name="Oval 15">
            <a:extLst>
              <a:ext uri="{FF2B5EF4-FFF2-40B4-BE49-F238E27FC236}">
                <a16:creationId xmlns:a16="http://schemas.microsoft.com/office/drawing/2014/main" id="{49F3BCAA-F717-0B99-17F7-2847CF789867}"/>
              </a:ext>
            </a:extLst>
          </p:cNvPr>
          <p:cNvSpPr/>
          <p:nvPr/>
        </p:nvSpPr>
        <p:spPr>
          <a:xfrm flipV="1">
            <a:off x="7722565" y="5600699"/>
            <a:ext cx="5118739" cy="5118739"/>
          </a:xfrm>
          <a:prstGeom prst="ellipse">
            <a:avLst/>
          </a:prstGeom>
          <a:pattFill prst="wdDnDiag">
            <a:fgClr>
              <a:srgbClr val="79C1F2"/>
            </a:fgClr>
            <a:bgClr>
              <a:srgbClr val="5993FF"/>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sz="300" dirty="0"/>
          </a:p>
        </p:txBody>
      </p:sp>
      <p:sp>
        <p:nvSpPr>
          <p:cNvPr id="9" name="Shape 7"/>
          <p:cNvSpPr/>
          <p:nvPr/>
        </p:nvSpPr>
        <p:spPr>
          <a:xfrm>
            <a:off x="12282435" y="4610100"/>
            <a:ext cx="7036679" cy="7035800"/>
          </a:xfrm>
          <a:prstGeom prst="ellipse">
            <a:avLst/>
          </a:prstGeom>
          <a:solidFill>
            <a:srgbClr val="F88A24">
              <a:alpha val="100000"/>
            </a:srgbClr>
          </a:solidFill>
          <a:ln/>
        </p:spPr>
        <p:txBody>
          <a:bodyPr/>
          <a:lstStyle/>
          <a:p>
            <a:endParaRPr lang="en-ID"/>
          </a:p>
        </p:txBody>
      </p:sp>
      <p:sp>
        <p:nvSpPr>
          <p:cNvPr id="17" name="Oval 16">
            <a:extLst>
              <a:ext uri="{FF2B5EF4-FFF2-40B4-BE49-F238E27FC236}">
                <a16:creationId xmlns:a16="http://schemas.microsoft.com/office/drawing/2014/main" id="{E97EADB1-2D10-41B0-E99F-DE1CF58EE07D}"/>
              </a:ext>
            </a:extLst>
          </p:cNvPr>
          <p:cNvSpPr/>
          <p:nvPr/>
        </p:nvSpPr>
        <p:spPr>
          <a:xfrm flipV="1">
            <a:off x="18798350" y="6120893"/>
            <a:ext cx="4064507" cy="4064507"/>
          </a:xfrm>
          <a:prstGeom prst="ellipse">
            <a:avLst/>
          </a:prstGeom>
          <a:pattFill prst="wdDnDiag">
            <a:fgClr>
              <a:srgbClr val="85BDBB"/>
            </a:fgClr>
            <a:bgClr>
              <a:srgbClr val="87D9D6"/>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sz="100" dirty="0"/>
          </a:p>
        </p:txBody>
      </p:sp>
      <p:sp>
        <p:nvSpPr>
          <p:cNvPr id="13" name="Text 9"/>
          <p:cNvSpPr/>
          <p:nvPr/>
        </p:nvSpPr>
        <p:spPr>
          <a:xfrm>
            <a:off x="9500787" y="7738533"/>
            <a:ext cx="1718948" cy="791633"/>
          </a:xfrm>
          <a:prstGeom prst="rect">
            <a:avLst/>
          </a:prstGeom>
          <a:noFill/>
          <a:ln/>
        </p:spPr>
        <p:txBody>
          <a:bodyPr wrap="square" lIns="0" tIns="0" rIns="0" bIns="0" rtlCol="0" anchor="ctr"/>
          <a:lstStyle/>
          <a:p>
            <a:pPr marL="0" indent="0" algn="l">
              <a:lnSpc>
                <a:spcPts val="5100"/>
              </a:lnSpc>
              <a:buNone/>
            </a:pPr>
            <a:r>
              <a:rPr lang="en-US" sz="3400" kern="0" spc="-68" dirty="0">
                <a:solidFill>
                  <a:srgbClr val="FFFFFF">
                    <a:alpha val="100000"/>
                  </a:srgbClr>
                </a:solidFill>
                <a:latin typeface="Inter Medium" pitchFamily="34" charset="0"/>
                <a:ea typeface="Inter Medium" pitchFamily="34" charset="-122"/>
                <a:cs typeface="Inter Medium" pitchFamily="34" charset="-120"/>
              </a:rPr>
              <a:t>Product</a:t>
            </a:r>
            <a:endParaRPr lang="en-US" sz="3400" dirty="0"/>
          </a:p>
        </p:txBody>
      </p:sp>
      <p:sp>
        <p:nvSpPr>
          <p:cNvPr id="14" name="Text 10"/>
          <p:cNvSpPr/>
          <p:nvPr/>
        </p:nvSpPr>
        <p:spPr>
          <a:xfrm>
            <a:off x="14187673" y="7738533"/>
            <a:ext cx="3357453" cy="791633"/>
          </a:xfrm>
          <a:prstGeom prst="rect">
            <a:avLst/>
          </a:prstGeom>
          <a:noFill/>
          <a:ln/>
        </p:spPr>
        <p:txBody>
          <a:bodyPr wrap="square" lIns="0" tIns="0" rIns="0" bIns="0" rtlCol="0" anchor="ctr"/>
          <a:lstStyle/>
          <a:p>
            <a:pPr marL="0" indent="0" algn="l">
              <a:lnSpc>
                <a:spcPts val="5100"/>
              </a:lnSpc>
              <a:buNone/>
            </a:pPr>
            <a:r>
              <a:rPr lang="en-US" sz="3400" kern="0" spc="-68" dirty="0">
                <a:solidFill>
                  <a:srgbClr val="FFFFFF">
                    <a:alpha val="100000"/>
                  </a:srgbClr>
                </a:solidFill>
                <a:latin typeface="Inter Medium" pitchFamily="34" charset="0"/>
                <a:ea typeface="Inter Medium" pitchFamily="34" charset="-122"/>
                <a:cs typeface="Inter Medium" pitchFamily="34" charset="-120"/>
              </a:rPr>
              <a:t>Guest Checkout</a:t>
            </a:r>
            <a:endParaRPr lang="en-US" sz="3400" dirty="0"/>
          </a:p>
        </p:txBody>
      </p:sp>
      <p:sp>
        <p:nvSpPr>
          <p:cNvPr id="15" name="Text 11"/>
          <p:cNvSpPr/>
          <p:nvPr/>
        </p:nvSpPr>
        <p:spPr>
          <a:xfrm>
            <a:off x="19941492" y="7738533"/>
            <a:ext cx="1909472" cy="791633"/>
          </a:xfrm>
          <a:prstGeom prst="rect">
            <a:avLst/>
          </a:prstGeom>
          <a:noFill/>
          <a:ln/>
        </p:spPr>
        <p:txBody>
          <a:bodyPr wrap="square" lIns="0" tIns="0" rIns="0" bIns="0" rtlCol="0" anchor="ctr"/>
          <a:lstStyle/>
          <a:p>
            <a:pPr marL="0" indent="0" algn="l">
              <a:lnSpc>
                <a:spcPts val="5100"/>
              </a:lnSpc>
              <a:buNone/>
            </a:pPr>
            <a:r>
              <a:rPr lang="en-US" sz="3400" kern="0" spc="-68" dirty="0">
                <a:solidFill>
                  <a:srgbClr val="FFFFFF">
                    <a:alpha val="100000"/>
                  </a:srgbClr>
                </a:solidFill>
                <a:latin typeface="Inter Medium" pitchFamily="34" charset="0"/>
                <a:ea typeface="Inter Medium" pitchFamily="34" charset="-122"/>
                <a:cs typeface="Inter Medium" pitchFamily="34" charset="-120"/>
              </a:rPr>
              <a:t>Payment</a:t>
            </a:r>
            <a:endParaRPr lang="en-US" sz="3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53210F84-B175-9A97-B89F-2CD61FF32576}"/>
              </a:ext>
            </a:extLst>
          </p:cNvPr>
          <p:cNvSpPr/>
          <p:nvPr/>
        </p:nvSpPr>
        <p:spPr>
          <a:xfrm>
            <a:off x="0" y="0"/>
            <a:ext cx="24387175" cy="13716000"/>
          </a:xfrm>
          <a:prstGeom prst="rect">
            <a:avLst/>
          </a:prstGeom>
          <a:gradFill flip="none" rotWithShape="1">
            <a:gsLst>
              <a:gs pos="0">
                <a:srgbClr val="EFEFEF"/>
              </a:gs>
              <a:gs pos="76000">
                <a:srgbClr val="FFFFFF"/>
              </a:gs>
            </a:gsLst>
            <a:lin ang="16200000" scaled="0"/>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sz="100"/>
          </a:p>
        </p:txBody>
      </p:sp>
      <p:sp>
        <p:nvSpPr>
          <p:cNvPr id="33" name="Shape 0">
            <a:extLst>
              <a:ext uri="{FF2B5EF4-FFF2-40B4-BE49-F238E27FC236}">
                <a16:creationId xmlns:a16="http://schemas.microsoft.com/office/drawing/2014/main" id="{A1D30314-3EA4-5E5D-FEC8-7A6C9441746C}"/>
              </a:ext>
            </a:extLst>
          </p:cNvPr>
          <p:cNvSpPr/>
          <p:nvPr/>
        </p:nvSpPr>
        <p:spPr>
          <a:xfrm>
            <a:off x="8991198" y="7013575"/>
            <a:ext cx="7336518" cy="3584573"/>
          </a:xfrm>
          <a:prstGeom prst="roundRect">
            <a:avLst>
              <a:gd name="adj" fmla="val 0"/>
            </a:avLst>
          </a:prstGeom>
          <a:pattFill prst="wdDnDiag">
            <a:fgClr>
              <a:srgbClr val="AAE2E0"/>
            </a:fgClr>
            <a:bgClr>
              <a:srgbClr val="F0FBFA"/>
            </a:bgClr>
          </a:pattFill>
          <a:ln/>
        </p:spPr>
        <p:txBody>
          <a:bodyPr/>
          <a:lstStyle/>
          <a:p>
            <a:endParaRPr lang="en-ID" sz="100"/>
          </a:p>
        </p:txBody>
      </p:sp>
      <p:sp>
        <p:nvSpPr>
          <p:cNvPr id="3" name="Text 0"/>
          <p:cNvSpPr/>
          <p:nvPr/>
        </p:nvSpPr>
        <p:spPr>
          <a:xfrm>
            <a:off x="1524191" y="2451100"/>
            <a:ext cx="8188290" cy="1557867"/>
          </a:xfrm>
          <a:prstGeom prst="rect">
            <a:avLst/>
          </a:prstGeom>
          <a:noFill/>
          <a:ln/>
        </p:spPr>
        <p:txBody>
          <a:bodyPr wrap="square" lIns="0" tIns="0" rIns="0" bIns="0" rtlCol="0" anchor="t"/>
          <a:lstStyle/>
          <a:p>
            <a:pPr marL="0" indent="0" algn="l">
              <a:lnSpc>
                <a:spcPts val="9600"/>
              </a:lnSpc>
              <a:buNone/>
            </a:pPr>
            <a:r>
              <a:rPr lang="en-US" sz="8000" kern="0" spc="-480" dirty="0">
                <a:solidFill>
                  <a:srgbClr val="050C29">
                    <a:alpha val="100000"/>
                  </a:srgbClr>
                </a:solidFill>
                <a:latin typeface="Inter Medium" pitchFamily="34" charset="0"/>
                <a:ea typeface="Inter Medium" pitchFamily="34" charset="-122"/>
                <a:cs typeface="Inter Medium" pitchFamily="34" charset="-120"/>
              </a:rPr>
              <a:t>Quick Wins</a:t>
            </a:r>
            <a:endParaRPr lang="en-US" sz="8000" dirty="0"/>
          </a:p>
        </p:txBody>
      </p:sp>
      <p:sp>
        <p:nvSpPr>
          <p:cNvPr id="4" name="Text 1"/>
          <p:cNvSpPr/>
          <p:nvPr/>
        </p:nvSpPr>
        <p:spPr>
          <a:xfrm>
            <a:off x="14454407" y="2451100"/>
            <a:ext cx="8675184" cy="1016000"/>
          </a:xfrm>
          <a:prstGeom prst="rect">
            <a:avLst/>
          </a:prstGeom>
          <a:noFill/>
          <a:ln/>
        </p:spPr>
        <p:txBody>
          <a:bodyPr wrap="square" lIns="0" tIns="0" rIns="0" bIns="0" rtlCol="0" anchor="t"/>
          <a:lstStyle/>
          <a:p>
            <a:pPr marL="0" indent="0" algn="l">
              <a:lnSpc>
                <a:spcPts val="6000"/>
              </a:lnSpc>
              <a:buNone/>
            </a:pPr>
            <a:r>
              <a:rPr lang="en-US" sz="6000" kern="0" spc="-240" dirty="0">
                <a:solidFill>
                  <a:srgbClr val="050C29">
                    <a:alpha val="100000"/>
                  </a:srgbClr>
                </a:solidFill>
                <a:latin typeface="Inter Medium" pitchFamily="34" charset="0"/>
                <a:ea typeface="Inter Medium" pitchFamily="34" charset="-122"/>
                <a:cs typeface="Inter Medium" pitchFamily="34" charset="-120"/>
              </a:rPr>
              <a:t>(Low Effort, High Impact)</a:t>
            </a:r>
            <a:endParaRPr lang="en-US" sz="6000" dirty="0"/>
          </a:p>
        </p:txBody>
      </p:sp>
      <p:sp>
        <p:nvSpPr>
          <p:cNvPr id="5" name="Text 2"/>
          <p:cNvSpPr/>
          <p:nvPr/>
        </p:nvSpPr>
        <p:spPr>
          <a:xfrm>
            <a:off x="1524191" y="1485900"/>
            <a:ext cx="1778222" cy="558800"/>
          </a:xfrm>
          <a:prstGeom prst="rect">
            <a:avLst/>
          </a:prstGeom>
          <a:noFill/>
          <a:ln/>
        </p:spPr>
        <p:txBody>
          <a:bodyPr wrap="square" lIns="0" tIns="0" rIns="0" bIns="0" rtlCol="0" anchor="t"/>
          <a:lstStyle/>
          <a:p>
            <a:pPr marL="0" indent="0" algn="l">
              <a:lnSpc>
                <a:spcPts val="3600"/>
              </a:lnSpc>
              <a:buNone/>
            </a:pPr>
            <a:r>
              <a:rPr lang="en-US" sz="2400" kern="0" spc="-48" dirty="0">
                <a:solidFill>
                  <a:srgbClr val="000000">
                    <a:alpha val="100000"/>
                  </a:srgbClr>
                </a:solidFill>
                <a:latin typeface="Inter Regular" pitchFamily="34" charset="0"/>
                <a:ea typeface="Inter Regular" pitchFamily="34" charset="-122"/>
                <a:cs typeface="Inter Regular" pitchFamily="34" charset="-120"/>
              </a:rPr>
              <a:t>Fix the Flow</a:t>
            </a:r>
            <a:endParaRPr lang="en-US" sz="2400" dirty="0"/>
          </a:p>
        </p:txBody>
      </p:sp>
      <p:sp>
        <p:nvSpPr>
          <p:cNvPr id="6" name="Text 3"/>
          <p:cNvSpPr/>
          <p:nvPr/>
        </p:nvSpPr>
        <p:spPr>
          <a:xfrm>
            <a:off x="13743118" y="11988800"/>
            <a:ext cx="8853006" cy="558800"/>
          </a:xfrm>
          <a:prstGeom prst="rect">
            <a:avLst/>
          </a:prstGeom>
          <a:noFill/>
          <a:ln/>
        </p:spPr>
        <p:txBody>
          <a:bodyPr wrap="square" lIns="0" tIns="0" rIns="0" bIns="0" rtlCol="0" anchor="t"/>
          <a:lstStyle/>
          <a:p>
            <a:pPr marL="0" indent="0" algn="l">
              <a:lnSpc>
                <a:spcPts val="3600"/>
              </a:lnSpc>
              <a:buNone/>
            </a:pPr>
            <a:r>
              <a:rPr lang="en-US" sz="2400" kern="0" spc="-48" dirty="0">
                <a:solidFill>
                  <a:srgbClr val="000000">
                    <a:alpha val="100000"/>
                  </a:srgbClr>
                </a:solidFill>
                <a:latin typeface="Inter Regular" pitchFamily="34" charset="0"/>
                <a:ea typeface="Inter Regular" pitchFamily="34" charset="-122"/>
                <a:cs typeface="Inter Regular" pitchFamily="34" charset="-120"/>
              </a:rPr>
              <a:t>Fast improvements that can immediately lift the UX experience.</a:t>
            </a:r>
            <a:endParaRPr lang="en-US" sz="2400" dirty="0"/>
          </a:p>
        </p:txBody>
      </p:sp>
      <p:graphicFrame>
        <p:nvGraphicFramePr>
          <p:cNvPr id="31" name="Chart 30">
            <a:extLst>
              <a:ext uri="{FF2B5EF4-FFF2-40B4-BE49-F238E27FC236}">
                <a16:creationId xmlns:a16="http://schemas.microsoft.com/office/drawing/2014/main" id="{001931E8-2546-F032-301A-19519ED48E28}"/>
              </a:ext>
            </a:extLst>
          </p:cNvPr>
          <p:cNvGraphicFramePr/>
          <p:nvPr>
            <p:extLst>
              <p:ext uri="{D42A27DB-BD31-4B8C-83A1-F6EECF244321}">
                <p14:modId xmlns:p14="http://schemas.microsoft.com/office/powerpoint/2010/main" val="3749582013"/>
              </p:ext>
            </p:extLst>
          </p:nvPr>
        </p:nvGraphicFramePr>
        <p:xfrm>
          <a:off x="2781999" y="6874933"/>
          <a:ext cx="15563327" cy="3865035"/>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p:nvPr/>
        </p:nvSpPr>
        <p:spPr>
          <a:xfrm>
            <a:off x="1524191" y="3945467"/>
            <a:ext cx="7934258" cy="1989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Beyond isolated usability bugs, some issues stem from outdated design patterns, old components, or legacy workflows that have accumulated over time.  Addressing this UX debt will not only fix user pain points but also create a more scalable, future-proof product.</a:t>
            </a:r>
            <a:endParaRPr lang="en-US" sz="2000" dirty="0"/>
          </a:p>
        </p:txBody>
      </p:sp>
      <p:sp>
        <p:nvSpPr>
          <p:cNvPr id="8" name="Text 5"/>
          <p:cNvSpPr/>
          <p:nvPr/>
        </p:nvSpPr>
        <p:spPr>
          <a:xfrm>
            <a:off x="14454407" y="3564467"/>
            <a:ext cx="8493128" cy="2370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This slide outlines immediate UX improvements that require minimal engineering or design effort but deliver visible impact on user satisfaction and performance metrics.</a:t>
            </a:r>
            <a:endParaRPr lang="en-US" sz="2000" dirty="0"/>
          </a:p>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These are the low-hanging fruits ideal for early momentum and stakeholder buy-in. Many of them can be implemented in days, not weeks, and are often based on known UX best practices.</a:t>
            </a:r>
            <a:endParaRPr lang="en-US" sz="2000" dirty="0"/>
          </a:p>
        </p:txBody>
      </p:sp>
      <p:sp>
        <p:nvSpPr>
          <p:cNvPr id="11" name="Text 8"/>
          <p:cNvSpPr/>
          <p:nvPr/>
        </p:nvSpPr>
        <p:spPr>
          <a:xfrm>
            <a:off x="17718715" y="7196667"/>
            <a:ext cx="1138909" cy="465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Designer</a:t>
            </a:r>
            <a:endParaRPr lang="en-US" sz="2000" dirty="0"/>
          </a:p>
        </p:txBody>
      </p:sp>
      <p:sp>
        <p:nvSpPr>
          <p:cNvPr id="13" name="Text 10"/>
          <p:cNvSpPr/>
          <p:nvPr/>
        </p:nvSpPr>
        <p:spPr>
          <a:xfrm>
            <a:off x="17718715" y="8136467"/>
            <a:ext cx="1253223" cy="465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Dev Team</a:t>
            </a:r>
            <a:endParaRPr lang="en-US" sz="2000" dirty="0"/>
          </a:p>
        </p:txBody>
      </p:sp>
      <p:sp>
        <p:nvSpPr>
          <p:cNvPr id="15" name="Text 12"/>
          <p:cNvSpPr/>
          <p:nvPr/>
        </p:nvSpPr>
        <p:spPr>
          <a:xfrm>
            <a:off x="17718715" y="9076267"/>
            <a:ext cx="1392941" cy="465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Copywriter</a:t>
            </a:r>
            <a:endParaRPr lang="en-US" sz="2000" dirty="0"/>
          </a:p>
        </p:txBody>
      </p:sp>
      <p:sp>
        <p:nvSpPr>
          <p:cNvPr id="17" name="Text 14"/>
          <p:cNvSpPr/>
          <p:nvPr/>
        </p:nvSpPr>
        <p:spPr>
          <a:xfrm>
            <a:off x="17718715" y="10016067"/>
            <a:ext cx="1672376" cy="465667"/>
          </a:xfrm>
          <a:prstGeom prst="rect">
            <a:avLst/>
          </a:prstGeom>
          <a:noFill/>
          <a:ln/>
        </p:spPr>
        <p:txBody>
          <a:bodyPr wrap="square" lIns="0" tIns="0" rIns="0" bIns="0" rtlCol="0" anchor="ctr"/>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Frontend Dev</a:t>
            </a:r>
            <a:endParaRPr lang="en-US" sz="2000" dirty="0"/>
          </a:p>
        </p:txBody>
      </p:sp>
      <p:sp>
        <p:nvSpPr>
          <p:cNvPr id="27" name="Text 21"/>
          <p:cNvSpPr/>
          <p:nvPr/>
        </p:nvSpPr>
        <p:spPr>
          <a:xfrm>
            <a:off x="7150994" y="7040033"/>
            <a:ext cx="1515723" cy="791633"/>
          </a:xfrm>
          <a:prstGeom prst="rect">
            <a:avLst/>
          </a:prstGeom>
          <a:noFill/>
          <a:ln/>
        </p:spPr>
        <p:txBody>
          <a:bodyPr wrap="square" lIns="0" tIns="0" rIns="0" bIns="0" rtlCol="0" anchor="ctr"/>
          <a:lstStyle/>
          <a:p>
            <a:pPr marL="0" indent="0" algn="l">
              <a:lnSpc>
                <a:spcPts val="5100"/>
              </a:lnSpc>
              <a:buNone/>
            </a:pPr>
            <a:r>
              <a:rPr lang="en-US" sz="3400" kern="0" spc="-68" dirty="0">
                <a:solidFill>
                  <a:srgbClr val="FFFFFF">
                    <a:alpha val="100000"/>
                  </a:srgbClr>
                </a:solidFill>
                <a:latin typeface="Inter Medium" pitchFamily="34" charset="0"/>
                <a:ea typeface="Inter Medium" pitchFamily="34" charset="-122"/>
                <a:cs typeface="Inter Medium" pitchFamily="34" charset="-120"/>
              </a:rPr>
              <a:t>2 Days</a:t>
            </a:r>
            <a:endParaRPr lang="en-US" sz="3400" dirty="0"/>
          </a:p>
        </p:txBody>
      </p:sp>
      <p:sp>
        <p:nvSpPr>
          <p:cNvPr id="28" name="Text 22"/>
          <p:cNvSpPr/>
          <p:nvPr/>
        </p:nvSpPr>
        <p:spPr>
          <a:xfrm>
            <a:off x="7150994" y="7979833"/>
            <a:ext cx="1566529" cy="791633"/>
          </a:xfrm>
          <a:prstGeom prst="rect">
            <a:avLst/>
          </a:prstGeom>
          <a:noFill/>
          <a:ln/>
        </p:spPr>
        <p:txBody>
          <a:bodyPr wrap="square" lIns="0" tIns="0" rIns="0" bIns="0" rtlCol="0" anchor="ctr"/>
          <a:lstStyle/>
          <a:p>
            <a:pPr marL="0" indent="0" algn="l">
              <a:lnSpc>
                <a:spcPts val="5100"/>
              </a:lnSpc>
              <a:buNone/>
            </a:pPr>
            <a:r>
              <a:rPr lang="en-US" sz="3400" kern="0" spc="-68" dirty="0">
                <a:solidFill>
                  <a:srgbClr val="FFFFFF">
                    <a:alpha val="100000"/>
                  </a:srgbClr>
                </a:solidFill>
                <a:latin typeface="Inter Medium" pitchFamily="34" charset="0"/>
                <a:ea typeface="Inter Medium" pitchFamily="34" charset="-122"/>
                <a:cs typeface="Inter Medium" pitchFamily="34" charset="-120"/>
              </a:rPr>
              <a:t>1 Week</a:t>
            </a:r>
            <a:endParaRPr lang="en-US" sz="3400" dirty="0"/>
          </a:p>
        </p:txBody>
      </p:sp>
      <p:sp>
        <p:nvSpPr>
          <p:cNvPr id="29" name="Text 23"/>
          <p:cNvSpPr/>
          <p:nvPr/>
        </p:nvSpPr>
        <p:spPr>
          <a:xfrm>
            <a:off x="7150994" y="8919633"/>
            <a:ext cx="1515723" cy="791633"/>
          </a:xfrm>
          <a:prstGeom prst="rect">
            <a:avLst/>
          </a:prstGeom>
          <a:noFill/>
          <a:ln/>
        </p:spPr>
        <p:txBody>
          <a:bodyPr wrap="square" lIns="0" tIns="0" rIns="0" bIns="0" rtlCol="0" anchor="ctr"/>
          <a:lstStyle/>
          <a:p>
            <a:pPr marL="0" indent="0" algn="l">
              <a:lnSpc>
                <a:spcPts val="5100"/>
              </a:lnSpc>
              <a:buNone/>
            </a:pPr>
            <a:r>
              <a:rPr lang="en-US" sz="3400" kern="0" spc="-68" dirty="0">
                <a:solidFill>
                  <a:srgbClr val="FFFFFF">
                    <a:alpha val="100000"/>
                  </a:srgbClr>
                </a:solidFill>
                <a:latin typeface="Inter Medium" pitchFamily="34" charset="0"/>
                <a:ea typeface="Inter Medium" pitchFamily="34" charset="-122"/>
                <a:cs typeface="Inter Medium" pitchFamily="34" charset="-120"/>
              </a:rPr>
              <a:t>2 Days</a:t>
            </a:r>
            <a:endParaRPr lang="en-US" sz="3400" dirty="0"/>
          </a:p>
        </p:txBody>
      </p:sp>
      <p:sp>
        <p:nvSpPr>
          <p:cNvPr id="30" name="Text 24"/>
          <p:cNvSpPr/>
          <p:nvPr/>
        </p:nvSpPr>
        <p:spPr>
          <a:xfrm>
            <a:off x="7150994" y="9859433"/>
            <a:ext cx="1528424" cy="791633"/>
          </a:xfrm>
          <a:prstGeom prst="rect">
            <a:avLst/>
          </a:prstGeom>
          <a:noFill/>
          <a:ln/>
        </p:spPr>
        <p:txBody>
          <a:bodyPr wrap="square" lIns="0" tIns="0" rIns="0" bIns="0" rtlCol="0" anchor="ctr"/>
          <a:lstStyle/>
          <a:p>
            <a:pPr marL="0" indent="0" algn="l">
              <a:lnSpc>
                <a:spcPts val="5100"/>
              </a:lnSpc>
              <a:buNone/>
            </a:pPr>
            <a:r>
              <a:rPr lang="en-US" sz="3400" kern="0" spc="-68" dirty="0">
                <a:solidFill>
                  <a:srgbClr val="FFFFFF">
                    <a:alpha val="100000"/>
                  </a:srgbClr>
                </a:solidFill>
                <a:latin typeface="Inter Medium" pitchFamily="34" charset="0"/>
                <a:ea typeface="Inter Medium" pitchFamily="34" charset="-122"/>
                <a:cs typeface="Inter Medium" pitchFamily="34" charset="-120"/>
              </a:rPr>
              <a:t>3 Days</a:t>
            </a:r>
            <a:endParaRPr lang="en-US" sz="3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04541"/>
        </a:solidFill>
        <a:effectLst/>
      </p:bgPr>
    </p:bg>
    <p:spTree>
      <p:nvGrpSpPr>
        <p:cNvPr id="1" name=""/>
        <p:cNvGrpSpPr/>
        <p:nvPr/>
      </p:nvGrpSpPr>
      <p:grpSpPr>
        <a:xfrm>
          <a:off x="0" y="0"/>
          <a:ext cx="0" cy="0"/>
          <a:chOff x="0" y="0"/>
          <a:chExt cx="0" cy="0"/>
        </a:xfrm>
      </p:grpSpPr>
      <p:sp>
        <p:nvSpPr>
          <p:cNvPr id="2" name="Text 0"/>
          <p:cNvSpPr/>
          <p:nvPr/>
        </p:nvSpPr>
        <p:spPr>
          <a:xfrm>
            <a:off x="1524191" y="1524000"/>
            <a:ext cx="7273776" cy="2777067"/>
          </a:xfrm>
          <a:prstGeom prst="rect">
            <a:avLst/>
          </a:prstGeom>
          <a:noFill/>
          <a:ln/>
        </p:spPr>
        <p:txBody>
          <a:bodyPr wrap="square" lIns="0" tIns="0" rIns="0" bIns="0" rtlCol="0" anchor="t"/>
          <a:lstStyle/>
          <a:p>
            <a:pPr marL="0" indent="0" algn="l">
              <a:lnSpc>
                <a:spcPts val="9600"/>
              </a:lnSpc>
              <a:buNone/>
            </a:pPr>
            <a:r>
              <a:rPr lang="en-US" sz="8000" kern="0" spc="-480" dirty="0">
                <a:solidFill>
                  <a:srgbClr val="FFFFFF">
                    <a:alpha val="100000"/>
                  </a:srgbClr>
                </a:solidFill>
                <a:latin typeface="Inter Medium" pitchFamily="34" charset="0"/>
                <a:ea typeface="Inter Medium" pitchFamily="34" charset="-122"/>
                <a:cs typeface="Inter Medium" pitchFamily="34" charset="-120"/>
              </a:rPr>
              <a:t>Systemic Design Fixes</a:t>
            </a:r>
            <a:endParaRPr lang="en-US" sz="8000" dirty="0"/>
          </a:p>
        </p:txBody>
      </p:sp>
      <p:sp>
        <p:nvSpPr>
          <p:cNvPr id="3" name="Text 1"/>
          <p:cNvSpPr/>
          <p:nvPr/>
        </p:nvSpPr>
        <p:spPr>
          <a:xfrm>
            <a:off x="15025978" y="1524000"/>
            <a:ext cx="7938492" cy="3759200"/>
          </a:xfrm>
          <a:prstGeom prst="rect">
            <a:avLst/>
          </a:prstGeom>
          <a:noFill/>
          <a:ln/>
        </p:spPr>
        <p:txBody>
          <a:bodyPr wrap="square" lIns="0" tIns="0" rIns="0" bIns="0" rtlCol="0" anchor="t"/>
          <a:lstStyle/>
          <a:p>
            <a:pPr marL="0" indent="0" algn="l">
              <a:lnSpc>
                <a:spcPts val="3600"/>
              </a:lnSpc>
              <a:buNone/>
            </a:pPr>
            <a:r>
              <a:rPr lang="en-US" sz="2400" kern="0" spc="-48" dirty="0">
                <a:solidFill>
                  <a:srgbClr val="FFFFFF">
                    <a:alpha val="100000"/>
                  </a:srgbClr>
                </a:solidFill>
                <a:latin typeface="Inter Regular" pitchFamily="34" charset="0"/>
                <a:ea typeface="Inter Regular" pitchFamily="34" charset="-122"/>
                <a:cs typeface="Inter Regular" pitchFamily="34" charset="-120"/>
              </a:rPr>
              <a:t>While quick wins address visible friction, these systemic design fixes target the underlying structural issues in the product's design system and interaction logic. They're essential for long-term consistency, scalability, and maintainability especially as your product evolves. These changes often involve updating the design language, UI components, and interaction patterns used across multiple screens or flows.</a:t>
            </a:r>
            <a:endParaRPr lang="en-US" sz="2400" dirty="0"/>
          </a:p>
        </p:txBody>
      </p:sp>
      <p:sp>
        <p:nvSpPr>
          <p:cNvPr id="4" name="Text 2"/>
          <p:cNvSpPr/>
          <p:nvPr/>
        </p:nvSpPr>
        <p:spPr>
          <a:xfrm>
            <a:off x="15025978" y="11328400"/>
            <a:ext cx="7938492" cy="1473200"/>
          </a:xfrm>
          <a:prstGeom prst="rect">
            <a:avLst/>
          </a:prstGeom>
          <a:noFill/>
          <a:ln/>
        </p:spPr>
        <p:txBody>
          <a:bodyPr wrap="square" lIns="0" tIns="0" rIns="0" bIns="0" rtlCol="0" anchor="t"/>
          <a:lstStyle/>
          <a:p>
            <a:pPr marL="0" indent="0" algn="l">
              <a:lnSpc>
                <a:spcPts val="3600"/>
              </a:lnSpc>
              <a:buNone/>
            </a:pPr>
            <a:r>
              <a:rPr lang="en-US" sz="2400" kern="0" spc="-48" dirty="0">
                <a:solidFill>
                  <a:srgbClr val="FFFFFF">
                    <a:alpha val="100000"/>
                  </a:srgbClr>
                </a:solidFill>
                <a:latin typeface="Inter Regular" pitchFamily="34" charset="0"/>
                <a:ea typeface="Inter Regular" pitchFamily="34" charset="-122"/>
                <a:cs typeface="Inter Regular" pitchFamily="34" charset="-120"/>
              </a:rPr>
              <a:t>Systemic design fixes prevent UX debt from recurring and reduce the load on design and engineering teams by promoting reusability.</a:t>
            </a:r>
            <a:endParaRPr lang="en-US" sz="2400" dirty="0"/>
          </a:p>
        </p:txBody>
      </p:sp>
      <p:grpSp>
        <p:nvGrpSpPr>
          <p:cNvPr id="20" name="Group 19">
            <a:extLst>
              <a:ext uri="{FF2B5EF4-FFF2-40B4-BE49-F238E27FC236}">
                <a16:creationId xmlns:a16="http://schemas.microsoft.com/office/drawing/2014/main" id="{A6BEBA1A-4B0C-3666-8D40-46BB45A3E019}"/>
              </a:ext>
            </a:extLst>
          </p:cNvPr>
          <p:cNvGrpSpPr/>
          <p:nvPr/>
        </p:nvGrpSpPr>
        <p:grpSpPr>
          <a:xfrm>
            <a:off x="1524191" y="4610100"/>
            <a:ext cx="12523765" cy="8089900"/>
            <a:chOff x="1524191" y="4610100"/>
            <a:chExt cx="12523765" cy="8089900"/>
          </a:xfrm>
        </p:grpSpPr>
        <p:sp>
          <p:nvSpPr>
            <p:cNvPr id="5" name="Shape 3"/>
            <p:cNvSpPr/>
            <p:nvPr/>
          </p:nvSpPr>
          <p:spPr>
            <a:xfrm>
              <a:off x="1524191" y="4610100"/>
              <a:ext cx="2946768" cy="2946400"/>
            </a:xfrm>
            <a:prstGeom prst="roundRect">
              <a:avLst>
                <a:gd name="adj" fmla="val 86276"/>
              </a:avLst>
            </a:prstGeom>
            <a:solidFill>
              <a:srgbClr val="33A7A6">
                <a:alpha val="100000"/>
              </a:srgbClr>
            </a:solidFill>
            <a:ln/>
          </p:spPr>
          <p:txBody>
            <a:bodyPr/>
            <a:lstStyle/>
            <a:p>
              <a:endParaRPr lang="en-ID"/>
            </a:p>
          </p:txBody>
        </p:sp>
        <p:sp>
          <p:nvSpPr>
            <p:cNvPr id="6" name="Shape 4"/>
            <p:cNvSpPr/>
            <p:nvPr/>
          </p:nvSpPr>
          <p:spPr>
            <a:xfrm>
              <a:off x="11113889" y="4610100"/>
              <a:ext cx="2934067" cy="2946400"/>
            </a:xfrm>
            <a:prstGeom prst="roundRect">
              <a:avLst>
                <a:gd name="adj" fmla="val 86639"/>
              </a:avLst>
            </a:prstGeom>
            <a:solidFill>
              <a:srgbClr val="FFA8A8">
                <a:alpha val="100000"/>
              </a:srgbClr>
            </a:solidFill>
            <a:ln/>
          </p:spPr>
          <p:txBody>
            <a:bodyPr/>
            <a:lstStyle/>
            <a:p>
              <a:endParaRPr lang="en-ID"/>
            </a:p>
          </p:txBody>
        </p:sp>
        <p:sp>
          <p:nvSpPr>
            <p:cNvPr id="7" name="Shape 5"/>
            <p:cNvSpPr/>
            <p:nvPr/>
          </p:nvSpPr>
          <p:spPr>
            <a:xfrm>
              <a:off x="7922117" y="9650361"/>
              <a:ext cx="2946768" cy="2946400"/>
            </a:xfrm>
            <a:prstGeom prst="roundRect">
              <a:avLst>
                <a:gd name="adj" fmla="val 86276"/>
              </a:avLst>
            </a:prstGeom>
            <a:solidFill>
              <a:srgbClr val="F88A24">
                <a:alpha val="100000"/>
              </a:srgbClr>
            </a:solidFill>
            <a:ln/>
          </p:spPr>
          <p:txBody>
            <a:bodyPr/>
            <a:lstStyle/>
            <a:p>
              <a:endParaRPr lang="en-ID"/>
            </a:p>
          </p:txBody>
        </p:sp>
        <p:sp>
          <p:nvSpPr>
            <p:cNvPr id="8" name="Shape 6"/>
            <p:cNvSpPr/>
            <p:nvPr/>
          </p:nvSpPr>
          <p:spPr>
            <a:xfrm>
              <a:off x="1524191" y="7556500"/>
              <a:ext cx="2946768" cy="5143500"/>
            </a:xfrm>
            <a:prstGeom prst="roundRect">
              <a:avLst>
                <a:gd name="adj" fmla="val 86265"/>
              </a:avLst>
            </a:prstGeom>
            <a:solidFill>
              <a:srgbClr val="33A7A6">
                <a:alpha val="100000"/>
              </a:srgbClr>
            </a:solidFill>
            <a:ln/>
          </p:spPr>
          <p:txBody>
            <a:bodyPr/>
            <a:lstStyle/>
            <a:p>
              <a:endParaRPr lang="en-ID"/>
            </a:p>
          </p:txBody>
        </p:sp>
        <p:sp>
          <p:nvSpPr>
            <p:cNvPr id="9" name="Shape 7"/>
            <p:cNvSpPr/>
            <p:nvPr/>
          </p:nvSpPr>
          <p:spPr>
            <a:xfrm>
              <a:off x="7913223" y="4631267"/>
              <a:ext cx="2946768" cy="5143500"/>
            </a:xfrm>
            <a:prstGeom prst="roundRect">
              <a:avLst>
                <a:gd name="adj" fmla="val 86265"/>
              </a:avLst>
            </a:prstGeom>
            <a:solidFill>
              <a:srgbClr val="F88A24">
                <a:alpha val="100000"/>
              </a:srgbClr>
            </a:solidFill>
            <a:ln/>
          </p:spPr>
          <p:txBody>
            <a:bodyPr/>
            <a:lstStyle/>
            <a:p>
              <a:endParaRPr lang="en-ID"/>
            </a:p>
          </p:txBody>
        </p:sp>
        <p:sp>
          <p:nvSpPr>
            <p:cNvPr id="10" name="Shape 8"/>
            <p:cNvSpPr/>
            <p:nvPr/>
          </p:nvSpPr>
          <p:spPr>
            <a:xfrm>
              <a:off x="4724991" y="4610100"/>
              <a:ext cx="2934067" cy="8089900"/>
            </a:xfrm>
            <a:prstGeom prst="roundRect">
              <a:avLst>
                <a:gd name="adj" fmla="val 86639"/>
              </a:avLst>
            </a:prstGeom>
            <a:solidFill>
              <a:srgbClr val="5993FF">
                <a:alpha val="100000"/>
              </a:srgbClr>
            </a:solidFill>
            <a:ln/>
          </p:spPr>
          <p:txBody>
            <a:bodyPr/>
            <a:lstStyle/>
            <a:p>
              <a:endParaRPr lang="en-ID"/>
            </a:p>
          </p:txBody>
        </p:sp>
        <p:sp>
          <p:nvSpPr>
            <p:cNvPr id="11" name="Shape 9"/>
            <p:cNvSpPr/>
            <p:nvPr/>
          </p:nvSpPr>
          <p:spPr>
            <a:xfrm>
              <a:off x="11113889" y="7556500"/>
              <a:ext cx="2934067" cy="5143500"/>
            </a:xfrm>
            <a:prstGeom prst="roundRect">
              <a:avLst>
                <a:gd name="adj" fmla="val 86639"/>
              </a:avLst>
            </a:prstGeom>
            <a:solidFill>
              <a:srgbClr val="FFA8A8">
                <a:alpha val="100000"/>
              </a:srgbClr>
            </a:solidFill>
            <a:ln/>
          </p:spPr>
          <p:txBody>
            <a:bodyPr/>
            <a:lstStyle/>
            <a:p>
              <a:endParaRPr lang="en-ID"/>
            </a:p>
          </p:txBody>
        </p:sp>
        <p:sp>
          <p:nvSpPr>
            <p:cNvPr id="12" name="Text 10"/>
            <p:cNvSpPr/>
            <p:nvPr/>
          </p:nvSpPr>
          <p:spPr>
            <a:xfrm>
              <a:off x="2603825" y="4631267"/>
              <a:ext cx="1240522" cy="2891367"/>
            </a:xfrm>
            <a:prstGeom prst="rect">
              <a:avLst/>
            </a:prstGeom>
            <a:noFill/>
            <a:ln/>
          </p:spPr>
          <p:txBody>
            <a:bodyPr wrap="square" lIns="0" tIns="0" rIns="0" bIns="0" rtlCol="0" anchor="ctr"/>
            <a:lstStyle/>
            <a:p>
              <a:pPr marL="0" indent="0" algn="l">
                <a:lnSpc>
                  <a:spcPts val="12100"/>
                </a:lnSpc>
                <a:buNone/>
              </a:pPr>
              <a:r>
                <a:rPr lang="en-US" sz="11000" kern="0" spc="-440" dirty="0">
                  <a:solidFill>
                    <a:srgbClr val="F4F4F4">
                      <a:alpha val="100000"/>
                    </a:srgbClr>
                  </a:solidFill>
                  <a:latin typeface="Montserrat SemiBold" pitchFamily="34" charset="0"/>
                  <a:ea typeface="Montserrat SemiBold" pitchFamily="34" charset="-122"/>
                  <a:cs typeface="Montserrat SemiBold" pitchFamily="34" charset="-120"/>
                </a:rPr>
                <a:t>1</a:t>
              </a:r>
              <a:endParaRPr lang="en-US" sz="11000" dirty="0"/>
            </a:p>
          </p:txBody>
        </p:sp>
        <p:sp>
          <p:nvSpPr>
            <p:cNvPr id="13" name="Text 11"/>
            <p:cNvSpPr/>
            <p:nvPr/>
          </p:nvSpPr>
          <p:spPr>
            <a:xfrm>
              <a:off x="5728416" y="4631267"/>
              <a:ext cx="1469150" cy="2891367"/>
            </a:xfrm>
            <a:prstGeom prst="rect">
              <a:avLst/>
            </a:prstGeom>
            <a:noFill/>
            <a:ln/>
          </p:spPr>
          <p:txBody>
            <a:bodyPr wrap="square" lIns="0" tIns="0" rIns="0" bIns="0" rtlCol="0" anchor="ctr"/>
            <a:lstStyle/>
            <a:p>
              <a:pPr marL="0" indent="0" algn="l">
                <a:lnSpc>
                  <a:spcPts val="12100"/>
                </a:lnSpc>
                <a:buNone/>
              </a:pPr>
              <a:r>
                <a:rPr lang="en-US" sz="11000" kern="0" spc="-440" dirty="0">
                  <a:solidFill>
                    <a:srgbClr val="F4F4F4">
                      <a:alpha val="100000"/>
                    </a:srgbClr>
                  </a:solidFill>
                  <a:latin typeface="Montserrat SemiBold" pitchFamily="34" charset="0"/>
                  <a:ea typeface="Montserrat SemiBold" pitchFamily="34" charset="-122"/>
                  <a:cs typeface="Montserrat SemiBold" pitchFamily="34" charset="-120"/>
                </a:rPr>
                <a:t>2</a:t>
              </a:r>
              <a:endParaRPr lang="en-US" sz="11000" dirty="0"/>
            </a:p>
          </p:txBody>
        </p:sp>
        <p:sp>
          <p:nvSpPr>
            <p:cNvPr id="14" name="Text 12"/>
            <p:cNvSpPr/>
            <p:nvPr/>
          </p:nvSpPr>
          <p:spPr>
            <a:xfrm>
              <a:off x="8941918" y="4631267"/>
              <a:ext cx="1507255" cy="2891367"/>
            </a:xfrm>
            <a:prstGeom prst="rect">
              <a:avLst/>
            </a:prstGeom>
            <a:noFill/>
            <a:ln/>
          </p:spPr>
          <p:txBody>
            <a:bodyPr wrap="square" lIns="0" tIns="0" rIns="0" bIns="0" rtlCol="0" anchor="ctr"/>
            <a:lstStyle/>
            <a:p>
              <a:pPr marL="0" indent="0" algn="l">
                <a:lnSpc>
                  <a:spcPts val="12100"/>
                </a:lnSpc>
                <a:buNone/>
              </a:pPr>
              <a:r>
                <a:rPr lang="en-US" sz="11000" kern="0" spc="-440" dirty="0">
                  <a:solidFill>
                    <a:srgbClr val="F4F4F4">
                      <a:alpha val="100000"/>
                    </a:srgbClr>
                  </a:solidFill>
                  <a:latin typeface="Montserrat SemiBold" pitchFamily="34" charset="0"/>
                  <a:ea typeface="Montserrat SemiBold" pitchFamily="34" charset="-122"/>
                  <a:cs typeface="Montserrat SemiBold" pitchFamily="34" charset="-120"/>
                </a:rPr>
                <a:t>3</a:t>
              </a:r>
              <a:endParaRPr lang="en-US" sz="11000" dirty="0"/>
            </a:p>
          </p:txBody>
        </p:sp>
        <p:sp>
          <p:nvSpPr>
            <p:cNvPr id="15" name="Text 13"/>
            <p:cNvSpPr/>
            <p:nvPr/>
          </p:nvSpPr>
          <p:spPr>
            <a:xfrm>
              <a:off x="12168121" y="4631267"/>
              <a:ext cx="1532658" cy="2891367"/>
            </a:xfrm>
            <a:prstGeom prst="rect">
              <a:avLst/>
            </a:prstGeom>
            <a:noFill/>
            <a:ln/>
          </p:spPr>
          <p:txBody>
            <a:bodyPr wrap="square" lIns="0" tIns="0" rIns="0" bIns="0" rtlCol="0" anchor="ctr"/>
            <a:lstStyle/>
            <a:p>
              <a:pPr marL="0" indent="0" algn="l">
                <a:lnSpc>
                  <a:spcPts val="12100"/>
                </a:lnSpc>
                <a:buNone/>
              </a:pPr>
              <a:r>
                <a:rPr lang="en-US" sz="11000" kern="0" spc="-440" dirty="0">
                  <a:solidFill>
                    <a:srgbClr val="F4F4F4">
                      <a:alpha val="100000"/>
                    </a:srgbClr>
                  </a:solidFill>
                  <a:latin typeface="Montserrat SemiBold" pitchFamily="34" charset="0"/>
                  <a:ea typeface="Montserrat SemiBold" pitchFamily="34" charset="-122"/>
                  <a:cs typeface="Montserrat SemiBold" pitchFamily="34" charset="-120"/>
                </a:rPr>
                <a:t>4</a:t>
              </a:r>
              <a:endParaRPr lang="en-US" sz="11000" dirty="0"/>
            </a:p>
          </p:txBody>
        </p:sp>
        <p:sp>
          <p:nvSpPr>
            <p:cNvPr id="16" name="Text 14"/>
            <p:cNvSpPr/>
            <p:nvPr/>
          </p:nvSpPr>
          <p:spPr>
            <a:xfrm>
              <a:off x="1790924" y="10744200"/>
              <a:ext cx="2426003" cy="1016000"/>
            </a:xfrm>
            <a:prstGeom prst="rect">
              <a:avLst/>
            </a:prstGeom>
            <a:noFill/>
            <a:ln/>
          </p:spPr>
          <p:txBody>
            <a:bodyPr wrap="square" lIns="0" tIns="0" rIns="0" bIns="0" rtlCol="0" anchor="ctr"/>
            <a:lstStyle/>
            <a:p>
              <a:pPr marL="0" indent="0" algn="ctr">
                <a:lnSpc>
                  <a:spcPts val="3600"/>
                </a:lnSpc>
                <a:buNone/>
              </a:pPr>
              <a:r>
                <a:rPr lang="en-US" sz="2400" kern="0" spc="-48" dirty="0">
                  <a:solidFill>
                    <a:srgbClr val="FFFFFF">
                      <a:alpha val="100000"/>
                    </a:srgbClr>
                  </a:solidFill>
                  <a:latin typeface="Inter Regular" pitchFamily="34" charset="0"/>
                  <a:ea typeface="Inter Regular" pitchFamily="34" charset="-122"/>
                  <a:cs typeface="Inter Regular" pitchFamily="34" charset="-120"/>
                </a:rPr>
                <a:t>Component Inconsistency</a:t>
              </a:r>
              <a:endParaRPr lang="en-US" sz="2400" dirty="0"/>
            </a:p>
          </p:txBody>
        </p:sp>
        <p:sp>
          <p:nvSpPr>
            <p:cNvPr id="17" name="Text 15"/>
            <p:cNvSpPr/>
            <p:nvPr/>
          </p:nvSpPr>
          <p:spPr>
            <a:xfrm>
              <a:off x="4979022" y="10744200"/>
              <a:ext cx="2426003" cy="1016000"/>
            </a:xfrm>
            <a:prstGeom prst="rect">
              <a:avLst/>
            </a:prstGeom>
            <a:noFill/>
            <a:ln/>
          </p:spPr>
          <p:txBody>
            <a:bodyPr wrap="square" lIns="0" tIns="0" rIns="0" bIns="0" rtlCol="0" anchor="ctr"/>
            <a:lstStyle/>
            <a:p>
              <a:pPr marL="0" indent="0" algn="ctr">
                <a:lnSpc>
                  <a:spcPts val="3600"/>
                </a:lnSpc>
                <a:buNone/>
              </a:pPr>
              <a:r>
                <a:rPr lang="en-US" sz="2400" kern="0" spc="-48" dirty="0">
                  <a:solidFill>
                    <a:srgbClr val="FFFFFF">
                      <a:alpha val="100000"/>
                    </a:srgbClr>
                  </a:solidFill>
                  <a:latin typeface="Inter Regular" pitchFamily="34" charset="0"/>
                  <a:ea typeface="Inter Regular" pitchFamily="34" charset="-122"/>
                  <a:cs typeface="Inter Regular" pitchFamily="34" charset="-120"/>
                </a:rPr>
                <a:t>Navigation Overhaul</a:t>
              </a:r>
              <a:endParaRPr lang="en-US" sz="2400" dirty="0"/>
            </a:p>
          </p:txBody>
        </p:sp>
        <p:sp>
          <p:nvSpPr>
            <p:cNvPr id="18" name="Text 16"/>
            <p:cNvSpPr/>
            <p:nvPr/>
          </p:nvSpPr>
          <p:spPr>
            <a:xfrm>
              <a:off x="8167121" y="10515600"/>
              <a:ext cx="2426003" cy="1473200"/>
            </a:xfrm>
            <a:prstGeom prst="rect">
              <a:avLst/>
            </a:prstGeom>
            <a:noFill/>
            <a:ln/>
          </p:spPr>
          <p:txBody>
            <a:bodyPr wrap="square" lIns="0" tIns="0" rIns="0" bIns="0" rtlCol="0" anchor="ctr"/>
            <a:lstStyle/>
            <a:p>
              <a:pPr marL="0" indent="0" algn="ctr">
                <a:lnSpc>
                  <a:spcPts val="3600"/>
                </a:lnSpc>
                <a:buNone/>
              </a:pPr>
              <a:r>
                <a:rPr lang="en-US" sz="2400" kern="0" spc="-48" dirty="0">
                  <a:solidFill>
                    <a:srgbClr val="FFFFFF">
                      <a:alpha val="100000"/>
                    </a:srgbClr>
                  </a:solidFill>
                  <a:latin typeface="Inter Regular" pitchFamily="34" charset="0"/>
                  <a:ea typeface="Inter Regular" pitchFamily="34" charset="-122"/>
                  <a:cs typeface="Inter Regular" pitchFamily="34" charset="-120"/>
                </a:rPr>
                <a:t>Feedback &amp; State Management</a:t>
              </a:r>
              <a:endParaRPr lang="en-US" sz="2400" dirty="0"/>
            </a:p>
          </p:txBody>
        </p:sp>
        <p:sp>
          <p:nvSpPr>
            <p:cNvPr id="19" name="Text 17"/>
            <p:cNvSpPr/>
            <p:nvPr/>
          </p:nvSpPr>
          <p:spPr>
            <a:xfrm>
              <a:off x="11367921" y="10744200"/>
              <a:ext cx="2426003" cy="1016000"/>
            </a:xfrm>
            <a:prstGeom prst="rect">
              <a:avLst/>
            </a:prstGeom>
            <a:noFill/>
            <a:ln/>
          </p:spPr>
          <p:txBody>
            <a:bodyPr wrap="square" lIns="0" tIns="0" rIns="0" bIns="0" rtlCol="0" anchor="ctr"/>
            <a:lstStyle/>
            <a:p>
              <a:pPr marL="0" indent="0" algn="ctr">
                <a:lnSpc>
                  <a:spcPts val="3600"/>
                </a:lnSpc>
                <a:buNone/>
              </a:pPr>
              <a:r>
                <a:rPr lang="en-US" sz="2400" kern="0" spc="-48" dirty="0">
                  <a:solidFill>
                    <a:srgbClr val="FFFFFF">
                      <a:alpha val="100000"/>
                    </a:srgbClr>
                  </a:solidFill>
                  <a:latin typeface="Inter Regular" pitchFamily="34" charset="0"/>
                  <a:ea typeface="Inter Regular" pitchFamily="34" charset="-122"/>
                  <a:cs typeface="Inter Regular" pitchFamily="34" charset="-120"/>
                </a:rPr>
                <a:t>Accessibility Alignment</a:t>
              </a:r>
              <a:endParaRPr lang="en-US" sz="2400" dirty="0"/>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4F4"/>
        </a:solidFill>
        <a:effectLst/>
      </p:bgPr>
    </p:bg>
    <p:spTree>
      <p:nvGrpSpPr>
        <p:cNvPr id="1" name=""/>
        <p:cNvGrpSpPr/>
        <p:nvPr/>
      </p:nvGrpSpPr>
      <p:grpSpPr>
        <a:xfrm>
          <a:off x="0" y="0"/>
          <a:ext cx="0" cy="0"/>
          <a:chOff x="0" y="0"/>
          <a:chExt cx="0" cy="0"/>
        </a:xfrm>
      </p:grpSpPr>
      <p:sp>
        <p:nvSpPr>
          <p:cNvPr id="2" name="Text 0"/>
          <p:cNvSpPr/>
          <p:nvPr/>
        </p:nvSpPr>
        <p:spPr>
          <a:xfrm>
            <a:off x="1524191" y="2374900"/>
            <a:ext cx="8188290" cy="2777067"/>
          </a:xfrm>
          <a:prstGeom prst="rect">
            <a:avLst/>
          </a:prstGeom>
          <a:noFill/>
          <a:ln/>
        </p:spPr>
        <p:txBody>
          <a:bodyPr wrap="square" lIns="0" tIns="0" rIns="0" bIns="0" rtlCol="0" anchor="t"/>
          <a:lstStyle/>
          <a:p>
            <a:pPr marL="0" indent="0" algn="l">
              <a:lnSpc>
                <a:spcPts val="9600"/>
              </a:lnSpc>
              <a:buNone/>
            </a:pPr>
            <a:r>
              <a:rPr lang="en-US" sz="8000" kern="0" spc="-480" dirty="0">
                <a:solidFill>
                  <a:srgbClr val="050C29">
                    <a:alpha val="100000"/>
                  </a:srgbClr>
                </a:solidFill>
                <a:latin typeface="Inter Medium" pitchFamily="34" charset="0"/>
                <a:ea typeface="Inter Medium" pitchFamily="34" charset="-122"/>
                <a:cs typeface="Inter Medium" pitchFamily="34" charset="-120"/>
              </a:rPr>
              <a:t>Timeline for Implementation</a:t>
            </a:r>
            <a:endParaRPr lang="en-US" sz="8000" dirty="0"/>
          </a:p>
        </p:txBody>
      </p:sp>
      <p:sp>
        <p:nvSpPr>
          <p:cNvPr id="3" name="Text 1"/>
          <p:cNvSpPr/>
          <p:nvPr/>
        </p:nvSpPr>
        <p:spPr>
          <a:xfrm>
            <a:off x="9805626" y="2789767"/>
            <a:ext cx="7134058" cy="1595967"/>
          </a:xfrm>
          <a:prstGeom prst="rect">
            <a:avLst/>
          </a:prstGeom>
          <a:noFill/>
          <a:ln/>
        </p:spPr>
        <p:txBody>
          <a:bodyPr wrap="square" lIns="0" tIns="0" rIns="0" bIns="0" rtlCol="0" anchor="ctr"/>
          <a:lstStyle/>
          <a:p>
            <a:pPr marL="0" indent="0" algn="l">
              <a:lnSpc>
                <a:spcPts val="3000"/>
              </a:lnSpc>
              <a:buNone/>
            </a:pPr>
            <a:r>
              <a:rPr lang="en-US" sz="2000" kern="0" spc="-40" dirty="0">
                <a:solidFill>
                  <a:srgbClr val="000000">
                    <a:alpha val="100000"/>
                  </a:srgbClr>
                </a:solidFill>
                <a:latin typeface="Inter Medium" pitchFamily="34" charset="0"/>
                <a:ea typeface="Inter Medium" pitchFamily="34" charset="-122"/>
                <a:cs typeface="Inter Medium" pitchFamily="34" charset="-120"/>
              </a:rPr>
              <a:t>Based on the identified usability issues, we’ve outlined specific and actionable UX improvements. These solutions aim to reduce friction, enhance usability, and align with best practices in interaction design.</a:t>
            </a:r>
            <a:endParaRPr lang="en-US" sz="2000" dirty="0"/>
          </a:p>
        </p:txBody>
      </p:sp>
      <p:sp>
        <p:nvSpPr>
          <p:cNvPr id="4" name="Text 2"/>
          <p:cNvSpPr/>
          <p:nvPr/>
        </p:nvSpPr>
        <p:spPr>
          <a:xfrm>
            <a:off x="1524191" y="1485900"/>
            <a:ext cx="1778222" cy="558800"/>
          </a:xfrm>
          <a:prstGeom prst="rect">
            <a:avLst/>
          </a:prstGeom>
          <a:noFill/>
          <a:ln/>
        </p:spPr>
        <p:txBody>
          <a:bodyPr wrap="square" lIns="0" tIns="0" rIns="0" bIns="0" rtlCol="0" anchor="t"/>
          <a:lstStyle/>
          <a:p>
            <a:pPr marL="0" indent="0" algn="l">
              <a:lnSpc>
                <a:spcPts val="3600"/>
              </a:lnSpc>
              <a:buNone/>
            </a:pPr>
            <a:r>
              <a:rPr lang="en-US" sz="2400" kern="0" spc="-48" dirty="0">
                <a:solidFill>
                  <a:srgbClr val="000000">
                    <a:alpha val="100000"/>
                  </a:srgbClr>
                </a:solidFill>
                <a:latin typeface="Inter Regular" pitchFamily="34" charset="0"/>
                <a:ea typeface="Inter Regular" pitchFamily="34" charset="-122"/>
                <a:cs typeface="Inter Regular" pitchFamily="34" charset="-120"/>
              </a:rPr>
              <a:t>Fix the Flow</a:t>
            </a:r>
            <a:endParaRPr lang="en-US" sz="2400" dirty="0"/>
          </a:p>
        </p:txBody>
      </p:sp>
      <p:sp>
        <p:nvSpPr>
          <p:cNvPr id="5" name="Text 3"/>
          <p:cNvSpPr/>
          <p:nvPr/>
        </p:nvSpPr>
        <p:spPr>
          <a:xfrm>
            <a:off x="22113464" y="1485900"/>
            <a:ext cx="838305" cy="558800"/>
          </a:xfrm>
          <a:prstGeom prst="rect">
            <a:avLst/>
          </a:prstGeom>
          <a:noFill/>
          <a:ln/>
        </p:spPr>
        <p:txBody>
          <a:bodyPr wrap="square" lIns="0" tIns="0" rIns="0" bIns="0" rtlCol="0" anchor="t"/>
          <a:lstStyle/>
          <a:p>
            <a:pPr marL="0" indent="0" algn="l">
              <a:lnSpc>
                <a:spcPts val="3600"/>
              </a:lnSpc>
              <a:buNone/>
            </a:pPr>
            <a:r>
              <a:rPr lang="en-US" sz="2400" kern="0" spc="-48" dirty="0">
                <a:solidFill>
                  <a:srgbClr val="000000">
                    <a:alpha val="100000"/>
                  </a:srgbClr>
                </a:solidFill>
                <a:latin typeface="Inter Regular" pitchFamily="34" charset="0"/>
                <a:ea typeface="Inter Regular" pitchFamily="34" charset="-122"/>
                <a:cs typeface="Inter Regular" pitchFamily="34" charset="-120"/>
              </a:rPr>
              <a:t>2025</a:t>
            </a:r>
            <a:endParaRPr lang="en-US" sz="2400" dirty="0"/>
          </a:p>
        </p:txBody>
      </p:sp>
      <p:grpSp>
        <p:nvGrpSpPr>
          <p:cNvPr id="36" name="Group 35">
            <a:extLst>
              <a:ext uri="{FF2B5EF4-FFF2-40B4-BE49-F238E27FC236}">
                <a16:creationId xmlns:a16="http://schemas.microsoft.com/office/drawing/2014/main" id="{285734C0-E7C5-4990-C2B1-598CCE97B152}"/>
              </a:ext>
            </a:extLst>
          </p:cNvPr>
          <p:cNvGrpSpPr/>
          <p:nvPr/>
        </p:nvGrpSpPr>
        <p:grpSpPr>
          <a:xfrm>
            <a:off x="1524191" y="5332720"/>
            <a:ext cx="21313264" cy="7670800"/>
            <a:chOff x="1524191" y="5332720"/>
            <a:chExt cx="21313264" cy="7670800"/>
          </a:xfrm>
        </p:grpSpPr>
        <p:pic>
          <p:nvPicPr>
            <p:cNvPr id="6" name="Image 0"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524191" y="5332720"/>
              <a:ext cx="21313264" cy="7670800"/>
            </a:xfrm>
            <a:prstGeom prst="rect">
              <a:avLst/>
            </a:prstGeom>
          </p:spPr>
        </p:pic>
        <p:pic>
          <p:nvPicPr>
            <p:cNvPr id="7" name="Image 1"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267680" y="6096000"/>
              <a:ext cx="11809" cy="6234609"/>
            </a:xfrm>
            <a:prstGeom prst="rect">
              <a:avLst/>
            </a:prstGeom>
          </p:spPr>
        </p:pic>
        <p:pic>
          <p:nvPicPr>
            <p:cNvPr id="8" name="Image 2" descr=" "/>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137377" y="6096000"/>
              <a:ext cx="11809" cy="6234609"/>
            </a:xfrm>
            <a:prstGeom prst="rect">
              <a:avLst/>
            </a:prstGeom>
          </p:spPr>
        </p:pic>
        <p:pic>
          <p:nvPicPr>
            <p:cNvPr id="9" name="Image 3" descr=" "/>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007073" y="6096000"/>
              <a:ext cx="11809" cy="6234609"/>
            </a:xfrm>
            <a:prstGeom prst="rect">
              <a:avLst/>
            </a:prstGeom>
          </p:spPr>
        </p:pic>
        <p:pic>
          <p:nvPicPr>
            <p:cNvPr id="10" name="Image 4" descr=" "/>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876770" y="6096000"/>
              <a:ext cx="11809" cy="6234609"/>
            </a:xfrm>
            <a:prstGeom prst="rect">
              <a:avLst/>
            </a:prstGeom>
          </p:spPr>
        </p:pic>
        <p:pic>
          <p:nvPicPr>
            <p:cNvPr id="11" name="Image 5" descr=" "/>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3746467" y="6096000"/>
              <a:ext cx="11809" cy="6234609"/>
            </a:xfrm>
            <a:prstGeom prst="rect">
              <a:avLst/>
            </a:prstGeom>
          </p:spPr>
        </p:pic>
        <p:pic>
          <p:nvPicPr>
            <p:cNvPr id="12" name="Image 6" descr=" "/>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6616163" y="6096000"/>
              <a:ext cx="11809" cy="6234609"/>
            </a:xfrm>
            <a:prstGeom prst="rect">
              <a:avLst/>
            </a:prstGeom>
          </p:spPr>
        </p:pic>
        <p:pic>
          <p:nvPicPr>
            <p:cNvPr id="13" name="Image 7" descr=" "/>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9485860" y="6096000"/>
              <a:ext cx="11809" cy="6234609"/>
            </a:xfrm>
            <a:prstGeom prst="rect">
              <a:avLst/>
            </a:prstGeom>
          </p:spPr>
        </p:pic>
        <p:sp>
          <p:nvSpPr>
            <p:cNvPr id="16" name="Shape 4"/>
            <p:cNvSpPr/>
            <p:nvPr/>
          </p:nvSpPr>
          <p:spPr>
            <a:xfrm>
              <a:off x="2273584" y="7241369"/>
              <a:ext cx="5739394" cy="873790"/>
            </a:xfrm>
            <a:prstGeom prst="roundRect">
              <a:avLst>
                <a:gd name="adj" fmla="val 148600"/>
              </a:avLst>
            </a:prstGeom>
            <a:solidFill>
              <a:srgbClr val="A4E3E0">
                <a:alpha val="100000"/>
              </a:srgbClr>
            </a:solidFill>
            <a:ln/>
          </p:spPr>
          <p:txBody>
            <a:bodyPr/>
            <a:lstStyle/>
            <a:p>
              <a:endParaRPr lang="en-ID"/>
            </a:p>
          </p:txBody>
        </p:sp>
        <p:sp>
          <p:nvSpPr>
            <p:cNvPr id="31" name="Shape 0">
              <a:extLst>
                <a:ext uri="{FF2B5EF4-FFF2-40B4-BE49-F238E27FC236}">
                  <a16:creationId xmlns:a16="http://schemas.microsoft.com/office/drawing/2014/main" id="{16E7C2F2-A317-EB64-4D9F-B49819A03187}"/>
                </a:ext>
              </a:extLst>
            </p:cNvPr>
            <p:cNvSpPr/>
            <p:nvPr/>
          </p:nvSpPr>
          <p:spPr>
            <a:xfrm>
              <a:off x="15153723" y="8351317"/>
              <a:ext cx="6886373" cy="873790"/>
            </a:xfrm>
            <a:prstGeom prst="roundRect">
              <a:avLst>
                <a:gd name="adj" fmla="val 50000"/>
              </a:avLst>
            </a:prstGeom>
            <a:pattFill prst="wdDnDiag">
              <a:fgClr>
                <a:srgbClr val="AAE2E0"/>
              </a:fgClr>
              <a:bgClr>
                <a:srgbClr val="F0FBFA"/>
              </a:bgClr>
            </a:pattFill>
            <a:ln/>
          </p:spPr>
          <p:txBody>
            <a:bodyPr/>
            <a:lstStyle/>
            <a:p>
              <a:r>
                <a:rPr lang="en-US" sz="100" dirty="0"/>
                <a:t>v</a:t>
              </a:r>
              <a:endParaRPr lang="en-ID" sz="100" dirty="0"/>
            </a:p>
          </p:txBody>
        </p:sp>
        <p:sp>
          <p:nvSpPr>
            <p:cNvPr id="17" name="Shape 5"/>
            <p:cNvSpPr/>
            <p:nvPr/>
          </p:nvSpPr>
          <p:spPr>
            <a:xfrm>
              <a:off x="16622068" y="9461277"/>
              <a:ext cx="2869697" cy="873790"/>
            </a:xfrm>
            <a:prstGeom prst="roundRect">
              <a:avLst>
                <a:gd name="adj" fmla="val 148600"/>
              </a:avLst>
            </a:prstGeom>
            <a:solidFill>
              <a:srgbClr val="F88A24">
                <a:alpha val="100000"/>
              </a:srgbClr>
            </a:solidFill>
            <a:ln/>
          </p:spPr>
          <p:txBody>
            <a:bodyPr/>
            <a:lstStyle/>
            <a:p>
              <a:endParaRPr lang="en-ID"/>
            </a:p>
          </p:txBody>
        </p:sp>
        <p:sp>
          <p:nvSpPr>
            <p:cNvPr id="32" name="Shape 0">
              <a:extLst>
                <a:ext uri="{FF2B5EF4-FFF2-40B4-BE49-F238E27FC236}">
                  <a16:creationId xmlns:a16="http://schemas.microsoft.com/office/drawing/2014/main" id="{70AFE6A6-5A59-A02B-EB9D-221E8AFDDE85}"/>
                </a:ext>
              </a:extLst>
            </p:cNvPr>
            <p:cNvSpPr/>
            <p:nvPr/>
          </p:nvSpPr>
          <p:spPr>
            <a:xfrm>
              <a:off x="2267680" y="8351156"/>
              <a:ext cx="7000343" cy="873790"/>
            </a:xfrm>
            <a:prstGeom prst="roundRect">
              <a:avLst>
                <a:gd name="adj" fmla="val 50000"/>
              </a:avLst>
            </a:prstGeom>
            <a:pattFill prst="wdDnDiag">
              <a:fgClr>
                <a:srgbClr val="AAE2E0"/>
              </a:fgClr>
              <a:bgClr>
                <a:srgbClr val="F0FBFA"/>
              </a:bgClr>
            </a:pattFill>
            <a:ln/>
          </p:spPr>
          <p:txBody>
            <a:bodyPr/>
            <a:lstStyle/>
            <a:p>
              <a:r>
                <a:rPr lang="en-US" sz="100" dirty="0"/>
                <a:t>v</a:t>
              </a:r>
              <a:endParaRPr lang="en-ID" sz="100" dirty="0"/>
            </a:p>
          </p:txBody>
        </p:sp>
        <p:sp>
          <p:nvSpPr>
            <p:cNvPr id="18" name="Shape 6"/>
            <p:cNvSpPr/>
            <p:nvPr/>
          </p:nvSpPr>
          <p:spPr>
            <a:xfrm>
              <a:off x="19491764" y="10571225"/>
              <a:ext cx="2621698" cy="873790"/>
            </a:xfrm>
            <a:prstGeom prst="roundRect">
              <a:avLst>
                <a:gd name="adj" fmla="val 148600"/>
              </a:avLst>
            </a:prstGeom>
            <a:solidFill>
              <a:srgbClr val="FFA8A8">
                <a:alpha val="100000"/>
              </a:srgbClr>
            </a:solidFill>
            <a:ln/>
          </p:spPr>
          <p:txBody>
            <a:bodyPr/>
            <a:lstStyle/>
            <a:p>
              <a:endParaRPr lang="en-ID"/>
            </a:p>
          </p:txBody>
        </p:sp>
        <p:sp>
          <p:nvSpPr>
            <p:cNvPr id="19" name="Shape 7"/>
            <p:cNvSpPr/>
            <p:nvPr/>
          </p:nvSpPr>
          <p:spPr>
            <a:xfrm>
              <a:off x="8012978" y="8351317"/>
              <a:ext cx="8609091" cy="873790"/>
            </a:xfrm>
            <a:prstGeom prst="roundRect">
              <a:avLst>
                <a:gd name="adj" fmla="val 148600"/>
              </a:avLst>
            </a:prstGeom>
            <a:solidFill>
              <a:srgbClr val="5993FF">
                <a:alpha val="100000"/>
              </a:srgbClr>
            </a:solidFill>
            <a:ln/>
          </p:spPr>
          <p:txBody>
            <a:bodyPr/>
            <a:lstStyle/>
            <a:p>
              <a:endParaRPr lang="en-ID"/>
            </a:p>
          </p:txBody>
        </p:sp>
        <p:sp>
          <p:nvSpPr>
            <p:cNvPr id="20" name="Text 8"/>
            <p:cNvSpPr/>
            <p:nvPr/>
          </p:nvSpPr>
          <p:spPr>
            <a:xfrm>
              <a:off x="2509773" y="6096000"/>
              <a:ext cx="1021692" cy="513564"/>
            </a:xfrm>
            <a:prstGeom prst="rect">
              <a:avLst/>
            </a:prstGeom>
            <a:noFill/>
            <a:ln/>
          </p:spPr>
          <p:txBody>
            <a:bodyPr wrap="square" lIns="0" tIns="0" rIns="0" bIns="0" rtlCol="0" anchor="t"/>
            <a:lstStyle/>
            <a:p>
              <a:pPr marL="0" indent="0" algn="l">
                <a:lnSpc>
                  <a:spcPts val="3347"/>
                </a:lnSpc>
                <a:buNone/>
              </a:pPr>
              <a:r>
                <a:rPr lang="en-US" sz="2231" kern="0" spc="-45" dirty="0">
                  <a:solidFill>
                    <a:srgbClr val="000000">
                      <a:alpha val="100000"/>
                    </a:srgbClr>
                  </a:solidFill>
                  <a:latin typeface="Inter Regular" pitchFamily="34" charset="0"/>
                  <a:ea typeface="Inter Regular" pitchFamily="34" charset="-122"/>
                  <a:cs typeface="Inter Regular" pitchFamily="34" charset="-120"/>
                </a:rPr>
                <a:t>Week 1</a:t>
              </a:r>
              <a:endParaRPr lang="en-US" sz="2231" dirty="0"/>
            </a:p>
          </p:txBody>
        </p:sp>
        <p:sp>
          <p:nvSpPr>
            <p:cNvPr id="21" name="Text 9"/>
            <p:cNvSpPr/>
            <p:nvPr/>
          </p:nvSpPr>
          <p:spPr>
            <a:xfrm>
              <a:off x="2627870" y="7406680"/>
              <a:ext cx="1959825" cy="651480"/>
            </a:xfrm>
            <a:prstGeom prst="rect">
              <a:avLst/>
            </a:prstGeom>
            <a:noFill/>
            <a:ln/>
          </p:spPr>
          <p:txBody>
            <a:bodyPr wrap="square" lIns="0" tIns="0" rIns="0" bIns="0" rtlCol="0" anchor="t"/>
            <a:lstStyle/>
            <a:p>
              <a:pPr marL="0" indent="0" algn="l">
                <a:lnSpc>
                  <a:spcPts val="4184"/>
                </a:lnSpc>
                <a:buNone/>
              </a:pPr>
              <a:r>
                <a:rPr lang="en-US" sz="2789" kern="0" spc="-56" dirty="0">
                  <a:solidFill>
                    <a:srgbClr val="F4F4F4">
                      <a:alpha val="100000"/>
                    </a:srgbClr>
                  </a:solidFill>
                  <a:latin typeface="Inter Medium" pitchFamily="34" charset="0"/>
                  <a:ea typeface="Inter Medium" pitchFamily="34" charset="-122"/>
                  <a:cs typeface="Inter Medium" pitchFamily="34" charset="-120"/>
                </a:rPr>
                <a:t>Quick Wins</a:t>
              </a:r>
              <a:endParaRPr lang="en-US" sz="2789" dirty="0"/>
            </a:p>
          </p:txBody>
        </p:sp>
        <p:sp>
          <p:nvSpPr>
            <p:cNvPr id="22" name="Text 10"/>
            <p:cNvSpPr/>
            <p:nvPr/>
          </p:nvSpPr>
          <p:spPr>
            <a:xfrm>
              <a:off x="8367264" y="8516640"/>
              <a:ext cx="3928571" cy="651480"/>
            </a:xfrm>
            <a:prstGeom prst="rect">
              <a:avLst/>
            </a:prstGeom>
            <a:noFill/>
            <a:ln/>
          </p:spPr>
          <p:txBody>
            <a:bodyPr wrap="square" lIns="0" tIns="0" rIns="0" bIns="0" rtlCol="0" anchor="t"/>
            <a:lstStyle/>
            <a:p>
              <a:pPr marL="0" indent="0" algn="l">
                <a:lnSpc>
                  <a:spcPts val="4184"/>
                </a:lnSpc>
                <a:buNone/>
              </a:pPr>
              <a:r>
                <a:rPr lang="en-US" sz="2789" kern="0" spc="-56" dirty="0">
                  <a:solidFill>
                    <a:srgbClr val="F4F4F4">
                      <a:alpha val="100000"/>
                    </a:srgbClr>
                  </a:solidFill>
                  <a:latin typeface="Inter Medium" pitchFamily="34" charset="0"/>
                  <a:ea typeface="Inter Medium" pitchFamily="34" charset="-122"/>
                  <a:cs typeface="Inter Medium" pitchFamily="34" charset="-120"/>
                </a:rPr>
                <a:t>Core Journey Redesign</a:t>
              </a:r>
              <a:endParaRPr lang="en-US" sz="2789" dirty="0"/>
            </a:p>
          </p:txBody>
        </p:sp>
        <p:sp>
          <p:nvSpPr>
            <p:cNvPr id="23" name="Text 11"/>
            <p:cNvSpPr/>
            <p:nvPr/>
          </p:nvSpPr>
          <p:spPr>
            <a:xfrm>
              <a:off x="16976354" y="9626588"/>
              <a:ext cx="2188453" cy="651480"/>
            </a:xfrm>
            <a:prstGeom prst="rect">
              <a:avLst/>
            </a:prstGeom>
            <a:noFill/>
            <a:ln/>
          </p:spPr>
          <p:txBody>
            <a:bodyPr wrap="square" lIns="0" tIns="0" rIns="0" bIns="0" rtlCol="0" anchor="t"/>
            <a:lstStyle/>
            <a:p>
              <a:pPr marL="0" indent="0" algn="l">
                <a:lnSpc>
                  <a:spcPts val="4184"/>
                </a:lnSpc>
                <a:buNone/>
              </a:pPr>
              <a:r>
                <a:rPr lang="en-US" sz="2789" kern="0" spc="-56" dirty="0">
                  <a:solidFill>
                    <a:srgbClr val="F4F4F4">
                      <a:alpha val="100000"/>
                    </a:srgbClr>
                  </a:solidFill>
                  <a:latin typeface="Inter Medium" pitchFamily="34" charset="0"/>
                  <a:ea typeface="Inter Medium" pitchFamily="34" charset="-122"/>
                  <a:cs typeface="Inter Medium" pitchFamily="34" charset="-120"/>
                </a:rPr>
                <a:t>User Testing</a:t>
              </a:r>
              <a:endParaRPr lang="en-US" sz="2789" dirty="0"/>
            </a:p>
          </p:txBody>
        </p:sp>
        <p:sp>
          <p:nvSpPr>
            <p:cNvPr id="24" name="Text 12"/>
            <p:cNvSpPr/>
            <p:nvPr/>
          </p:nvSpPr>
          <p:spPr>
            <a:xfrm>
              <a:off x="19775193" y="10736535"/>
              <a:ext cx="2175752" cy="651480"/>
            </a:xfrm>
            <a:prstGeom prst="rect">
              <a:avLst/>
            </a:prstGeom>
            <a:noFill/>
            <a:ln/>
          </p:spPr>
          <p:txBody>
            <a:bodyPr wrap="square" lIns="0" tIns="0" rIns="0" bIns="0" rtlCol="0" anchor="t"/>
            <a:lstStyle/>
            <a:p>
              <a:pPr marL="0" indent="0" algn="l">
                <a:lnSpc>
                  <a:spcPts val="4184"/>
                </a:lnSpc>
                <a:buNone/>
              </a:pPr>
              <a:r>
                <a:rPr lang="en-US" sz="2789" kern="0" spc="-56" dirty="0">
                  <a:solidFill>
                    <a:srgbClr val="F4F4F4">
                      <a:alpha val="100000"/>
                    </a:srgbClr>
                  </a:solidFill>
                  <a:latin typeface="Inter Medium" pitchFamily="34" charset="0"/>
                  <a:ea typeface="Inter Medium" pitchFamily="34" charset="-122"/>
                  <a:cs typeface="Inter Medium" pitchFamily="34" charset="-120"/>
                </a:rPr>
                <a:t>Final Launch</a:t>
              </a:r>
              <a:endParaRPr lang="en-US" sz="2789" dirty="0"/>
            </a:p>
          </p:txBody>
        </p:sp>
        <p:sp>
          <p:nvSpPr>
            <p:cNvPr id="25" name="Text 13"/>
            <p:cNvSpPr/>
            <p:nvPr/>
          </p:nvSpPr>
          <p:spPr>
            <a:xfrm>
              <a:off x="5379470" y="6096000"/>
              <a:ext cx="1059796" cy="513564"/>
            </a:xfrm>
            <a:prstGeom prst="rect">
              <a:avLst/>
            </a:prstGeom>
            <a:noFill/>
            <a:ln/>
          </p:spPr>
          <p:txBody>
            <a:bodyPr wrap="square" lIns="0" tIns="0" rIns="0" bIns="0" rtlCol="0" anchor="t"/>
            <a:lstStyle/>
            <a:p>
              <a:pPr marL="0" indent="0" algn="l">
                <a:lnSpc>
                  <a:spcPts val="3347"/>
                </a:lnSpc>
                <a:buNone/>
              </a:pPr>
              <a:r>
                <a:rPr lang="en-US" sz="2231" kern="0" spc="-45" dirty="0">
                  <a:solidFill>
                    <a:srgbClr val="000000">
                      <a:alpha val="100000"/>
                    </a:srgbClr>
                  </a:solidFill>
                  <a:latin typeface="Inter Regular" pitchFamily="34" charset="0"/>
                  <a:ea typeface="Inter Regular" pitchFamily="34" charset="-122"/>
                  <a:cs typeface="Inter Regular" pitchFamily="34" charset="-120"/>
                </a:rPr>
                <a:t>Week 2</a:t>
              </a:r>
              <a:endParaRPr lang="en-US" sz="2231" dirty="0"/>
            </a:p>
          </p:txBody>
        </p:sp>
        <p:sp>
          <p:nvSpPr>
            <p:cNvPr id="26" name="Text 14"/>
            <p:cNvSpPr/>
            <p:nvPr/>
          </p:nvSpPr>
          <p:spPr>
            <a:xfrm>
              <a:off x="8249166" y="6096000"/>
              <a:ext cx="1072498" cy="513564"/>
            </a:xfrm>
            <a:prstGeom prst="rect">
              <a:avLst/>
            </a:prstGeom>
            <a:noFill/>
            <a:ln/>
          </p:spPr>
          <p:txBody>
            <a:bodyPr wrap="square" lIns="0" tIns="0" rIns="0" bIns="0" rtlCol="0" anchor="t"/>
            <a:lstStyle/>
            <a:p>
              <a:pPr marL="0" indent="0" algn="l">
                <a:lnSpc>
                  <a:spcPts val="3347"/>
                </a:lnSpc>
                <a:buNone/>
              </a:pPr>
              <a:r>
                <a:rPr lang="en-US" sz="2231" kern="0" spc="-45" dirty="0">
                  <a:solidFill>
                    <a:srgbClr val="000000">
                      <a:alpha val="100000"/>
                    </a:srgbClr>
                  </a:solidFill>
                  <a:latin typeface="Inter Regular" pitchFamily="34" charset="0"/>
                  <a:ea typeface="Inter Regular" pitchFamily="34" charset="-122"/>
                  <a:cs typeface="Inter Regular" pitchFamily="34" charset="-120"/>
                </a:rPr>
                <a:t>Week 3</a:t>
              </a:r>
              <a:endParaRPr lang="en-US" sz="2231" dirty="0"/>
            </a:p>
          </p:txBody>
        </p:sp>
        <p:sp>
          <p:nvSpPr>
            <p:cNvPr id="27" name="Text 15"/>
            <p:cNvSpPr/>
            <p:nvPr/>
          </p:nvSpPr>
          <p:spPr>
            <a:xfrm>
              <a:off x="11118863" y="6096000"/>
              <a:ext cx="1072498" cy="513564"/>
            </a:xfrm>
            <a:prstGeom prst="rect">
              <a:avLst/>
            </a:prstGeom>
            <a:noFill/>
            <a:ln/>
          </p:spPr>
          <p:txBody>
            <a:bodyPr wrap="square" lIns="0" tIns="0" rIns="0" bIns="0" rtlCol="0" anchor="t"/>
            <a:lstStyle/>
            <a:p>
              <a:pPr marL="0" indent="0" algn="l">
                <a:lnSpc>
                  <a:spcPts val="3347"/>
                </a:lnSpc>
                <a:buNone/>
              </a:pPr>
              <a:r>
                <a:rPr lang="en-US" sz="2231" kern="0" spc="-45" dirty="0">
                  <a:solidFill>
                    <a:srgbClr val="000000">
                      <a:alpha val="100000"/>
                    </a:srgbClr>
                  </a:solidFill>
                  <a:latin typeface="Inter Regular" pitchFamily="34" charset="0"/>
                  <a:ea typeface="Inter Regular" pitchFamily="34" charset="-122"/>
                  <a:cs typeface="Inter Regular" pitchFamily="34" charset="-120"/>
                </a:rPr>
                <a:t>Week 4</a:t>
              </a:r>
              <a:endParaRPr lang="en-US" sz="2231" dirty="0"/>
            </a:p>
          </p:txBody>
        </p:sp>
        <p:sp>
          <p:nvSpPr>
            <p:cNvPr id="28" name="Text 16"/>
            <p:cNvSpPr/>
            <p:nvPr/>
          </p:nvSpPr>
          <p:spPr>
            <a:xfrm>
              <a:off x="13988560" y="6096000"/>
              <a:ext cx="1059796" cy="513564"/>
            </a:xfrm>
            <a:prstGeom prst="rect">
              <a:avLst/>
            </a:prstGeom>
            <a:noFill/>
            <a:ln/>
          </p:spPr>
          <p:txBody>
            <a:bodyPr wrap="square" lIns="0" tIns="0" rIns="0" bIns="0" rtlCol="0" anchor="t"/>
            <a:lstStyle/>
            <a:p>
              <a:pPr marL="0" indent="0" algn="l">
                <a:lnSpc>
                  <a:spcPts val="3347"/>
                </a:lnSpc>
                <a:buNone/>
              </a:pPr>
              <a:r>
                <a:rPr lang="en-US" sz="2231" kern="0" spc="-45" dirty="0">
                  <a:solidFill>
                    <a:srgbClr val="000000">
                      <a:alpha val="100000"/>
                    </a:srgbClr>
                  </a:solidFill>
                  <a:latin typeface="Inter Regular" pitchFamily="34" charset="0"/>
                  <a:ea typeface="Inter Regular" pitchFamily="34" charset="-122"/>
                  <a:cs typeface="Inter Regular" pitchFamily="34" charset="-120"/>
                </a:rPr>
                <a:t>Week 5</a:t>
              </a:r>
              <a:endParaRPr lang="en-US" sz="2231" dirty="0"/>
            </a:p>
          </p:txBody>
        </p:sp>
        <p:sp>
          <p:nvSpPr>
            <p:cNvPr id="29" name="Text 17"/>
            <p:cNvSpPr/>
            <p:nvPr/>
          </p:nvSpPr>
          <p:spPr>
            <a:xfrm>
              <a:off x="16858256" y="6096000"/>
              <a:ext cx="1072498" cy="513564"/>
            </a:xfrm>
            <a:prstGeom prst="rect">
              <a:avLst/>
            </a:prstGeom>
            <a:noFill/>
            <a:ln/>
          </p:spPr>
          <p:txBody>
            <a:bodyPr wrap="square" lIns="0" tIns="0" rIns="0" bIns="0" rtlCol="0" anchor="t"/>
            <a:lstStyle/>
            <a:p>
              <a:pPr marL="0" indent="0" algn="l">
                <a:lnSpc>
                  <a:spcPts val="3347"/>
                </a:lnSpc>
                <a:buNone/>
              </a:pPr>
              <a:r>
                <a:rPr lang="en-US" sz="2231" kern="0" spc="-45" dirty="0">
                  <a:solidFill>
                    <a:srgbClr val="000000">
                      <a:alpha val="100000"/>
                    </a:srgbClr>
                  </a:solidFill>
                  <a:latin typeface="Inter Regular" pitchFamily="34" charset="0"/>
                  <a:ea typeface="Inter Regular" pitchFamily="34" charset="-122"/>
                  <a:cs typeface="Inter Regular" pitchFamily="34" charset="-120"/>
                </a:rPr>
                <a:t>Week 6</a:t>
              </a:r>
              <a:endParaRPr lang="en-US" sz="2231" dirty="0"/>
            </a:p>
          </p:txBody>
        </p:sp>
        <p:sp>
          <p:nvSpPr>
            <p:cNvPr id="30" name="Text 18"/>
            <p:cNvSpPr/>
            <p:nvPr/>
          </p:nvSpPr>
          <p:spPr>
            <a:xfrm>
              <a:off x="19727953" y="6096000"/>
              <a:ext cx="1047095" cy="513564"/>
            </a:xfrm>
            <a:prstGeom prst="rect">
              <a:avLst/>
            </a:prstGeom>
            <a:noFill/>
            <a:ln/>
          </p:spPr>
          <p:txBody>
            <a:bodyPr wrap="square" lIns="0" tIns="0" rIns="0" bIns="0" rtlCol="0" anchor="t"/>
            <a:lstStyle/>
            <a:p>
              <a:pPr marL="0" indent="0" algn="l">
                <a:lnSpc>
                  <a:spcPts val="3347"/>
                </a:lnSpc>
                <a:buNone/>
              </a:pPr>
              <a:r>
                <a:rPr lang="en-US" sz="2231" kern="0" spc="-45" dirty="0">
                  <a:solidFill>
                    <a:srgbClr val="000000">
                      <a:alpha val="100000"/>
                    </a:srgbClr>
                  </a:solidFill>
                  <a:latin typeface="Inter Regular" pitchFamily="34" charset="0"/>
                  <a:ea typeface="Inter Regular" pitchFamily="34" charset="-122"/>
                  <a:cs typeface="Inter Regular" pitchFamily="34" charset="-120"/>
                </a:rPr>
                <a:t>Week 7</a:t>
              </a:r>
              <a:endParaRPr lang="en-US" sz="2231" dirty="0"/>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90A0B"/>
        </a:solidFill>
        <a:effectLst/>
      </p:bgPr>
    </p:bg>
    <p:spTree>
      <p:nvGrpSpPr>
        <p:cNvPr id="1" name=""/>
        <p:cNvGrpSpPr/>
        <p:nvPr/>
      </p:nvGrpSpPr>
      <p:grpSpPr>
        <a:xfrm>
          <a:off x="0" y="0"/>
          <a:ext cx="0" cy="0"/>
          <a:chOff x="0" y="0"/>
          <a:chExt cx="0" cy="0"/>
        </a:xfrm>
      </p:grpSpPr>
      <p:sp>
        <p:nvSpPr>
          <p:cNvPr id="2" name="Text 0"/>
          <p:cNvSpPr/>
          <p:nvPr/>
        </p:nvSpPr>
        <p:spPr>
          <a:xfrm>
            <a:off x="1524191" y="2870200"/>
            <a:ext cx="9903004" cy="1354667"/>
          </a:xfrm>
          <a:prstGeom prst="rect">
            <a:avLst/>
          </a:prstGeom>
          <a:noFill/>
          <a:ln/>
        </p:spPr>
        <p:txBody>
          <a:bodyPr wrap="square" lIns="0" tIns="0" rIns="0" bIns="0" rtlCol="0" anchor="t"/>
          <a:lstStyle/>
          <a:p>
            <a:pPr marL="0" indent="0" algn="l">
              <a:lnSpc>
                <a:spcPts val="8000"/>
              </a:lnSpc>
              <a:buNone/>
            </a:pPr>
            <a:r>
              <a:rPr lang="en-US" sz="8000" kern="0" spc="-320" dirty="0">
                <a:solidFill>
                  <a:srgbClr val="FFFFFF">
                    <a:alpha val="100000"/>
                  </a:srgbClr>
                </a:solidFill>
                <a:latin typeface="Inter Medium" pitchFamily="34" charset="0"/>
                <a:ea typeface="Inter Medium" pitchFamily="34" charset="-122"/>
                <a:cs typeface="Inter Medium" pitchFamily="34" charset="-120"/>
              </a:rPr>
              <a:t>Estimated UX Impact</a:t>
            </a:r>
            <a:endParaRPr lang="en-US" sz="8000" dirty="0"/>
          </a:p>
        </p:txBody>
      </p:sp>
      <p:sp>
        <p:nvSpPr>
          <p:cNvPr id="3" name="Text 1"/>
          <p:cNvSpPr/>
          <p:nvPr/>
        </p:nvSpPr>
        <p:spPr>
          <a:xfrm>
            <a:off x="1524191" y="1485900"/>
            <a:ext cx="1841730" cy="469900"/>
          </a:xfrm>
          <a:prstGeom prst="rect">
            <a:avLst/>
          </a:prstGeom>
          <a:noFill/>
          <a:ln/>
        </p:spPr>
        <p:txBody>
          <a:bodyPr wrap="square" lIns="0" tIns="0" rIns="0" bIns="0" rtlCol="0" anchor="t"/>
          <a:lstStyle/>
          <a:p>
            <a:pPr marL="0" indent="0" algn="l">
              <a:buNone/>
            </a:pPr>
            <a:r>
              <a:rPr lang="en-US" sz="2400" dirty="0">
                <a:solidFill>
                  <a:srgbClr val="FFFFFF">
                    <a:alpha val="100000"/>
                  </a:srgbClr>
                </a:solidFill>
                <a:latin typeface="Inter Regular" pitchFamily="34" charset="0"/>
                <a:ea typeface="Inter Regular" pitchFamily="34" charset="-122"/>
                <a:cs typeface="Inter Regular" pitchFamily="34" charset="-120"/>
              </a:rPr>
              <a:t>Fix the Flow</a:t>
            </a:r>
            <a:endParaRPr lang="en-US" sz="2400" dirty="0"/>
          </a:p>
        </p:txBody>
      </p:sp>
      <p:sp>
        <p:nvSpPr>
          <p:cNvPr id="4" name="Text 2"/>
          <p:cNvSpPr/>
          <p:nvPr/>
        </p:nvSpPr>
        <p:spPr>
          <a:xfrm>
            <a:off x="1524191" y="4495800"/>
            <a:ext cx="10643930" cy="1930400"/>
          </a:xfrm>
          <a:prstGeom prst="rect">
            <a:avLst/>
          </a:prstGeom>
          <a:noFill/>
          <a:ln/>
        </p:spPr>
        <p:txBody>
          <a:bodyPr wrap="square" lIns="0" tIns="0" rIns="0" bIns="0" rtlCol="0" anchor="t"/>
          <a:lstStyle/>
          <a:p>
            <a:pPr marL="0" indent="0" algn="l">
              <a:lnSpc>
                <a:spcPts val="3600"/>
              </a:lnSpc>
              <a:buNone/>
            </a:pPr>
            <a:r>
              <a:rPr lang="en-US" sz="2400" kern="0" spc="-48" dirty="0">
                <a:solidFill>
                  <a:srgbClr val="FFFFFF">
                    <a:alpha val="100000"/>
                  </a:srgbClr>
                </a:solidFill>
                <a:latin typeface="Inter Regular" pitchFamily="34" charset="0"/>
                <a:ea typeface="Inter Regular" pitchFamily="34" charset="-122"/>
                <a:cs typeface="Inter Regular" pitchFamily="34" charset="-120"/>
              </a:rPr>
              <a:t>This slide shows how implementing the proposed UX improvements is expected to impact key product performance metrics. It’s based on audit insights, industry benchmarks (like Baymard Institute, NN Group), and results from similar UX improvements at comparable companies.</a:t>
            </a:r>
            <a:endParaRPr lang="en-US" sz="2400" dirty="0"/>
          </a:p>
        </p:txBody>
      </p:sp>
      <p:sp>
        <p:nvSpPr>
          <p:cNvPr id="5" name="Shape 3"/>
          <p:cNvSpPr/>
          <p:nvPr/>
        </p:nvSpPr>
        <p:spPr>
          <a:xfrm>
            <a:off x="21364070" y="4165600"/>
            <a:ext cx="1270159" cy="1270000"/>
          </a:xfrm>
          <a:prstGeom prst="ellipse">
            <a:avLst/>
          </a:prstGeom>
          <a:noFill/>
          <a:ln w="38100">
            <a:solidFill>
              <a:srgbClr val="F2F2F2"/>
            </a:solidFill>
            <a:prstDash val="solid"/>
          </a:ln>
        </p:spPr>
        <p:txBody>
          <a:bodyPr/>
          <a:lstStyle/>
          <a:p>
            <a:endParaRPr lang="en-ID"/>
          </a:p>
        </p:txBody>
      </p:sp>
      <p:pic>
        <p:nvPicPr>
          <p:cNvPr id="6" name="Image 0"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1810127" y="4593971"/>
            <a:ext cx="401564" cy="401513"/>
          </a:xfrm>
          <a:prstGeom prst="rect">
            <a:avLst/>
          </a:prstGeom>
        </p:spPr>
      </p:pic>
      <p:pic>
        <p:nvPicPr>
          <p:cNvPr id="7" name="Image 1"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1863625" y="4576843"/>
            <a:ext cx="365431" cy="357318"/>
          </a:xfrm>
          <a:prstGeom prst="rect">
            <a:avLst/>
          </a:prstGeom>
        </p:spPr>
      </p:pic>
      <p:sp>
        <p:nvSpPr>
          <p:cNvPr id="8" name="Text 4"/>
          <p:cNvSpPr/>
          <p:nvPr/>
        </p:nvSpPr>
        <p:spPr>
          <a:xfrm>
            <a:off x="15597549" y="4140200"/>
            <a:ext cx="3835879" cy="1930400"/>
          </a:xfrm>
          <a:prstGeom prst="rect">
            <a:avLst/>
          </a:prstGeom>
          <a:noFill/>
          <a:ln/>
        </p:spPr>
        <p:txBody>
          <a:bodyPr wrap="square" lIns="0" tIns="0" rIns="0" bIns="0" rtlCol="0" anchor="t"/>
          <a:lstStyle/>
          <a:p>
            <a:pPr marL="0" indent="0" algn="l">
              <a:lnSpc>
                <a:spcPts val="3600"/>
              </a:lnSpc>
              <a:buNone/>
            </a:pPr>
            <a:r>
              <a:rPr lang="en-US" sz="2400" kern="0" spc="-48" dirty="0">
                <a:solidFill>
                  <a:srgbClr val="FFFFFF">
                    <a:alpha val="100000"/>
                  </a:srgbClr>
                </a:solidFill>
                <a:latin typeface="Inter Regular" pitchFamily="34" charset="0"/>
                <a:ea typeface="Inter Regular" pitchFamily="34" charset="-122"/>
                <a:cs typeface="Inter Regular" pitchFamily="34" charset="-120"/>
              </a:rPr>
              <a:t>Projected performance improvement based on benchmarks and prior results.</a:t>
            </a:r>
            <a:endParaRPr lang="en-US" sz="2400" dirty="0"/>
          </a:p>
        </p:txBody>
      </p:sp>
      <p:graphicFrame>
        <p:nvGraphicFramePr>
          <p:cNvPr id="33" name="Chart 32">
            <a:extLst>
              <a:ext uri="{FF2B5EF4-FFF2-40B4-BE49-F238E27FC236}">
                <a16:creationId xmlns:a16="http://schemas.microsoft.com/office/drawing/2014/main" id="{00AB512F-D4DA-5765-A754-3BE2C345E867}"/>
              </a:ext>
            </a:extLst>
          </p:cNvPr>
          <p:cNvGraphicFramePr/>
          <p:nvPr>
            <p:extLst>
              <p:ext uri="{D42A27DB-BD31-4B8C-83A1-F6EECF244321}">
                <p14:modId xmlns:p14="http://schemas.microsoft.com/office/powerpoint/2010/main" val="3863328117"/>
              </p:ext>
            </p:extLst>
          </p:nvPr>
        </p:nvGraphicFramePr>
        <p:xfrm>
          <a:off x="13680181" y="7926436"/>
          <a:ext cx="10500515" cy="7000343"/>
        </p:xfrm>
        <a:graphic>
          <a:graphicData uri="http://schemas.openxmlformats.org/drawingml/2006/chart">
            <c:chart xmlns:c="http://schemas.openxmlformats.org/drawingml/2006/chart" xmlns:r="http://schemas.openxmlformats.org/officeDocument/2006/relationships" r:id="rId7"/>
          </a:graphicData>
        </a:graphic>
      </p:graphicFrame>
      <p:sp>
        <p:nvSpPr>
          <p:cNvPr id="31" name="Text 18"/>
          <p:cNvSpPr/>
          <p:nvPr/>
        </p:nvSpPr>
        <p:spPr>
          <a:xfrm>
            <a:off x="17451981" y="10160000"/>
            <a:ext cx="3450598" cy="2002367"/>
          </a:xfrm>
          <a:prstGeom prst="rect">
            <a:avLst/>
          </a:prstGeom>
          <a:noFill/>
          <a:ln/>
        </p:spPr>
        <p:txBody>
          <a:bodyPr wrap="square" lIns="0" tIns="0" rIns="0" bIns="0" rtlCol="0" anchor="t"/>
          <a:lstStyle/>
          <a:p>
            <a:pPr marL="0" indent="0" algn="l">
              <a:lnSpc>
                <a:spcPts val="12100"/>
              </a:lnSpc>
              <a:buNone/>
            </a:pPr>
            <a:r>
              <a:rPr lang="en-US" sz="11000" kern="0" spc="-440" dirty="0">
                <a:solidFill>
                  <a:srgbClr val="FFFFFF">
                    <a:alpha val="100000"/>
                  </a:srgbClr>
                </a:solidFill>
                <a:latin typeface="Montserrat SemiBold" pitchFamily="34" charset="0"/>
                <a:ea typeface="Montserrat SemiBold" pitchFamily="34" charset="-122"/>
                <a:cs typeface="Montserrat SemiBold" pitchFamily="34" charset="-120"/>
              </a:rPr>
              <a:t>40%</a:t>
            </a:r>
            <a:endParaRPr lang="en-US" sz="11000" dirty="0"/>
          </a:p>
        </p:txBody>
      </p:sp>
      <p:sp>
        <p:nvSpPr>
          <p:cNvPr id="32" name="Text 19"/>
          <p:cNvSpPr/>
          <p:nvPr/>
        </p:nvSpPr>
        <p:spPr>
          <a:xfrm>
            <a:off x="17401175" y="11823700"/>
            <a:ext cx="3086486" cy="558800"/>
          </a:xfrm>
          <a:prstGeom prst="rect">
            <a:avLst/>
          </a:prstGeom>
          <a:noFill/>
          <a:ln/>
        </p:spPr>
        <p:txBody>
          <a:bodyPr wrap="square" lIns="0" tIns="0" rIns="0" bIns="0" rtlCol="0" anchor="t"/>
          <a:lstStyle/>
          <a:p>
            <a:pPr marL="0" indent="0" algn="ctr">
              <a:lnSpc>
                <a:spcPts val="3600"/>
              </a:lnSpc>
              <a:buNone/>
            </a:pPr>
            <a:r>
              <a:rPr lang="en-US" sz="2400" kern="0" spc="-48" dirty="0">
                <a:solidFill>
                  <a:srgbClr val="FFFFFF">
                    <a:alpha val="100000"/>
                  </a:srgbClr>
                </a:solidFill>
                <a:latin typeface="Inter Regular" pitchFamily="34" charset="0"/>
                <a:ea typeface="Inter Regular" pitchFamily="34" charset="-122"/>
                <a:cs typeface="Inter Regular" pitchFamily="34" charset="-120"/>
              </a:rPr>
              <a:t>Projection Rate</a:t>
            </a:r>
            <a:endParaRPr lang="en-US" sz="2400" dirty="0"/>
          </a:p>
        </p:txBody>
      </p:sp>
      <p:graphicFrame>
        <p:nvGraphicFramePr>
          <p:cNvPr id="37" name="Chart 36">
            <a:extLst>
              <a:ext uri="{FF2B5EF4-FFF2-40B4-BE49-F238E27FC236}">
                <a16:creationId xmlns:a16="http://schemas.microsoft.com/office/drawing/2014/main" id="{BE04F71B-81CA-E105-09FA-25FA99149898}"/>
              </a:ext>
            </a:extLst>
          </p:cNvPr>
          <p:cNvGraphicFramePr/>
          <p:nvPr>
            <p:extLst>
              <p:ext uri="{D42A27DB-BD31-4B8C-83A1-F6EECF244321}">
                <p14:modId xmlns:p14="http://schemas.microsoft.com/office/powerpoint/2010/main" val="390131438"/>
              </p:ext>
            </p:extLst>
          </p:nvPr>
        </p:nvGraphicFramePr>
        <p:xfrm>
          <a:off x="1524191" y="7264401"/>
          <a:ext cx="11626759" cy="4897966"/>
        </p:xfrm>
        <a:graphic>
          <a:graphicData uri="http://schemas.openxmlformats.org/drawingml/2006/chart">
            <c:chart xmlns:c="http://schemas.openxmlformats.org/drawingml/2006/chart" xmlns:r="http://schemas.openxmlformats.org/officeDocument/2006/relationships" r:id="rId8"/>
          </a:graphicData>
        </a:graphic>
      </p:graphicFrame>
      <p:sp>
        <p:nvSpPr>
          <p:cNvPr id="38" name="Text 10">
            <a:extLst>
              <a:ext uri="{FF2B5EF4-FFF2-40B4-BE49-F238E27FC236}">
                <a16:creationId xmlns:a16="http://schemas.microsoft.com/office/drawing/2014/main" id="{443D381F-811F-8D72-F07F-B44D56675618}"/>
              </a:ext>
            </a:extLst>
          </p:cNvPr>
          <p:cNvSpPr/>
          <p:nvPr/>
        </p:nvSpPr>
        <p:spPr>
          <a:xfrm>
            <a:off x="3908311" y="12167009"/>
            <a:ext cx="2387898" cy="558800"/>
          </a:xfrm>
          <a:prstGeom prst="rect">
            <a:avLst/>
          </a:prstGeom>
          <a:noFill/>
          <a:ln/>
        </p:spPr>
        <p:txBody>
          <a:bodyPr wrap="square" lIns="0" tIns="0" rIns="0" bIns="0" rtlCol="0" anchor="t"/>
          <a:lstStyle/>
          <a:p>
            <a:pPr marL="0" indent="0" algn="l">
              <a:lnSpc>
                <a:spcPts val="3600"/>
              </a:lnSpc>
              <a:buNone/>
            </a:pPr>
            <a:r>
              <a:rPr lang="en-US" sz="2100" kern="0" spc="-48" dirty="0">
                <a:solidFill>
                  <a:srgbClr val="FFFFFF">
                    <a:alpha val="100000"/>
                  </a:srgbClr>
                </a:solidFill>
                <a:latin typeface="Inter Regular" pitchFamily="34" charset="0"/>
                <a:ea typeface="Inter Regular" pitchFamily="34" charset="-122"/>
                <a:cs typeface="Inter Regular" pitchFamily="34" charset="-120"/>
              </a:rPr>
              <a:t>Conversion Rate</a:t>
            </a:r>
            <a:endParaRPr lang="en-US" sz="2100" dirty="0"/>
          </a:p>
        </p:txBody>
      </p:sp>
      <p:sp>
        <p:nvSpPr>
          <p:cNvPr id="39" name="Text 11">
            <a:extLst>
              <a:ext uri="{FF2B5EF4-FFF2-40B4-BE49-F238E27FC236}">
                <a16:creationId xmlns:a16="http://schemas.microsoft.com/office/drawing/2014/main" id="{170E7604-A445-C0A6-1028-31AE1101D1E1}"/>
              </a:ext>
            </a:extLst>
          </p:cNvPr>
          <p:cNvSpPr/>
          <p:nvPr/>
        </p:nvSpPr>
        <p:spPr>
          <a:xfrm>
            <a:off x="5968782" y="12167009"/>
            <a:ext cx="1867133" cy="558800"/>
          </a:xfrm>
          <a:prstGeom prst="rect">
            <a:avLst/>
          </a:prstGeom>
          <a:noFill/>
          <a:ln/>
        </p:spPr>
        <p:txBody>
          <a:bodyPr wrap="square" lIns="0" tIns="0" rIns="0" bIns="0" rtlCol="0" anchor="t"/>
          <a:lstStyle/>
          <a:p>
            <a:pPr marL="0" indent="0" algn="l">
              <a:lnSpc>
                <a:spcPts val="3600"/>
              </a:lnSpc>
              <a:buNone/>
            </a:pPr>
            <a:r>
              <a:rPr lang="en-US" sz="2100" kern="0" spc="-48" dirty="0">
                <a:solidFill>
                  <a:srgbClr val="FFFFFF">
                    <a:alpha val="100000"/>
                  </a:srgbClr>
                </a:solidFill>
                <a:latin typeface="Inter Regular" pitchFamily="34" charset="0"/>
                <a:ea typeface="Inter Regular" pitchFamily="34" charset="-122"/>
                <a:cs typeface="Inter Regular" pitchFamily="34" charset="-120"/>
              </a:rPr>
              <a:t>Bounce Rate</a:t>
            </a:r>
            <a:endParaRPr lang="en-US" sz="2100" dirty="0"/>
          </a:p>
        </p:txBody>
      </p:sp>
      <p:sp>
        <p:nvSpPr>
          <p:cNvPr id="40" name="Text 12">
            <a:extLst>
              <a:ext uri="{FF2B5EF4-FFF2-40B4-BE49-F238E27FC236}">
                <a16:creationId xmlns:a16="http://schemas.microsoft.com/office/drawing/2014/main" id="{0ADF1AE5-E934-BD9F-3669-D40D446E3FF3}"/>
              </a:ext>
            </a:extLst>
          </p:cNvPr>
          <p:cNvSpPr/>
          <p:nvPr/>
        </p:nvSpPr>
        <p:spPr>
          <a:xfrm>
            <a:off x="7620953" y="12167009"/>
            <a:ext cx="1956044" cy="558800"/>
          </a:xfrm>
          <a:prstGeom prst="rect">
            <a:avLst/>
          </a:prstGeom>
          <a:noFill/>
          <a:ln/>
        </p:spPr>
        <p:txBody>
          <a:bodyPr wrap="square" lIns="0" tIns="0" rIns="0" bIns="0" rtlCol="0" anchor="t"/>
          <a:lstStyle/>
          <a:p>
            <a:pPr marL="0" indent="0" algn="l">
              <a:lnSpc>
                <a:spcPts val="3600"/>
              </a:lnSpc>
              <a:buNone/>
            </a:pPr>
            <a:r>
              <a:rPr lang="en-US" sz="2100" kern="0" spc="-48" dirty="0">
                <a:solidFill>
                  <a:srgbClr val="FFFFFF">
                    <a:alpha val="100000"/>
                  </a:srgbClr>
                </a:solidFill>
                <a:latin typeface="Inter Regular" pitchFamily="34" charset="0"/>
                <a:ea typeface="Inter Regular" pitchFamily="34" charset="-122"/>
                <a:cs typeface="Inter Regular" pitchFamily="34" charset="-120"/>
              </a:rPr>
              <a:t>Time on Task</a:t>
            </a:r>
            <a:endParaRPr lang="en-US" sz="2100" dirty="0"/>
          </a:p>
        </p:txBody>
      </p:sp>
      <p:sp>
        <p:nvSpPr>
          <p:cNvPr id="41" name="Text 13">
            <a:extLst>
              <a:ext uri="{FF2B5EF4-FFF2-40B4-BE49-F238E27FC236}">
                <a16:creationId xmlns:a16="http://schemas.microsoft.com/office/drawing/2014/main" id="{D9174685-24B9-F7B2-62D3-A4F1CCC7D801}"/>
              </a:ext>
            </a:extLst>
          </p:cNvPr>
          <p:cNvSpPr/>
          <p:nvPr/>
        </p:nvSpPr>
        <p:spPr>
          <a:xfrm>
            <a:off x="9431853" y="12167009"/>
            <a:ext cx="2339233" cy="558800"/>
          </a:xfrm>
          <a:prstGeom prst="rect">
            <a:avLst/>
          </a:prstGeom>
          <a:noFill/>
          <a:ln/>
        </p:spPr>
        <p:txBody>
          <a:bodyPr wrap="square" lIns="0" tIns="0" rIns="0" bIns="0" rtlCol="0" anchor="t"/>
          <a:lstStyle/>
          <a:p>
            <a:pPr marL="0" indent="0" algn="l">
              <a:lnSpc>
                <a:spcPts val="3600"/>
              </a:lnSpc>
              <a:buNone/>
            </a:pPr>
            <a:r>
              <a:rPr lang="en-US" sz="2100" kern="0" spc="-48" dirty="0">
                <a:solidFill>
                  <a:srgbClr val="FFFFFF">
                    <a:alpha val="100000"/>
                  </a:srgbClr>
                </a:solidFill>
                <a:latin typeface="Inter Regular" pitchFamily="34" charset="0"/>
                <a:ea typeface="Inter Regular" pitchFamily="34" charset="-122"/>
                <a:cs typeface="Inter Regular" pitchFamily="34" charset="-120"/>
              </a:rPr>
              <a:t>Checkout Drop-off</a:t>
            </a:r>
            <a:endParaRPr lang="en-US" sz="2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9996EE67-C532-9CEF-4C3F-8249B7ED6854}"/>
              </a:ext>
            </a:extLst>
          </p:cNvPr>
          <p:cNvSpPr/>
          <p:nvPr/>
        </p:nvSpPr>
        <p:spPr>
          <a:xfrm>
            <a:off x="0" y="0"/>
            <a:ext cx="24387175" cy="13716000"/>
          </a:xfrm>
          <a:prstGeom prst="rect">
            <a:avLst/>
          </a:prstGeom>
          <a:gradFill flip="none" rotWithShape="1">
            <a:gsLst>
              <a:gs pos="0">
                <a:srgbClr val="EFEFEF"/>
              </a:gs>
              <a:gs pos="76000">
                <a:srgbClr val="FFFFFF"/>
              </a:gs>
            </a:gsLst>
            <a:lin ang="16200000" scaled="0"/>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sz="100"/>
          </a:p>
        </p:txBody>
      </p:sp>
      <p:sp>
        <p:nvSpPr>
          <p:cNvPr id="3" name="Text 0"/>
          <p:cNvSpPr/>
          <p:nvPr/>
        </p:nvSpPr>
        <p:spPr>
          <a:xfrm>
            <a:off x="1524191" y="2717800"/>
            <a:ext cx="8188290" cy="1557867"/>
          </a:xfrm>
          <a:prstGeom prst="rect">
            <a:avLst/>
          </a:prstGeom>
          <a:noFill/>
          <a:ln/>
        </p:spPr>
        <p:txBody>
          <a:bodyPr wrap="square" lIns="0" tIns="0" rIns="0" bIns="0" rtlCol="0" anchor="t"/>
          <a:lstStyle/>
          <a:p>
            <a:pPr marL="0" indent="0" algn="l">
              <a:lnSpc>
                <a:spcPts val="9600"/>
              </a:lnSpc>
              <a:buNone/>
            </a:pPr>
            <a:r>
              <a:rPr lang="en-US" sz="8000" kern="0" spc="-480" dirty="0">
                <a:solidFill>
                  <a:srgbClr val="050C29">
                    <a:alpha val="100000"/>
                  </a:srgbClr>
                </a:solidFill>
                <a:latin typeface="Inter Medium" pitchFamily="34" charset="0"/>
                <a:ea typeface="Inter Medium" pitchFamily="34" charset="-122"/>
                <a:cs typeface="Inter Medium" pitchFamily="34" charset="-120"/>
              </a:rPr>
              <a:t>UX ROI Estimation</a:t>
            </a:r>
            <a:endParaRPr lang="en-US" sz="8000" dirty="0"/>
          </a:p>
        </p:txBody>
      </p:sp>
      <p:sp>
        <p:nvSpPr>
          <p:cNvPr id="4" name="Text 1"/>
          <p:cNvSpPr/>
          <p:nvPr/>
        </p:nvSpPr>
        <p:spPr>
          <a:xfrm>
            <a:off x="1524191" y="1524000"/>
            <a:ext cx="1778222" cy="558800"/>
          </a:xfrm>
          <a:prstGeom prst="rect">
            <a:avLst/>
          </a:prstGeom>
          <a:noFill/>
          <a:ln/>
        </p:spPr>
        <p:txBody>
          <a:bodyPr wrap="square" lIns="0" tIns="0" rIns="0" bIns="0" rtlCol="0" anchor="t"/>
          <a:lstStyle/>
          <a:p>
            <a:pPr marL="0" indent="0" algn="l">
              <a:lnSpc>
                <a:spcPts val="3600"/>
              </a:lnSpc>
              <a:buNone/>
            </a:pPr>
            <a:r>
              <a:rPr lang="en-US" sz="2400" kern="0" spc="-48" dirty="0">
                <a:solidFill>
                  <a:srgbClr val="000000">
                    <a:alpha val="100000"/>
                  </a:srgbClr>
                </a:solidFill>
                <a:latin typeface="Inter Regular" pitchFamily="34" charset="0"/>
                <a:ea typeface="Inter Regular" pitchFamily="34" charset="-122"/>
                <a:cs typeface="Inter Regular" pitchFamily="34" charset="-120"/>
              </a:rPr>
              <a:t>Fix the Flow</a:t>
            </a:r>
            <a:endParaRPr lang="en-US" sz="2400" dirty="0"/>
          </a:p>
        </p:txBody>
      </p:sp>
      <p:sp>
        <p:nvSpPr>
          <p:cNvPr id="5" name="Text 2"/>
          <p:cNvSpPr/>
          <p:nvPr/>
        </p:nvSpPr>
        <p:spPr>
          <a:xfrm>
            <a:off x="1524191" y="4495800"/>
            <a:ext cx="7938492" cy="2844800"/>
          </a:xfrm>
          <a:prstGeom prst="rect">
            <a:avLst/>
          </a:prstGeom>
          <a:noFill/>
          <a:ln/>
        </p:spPr>
        <p:txBody>
          <a:bodyPr wrap="square" lIns="0" tIns="0" rIns="0" bIns="0" rtlCol="0" anchor="t"/>
          <a:lstStyle/>
          <a:p>
            <a:pPr marL="0" indent="0" algn="l">
              <a:lnSpc>
                <a:spcPts val="3600"/>
              </a:lnSpc>
              <a:buNone/>
            </a:pPr>
            <a:r>
              <a:rPr lang="en-US" sz="2400" kern="0" spc="-48" dirty="0">
                <a:solidFill>
                  <a:srgbClr val="000000">
                    <a:alpha val="100000"/>
                  </a:srgbClr>
                </a:solidFill>
                <a:latin typeface="Inter Medium" pitchFamily="34" charset="0"/>
                <a:ea typeface="Inter Medium" pitchFamily="34" charset="-122"/>
                <a:cs typeface="Inter Medium" pitchFamily="34" charset="-120"/>
              </a:rPr>
              <a:t>We base our ROI estimates on:</a:t>
            </a:r>
            <a:endParaRPr lang="en-US" sz="2400" dirty="0"/>
          </a:p>
          <a:p>
            <a:pPr marL="685800" lvl="1" indent="-342900" algn="l">
              <a:lnSpc>
                <a:spcPts val="3600"/>
              </a:lnSpc>
              <a:buSzPct val="100000"/>
              <a:buChar char="•"/>
            </a:pPr>
            <a:r>
              <a:rPr lang="en-US" sz="2400" kern="0" spc="-48" dirty="0">
                <a:solidFill>
                  <a:srgbClr val="000000">
                    <a:alpha val="100000"/>
                  </a:srgbClr>
                </a:solidFill>
                <a:latin typeface="Inter Medium" pitchFamily="34" charset="0"/>
                <a:ea typeface="Inter Medium" pitchFamily="34" charset="-122"/>
                <a:cs typeface="Inter Medium" pitchFamily="34" charset="-120"/>
              </a:rPr>
              <a:t>Benchmarks from McKinsey, Forrester, and Baymard research</a:t>
            </a:r>
            <a:endParaRPr lang="en-US" sz="2400" dirty="0"/>
          </a:p>
          <a:p>
            <a:pPr marL="685800" lvl="1" indent="-342900" algn="l">
              <a:lnSpc>
                <a:spcPts val="3600"/>
              </a:lnSpc>
              <a:buSzPct val="100000"/>
              <a:buChar char="•"/>
            </a:pPr>
            <a:r>
              <a:rPr lang="en-US" sz="2400" kern="0" spc="-48" dirty="0">
                <a:solidFill>
                  <a:srgbClr val="000000">
                    <a:alpha val="100000"/>
                  </a:srgbClr>
                </a:solidFill>
                <a:latin typeface="Inter Medium" pitchFamily="34" charset="0"/>
                <a:ea typeface="Inter Medium" pitchFamily="34" charset="-122"/>
                <a:cs typeface="Inter Medium" pitchFamily="34" charset="-120"/>
              </a:rPr>
              <a:t>Past case studies with similar UX issues</a:t>
            </a:r>
            <a:endParaRPr lang="en-US" sz="2400" dirty="0"/>
          </a:p>
          <a:p>
            <a:pPr marL="685800" lvl="1" indent="-342900" algn="l">
              <a:lnSpc>
                <a:spcPts val="3600"/>
              </a:lnSpc>
              <a:buSzPct val="100000"/>
              <a:buChar char="•"/>
            </a:pPr>
            <a:r>
              <a:rPr lang="en-US" sz="2400" kern="0" spc="-48" dirty="0">
                <a:solidFill>
                  <a:srgbClr val="000000">
                    <a:alpha val="100000"/>
                  </a:srgbClr>
                </a:solidFill>
                <a:latin typeface="Inter Medium" pitchFamily="34" charset="0"/>
                <a:ea typeface="Inter Medium" pitchFamily="34" charset="-122"/>
                <a:cs typeface="Inter Medium" pitchFamily="34" charset="-120"/>
              </a:rPr>
              <a:t>Modeled projections using conversion uplift and retention gains</a:t>
            </a:r>
            <a:endParaRPr lang="en-US" sz="2400" dirty="0"/>
          </a:p>
        </p:txBody>
      </p:sp>
      <p:sp>
        <p:nvSpPr>
          <p:cNvPr id="6" name="Text 3"/>
          <p:cNvSpPr/>
          <p:nvPr/>
        </p:nvSpPr>
        <p:spPr>
          <a:xfrm>
            <a:off x="15025978" y="11938000"/>
            <a:ext cx="7921557" cy="846667"/>
          </a:xfrm>
          <a:prstGeom prst="rect">
            <a:avLst/>
          </a:prstGeom>
          <a:noFill/>
          <a:ln/>
        </p:spPr>
        <p:txBody>
          <a:bodyPr wrap="square" lIns="0" tIns="0" rIns="0" bIns="0" rtlCol="0" anchor="t"/>
          <a:lstStyle/>
          <a:p>
            <a:pPr marL="0" indent="0" algn="l">
              <a:lnSpc>
                <a:spcPts val="3000"/>
              </a:lnSpc>
              <a:buNone/>
            </a:pPr>
            <a:r>
              <a:rPr lang="en-US" sz="2000" kern="0" spc="-40" dirty="0">
                <a:solidFill>
                  <a:srgbClr val="000000">
                    <a:alpha val="100000"/>
                  </a:srgbClr>
                </a:solidFill>
                <a:latin typeface="Inter Regular" pitchFamily="34" charset="0"/>
                <a:ea typeface="Inter Regular" pitchFamily="34" charset="-122"/>
                <a:cs typeface="Inter Regular" pitchFamily="34" charset="-120"/>
              </a:rPr>
              <a:t>“Companies that invest in UX see a 32% increase in revenue and 60% reduction in support costs.”</a:t>
            </a:r>
            <a:endParaRPr lang="en-US" sz="2000" dirty="0"/>
          </a:p>
        </p:txBody>
      </p:sp>
      <p:graphicFrame>
        <p:nvGraphicFramePr>
          <p:cNvPr id="36" name="Chart 35">
            <a:extLst>
              <a:ext uri="{FF2B5EF4-FFF2-40B4-BE49-F238E27FC236}">
                <a16:creationId xmlns:a16="http://schemas.microsoft.com/office/drawing/2014/main" id="{43A8D832-6B1B-0F56-94E3-A3313ADFB3D5}"/>
              </a:ext>
            </a:extLst>
          </p:cNvPr>
          <p:cNvGraphicFramePr/>
          <p:nvPr>
            <p:extLst>
              <p:ext uri="{D42A27DB-BD31-4B8C-83A1-F6EECF244321}">
                <p14:modId xmlns:p14="http://schemas.microsoft.com/office/powerpoint/2010/main" val="2531337425"/>
              </p:ext>
            </p:extLst>
          </p:nvPr>
        </p:nvGraphicFramePr>
        <p:xfrm>
          <a:off x="10323759" y="1876321"/>
          <a:ext cx="16258117" cy="9922385"/>
        </p:xfrm>
        <a:graphic>
          <a:graphicData uri="http://schemas.openxmlformats.org/drawingml/2006/chart">
            <c:chart xmlns:c="http://schemas.openxmlformats.org/drawingml/2006/chart" xmlns:r="http://schemas.openxmlformats.org/officeDocument/2006/relationships" r:id="rId3"/>
          </a:graphicData>
        </a:graphic>
      </p:graphicFrame>
      <p:grpSp>
        <p:nvGrpSpPr>
          <p:cNvPr id="38" name="Group 37">
            <a:extLst>
              <a:ext uri="{FF2B5EF4-FFF2-40B4-BE49-F238E27FC236}">
                <a16:creationId xmlns:a16="http://schemas.microsoft.com/office/drawing/2014/main" id="{C9D40D81-EE01-F397-0538-D04D4064F195}"/>
              </a:ext>
            </a:extLst>
          </p:cNvPr>
          <p:cNvGrpSpPr/>
          <p:nvPr/>
        </p:nvGrpSpPr>
        <p:grpSpPr>
          <a:xfrm>
            <a:off x="20705190" y="2940050"/>
            <a:ext cx="1295562" cy="1295400"/>
            <a:chOff x="20157419" y="2743200"/>
            <a:chExt cx="1295562" cy="1295400"/>
          </a:xfrm>
        </p:grpSpPr>
        <p:sp>
          <p:nvSpPr>
            <p:cNvPr id="14" name="Shape 4"/>
            <p:cNvSpPr/>
            <p:nvPr/>
          </p:nvSpPr>
          <p:spPr>
            <a:xfrm>
              <a:off x="20157419" y="2743200"/>
              <a:ext cx="1295562" cy="1295400"/>
            </a:xfrm>
            <a:prstGeom prst="ellipse">
              <a:avLst/>
            </a:prstGeom>
            <a:solidFill>
              <a:srgbClr val="FFF6F6">
                <a:alpha val="100000"/>
              </a:srgbClr>
            </a:solidFill>
            <a:ln w="76200">
              <a:solidFill>
                <a:schemeClr val="bg1"/>
              </a:solidFill>
            </a:ln>
          </p:spPr>
          <p:txBody>
            <a:bodyPr/>
            <a:lstStyle/>
            <a:p>
              <a:endParaRPr lang="en-ID"/>
            </a:p>
          </p:txBody>
        </p:sp>
        <p:sp>
          <p:nvSpPr>
            <p:cNvPr id="20" name="Text 8"/>
            <p:cNvSpPr/>
            <p:nvPr/>
          </p:nvSpPr>
          <p:spPr>
            <a:xfrm>
              <a:off x="20360645" y="3060700"/>
              <a:ext cx="1033062" cy="791633"/>
            </a:xfrm>
            <a:prstGeom prst="rect">
              <a:avLst/>
            </a:prstGeom>
            <a:noFill/>
            <a:ln w="76200">
              <a:solidFill>
                <a:schemeClr val="bg1"/>
              </a:solidFill>
            </a:ln>
          </p:spPr>
          <p:txBody>
            <a:bodyPr wrap="square" lIns="0" tIns="0" rIns="0" bIns="0" rtlCol="0" anchor="t"/>
            <a:lstStyle/>
            <a:p>
              <a:pPr marL="0" indent="0" algn="l">
                <a:lnSpc>
                  <a:spcPts val="5100"/>
                </a:lnSpc>
                <a:buNone/>
              </a:pPr>
              <a:r>
                <a:rPr lang="en-US" sz="3400" kern="0" spc="-68" dirty="0">
                  <a:solidFill>
                    <a:srgbClr val="050C29">
                      <a:alpha val="100000"/>
                    </a:srgbClr>
                  </a:solidFill>
                  <a:latin typeface="Inter Medium" pitchFamily="34" charset="0"/>
                  <a:ea typeface="Inter Medium" pitchFamily="34" charset="-122"/>
                  <a:cs typeface="Inter Medium" pitchFamily="34" charset="-120"/>
                </a:rPr>
                <a:t>20%</a:t>
              </a:r>
              <a:endParaRPr lang="en-US" sz="3400" dirty="0"/>
            </a:p>
          </p:txBody>
        </p:sp>
      </p:grpSp>
      <p:grpSp>
        <p:nvGrpSpPr>
          <p:cNvPr id="37" name="Group 36">
            <a:extLst>
              <a:ext uri="{FF2B5EF4-FFF2-40B4-BE49-F238E27FC236}">
                <a16:creationId xmlns:a16="http://schemas.microsoft.com/office/drawing/2014/main" id="{9D2AEB20-F6B9-F198-A0CD-D9790BD07832}"/>
              </a:ext>
            </a:extLst>
          </p:cNvPr>
          <p:cNvGrpSpPr/>
          <p:nvPr/>
        </p:nvGrpSpPr>
        <p:grpSpPr>
          <a:xfrm>
            <a:off x="14289286" y="3606800"/>
            <a:ext cx="1295562" cy="1295400"/>
            <a:chOff x="14289286" y="3606800"/>
            <a:chExt cx="1295562" cy="1295400"/>
          </a:xfrm>
        </p:grpSpPr>
        <p:sp>
          <p:nvSpPr>
            <p:cNvPr id="15" name="Shape 5"/>
            <p:cNvSpPr/>
            <p:nvPr/>
          </p:nvSpPr>
          <p:spPr>
            <a:xfrm>
              <a:off x="14289286" y="3606800"/>
              <a:ext cx="1295562" cy="1295400"/>
            </a:xfrm>
            <a:prstGeom prst="ellipse">
              <a:avLst/>
            </a:prstGeom>
            <a:solidFill>
              <a:srgbClr val="EEF4FF">
                <a:alpha val="100000"/>
              </a:srgbClr>
            </a:solidFill>
            <a:ln w="76200">
              <a:solidFill>
                <a:schemeClr val="bg1"/>
              </a:solidFill>
            </a:ln>
          </p:spPr>
          <p:txBody>
            <a:bodyPr/>
            <a:lstStyle/>
            <a:p>
              <a:endParaRPr lang="en-ID"/>
            </a:p>
          </p:txBody>
        </p:sp>
        <p:sp>
          <p:nvSpPr>
            <p:cNvPr id="21" name="Text 9"/>
            <p:cNvSpPr/>
            <p:nvPr/>
          </p:nvSpPr>
          <p:spPr>
            <a:xfrm>
              <a:off x="14492511" y="3924300"/>
              <a:ext cx="1045764" cy="791633"/>
            </a:xfrm>
            <a:prstGeom prst="rect">
              <a:avLst/>
            </a:prstGeom>
            <a:noFill/>
            <a:ln/>
          </p:spPr>
          <p:txBody>
            <a:bodyPr wrap="square" lIns="0" tIns="0" rIns="0" bIns="0" rtlCol="0" anchor="t"/>
            <a:lstStyle/>
            <a:p>
              <a:pPr marL="0" indent="0" algn="l">
                <a:lnSpc>
                  <a:spcPts val="5100"/>
                </a:lnSpc>
                <a:buNone/>
              </a:pPr>
              <a:r>
                <a:rPr lang="en-US" sz="3400" kern="0" spc="-68" dirty="0">
                  <a:solidFill>
                    <a:srgbClr val="050C29">
                      <a:alpha val="100000"/>
                    </a:srgbClr>
                  </a:solidFill>
                  <a:latin typeface="Inter Medium" pitchFamily="34" charset="0"/>
                  <a:ea typeface="Inter Medium" pitchFamily="34" charset="-122"/>
                  <a:cs typeface="Inter Medium" pitchFamily="34" charset="-120"/>
                </a:rPr>
                <a:t>40%</a:t>
              </a:r>
              <a:endParaRPr lang="en-US" sz="3400" dirty="0"/>
            </a:p>
          </p:txBody>
        </p:sp>
      </p:grpSp>
      <p:grpSp>
        <p:nvGrpSpPr>
          <p:cNvPr id="40" name="Group 39">
            <a:extLst>
              <a:ext uri="{FF2B5EF4-FFF2-40B4-BE49-F238E27FC236}">
                <a16:creationId xmlns:a16="http://schemas.microsoft.com/office/drawing/2014/main" id="{028C7660-D9A9-A127-661D-0BDEE3B01017}"/>
              </a:ext>
            </a:extLst>
          </p:cNvPr>
          <p:cNvGrpSpPr/>
          <p:nvPr/>
        </p:nvGrpSpPr>
        <p:grpSpPr>
          <a:xfrm>
            <a:off x="16881469" y="10381192"/>
            <a:ext cx="1295562" cy="1295400"/>
            <a:chOff x="16640139" y="10358967"/>
            <a:chExt cx="1295562" cy="1295400"/>
          </a:xfrm>
        </p:grpSpPr>
        <p:sp>
          <p:nvSpPr>
            <p:cNvPr id="16" name="Shape 6"/>
            <p:cNvSpPr/>
            <p:nvPr/>
          </p:nvSpPr>
          <p:spPr>
            <a:xfrm>
              <a:off x="16640139" y="10358967"/>
              <a:ext cx="1295562" cy="1295400"/>
            </a:xfrm>
            <a:prstGeom prst="ellipse">
              <a:avLst/>
            </a:prstGeom>
            <a:solidFill>
              <a:srgbClr val="D9F4F2">
                <a:alpha val="100000"/>
              </a:srgbClr>
            </a:solidFill>
            <a:ln w="76200">
              <a:solidFill>
                <a:schemeClr val="bg1"/>
              </a:solidFill>
            </a:ln>
          </p:spPr>
          <p:txBody>
            <a:bodyPr/>
            <a:lstStyle/>
            <a:p>
              <a:endParaRPr lang="en-ID"/>
            </a:p>
          </p:txBody>
        </p:sp>
        <p:sp>
          <p:nvSpPr>
            <p:cNvPr id="22" name="Text 10"/>
            <p:cNvSpPr/>
            <p:nvPr/>
          </p:nvSpPr>
          <p:spPr>
            <a:xfrm>
              <a:off x="16881469" y="10676467"/>
              <a:ext cx="956853" cy="791633"/>
            </a:xfrm>
            <a:prstGeom prst="rect">
              <a:avLst/>
            </a:prstGeom>
            <a:noFill/>
            <a:ln/>
          </p:spPr>
          <p:txBody>
            <a:bodyPr wrap="square" lIns="0" tIns="0" rIns="0" bIns="0" rtlCol="0" anchor="t"/>
            <a:lstStyle/>
            <a:p>
              <a:pPr marL="0" indent="0" algn="l">
                <a:lnSpc>
                  <a:spcPts val="5100"/>
                </a:lnSpc>
                <a:buNone/>
              </a:pPr>
              <a:r>
                <a:rPr lang="en-US" sz="3400" kern="0" spc="-68" dirty="0">
                  <a:solidFill>
                    <a:srgbClr val="050C29">
                      <a:alpha val="100000"/>
                    </a:srgbClr>
                  </a:solidFill>
                  <a:latin typeface="Inter Medium" pitchFamily="34" charset="0"/>
                  <a:ea typeface="Inter Medium" pitchFamily="34" charset="-122"/>
                  <a:cs typeface="Inter Medium" pitchFamily="34" charset="-120"/>
                </a:rPr>
                <a:t>15%</a:t>
              </a:r>
              <a:endParaRPr lang="en-US" sz="3400" dirty="0"/>
            </a:p>
          </p:txBody>
        </p:sp>
      </p:grpSp>
      <p:grpSp>
        <p:nvGrpSpPr>
          <p:cNvPr id="39" name="Group 38">
            <a:extLst>
              <a:ext uri="{FF2B5EF4-FFF2-40B4-BE49-F238E27FC236}">
                <a16:creationId xmlns:a16="http://schemas.microsoft.com/office/drawing/2014/main" id="{006C2FE6-A465-635E-8C28-4F0B53718DD8}"/>
              </a:ext>
            </a:extLst>
          </p:cNvPr>
          <p:cNvGrpSpPr/>
          <p:nvPr/>
        </p:nvGrpSpPr>
        <p:grpSpPr>
          <a:xfrm>
            <a:off x="21424947" y="8432800"/>
            <a:ext cx="1295562" cy="1295400"/>
            <a:chOff x="21567296" y="8115300"/>
            <a:chExt cx="1295562" cy="1295400"/>
          </a:xfrm>
        </p:grpSpPr>
        <p:sp>
          <p:nvSpPr>
            <p:cNvPr id="17" name="Shape 7"/>
            <p:cNvSpPr/>
            <p:nvPr/>
          </p:nvSpPr>
          <p:spPr>
            <a:xfrm>
              <a:off x="21567296" y="8115300"/>
              <a:ext cx="1295562" cy="1295400"/>
            </a:xfrm>
            <a:prstGeom prst="ellipse">
              <a:avLst/>
            </a:prstGeom>
            <a:solidFill>
              <a:srgbClr val="FCF1E6">
                <a:alpha val="100000"/>
              </a:srgbClr>
            </a:solidFill>
            <a:ln w="76200">
              <a:solidFill>
                <a:schemeClr val="bg1"/>
              </a:solidFill>
            </a:ln>
          </p:spPr>
          <p:txBody>
            <a:bodyPr/>
            <a:lstStyle/>
            <a:p>
              <a:endParaRPr lang="en-ID" dirty="0"/>
            </a:p>
          </p:txBody>
        </p:sp>
        <p:sp>
          <p:nvSpPr>
            <p:cNvPr id="23" name="Text 11"/>
            <p:cNvSpPr/>
            <p:nvPr/>
          </p:nvSpPr>
          <p:spPr>
            <a:xfrm>
              <a:off x="21783223" y="8432800"/>
              <a:ext cx="1020361" cy="791633"/>
            </a:xfrm>
            <a:prstGeom prst="rect">
              <a:avLst/>
            </a:prstGeom>
            <a:noFill/>
            <a:ln/>
          </p:spPr>
          <p:txBody>
            <a:bodyPr wrap="square" lIns="0" tIns="0" rIns="0" bIns="0" rtlCol="0" anchor="t"/>
            <a:lstStyle/>
            <a:p>
              <a:pPr marL="0" indent="0" algn="l">
                <a:lnSpc>
                  <a:spcPts val="5100"/>
                </a:lnSpc>
                <a:buNone/>
              </a:pPr>
              <a:r>
                <a:rPr lang="en-US" sz="3400" kern="0" spc="-68" dirty="0">
                  <a:solidFill>
                    <a:srgbClr val="050C29">
                      <a:alpha val="100000"/>
                    </a:srgbClr>
                  </a:solidFill>
                  <a:latin typeface="Inter Medium" pitchFamily="34" charset="0"/>
                  <a:ea typeface="Inter Medium" pitchFamily="34" charset="-122"/>
                  <a:cs typeface="Inter Medium" pitchFamily="34" charset="-120"/>
                </a:rPr>
                <a:t>25%</a:t>
              </a:r>
              <a:endParaRPr lang="en-US" sz="3400" dirty="0"/>
            </a:p>
          </p:txBody>
        </p:sp>
      </p:grpSp>
      <p:sp>
        <p:nvSpPr>
          <p:cNvPr id="28" name="Text 16"/>
          <p:cNvSpPr/>
          <p:nvPr/>
        </p:nvSpPr>
        <p:spPr>
          <a:xfrm>
            <a:off x="1524191" y="11480800"/>
            <a:ext cx="2167738" cy="1557867"/>
          </a:xfrm>
          <a:prstGeom prst="rect">
            <a:avLst/>
          </a:prstGeom>
          <a:noFill/>
          <a:ln/>
        </p:spPr>
        <p:txBody>
          <a:bodyPr wrap="square" lIns="0" tIns="0" rIns="0" bIns="0" rtlCol="0" anchor="t"/>
          <a:lstStyle/>
          <a:p>
            <a:pPr marL="0" indent="0" algn="l">
              <a:lnSpc>
                <a:spcPts val="9600"/>
              </a:lnSpc>
              <a:buNone/>
            </a:pPr>
            <a:r>
              <a:rPr lang="en-US" sz="8000" kern="0" spc="-480" dirty="0">
                <a:solidFill>
                  <a:srgbClr val="050C29">
                    <a:alpha val="100000"/>
                  </a:srgbClr>
                </a:solidFill>
                <a:latin typeface="Inter Medium" pitchFamily="34" charset="0"/>
                <a:ea typeface="Inter Medium" pitchFamily="34" charset="-122"/>
                <a:cs typeface="Inter Medium" pitchFamily="34" charset="-120"/>
              </a:rPr>
              <a:t>500</a:t>
            </a:r>
            <a:endParaRPr lang="en-US" sz="8000" dirty="0"/>
          </a:p>
        </p:txBody>
      </p:sp>
      <p:sp>
        <p:nvSpPr>
          <p:cNvPr id="29" name="Text 17"/>
          <p:cNvSpPr/>
          <p:nvPr/>
        </p:nvSpPr>
        <p:spPr>
          <a:xfrm>
            <a:off x="6922365" y="11480800"/>
            <a:ext cx="2167738" cy="1557867"/>
          </a:xfrm>
          <a:prstGeom prst="rect">
            <a:avLst/>
          </a:prstGeom>
          <a:noFill/>
          <a:ln/>
        </p:spPr>
        <p:txBody>
          <a:bodyPr wrap="square" lIns="0" tIns="0" rIns="0" bIns="0" rtlCol="0" anchor="t"/>
          <a:lstStyle/>
          <a:p>
            <a:pPr marL="0" indent="0" algn="l">
              <a:lnSpc>
                <a:spcPts val="9600"/>
              </a:lnSpc>
              <a:buNone/>
            </a:pPr>
            <a:r>
              <a:rPr lang="en-US" sz="8000" kern="0" spc="-480" dirty="0">
                <a:solidFill>
                  <a:srgbClr val="050C29">
                    <a:alpha val="100000"/>
                  </a:srgbClr>
                </a:solidFill>
                <a:latin typeface="Inter Medium" pitchFamily="34" charset="0"/>
                <a:ea typeface="Inter Medium" pitchFamily="34" charset="-122"/>
                <a:cs typeface="Inter Medium" pitchFamily="34" charset="-120"/>
              </a:rPr>
              <a:t>420</a:t>
            </a:r>
            <a:endParaRPr lang="en-US" sz="8000" dirty="0"/>
          </a:p>
        </p:txBody>
      </p:sp>
      <p:sp>
        <p:nvSpPr>
          <p:cNvPr id="30" name="Text 18"/>
          <p:cNvSpPr/>
          <p:nvPr/>
        </p:nvSpPr>
        <p:spPr>
          <a:xfrm>
            <a:off x="3531041" y="11480800"/>
            <a:ext cx="1024595" cy="1557867"/>
          </a:xfrm>
          <a:prstGeom prst="rect">
            <a:avLst/>
          </a:prstGeom>
          <a:noFill/>
          <a:ln/>
        </p:spPr>
        <p:txBody>
          <a:bodyPr wrap="square" lIns="0" tIns="0" rIns="0" bIns="0" rtlCol="0" anchor="t"/>
          <a:lstStyle/>
          <a:p>
            <a:pPr marL="0" indent="0" algn="l">
              <a:lnSpc>
                <a:spcPts val="9600"/>
              </a:lnSpc>
              <a:buNone/>
            </a:pPr>
            <a:r>
              <a:rPr lang="en-US" sz="8000" kern="0" spc="-480" dirty="0">
                <a:solidFill>
                  <a:srgbClr val="050C29">
                    <a:alpha val="100000"/>
                  </a:srgbClr>
                </a:solidFill>
                <a:latin typeface="Inter Medium" pitchFamily="34" charset="0"/>
                <a:ea typeface="Inter Medium" pitchFamily="34" charset="-122"/>
                <a:cs typeface="Inter Medium" pitchFamily="34" charset="-120"/>
              </a:rPr>
              <a:t>K</a:t>
            </a:r>
            <a:endParaRPr lang="en-US" sz="8000" dirty="0"/>
          </a:p>
        </p:txBody>
      </p:sp>
      <p:sp>
        <p:nvSpPr>
          <p:cNvPr id="31" name="Text 19"/>
          <p:cNvSpPr/>
          <p:nvPr/>
        </p:nvSpPr>
        <p:spPr>
          <a:xfrm>
            <a:off x="8929216" y="11480800"/>
            <a:ext cx="1024595" cy="1557867"/>
          </a:xfrm>
          <a:prstGeom prst="rect">
            <a:avLst/>
          </a:prstGeom>
          <a:noFill/>
          <a:ln/>
        </p:spPr>
        <p:txBody>
          <a:bodyPr wrap="square" lIns="0" tIns="0" rIns="0" bIns="0" rtlCol="0" anchor="t"/>
          <a:lstStyle/>
          <a:p>
            <a:pPr marL="0" indent="0" algn="l">
              <a:lnSpc>
                <a:spcPts val="9600"/>
              </a:lnSpc>
              <a:buNone/>
            </a:pPr>
            <a:r>
              <a:rPr lang="en-US" sz="8000" kern="0" spc="-480" dirty="0">
                <a:solidFill>
                  <a:srgbClr val="050C29">
                    <a:alpha val="100000"/>
                  </a:srgbClr>
                </a:solidFill>
                <a:latin typeface="Inter Medium" pitchFamily="34" charset="0"/>
                <a:ea typeface="Inter Medium" pitchFamily="34" charset="-122"/>
                <a:cs typeface="Inter Medium" pitchFamily="34" charset="-120"/>
              </a:rPr>
              <a:t>K</a:t>
            </a:r>
            <a:endParaRPr lang="en-US" sz="8000" dirty="0"/>
          </a:p>
        </p:txBody>
      </p:sp>
      <p:sp>
        <p:nvSpPr>
          <p:cNvPr id="32" name="Text 20"/>
          <p:cNvSpPr/>
          <p:nvPr/>
        </p:nvSpPr>
        <p:spPr>
          <a:xfrm>
            <a:off x="4369346" y="11696700"/>
            <a:ext cx="2307455" cy="846667"/>
          </a:xfrm>
          <a:prstGeom prst="rect">
            <a:avLst/>
          </a:prstGeom>
          <a:noFill/>
          <a:ln/>
        </p:spPr>
        <p:txBody>
          <a:bodyPr wrap="square" lIns="0" tIns="0" rIns="0" bIns="0" rtlCol="0" anchor="t"/>
          <a:lstStyle/>
          <a:p>
            <a:pPr marL="0" indent="0" algn="l">
              <a:lnSpc>
                <a:spcPts val="3000"/>
              </a:lnSpc>
              <a:buNone/>
            </a:pPr>
            <a:r>
              <a:rPr lang="en-US" sz="2000" kern="0" spc="-40" dirty="0">
                <a:solidFill>
                  <a:srgbClr val="646A6D">
                    <a:alpha val="100000"/>
                  </a:srgbClr>
                </a:solidFill>
                <a:latin typeface="Inter Medium" pitchFamily="34" charset="0"/>
                <a:ea typeface="Inter Medium" pitchFamily="34" charset="-122"/>
                <a:cs typeface="Inter Medium" pitchFamily="34" charset="-120"/>
              </a:rPr>
              <a:t>Baseline Revenue / Month</a:t>
            </a:r>
            <a:endParaRPr lang="en-US" sz="2000" dirty="0"/>
          </a:p>
        </p:txBody>
      </p:sp>
      <p:sp>
        <p:nvSpPr>
          <p:cNvPr id="33" name="Text 21"/>
          <p:cNvSpPr/>
          <p:nvPr/>
        </p:nvSpPr>
        <p:spPr>
          <a:xfrm>
            <a:off x="9767521" y="11696700"/>
            <a:ext cx="2307455" cy="846667"/>
          </a:xfrm>
          <a:prstGeom prst="rect">
            <a:avLst/>
          </a:prstGeom>
          <a:noFill/>
          <a:ln/>
        </p:spPr>
        <p:txBody>
          <a:bodyPr wrap="square" lIns="0" tIns="0" rIns="0" bIns="0" rtlCol="0" anchor="t"/>
          <a:lstStyle/>
          <a:p>
            <a:pPr marL="0" indent="0" algn="l">
              <a:lnSpc>
                <a:spcPts val="3000"/>
              </a:lnSpc>
              <a:buNone/>
            </a:pPr>
            <a:r>
              <a:rPr lang="en-US" sz="2000" kern="0" spc="-40" dirty="0">
                <a:solidFill>
                  <a:srgbClr val="646A6D">
                    <a:alpha val="100000"/>
                  </a:srgbClr>
                </a:solidFill>
                <a:latin typeface="Inter Medium" pitchFamily="34" charset="0"/>
                <a:ea typeface="Inter Medium" pitchFamily="34" charset="-122"/>
                <a:cs typeface="Inter Medium" pitchFamily="34" charset="-120"/>
              </a:rPr>
              <a:t>Annualized ROI from UX Fixes</a:t>
            </a:r>
            <a:endParaRPr lang="en-US"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9AF29E0-D849-082A-B0A3-13A88DB43CA6}"/>
              </a:ext>
            </a:extLst>
          </p:cNvPr>
          <p:cNvSpPr/>
          <p:nvPr/>
        </p:nvSpPr>
        <p:spPr>
          <a:xfrm>
            <a:off x="0" y="0"/>
            <a:ext cx="24387175" cy="13716000"/>
          </a:xfrm>
          <a:prstGeom prst="rect">
            <a:avLst/>
          </a:prstGeom>
          <a:gradFill flip="none" rotWithShape="1">
            <a:gsLst>
              <a:gs pos="0">
                <a:srgbClr val="EFEFEF"/>
              </a:gs>
              <a:gs pos="76000">
                <a:srgbClr val="FFFFFF"/>
              </a:gs>
            </a:gsLst>
            <a:lin ang="16200000" scaled="0"/>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sz="100"/>
          </a:p>
        </p:txBody>
      </p:sp>
      <p:pic>
        <p:nvPicPr>
          <p:cNvPr id="3" name="Image 1" descr=" "/>
          <p:cNvPicPr>
            <a:picLocks noChangeAspect="1"/>
          </p:cNvPicPr>
          <p:nvPr/>
        </p:nvPicPr>
        <p:blipFill>
          <a:blip r:embed="rId3"/>
          <a:stretch>
            <a:fillRect/>
          </a:stretch>
        </p:blipFill>
        <p:spPr>
          <a:xfrm>
            <a:off x="1524191" y="5321300"/>
            <a:ext cx="10923365" cy="6451600"/>
          </a:xfrm>
          <a:prstGeom prst="rect">
            <a:avLst/>
          </a:prstGeom>
        </p:spPr>
      </p:pic>
      <p:sp>
        <p:nvSpPr>
          <p:cNvPr id="5" name="Shape 0"/>
          <p:cNvSpPr/>
          <p:nvPr/>
        </p:nvSpPr>
        <p:spPr>
          <a:xfrm>
            <a:off x="1778222" y="5448300"/>
            <a:ext cx="10415302" cy="647700"/>
          </a:xfrm>
          <a:prstGeom prst="rect">
            <a:avLst/>
          </a:prstGeom>
          <a:noFill/>
          <a:ln/>
        </p:spPr>
        <p:txBody>
          <a:bodyPr/>
          <a:lstStyle/>
          <a:p>
            <a:endParaRPr lang="en-ID"/>
          </a:p>
        </p:txBody>
      </p:sp>
      <p:pic>
        <p:nvPicPr>
          <p:cNvPr id="57" name="Graphic 56">
            <a:extLst>
              <a:ext uri="{FF2B5EF4-FFF2-40B4-BE49-F238E27FC236}">
                <a16:creationId xmlns:a16="http://schemas.microsoft.com/office/drawing/2014/main" id="{48806C67-575A-987B-F2AA-6EADA5C0BBC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524190" y="5374801"/>
            <a:ext cx="10923365" cy="6452407"/>
          </a:xfrm>
          <a:prstGeom prst="rect">
            <a:avLst/>
          </a:prstGeom>
        </p:spPr>
      </p:pic>
      <p:sp>
        <p:nvSpPr>
          <p:cNvPr id="6" name="Shape 1"/>
          <p:cNvSpPr/>
          <p:nvPr/>
        </p:nvSpPr>
        <p:spPr>
          <a:xfrm>
            <a:off x="1778222" y="5448300"/>
            <a:ext cx="5144143" cy="647700"/>
          </a:xfrm>
          <a:prstGeom prst="rect">
            <a:avLst/>
          </a:prstGeom>
          <a:noFill/>
          <a:ln/>
        </p:spPr>
        <p:txBody>
          <a:bodyPr/>
          <a:lstStyle/>
          <a:p>
            <a:endParaRPr lang="en-ID"/>
          </a:p>
        </p:txBody>
      </p:sp>
      <p:sp>
        <p:nvSpPr>
          <p:cNvPr id="7" name="Text 2"/>
          <p:cNvSpPr/>
          <p:nvPr/>
        </p:nvSpPr>
        <p:spPr>
          <a:xfrm>
            <a:off x="1778222" y="5405967"/>
            <a:ext cx="5228820" cy="732367"/>
          </a:xfrm>
          <a:prstGeom prst="rect">
            <a:avLst/>
          </a:prstGeom>
          <a:noFill/>
          <a:ln/>
        </p:spPr>
        <p:txBody>
          <a:bodyPr wrap="square" lIns="0" tIns="0" rIns="0" bIns="0" rtlCol="0" anchor="ctr"/>
          <a:lstStyle/>
          <a:p>
            <a:pPr marL="0" indent="0" algn="l">
              <a:lnSpc>
                <a:spcPts val="3000"/>
              </a:lnSpc>
              <a:buNone/>
            </a:pPr>
            <a:r>
              <a:rPr lang="en-US" sz="2000" kern="0" spc="-40" dirty="0">
                <a:solidFill>
                  <a:srgbClr val="FFFFFF">
                    <a:alpha val="100000"/>
                  </a:srgbClr>
                </a:solidFill>
                <a:latin typeface="Inter Regular" pitchFamily="34" charset="0"/>
                <a:ea typeface="Inter Regular" pitchFamily="34" charset="-122"/>
                <a:cs typeface="Inter Regular" pitchFamily="34" charset="-120"/>
              </a:rPr>
              <a:t>Risk Area</a:t>
            </a:r>
            <a:endParaRPr lang="en-US" sz="2000" dirty="0"/>
          </a:p>
        </p:txBody>
      </p:sp>
      <p:sp>
        <p:nvSpPr>
          <p:cNvPr id="8" name="Shape 3"/>
          <p:cNvSpPr/>
          <p:nvPr/>
        </p:nvSpPr>
        <p:spPr>
          <a:xfrm>
            <a:off x="7049381" y="5448300"/>
            <a:ext cx="5144143" cy="647700"/>
          </a:xfrm>
          <a:prstGeom prst="rect">
            <a:avLst/>
          </a:prstGeom>
          <a:noFill/>
          <a:ln/>
        </p:spPr>
        <p:txBody>
          <a:bodyPr/>
          <a:lstStyle/>
          <a:p>
            <a:endParaRPr lang="en-ID"/>
          </a:p>
        </p:txBody>
      </p:sp>
      <p:sp>
        <p:nvSpPr>
          <p:cNvPr id="9" name="Text 4"/>
          <p:cNvSpPr/>
          <p:nvPr/>
        </p:nvSpPr>
        <p:spPr>
          <a:xfrm>
            <a:off x="7049381" y="5405967"/>
            <a:ext cx="5228820" cy="732367"/>
          </a:xfrm>
          <a:prstGeom prst="rect">
            <a:avLst/>
          </a:prstGeom>
          <a:noFill/>
          <a:ln/>
        </p:spPr>
        <p:txBody>
          <a:bodyPr wrap="square" lIns="0" tIns="0" rIns="0" bIns="0" rtlCol="0" anchor="ctr"/>
          <a:lstStyle/>
          <a:p>
            <a:pPr marL="0" indent="0" algn="l">
              <a:lnSpc>
                <a:spcPts val="3000"/>
              </a:lnSpc>
              <a:buNone/>
            </a:pPr>
            <a:r>
              <a:rPr lang="en-US" sz="2000" kern="0" spc="-40" dirty="0">
                <a:solidFill>
                  <a:srgbClr val="FFFFFF">
                    <a:alpha val="100000"/>
                  </a:srgbClr>
                </a:solidFill>
                <a:latin typeface="Inter Regular" pitchFamily="34" charset="0"/>
                <a:ea typeface="Inter Regular" pitchFamily="34" charset="-122"/>
                <a:cs typeface="Inter Regular" pitchFamily="34" charset="-120"/>
              </a:rPr>
              <a:t>Impact If Ignored</a:t>
            </a:r>
            <a:endParaRPr lang="en-US" sz="2000" dirty="0"/>
          </a:p>
        </p:txBody>
      </p:sp>
      <p:sp>
        <p:nvSpPr>
          <p:cNvPr id="11" name="Shape 5"/>
          <p:cNvSpPr/>
          <p:nvPr/>
        </p:nvSpPr>
        <p:spPr>
          <a:xfrm>
            <a:off x="1778222" y="6350000"/>
            <a:ext cx="10415302" cy="863600"/>
          </a:xfrm>
          <a:prstGeom prst="rect">
            <a:avLst/>
          </a:prstGeom>
          <a:noFill/>
          <a:ln/>
        </p:spPr>
        <p:txBody>
          <a:bodyPr/>
          <a:lstStyle/>
          <a:p>
            <a:endParaRPr lang="en-ID"/>
          </a:p>
        </p:txBody>
      </p:sp>
      <p:sp>
        <p:nvSpPr>
          <p:cNvPr id="12" name="Shape 6"/>
          <p:cNvSpPr/>
          <p:nvPr/>
        </p:nvSpPr>
        <p:spPr>
          <a:xfrm>
            <a:off x="1778222" y="6350000"/>
            <a:ext cx="5144143" cy="863600"/>
          </a:xfrm>
          <a:prstGeom prst="rect">
            <a:avLst/>
          </a:prstGeom>
          <a:noFill/>
          <a:ln/>
        </p:spPr>
        <p:txBody>
          <a:bodyPr/>
          <a:lstStyle/>
          <a:p>
            <a:endParaRPr lang="en-ID"/>
          </a:p>
        </p:txBody>
      </p:sp>
      <p:sp>
        <p:nvSpPr>
          <p:cNvPr id="13" name="Text 7"/>
          <p:cNvSpPr/>
          <p:nvPr/>
        </p:nvSpPr>
        <p:spPr>
          <a:xfrm>
            <a:off x="1778222" y="6307667"/>
            <a:ext cx="5228820" cy="948267"/>
          </a:xfrm>
          <a:prstGeom prst="rect">
            <a:avLst/>
          </a:prstGeom>
          <a:noFill/>
          <a:ln/>
        </p:spPr>
        <p:txBody>
          <a:bodyPr wrap="square" lIns="0" tIns="0" rIns="0" bIns="0" rtlCol="0" anchor="ctr"/>
          <a:lstStyle/>
          <a:p>
            <a:pPr marL="0" indent="0" algn="l">
              <a:lnSpc>
                <a:spcPts val="3000"/>
              </a:lnSpc>
              <a:buNone/>
            </a:pPr>
            <a:r>
              <a:rPr lang="en-US" sz="2000" kern="0" spc="-40" dirty="0">
                <a:solidFill>
                  <a:srgbClr val="333333">
                    <a:alpha val="100000"/>
                  </a:srgbClr>
                </a:solidFill>
                <a:latin typeface="Inter Regular" pitchFamily="34" charset="0"/>
                <a:ea typeface="Inter Regular" pitchFamily="34" charset="-122"/>
                <a:cs typeface="Inter Regular" pitchFamily="34" charset="-120"/>
              </a:rPr>
              <a:t>Checkout Drop-Off</a:t>
            </a:r>
            <a:endParaRPr lang="en-US" sz="2000" dirty="0"/>
          </a:p>
        </p:txBody>
      </p:sp>
      <p:sp>
        <p:nvSpPr>
          <p:cNvPr id="14" name="Shape 8"/>
          <p:cNvSpPr/>
          <p:nvPr/>
        </p:nvSpPr>
        <p:spPr>
          <a:xfrm>
            <a:off x="7049381" y="6350000"/>
            <a:ext cx="5144143" cy="863600"/>
          </a:xfrm>
          <a:prstGeom prst="rect">
            <a:avLst/>
          </a:prstGeom>
          <a:noFill/>
          <a:ln/>
        </p:spPr>
        <p:txBody>
          <a:bodyPr/>
          <a:lstStyle/>
          <a:p>
            <a:endParaRPr lang="en-ID"/>
          </a:p>
        </p:txBody>
      </p:sp>
      <p:sp>
        <p:nvSpPr>
          <p:cNvPr id="15" name="Text 9"/>
          <p:cNvSpPr/>
          <p:nvPr/>
        </p:nvSpPr>
        <p:spPr>
          <a:xfrm>
            <a:off x="7049381" y="6307667"/>
            <a:ext cx="5228820" cy="948267"/>
          </a:xfrm>
          <a:prstGeom prst="rect">
            <a:avLst/>
          </a:prstGeom>
          <a:noFill/>
          <a:ln/>
        </p:spPr>
        <p:txBody>
          <a:bodyPr wrap="square" lIns="0" tIns="0" rIns="0" bIns="0" rtlCol="0" anchor="ctr"/>
          <a:lstStyle/>
          <a:p>
            <a:pPr marL="0" indent="0" algn="l">
              <a:lnSpc>
                <a:spcPts val="3000"/>
              </a:lnSpc>
              <a:buNone/>
            </a:pPr>
            <a:r>
              <a:rPr lang="en-US" sz="2000" kern="0" spc="-40" dirty="0">
                <a:solidFill>
                  <a:srgbClr val="333333">
                    <a:alpha val="100000"/>
                  </a:srgbClr>
                </a:solidFill>
                <a:latin typeface="Inter Regular" pitchFamily="34" charset="0"/>
                <a:ea typeface="Inter Regular" pitchFamily="34" charset="-122"/>
                <a:cs typeface="Inter Regular" pitchFamily="34" charset="-120"/>
              </a:rPr>
              <a:t>Lost revenue due to abandoned carts</a:t>
            </a:r>
            <a:endParaRPr lang="en-US" sz="2000" dirty="0"/>
          </a:p>
        </p:txBody>
      </p:sp>
      <p:sp>
        <p:nvSpPr>
          <p:cNvPr id="17" name="Shape 10"/>
          <p:cNvSpPr/>
          <p:nvPr/>
        </p:nvSpPr>
        <p:spPr>
          <a:xfrm>
            <a:off x="1778222" y="7467600"/>
            <a:ext cx="10415302" cy="850900"/>
          </a:xfrm>
          <a:prstGeom prst="rect">
            <a:avLst/>
          </a:prstGeom>
          <a:noFill/>
          <a:ln/>
        </p:spPr>
        <p:txBody>
          <a:bodyPr/>
          <a:lstStyle/>
          <a:p>
            <a:endParaRPr lang="en-ID"/>
          </a:p>
        </p:txBody>
      </p:sp>
      <p:sp>
        <p:nvSpPr>
          <p:cNvPr id="18" name="Shape 11"/>
          <p:cNvSpPr/>
          <p:nvPr/>
        </p:nvSpPr>
        <p:spPr>
          <a:xfrm>
            <a:off x="1778222" y="7467600"/>
            <a:ext cx="5144143" cy="850900"/>
          </a:xfrm>
          <a:prstGeom prst="rect">
            <a:avLst/>
          </a:prstGeom>
          <a:noFill/>
          <a:ln/>
        </p:spPr>
        <p:txBody>
          <a:bodyPr/>
          <a:lstStyle/>
          <a:p>
            <a:endParaRPr lang="en-ID"/>
          </a:p>
        </p:txBody>
      </p:sp>
      <p:sp>
        <p:nvSpPr>
          <p:cNvPr id="19" name="Text 12"/>
          <p:cNvSpPr/>
          <p:nvPr/>
        </p:nvSpPr>
        <p:spPr>
          <a:xfrm>
            <a:off x="1778222" y="7425267"/>
            <a:ext cx="5228820" cy="935567"/>
          </a:xfrm>
          <a:prstGeom prst="rect">
            <a:avLst/>
          </a:prstGeom>
          <a:noFill/>
          <a:ln/>
        </p:spPr>
        <p:txBody>
          <a:bodyPr wrap="square" lIns="0" tIns="0" rIns="0" bIns="0" rtlCol="0" anchor="ctr"/>
          <a:lstStyle/>
          <a:p>
            <a:pPr marL="0" indent="0" algn="l">
              <a:lnSpc>
                <a:spcPts val="3000"/>
              </a:lnSpc>
              <a:buNone/>
            </a:pPr>
            <a:r>
              <a:rPr lang="en-US" sz="2000" kern="0" spc="-40" dirty="0">
                <a:solidFill>
                  <a:srgbClr val="333333">
                    <a:alpha val="100000"/>
                  </a:srgbClr>
                </a:solidFill>
                <a:latin typeface="Inter Regular" pitchFamily="34" charset="0"/>
                <a:ea typeface="Inter Regular" pitchFamily="34" charset="-122"/>
                <a:cs typeface="Inter Regular" pitchFamily="34" charset="-120"/>
              </a:rPr>
              <a:t>Frustrated Mobile Users</a:t>
            </a:r>
            <a:endParaRPr lang="en-US" sz="2000" dirty="0"/>
          </a:p>
        </p:txBody>
      </p:sp>
      <p:sp>
        <p:nvSpPr>
          <p:cNvPr id="20" name="Shape 13"/>
          <p:cNvSpPr/>
          <p:nvPr/>
        </p:nvSpPr>
        <p:spPr>
          <a:xfrm>
            <a:off x="7049381" y="7467600"/>
            <a:ext cx="5144143" cy="850900"/>
          </a:xfrm>
          <a:prstGeom prst="rect">
            <a:avLst/>
          </a:prstGeom>
          <a:noFill/>
          <a:ln/>
        </p:spPr>
        <p:txBody>
          <a:bodyPr/>
          <a:lstStyle/>
          <a:p>
            <a:endParaRPr lang="en-ID"/>
          </a:p>
        </p:txBody>
      </p:sp>
      <p:sp>
        <p:nvSpPr>
          <p:cNvPr id="21" name="Text 14"/>
          <p:cNvSpPr/>
          <p:nvPr/>
        </p:nvSpPr>
        <p:spPr>
          <a:xfrm>
            <a:off x="7049381" y="7425267"/>
            <a:ext cx="5228820" cy="935567"/>
          </a:xfrm>
          <a:prstGeom prst="rect">
            <a:avLst/>
          </a:prstGeom>
          <a:noFill/>
          <a:ln/>
        </p:spPr>
        <p:txBody>
          <a:bodyPr wrap="square" lIns="0" tIns="0" rIns="0" bIns="0" rtlCol="0" anchor="ctr"/>
          <a:lstStyle/>
          <a:p>
            <a:pPr marL="0" indent="0" algn="l">
              <a:lnSpc>
                <a:spcPts val="3000"/>
              </a:lnSpc>
              <a:buNone/>
            </a:pPr>
            <a:r>
              <a:rPr lang="en-US" sz="2000" kern="0" spc="-40" dirty="0">
                <a:solidFill>
                  <a:srgbClr val="333333">
                    <a:alpha val="100000"/>
                  </a:srgbClr>
                </a:solidFill>
                <a:latin typeface="Inter Regular" pitchFamily="34" charset="0"/>
                <a:ea typeface="Inter Regular" pitchFamily="34" charset="-122"/>
                <a:cs typeface="Inter Regular" pitchFamily="34" charset="-120"/>
              </a:rPr>
              <a:t>Poor retention and low app ratings</a:t>
            </a:r>
            <a:endParaRPr lang="en-US" sz="2000" dirty="0"/>
          </a:p>
        </p:txBody>
      </p:sp>
      <p:sp>
        <p:nvSpPr>
          <p:cNvPr id="23" name="Shape 15"/>
          <p:cNvSpPr/>
          <p:nvPr/>
        </p:nvSpPr>
        <p:spPr>
          <a:xfrm>
            <a:off x="1778222" y="8572500"/>
            <a:ext cx="10415302" cy="850900"/>
          </a:xfrm>
          <a:prstGeom prst="rect">
            <a:avLst/>
          </a:prstGeom>
          <a:noFill/>
          <a:ln/>
        </p:spPr>
        <p:txBody>
          <a:bodyPr/>
          <a:lstStyle/>
          <a:p>
            <a:endParaRPr lang="en-ID"/>
          </a:p>
        </p:txBody>
      </p:sp>
      <p:sp>
        <p:nvSpPr>
          <p:cNvPr id="24" name="Shape 16"/>
          <p:cNvSpPr/>
          <p:nvPr/>
        </p:nvSpPr>
        <p:spPr>
          <a:xfrm>
            <a:off x="1778222" y="8572500"/>
            <a:ext cx="5144143" cy="850900"/>
          </a:xfrm>
          <a:prstGeom prst="rect">
            <a:avLst/>
          </a:prstGeom>
          <a:noFill/>
          <a:ln/>
        </p:spPr>
        <p:txBody>
          <a:bodyPr/>
          <a:lstStyle/>
          <a:p>
            <a:endParaRPr lang="en-ID"/>
          </a:p>
        </p:txBody>
      </p:sp>
      <p:sp>
        <p:nvSpPr>
          <p:cNvPr id="25" name="Text 17"/>
          <p:cNvSpPr/>
          <p:nvPr/>
        </p:nvSpPr>
        <p:spPr>
          <a:xfrm>
            <a:off x="1778222" y="8530167"/>
            <a:ext cx="5228820" cy="935567"/>
          </a:xfrm>
          <a:prstGeom prst="rect">
            <a:avLst/>
          </a:prstGeom>
          <a:noFill/>
          <a:ln/>
        </p:spPr>
        <p:txBody>
          <a:bodyPr wrap="square" lIns="0" tIns="0" rIns="0" bIns="0" rtlCol="0" anchor="ctr"/>
          <a:lstStyle/>
          <a:p>
            <a:pPr marL="0" indent="0" algn="l">
              <a:lnSpc>
                <a:spcPts val="3000"/>
              </a:lnSpc>
              <a:buNone/>
            </a:pPr>
            <a:r>
              <a:rPr lang="en-US" sz="2000" kern="0" spc="-40" dirty="0">
                <a:solidFill>
                  <a:srgbClr val="333333">
                    <a:alpha val="100000"/>
                  </a:srgbClr>
                </a:solidFill>
                <a:latin typeface="Inter Regular" pitchFamily="34" charset="0"/>
                <a:ea typeface="Inter Regular" pitchFamily="34" charset="-122"/>
                <a:cs typeface="Inter Regular" pitchFamily="34" charset="-120"/>
              </a:rPr>
              <a:t>Inaccessible Interfaces</a:t>
            </a:r>
            <a:endParaRPr lang="en-US" sz="2000" dirty="0"/>
          </a:p>
        </p:txBody>
      </p:sp>
      <p:sp>
        <p:nvSpPr>
          <p:cNvPr id="26" name="Shape 18"/>
          <p:cNvSpPr/>
          <p:nvPr/>
        </p:nvSpPr>
        <p:spPr>
          <a:xfrm>
            <a:off x="7049381" y="8572500"/>
            <a:ext cx="5144143" cy="850900"/>
          </a:xfrm>
          <a:prstGeom prst="rect">
            <a:avLst/>
          </a:prstGeom>
          <a:noFill/>
          <a:ln/>
        </p:spPr>
        <p:txBody>
          <a:bodyPr/>
          <a:lstStyle/>
          <a:p>
            <a:endParaRPr lang="en-ID"/>
          </a:p>
        </p:txBody>
      </p:sp>
      <p:sp>
        <p:nvSpPr>
          <p:cNvPr id="27" name="Text 19"/>
          <p:cNvSpPr/>
          <p:nvPr/>
        </p:nvSpPr>
        <p:spPr>
          <a:xfrm>
            <a:off x="7049381" y="8530167"/>
            <a:ext cx="5228820" cy="935567"/>
          </a:xfrm>
          <a:prstGeom prst="rect">
            <a:avLst/>
          </a:prstGeom>
          <a:noFill/>
          <a:ln/>
        </p:spPr>
        <p:txBody>
          <a:bodyPr wrap="square" lIns="0" tIns="0" rIns="0" bIns="0" rtlCol="0" anchor="ctr"/>
          <a:lstStyle/>
          <a:p>
            <a:pPr marL="0" indent="0" algn="l">
              <a:lnSpc>
                <a:spcPts val="3000"/>
              </a:lnSpc>
              <a:buNone/>
            </a:pPr>
            <a:r>
              <a:rPr lang="en-US" sz="2000" kern="0" spc="-40" dirty="0">
                <a:solidFill>
                  <a:srgbClr val="333333">
                    <a:alpha val="100000"/>
                  </a:srgbClr>
                </a:solidFill>
                <a:latin typeface="Inter Regular" pitchFamily="34" charset="0"/>
                <a:ea typeface="Inter Regular" pitchFamily="34" charset="-122"/>
                <a:cs typeface="Inter Regular" pitchFamily="34" charset="-120"/>
              </a:rPr>
              <a:t>Legal exposure + exclusion of key user segments</a:t>
            </a:r>
            <a:endParaRPr lang="en-US" sz="2000" dirty="0"/>
          </a:p>
        </p:txBody>
      </p:sp>
      <p:sp>
        <p:nvSpPr>
          <p:cNvPr id="29" name="Shape 20"/>
          <p:cNvSpPr/>
          <p:nvPr/>
        </p:nvSpPr>
        <p:spPr>
          <a:xfrm>
            <a:off x="1778222" y="9677400"/>
            <a:ext cx="10415302" cy="863600"/>
          </a:xfrm>
          <a:prstGeom prst="rect">
            <a:avLst/>
          </a:prstGeom>
          <a:noFill/>
          <a:ln/>
        </p:spPr>
        <p:txBody>
          <a:bodyPr/>
          <a:lstStyle/>
          <a:p>
            <a:endParaRPr lang="en-ID"/>
          </a:p>
        </p:txBody>
      </p:sp>
      <p:sp>
        <p:nvSpPr>
          <p:cNvPr id="30" name="Shape 21"/>
          <p:cNvSpPr/>
          <p:nvPr/>
        </p:nvSpPr>
        <p:spPr>
          <a:xfrm>
            <a:off x="1778222" y="9677400"/>
            <a:ext cx="5144143" cy="863600"/>
          </a:xfrm>
          <a:prstGeom prst="rect">
            <a:avLst/>
          </a:prstGeom>
          <a:noFill/>
          <a:ln/>
        </p:spPr>
        <p:txBody>
          <a:bodyPr/>
          <a:lstStyle/>
          <a:p>
            <a:endParaRPr lang="en-ID"/>
          </a:p>
        </p:txBody>
      </p:sp>
      <p:sp>
        <p:nvSpPr>
          <p:cNvPr id="31" name="Text 22"/>
          <p:cNvSpPr/>
          <p:nvPr/>
        </p:nvSpPr>
        <p:spPr>
          <a:xfrm>
            <a:off x="1778222" y="9635067"/>
            <a:ext cx="5228820" cy="948267"/>
          </a:xfrm>
          <a:prstGeom prst="rect">
            <a:avLst/>
          </a:prstGeom>
          <a:noFill/>
          <a:ln/>
        </p:spPr>
        <p:txBody>
          <a:bodyPr wrap="square" lIns="0" tIns="0" rIns="0" bIns="0" rtlCol="0" anchor="ctr"/>
          <a:lstStyle/>
          <a:p>
            <a:pPr marL="0" indent="0" algn="l">
              <a:lnSpc>
                <a:spcPts val="3000"/>
              </a:lnSpc>
              <a:buNone/>
            </a:pPr>
            <a:r>
              <a:rPr lang="en-US" sz="2000" kern="0" spc="-40" dirty="0">
                <a:solidFill>
                  <a:srgbClr val="333333">
                    <a:alpha val="100000"/>
                  </a:srgbClr>
                </a:solidFill>
                <a:latin typeface="Inter Regular" pitchFamily="34" charset="0"/>
                <a:ea typeface="Inter Regular" pitchFamily="34" charset="-122"/>
                <a:cs typeface="Inter Regular" pitchFamily="34" charset="-120"/>
              </a:rPr>
              <a:t>UX Debt Accumulation</a:t>
            </a:r>
            <a:endParaRPr lang="en-US" sz="2000" dirty="0"/>
          </a:p>
        </p:txBody>
      </p:sp>
      <p:sp>
        <p:nvSpPr>
          <p:cNvPr id="32" name="Shape 23"/>
          <p:cNvSpPr/>
          <p:nvPr/>
        </p:nvSpPr>
        <p:spPr>
          <a:xfrm>
            <a:off x="7049381" y="9677400"/>
            <a:ext cx="5144143" cy="863600"/>
          </a:xfrm>
          <a:prstGeom prst="rect">
            <a:avLst/>
          </a:prstGeom>
          <a:noFill/>
          <a:ln/>
        </p:spPr>
        <p:txBody>
          <a:bodyPr/>
          <a:lstStyle/>
          <a:p>
            <a:endParaRPr lang="en-ID"/>
          </a:p>
        </p:txBody>
      </p:sp>
      <p:sp>
        <p:nvSpPr>
          <p:cNvPr id="33" name="Text 24"/>
          <p:cNvSpPr/>
          <p:nvPr/>
        </p:nvSpPr>
        <p:spPr>
          <a:xfrm>
            <a:off x="7049381" y="9635067"/>
            <a:ext cx="5228820" cy="948267"/>
          </a:xfrm>
          <a:prstGeom prst="rect">
            <a:avLst/>
          </a:prstGeom>
          <a:noFill/>
          <a:ln/>
        </p:spPr>
        <p:txBody>
          <a:bodyPr wrap="square" lIns="0" tIns="0" rIns="0" bIns="0" rtlCol="0" anchor="ctr"/>
          <a:lstStyle/>
          <a:p>
            <a:pPr marL="0" indent="0" algn="l">
              <a:lnSpc>
                <a:spcPts val="3000"/>
              </a:lnSpc>
              <a:buNone/>
            </a:pPr>
            <a:r>
              <a:rPr lang="en-US" sz="2000" kern="0" spc="-40" dirty="0">
                <a:solidFill>
                  <a:srgbClr val="333333">
                    <a:alpha val="100000"/>
                  </a:srgbClr>
                </a:solidFill>
                <a:latin typeface="Inter Regular" pitchFamily="34" charset="0"/>
                <a:ea typeface="Inter Regular" pitchFamily="34" charset="-122"/>
                <a:cs typeface="Inter Regular" pitchFamily="34" charset="-120"/>
              </a:rPr>
              <a:t>Higher future redesign cost + inconsistent user experience</a:t>
            </a:r>
            <a:endParaRPr lang="en-US" sz="2000" dirty="0"/>
          </a:p>
        </p:txBody>
      </p:sp>
      <p:sp>
        <p:nvSpPr>
          <p:cNvPr id="35" name="Shape 25"/>
          <p:cNvSpPr/>
          <p:nvPr/>
        </p:nvSpPr>
        <p:spPr>
          <a:xfrm>
            <a:off x="1778222" y="10795000"/>
            <a:ext cx="10415302" cy="850900"/>
          </a:xfrm>
          <a:prstGeom prst="rect">
            <a:avLst/>
          </a:prstGeom>
          <a:noFill/>
          <a:ln/>
        </p:spPr>
        <p:txBody>
          <a:bodyPr/>
          <a:lstStyle/>
          <a:p>
            <a:endParaRPr lang="en-ID"/>
          </a:p>
        </p:txBody>
      </p:sp>
      <p:sp>
        <p:nvSpPr>
          <p:cNvPr id="36" name="Shape 26"/>
          <p:cNvSpPr/>
          <p:nvPr/>
        </p:nvSpPr>
        <p:spPr>
          <a:xfrm>
            <a:off x="1778222" y="10795000"/>
            <a:ext cx="5144143" cy="850900"/>
          </a:xfrm>
          <a:prstGeom prst="rect">
            <a:avLst/>
          </a:prstGeom>
          <a:noFill/>
          <a:ln/>
        </p:spPr>
        <p:txBody>
          <a:bodyPr/>
          <a:lstStyle/>
          <a:p>
            <a:endParaRPr lang="en-ID"/>
          </a:p>
        </p:txBody>
      </p:sp>
      <p:sp>
        <p:nvSpPr>
          <p:cNvPr id="37" name="Text 27"/>
          <p:cNvSpPr/>
          <p:nvPr/>
        </p:nvSpPr>
        <p:spPr>
          <a:xfrm>
            <a:off x="1778222" y="10752667"/>
            <a:ext cx="5228820" cy="935567"/>
          </a:xfrm>
          <a:prstGeom prst="rect">
            <a:avLst/>
          </a:prstGeom>
          <a:noFill/>
          <a:ln/>
        </p:spPr>
        <p:txBody>
          <a:bodyPr wrap="square" lIns="0" tIns="0" rIns="0" bIns="0" rtlCol="0" anchor="ctr"/>
          <a:lstStyle/>
          <a:p>
            <a:pPr marL="0" indent="0" algn="l">
              <a:lnSpc>
                <a:spcPts val="3000"/>
              </a:lnSpc>
              <a:buNone/>
            </a:pPr>
            <a:r>
              <a:rPr lang="en-US" sz="2000" kern="0" spc="-40" dirty="0">
                <a:solidFill>
                  <a:srgbClr val="333333">
                    <a:alpha val="100000"/>
                  </a:srgbClr>
                </a:solidFill>
                <a:latin typeface="Inter Regular" pitchFamily="34" charset="0"/>
                <a:ea typeface="Inter Regular" pitchFamily="34" charset="-122"/>
                <a:cs typeface="Inter Regular" pitchFamily="34" charset="-120"/>
              </a:rPr>
              <a:t>Negative NPS &amp; Reviews</a:t>
            </a:r>
            <a:endParaRPr lang="en-US" sz="2000" dirty="0"/>
          </a:p>
        </p:txBody>
      </p:sp>
      <p:sp>
        <p:nvSpPr>
          <p:cNvPr id="38" name="Shape 28"/>
          <p:cNvSpPr/>
          <p:nvPr/>
        </p:nvSpPr>
        <p:spPr>
          <a:xfrm>
            <a:off x="7049381" y="10795000"/>
            <a:ext cx="5144143" cy="850900"/>
          </a:xfrm>
          <a:prstGeom prst="rect">
            <a:avLst/>
          </a:prstGeom>
          <a:noFill/>
          <a:ln/>
        </p:spPr>
        <p:txBody>
          <a:bodyPr/>
          <a:lstStyle/>
          <a:p>
            <a:endParaRPr lang="en-ID"/>
          </a:p>
        </p:txBody>
      </p:sp>
      <p:sp>
        <p:nvSpPr>
          <p:cNvPr id="39" name="Text 29"/>
          <p:cNvSpPr/>
          <p:nvPr/>
        </p:nvSpPr>
        <p:spPr>
          <a:xfrm>
            <a:off x="7049381" y="10752667"/>
            <a:ext cx="5228820" cy="935567"/>
          </a:xfrm>
          <a:prstGeom prst="rect">
            <a:avLst/>
          </a:prstGeom>
          <a:noFill/>
          <a:ln/>
        </p:spPr>
        <p:txBody>
          <a:bodyPr wrap="square" lIns="0" tIns="0" rIns="0" bIns="0" rtlCol="0" anchor="ctr"/>
          <a:lstStyle/>
          <a:p>
            <a:pPr marL="0" indent="0" algn="l">
              <a:lnSpc>
                <a:spcPts val="3000"/>
              </a:lnSpc>
              <a:buNone/>
            </a:pPr>
            <a:r>
              <a:rPr lang="en-US" sz="2000" kern="0" spc="-40" dirty="0">
                <a:solidFill>
                  <a:srgbClr val="333333">
                    <a:alpha val="100000"/>
                  </a:srgbClr>
                </a:solidFill>
                <a:latin typeface="Inter Regular" pitchFamily="34" charset="0"/>
                <a:ea typeface="Inter Regular" pitchFamily="34" charset="-122"/>
                <a:cs typeface="Inter Regular" pitchFamily="34" charset="-120"/>
              </a:rPr>
              <a:t>Damage to brand credibility and referral potential</a:t>
            </a:r>
            <a:endParaRPr lang="en-US" sz="2000" dirty="0"/>
          </a:p>
        </p:txBody>
      </p:sp>
      <p:sp>
        <p:nvSpPr>
          <p:cNvPr id="40" name="Text 30"/>
          <p:cNvSpPr/>
          <p:nvPr/>
        </p:nvSpPr>
        <p:spPr>
          <a:xfrm>
            <a:off x="1524191" y="1524000"/>
            <a:ext cx="8188290" cy="1557867"/>
          </a:xfrm>
          <a:prstGeom prst="rect">
            <a:avLst/>
          </a:prstGeom>
          <a:noFill/>
          <a:ln/>
        </p:spPr>
        <p:txBody>
          <a:bodyPr wrap="square" lIns="0" tIns="0" rIns="0" bIns="0" rtlCol="0" anchor="t"/>
          <a:lstStyle/>
          <a:p>
            <a:pPr marL="0" indent="0" algn="l">
              <a:lnSpc>
                <a:spcPts val="9600"/>
              </a:lnSpc>
              <a:buNone/>
            </a:pPr>
            <a:r>
              <a:rPr lang="en-US" sz="8000" kern="0" spc="-480" dirty="0">
                <a:solidFill>
                  <a:srgbClr val="050C29">
                    <a:alpha val="100000"/>
                  </a:srgbClr>
                </a:solidFill>
                <a:latin typeface="Inter Medium" pitchFamily="34" charset="0"/>
                <a:ea typeface="Inter Medium" pitchFamily="34" charset="-122"/>
                <a:cs typeface="Inter Medium" pitchFamily="34" charset="-120"/>
              </a:rPr>
              <a:t>Risk of Inaction</a:t>
            </a:r>
            <a:endParaRPr lang="en-US" sz="8000" dirty="0"/>
          </a:p>
        </p:txBody>
      </p:sp>
      <p:sp>
        <p:nvSpPr>
          <p:cNvPr id="41" name="Text 31"/>
          <p:cNvSpPr/>
          <p:nvPr/>
        </p:nvSpPr>
        <p:spPr>
          <a:xfrm>
            <a:off x="12320540" y="1816100"/>
            <a:ext cx="10643930" cy="1473200"/>
          </a:xfrm>
          <a:prstGeom prst="rect">
            <a:avLst/>
          </a:prstGeom>
          <a:noFill/>
          <a:ln/>
        </p:spPr>
        <p:txBody>
          <a:bodyPr wrap="square" lIns="0" tIns="0" rIns="0" bIns="0" rtlCol="0" anchor="t"/>
          <a:lstStyle/>
          <a:p>
            <a:pPr marL="0" indent="0" algn="l">
              <a:lnSpc>
                <a:spcPts val="3600"/>
              </a:lnSpc>
              <a:buNone/>
            </a:pPr>
            <a:r>
              <a:rPr lang="en-US" sz="2400" kern="0" spc="-48" dirty="0">
                <a:solidFill>
                  <a:srgbClr val="000000">
                    <a:alpha val="100000"/>
                  </a:srgbClr>
                </a:solidFill>
                <a:latin typeface="Inter Regular" pitchFamily="34" charset="0"/>
                <a:ea typeface="Inter Regular" pitchFamily="34" charset="-122"/>
                <a:cs typeface="Inter Regular" pitchFamily="34" charset="-120"/>
              </a:rPr>
              <a:t>This slide outlines the hidden and long-term costs of not acting on identified UX issues. Poor usability not only frustrates users it actively affects conversion, loyalty, support costs, and brand trust.</a:t>
            </a:r>
            <a:endParaRPr lang="en-US" sz="2400" dirty="0"/>
          </a:p>
        </p:txBody>
      </p:sp>
      <p:sp>
        <p:nvSpPr>
          <p:cNvPr id="42" name="Text 32"/>
          <p:cNvSpPr/>
          <p:nvPr/>
        </p:nvSpPr>
        <p:spPr>
          <a:xfrm>
            <a:off x="15025978" y="5321300"/>
            <a:ext cx="4318540" cy="1016000"/>
          </a:xfrm>
          <a:prstGeom prst="rect">
            <a:avLst/>
          </a:prstGeom>
          <a:noFill/>
          <a:ln/>
        </p:spPr>
        <p:txBody>
          <a:bodyPr wrap="square" lIns="0" tIns="0" rIns="0" bIns="0" rtlCol="0" anchor="t"/>
          <a:lstStyle/>
          <a:p>
            <a:pPr marL="0" indent="0" algn="l">
              <a:lnSpc>
                <a:spcPts val="3600"/>
              </a:lnSpc>
              <a:buNone/>
            </a:pPr>
            <a:r>
              <a:rPr lang="en-US" sz="2400" kern="0" spc="-48" dirty="0">
                <a:solidFill>
                  <a:srgbClr val="050C29">
                    <a:alpha val="100000"/>
                  </a:srgbClr>
                </a:solidFill>
                <a:latin typeface="Inter Regular" pitchFamily="34" charset="0"/>
                <a:ea typeface="Inter Regular" pitchFamily="34" charset="-122"/>
                <a:cs typeface="Inter Regular" pitchFamily="34" charset="-120"/>
              </a:rPr>
              <a:t>Support tickets caused by avoidable usability confusion</a:t>
            </a:r>
            <a:endParaRPr lang="en-US" sz="2400" dirty="0"/>
          </a:p>
        </p:txBody>
      </p:sp>
      <p:sp>
        <p:nvSpPr>
          <p:cNvPr id="43" name="Text 33"/>
          <p:cNvSpPr/>
          <p:nvPr/>
        </p:nvSpPr>
        <p:spPr>
          <a:xfrm>
            <a:off x="17833029" y="11404600"/>
            <a:ext cx="2222778" cy="558800"/>
          </a:xfrm>
          <a:prstGeom prst="rect">
            <a:avLst/>
          </a:prstGeom>
          <a:noFill/>
          <a:ln/>
        </p:spPr>
        <p:txBody>
          <a:bodyPr wrap="square" lIns="0" tIns="0" rIns="0" bIns="0" rtlCol="0" anchor="t"/>
          <a:lstStyle/>
          <a:p>
            <a:pPr marL="0" indent="0" algn="l">
              <a:lnSpc>
                <a:spcPts val="3600"/>
              </a:lnSpc>
              <a:buNone/>
            </a:pPr>
            <a:r>
              <a:rPr lang="en-US" sz="2400" kern="0" spc="-48" dirty="0">
                <a:solidFill>
                  <a:srgbClr val="050C29">
                    <a:alpha val="100000"/>
                  </a:srgbClr>
                </a:solidFill>
                <a:latin typeface="Inter Regular" pitchFamily="34" charset="0"/>
                <a:ea typeface="Inter Regular" pitchFamily="34" charset="-122"/>
                <a:cs typeface="Inter Regular" pitchFamily="34" charset="-120"/>
              </a:rPr>
              <a:t>Support tickets</a:t>
            </a:r>
            <a:endParaRPr lang="en-US" sz="2400" dirty="0"/>
          </a:p>
        </p:txBody>
      </p:sp>
      <p:graphicFrame>
        <p:nvGraphicFramePr>
          <p:cNvPr id="52" name="Chart 51">
            <a:extLst>
              <a:ext uri="{FF2B5EF4-FFF2-40B4-BE49-F238E27FC236}">
                <a16:creationId xmlns:a16="http://schemas.microsoft.com/office/drawing/2014/main" id="{1C3FB9BF-11D4-C5F7-F9F4-6EA6C98C9569}"/>
              </a:ext>
            </a:extLst>
          </p:cNvPr>
          <p:cNvGraphicFramePr/>
          <p:nvPr>
            <p:extLst>
              <p:ext uri="{D42A27DB-BD31-4B8C-83A1-F6EECF244321}">
                <p14:modId xmlns:p14="http://schemas.microsoft.com/office/powerpoint/2010/main" val="2875867640"/>
              </p:ext>
            </p:extLst>
          </p:nvPr>
        </p:nvGraphicFramePr>
        <p:xfrm>
          <a:off x="13190789" y="7226165"/>
          <a:ext cx="11507258" cy="7671505"/>
        </p:xfrm>
        <a:graphic>
          <a:graphicData uri="http://schemas.openxmlformats.org/drawingml/2006/chart">
            <c:chart xmlns:c="http://schemas.openxmlformats.org/drawingml/2006/chart" xmlns:r="http://schemas.openxmlformats.org/officeDocument/2006/relationships" r:id="rId6"/>
          </a:graphicData>
        </a:graphic>
      </p:graphicFrame>
      <p:sp>
        <p:nvSpPr>
          <p:cNvPr id="44" name="Text 34"/>
          <p:cNvSpPr/>
          <p:nvPr/>
        </p:nvSpPr>
        <p:spPr>
          <a:xfrm>
            <a:off x="17134442" y="9715500"/>
            <a:ext cx="4060274" cy="2002367"/>
          </a:xfrm>
          <a:prstGeom prst="rect">
            <a:avLst/>
          </a:prstGeom>
          <a:noFill/>
          <a:ln/>
        </p:spPr>
        <p:txBody>
          <a:bodyPr wrap="square" lIns="0" tIns="0" rIns="0" bIns="0" rtlCol="0" anchor="t"/>
          <a:lstStyle/>
          <a:p>
            <a:pPr marL="0" indent="0" algn="l">
              <a:lnSpc>
                <a:spcPts val="12100"/>
              </a:lnSpc>
              <a:buNone/>
            </a:pPr>
            <a:r>
              <a:rPr lang="en-US" sz="11000" kern="0" spc="-440" dirty="0">
                <a:solidFill>
                  <a:srgbClr val="050C29">
                    <a:alpha val="100000"/>
                  </a:srgbClr>
                </a:solidFill>
                <a:latin typeface="Montserrat SemiBold" pitchFamily="34" charset="0"/>
                <a:ea typeface="Montserrat SemiBold" pitchFamily="34" charset="-122"/>
                <a:cs typeface="Montserrat SemiBold" pitchFamily="34" charset="-120"/>
              </a:rPr>
              <a:t>+20%</a:t>
            </a:r>
            <a:endParaRPr lang="en-US" sz="1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65" name="Rectangle 64">
            <a:extLst>
              <a:ext uri="{FF2B5EF4-FFF2-40B4-BE49-F238E27FC236}">
                <a16:creationId xmlns:a16="http://schemas.microsoft.com/office/drawing/2014/main" id="{47E0DC30-5EB2-CE62-2DDE-C092ADCD3E63}"/>
              </a:ext>
            </a:extLst>
          </p:cNvPr>
          <p:cNvSpPr/>
          <p:nvPr/>
        </p:nvSpPr>
        <p:spPr>
          <a:xfrm>
            <a:off x="0" y="0"/>
            <a:ext cx="24387175" cy="13716000"/>
          </a:xfrm>
          <a:prstGeom prst="rect">
            <a:avLst/>
          </a:prstGeom>
          <a:gradFill flip="none" rotWithShape="1">
            <a:gsLst>
              <a:gs pos="0">
                <a:srgbClr val="EFEFEF"/>
              </a:gs>
              <a:gs pos="76000">
                <a:srgbClr val="FFFFFF"/>
              </a:gs>
            </a:gsLst>
            <a:lin ang="16200000" scaled="0"/>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sz="100"/>
          </a:p>
        </p:txBody>
      </p:sp>
      <p:sp>
        <p:nvSpPr>
          <p:cNvPr id="3" name="Text 0"/>
          <p:cNvSpPr/>
          <p:nvPr/>
        </p:nvSpPr>
        <p:spPr>
          <a:xfrm>
            <a:off x="1524191" y="2908300"/>
            <a:ext cx="9026595" cy="2777067"/>
          </a:xfrm>
          <a:prstGeom prst="rect">
            <a:avLst/>
          </a:prstGeom>
          <a:noFill/>
          <a:ln/>
        </p:spPr>
        <p:txBody>
          <a:bodyPr wrap="square" lIns="0" tIns="0" rIns="0" bIns="0" rtlCol="0" anchor="t"/>
          <a:lstStyle/>
          <a:p>
            <a:pPr marL="0" indent="0" algn="l">
              <a:lnSpc>
                <a:spcPts val="9600"/>
              </a:lnSpc>
              <a:buNone/>
            </a:pPr>
            <a:r>
              <a:rPr lang="en-US" sz="8000" kern="0" spc="-480" dirty="0">
                <a:solidFill>
                  <a:srgbClr val="050C29">
                    <a:alpha val="100000"/>
                  </a:srgbClr>
                </a:solidFill>
                <a:latin typeface="Inter Medium" pitchFamily="34" charset="0"/>
                <a:ea typeface="Inter Medium" pitchFamily="34" charset="-122"/>
                <a:cs typeface="Inter Medium" pitchFamily="34" charset="-120"/>
              </a:rPr>
              <a:t>Success Indicators to Watch</a:t>
            </a:r>
            <a:endParaRPr lang="en-US" sz="8000" dirty="0"/>
          </a:p>
        </p:txBody>
      </p:sp>
      <p:sp>
        <p:nvSpPr>
          <p:cNvPr id="4" name="Text 1"/>
          <p:cNvSpPr/>
          <p:nvPr/>
        </p:nvSpPr>
        <p:spPr>
          <a:xfrm>
            <a:off x="1524191" y="1524000"/>
            <a:ext cx="1841730" cy="469900"/>
          </a:xfrm>
          <a:prstGeom prst="rect">
            <a:avLst/>
          </a:prstGeom>
          <a:noFill/>
          <a:ln/>
        </p:spPr>
        <p:txBody>
          <a:bodyPr wrap="square" lIns="0" tIns="0" rIns="0" bIns="0" rtlCol="0" anchor="t"/>
          <a:lstStyle/>
          <a:p>
            <a:pPr marL="0" indent="0" algn="l">
              <a:buNone/>
            </a:pPr>
            <a:r>
              <a:rPr lang="en-US" sz="2400" dirty="0">
                <a:solidFill>
                  <a:srgbClr val="000000">
                    <a:alpha val="100000"/>
                  </a:srgbClr>
                </a:solidFill>
                <a:latin typeface="Inter Regular" pitchFamily="34" charset="0"/>
                <a:ea typeface="Inter Regular" pitchFamily="34" charset="-122"/>
                <a:cs typeface="Inter Regular" pitchFamily="34" charset="-120"/>
              </a:rPr>
              <a:t>Fix the Flow</a:t>
            </a:r>
            <a:endParaRPr lang="en-US" sz="2400" dirty="0"/>
          </a:p>
        </p:txBody>
      </p:sp>
      <p:sp>
        <p:nvSpPr>
          <p:cNvPr id="5" name="Text 2"/>
          <p:cNvSpPr/>
          <p:nvPr/>
        </p:nvSpPr>
        <p:spPr>
          <a:xfrm>
            <a:off x="1524191" y="5956300"/>
            <a:ext cx="8853006" cy="1473200"/>
          </a:xfrm>
          <a:prstGeom prst="rect">
            <a:avLst/>
          </a:prstGeom>
          <a:noFill/>
          <a:ln/>
        </p:spPr>
        <p:txBody>
          <a:bodyPr wrap="square" lIns="0" tIns="0" rIns="0" bIns="0" rtlCol="0" anchor="t"/>
          <a:lstStyle/>
          <a:p>
            <a:pPr marL="0" indent="0" algn="l">
              <a:lnSpc>
                <a:spcPts val="3600"/>
              </a:lnSpc>
              <a:buNone/>
            </a:pPr>
            <a:r>
              <a:rPr lang="en-US" sz="2400" kern="0" spc="-48" dirty="0">
                <a:solidFill>
                  <a:srgbClr val="000000">
                    <a:alpha val="100000"/>
                  </a:srgbClr>
                </a:solidFill>
                <a:latin typeface="Inter Regular" pitchFamily="34" charset="0"/>
                <a:ea typeface="Inter Regular" pitchFamily="34" charset="-122"/>
                <a:cs typeface="Inter Regular" pitchFamily="34" charset="-120"/>
              </a:rPr>
              <a:t>This slide outlines the key performance indicators (KPIs) and feedback loops we’ll use to measure whether the UX changes are delivering real impact.</a:t>
            </a:r>
            <a:endParaRPr lang="en-US" sz="2400" dirty="0"/>
          </a:p>
        </p:txBody>
      </p:sp>
      <p:sp>
        <p:nvSpPr>
          <p:cNvPr id="6" name="Text 3"/>
          <p:cNvSpPr/>
          <p:nvPr/>
        </p:nvSpPr>
        <p:spPr>
          <a:xfrm>
            <a:off x="1524191" y="7835900"/>
            <a:ext cx="6414302" cy="2387600"/>
          </a:xfrm>
          <a:prstGeom prst="rect">
            <a:avLst/>
          </a:prstGeom>
          <a:noFill/>
          <a:ln/>
        </p:spPr>
        <p:txBody>
          <a:bodyPr wrap="square" lIns="0" tIns="0" rIns="0" bIns="0" rtlCol="0" anchor="t"/>
          <a:lstStyle/>
          <a:p>
            <a:pPr marL="0" indent="0" algn="l">
              <a:lnSpc>
                <a:spcPts val="3600"/>
              </a:lnSpc>
              <a:buNone/>
            </a:pPr>
            <a:r>
              <a:rPr lang="en-US" sz="2400" kern="0" spc="-48" dirty="0">
                <a:solidFill>
                  <a:srgbClr val="000000">
                    <a:alpha val="100000"/>
                  </a:srgbClr>
                </a:solidFill>
                <a:latin typeface="Inter Regular" pitchFamily="34" charset="0"/>
                <a:ea typeface="Inter Regular" pitchFamily="34" charset="-122"/>
                <a:cs typeface="Inter Regular" pitchFamily="34" charset="-120"/>
              </a:rPr>
              <a:t>Timeline to Re-Audit:</a:t>
            </a:r>
            <a:endParaRPr lang="en-US" sz="2400" dirty="0"/>
          </a:p>
          <a:p>
            <a:pPr marL="685800" lvl="1" indent="-342900" algn="l">
              <a:lnSpc>
                <a:spcPts val="3600"/>
              </a:lnSpc>
              <a:buSzPct val="100000"/>
              <a:buChar char="•"/>
            </a:pPr>
            <a:r>
              <a:rPr lang="en-US" sz="2400" kern="0" spc="-48" dirty="0">
                <a:solidFill>
                  <a:srgbClr val="000000">
                    <a:alpha val="100000"/>
                  </a:srgbClr>
                </a:solidFill>
                <a:latin typeface="Inter Regular" pitchFamily="34" charset="0"/>
                <a:ea typeface="Inter Regular" pitchFamily="34" charset="-122"/>
                <a:cs typeface="Inter Regular" pitchFamily="34" charset="-120"/>
              </a:rPr>
              <a:t>1 Month: Monitor key metrics weekly</a:t>
            </a:r>
            <a:endParaRPr lang="en-US" sz="2400" dirty="0"/>
          </a:p>
          <a:p>
            <a:pPr marL="685800" lvl="1" indent="-342900" algn="l">
              <a:lnSpc>
                <a:spcPts val="3600"/>
              </a:lnSpc>
              <a:buSzPct val="100000"/>
              <a:buChar char="•"/>
            </a:pPr>
            <a:r>
              <a:rPr lang="en-US" sz="2400" kern="0" spc="-48" dirty="0">
                <a:solidFill>
                  <a:srgbClr val="000000">
                    <a:alpha val="100000"/>
                  </a:srgbClr>
                </a:solidFill>
                <a:latin typeface="Inter Regular" pitchFamily="34" charset="0"/>
                <a:ea typeface="Inter Regular" pitchFamily="34" charset="-122"/>
                <a:cs typeface="Inter Regular" pitchFamily="34" charset="-120"/>
              </a:rPr>
              <a:t>3 Months: Conduct light UX retest</a:t>
            </a:r>
            <a:endParaRPr lang="en-US" sz="2400" dirty="0"/>
          </a:p>
          <a:p>
            <a:pPr marL="685800" lvl="1" indent="-342900" algn="l">
              <a:lnSpc>
                <a:spcPts val="3600"/>
              </a:lnSpc>
              <a:buSzPct val="100000"/>
              <a:buChar char="•"/>
            </a:pPr>
            <a:r>
              <a:rPr lang="en-US" sz="2400" kern="0" spc="-48" dirty="0">
                <a:solidFill>
                  <a:srgbClr val="000000">
                    <a:alpha val="100000"/>
                  </a:srgbClr>
                </a:solidFill>
                <a:latin typeface="Inter Regular" pitchFamily="34" charset="0"/>
                <a:ea typeface="Inter Regular" pitchFamily="34" charset="-122"/>
                <a:cs typeface="Inter Regular" pitchFamily="34" charset="-120"/>
              </a:rPr>
              <a:t>6 Months: Full re-audit and strategic design check-in</a:t>
            </a:r>
            <a:endParaRPr lang="en-US" sz="2400" dirty="0"/>
          </a:p>
        </p:txBody>
      </p:sp>
      <p:pic>
        <p:nvPicPr>
          <p:cNvPr id="2" name="Graphic 1">
            <a:extLst>
              <a:ext uri="{FF2B5EF4-FFF2-40B4-BE49-F238E27FC236}">
                <a16:creationId xmlns:a16="http://schemas.microsoft.com/office/drawing/2014/main" id="{9108B56B-D7AD-B5A4-5EC3-2DCB4FCA703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004973" y="2953054"/>
            <a:ext cx="10565747" cy="7581596"/>
          </a:xfrm>
          <a:prstGeom prst="rect">
            <a:avLst/>
          </a:prstGeom>
        </p:spPr>
      </p:pic>
      <p:sp>
        <p:nvSpPr>
          <p:cNvPr id="7" name="Text 4"/>
          <p:cNvSpPr/>
          <p:nvPr/>
        </p:nvSpPr>
        <p:spPr>
          <a:xfrm>
            <a:off x="1524191" y="10883900"/>
            <a:ext cx="8573572" cy="1016000"/>
          </a:xfrm>
          <a:prstGeom prst="rect">
            <a:avLst/>
          </a:prstGeom>
          <a:noFill/>
          <a:ln/>
        </p:spPr>
        <p:txBody>
          <a:bodyPr wrap="square" lIns="0" tIns="0" rIns="0" bIns="0" rtlCol="0" anchor="t"/>
          <a:lstStyle/>
          <a:p>
            <a:pPr marL="0" indent="0" algn="l">
              <a:lnSpc>
                <a:spcPts val="3600"/>
              </a:lnSpc>
              <a:buNone/>
            </a:pPr>
            <a:r>
              <a:rPr lang="en-US" sz="2400" kern="0" spc="-48" dirty="0">
                <a:solidFill>
                  <a:srgbClr val="000000">
                    <a:alpha val="100000"/>
                  </a:srgbClr>
                </a:solidFill>
                <a:latin typeface="Inter Regular" pitchFamily="34" charset="0"/>
                <a:ea typeface="Inter Regular" pitchFamily="34" charset="-122"/>
                <a:cs typeface="Inter Regular" pitchFamily="34" charset="-120"/>
              </a:rPr>
              <a:t>“You can’t improve what you don’t measure and we plan to measure everything.”</a:t>
            </a:r>
            <a:endParaRPr lang="en-US" sz="2400" dirty="0"/>
          </a:p>
        </p:txBody>
      </p:sp>
      <p:sp>
        <p:nvSpPr>
          <p:cNvPr id="10" name="Shape 5"/>
          <p:cNvSpPr/>
          <p:nvPr/>
        </p:nvSpPr>
        <p:spPr>
          <a:xfrm>
            <a:off x="12193524" y="2959100"/>
            <a:ext cx="10415302" cy="647700"/>
          </a:xfrm>
          <a:prstGeom prst="rect">
            <a:avLst/>
          </a:prstGeom>
          <a:noFill/>
          <a:ln/>
        </p:spPr>
        <p:txBody>
          <a:bodyPr/>
          <a:lstStyle/>
          <a:p>
            <a:endParaRPr lang="en-ID"/>
          </a:p>
        </p:txBody>
      </p:sp>
      <p:sp>
        <p:nvSpPr>
          <p:cNvPr id="11" name="Shape 6"/>
          <p:cNvSpPr/>
          <p:nvPr/>
        </p:nvSpPr>
        <p:spPr>
          <a:xfrm>
            <a:off x="12193524" y="2959100"/>
            <a:ext cx="3387090" cy="647700"/>
          </a:xfrm>
          <a:prstGeom prst="rect">
            <a:avLst/>
          </a:prstGeom>
          <a:noFill/>
          <a:ln/>
        </p:spPr>
        <p:txBody>
          <a:bodyPr/>
          <a:lstStyle/>
          <a:p>
            <a:endParaRPr lang="en-ID"/>
          </a:p>
        </p:txBody>
      </p:sp>
      <p:sp>
        <p:nvSpPr>
          <p:cNvPr id="12" name="Text 7"/>
          <p:cNvSpPr/>
          <p:nvPr/>
        </p:nvSpPr>
        <p:spPr>
          <a:xfrm>
            <a:off x="12193524" y="2916767"/>
            <a:ext cx="3471767" cy="732367"/>
          </a:xfrm>
          <a:prstGeom prst="rect">
            <a:avLst/>
          </a:prstGeom>
          <a:noFill/>
          <a:ln/>
        </p:spPr>
        <p:txBody>
          <a:bodyPr wrap="square" lIns="0" tIns="0" rIns="0" bIns="0" rtlCol="0" anchor="ctr"/>
          <a:lstStyle/>
          <a:p>
            <a:pPr marL="0" indent="0" algn="l">
              <a:lnSpc>
                <a:spcPts val="3000"/>
              </a:lnSpc>
              <a:buNone/>
            </a:pPr>
            <a:r>
              <a:rPr lang="en-US" sz="2000" kern="0" spc="-40" dirty="0">
                <a:solidFill>
                  <a:srgbClr val="FFFFFF">
                    <a:alpha val="100000"/>
                  </a:srgbClr>
                </a:solidFill>
                <a:latin typeface="Inter Regular" pitchFamily="34" charset="0"/>
                <a:ea typeface="Inter Regular" pitchFamily="34" charset="-122"/>
                <a:cs typeface="Inter Regular" pitchFamily="34" charset="-120"/>
              </a:rPr>
              <a:t>Metric</a:t>
            </a:r>
            <a:endParaRPr lang="en-US" sz="2000" dirty="0"/>
          </a:p>
        </p:txBody>
      </p:sp>
      <p:sp>
        <p:nvSpPr>
          <p:cNvPr id="13" name="Shape 8"/>
          <p:cNvSpPr/>
          <p:nvPr/>
        </p:nvSpPr>
        <p:spPr>
          <a:xfrm>
            <a:off x="15707628" y="2959100"/>
            <a:ext cx="3387090" cy="647700"/>
          </a:xfrm>
          <a:prstGeom prst="rect">
            <a:avLst/>
          </a:prstGeom>
          <a:noFill/>
          <a:ln/>
        </p:spPr>
        <p:txBody>
          <a:bodyPr/>
          <a:lstStyle/>
          <a:p>
            <a:endParaRPr lang="en-ID"/>
          </a:p>
        </p:txBody>
      </p:sp>
      <p:sp>
        <p:nvSpPr>
          <p:cNvPr id="14" name="Text 9"/>
          <p:cNvSpPr/>
          <p:nvPr/>
        </p:nvSpPr>
        <p:spPr>
          <a:xfrm>
            <a:off x="15707628" y="2916767"/>
            <a:ext cx="3471768" cy="732367"/>
          </a:xfrm>
          <a:prstGeom prst="rect">
            <a:avLst/>
          </a:prstGeom>
          <a:noFill/>
          <a:ln/>
        </p:spPr>
        <p:txBody>
          <a:bodyPr wrap="square" lIns="0" tIns="0" rIns="0" bIns="0" rtlCol="0" anchor="ctr"/>
          <a:lstStyle/>
          <a:p>
            <a:pPr marL="0" indent="0" algn="l">
              <a:lnSpc>
                <a:spcPts val="3000"/>
              </a:lnSpc>
              <a:buNone/>
            </a:pPr>
            <a:r>
              <a:rPr lang="en-US" sz="2000" kern="0" spc="-40" dirty="0">
                <a:solidFill>
                  <a:srgbClr val="FFFFFF">
                    <a:alpha val="100000"/>
                  </a:srgbClr>
                </a:solidFill>
                <a:latin typeface="Inter Regular" pitchFamily="34" charset="0"/>
                <a:ea typeface="Inter Regular" pitchFamily="34" charset="-122"/>
                <a:cs typeface="Inter Regular" pitchFamily="34" charset="-120"/>
              </a:rPr>
              <a:t>Target Change</a:t>
            </a:r>
            <a:endParaRPr lang="en-US" sz="2000" dirty="0"/>
          </a:p>
        </p:txBody>
      </p:sp>
      <p:sp>
        <p:nvSpPr>
          <p:cNvPr id="15" name="Shape 10"/>
          <p:cNvSpPr/>
          <p:nvPr/>
        </p:nvSpPr>
        <p:spPr>
          <a:xfrm>
            <a:off x="19221738" y="2959100"/>
            <a:ext cx="3387090" cy="647700"/>
          </a:xfrm>
          <a:prstGeom prst="rect">
            <a:avLst/>
          </a:prstGeom>
          <a:noFill/>
          <a:ln/>
        </p:spPr>
        <p:txBody>
          <a:bodyPr/>
          <a:lstStyle/>
          <a:p>
            <a:endParaRPr lang="en-ID"/>
          </a:p>
        </p:txBody>
      </p:sp>
      <p:sp>
        <p:nvSpPr>
          <p:cNvPr id="16" name="Text 11"/>
          <p:cNvSpPr/>
          <p:nvPr/>
        </p:nvSpPr>
        <p:spPr>
          <a:xfrm>
            <a:off x="19221738" y="2916767"/>
            <a:ext cx="3471768" cy="732367"/>
          </a:xfrm>
          <a:prstGeom prst="rect">
            <a:avLst/>
          </a:prstGeom>
          <a:noFill/>
          <a:ln/>
        </p:spPr>
        <p:txBody>
          <a:bodyPr wrap="square" lIns="0" tIns="0" rIns="0" bIns="0" rtlCol="0" anchor="ctr"/>
          <a:lstStyle/>
          <a:p>
            <a:pPr marL="0" indent="0" algn="l">
              <a:lnSpc>
                <a:spcPts val="3000"/>
              </a:lnSpc>
              <a:buNone/>
            </a:pPr>
            <a:r>
              <a:rPr lang="en-US" sz="2000" kern="0" spc="-40" dirty="0">
                <a:solidFill>
                  <a:srgbClr val="FFFFFF">
                    <a:alpha val="100000"/>
                  </a:srgbClr>
                </a:solidFill>
                <a:latin typeface="Inter Regular" pitchFamily="34" charset="0"/>
                <a:ea typeface="Inter Regular" pitchFamily="34" charset="-122"/>
                <a:cs typeface="Inter Regular" pitchFamily="34" charset="-120"/>
              </a:rPr>
              <a:t>Measurement Method</a:t>
            </a:r>
            <a:endParaRPr lang="en-US" sz="2000" dirty="0"/>
          </a:p>
        </p:txBody>
      </p:sp>
      <p:sp>
        <p:nvSpPr>
          <p:cNvPr id="18" name="Shape 12"/>
          <p:cNvSpPr/>
          <p:nvPr/>
        </p:nvSpPr>
        <p:spPr>
          <a:xfrm>
            <a:off x="12193524" y="3860800"/>
            <a:ext cx="10415302" cy="863600"/>
          </a:xfrm>
          <a:prstGeom prst="rect">
            <a:avLst/>
          </a:prstGeom>
          <a:noFill/>
          <a:ln/>
        </p:spPr>
        <p:txBody>
          <a:bodyPr/>
          <a:lstStyle/>
          <a:p>
            <a:endParaRPr lang="en-ID"/>
          </a:p>
        </p:txBody>
      </p:sp>
      <p:sp>
        <p:nvSpPr>
          <p:cNvPr id="19" name="Shape 13"/>
          <p:cNvSpPr/>
          <p:nvPr/>
        </p:nvSpPr>
        <p:spPr>
          <a:xfrm>
            <a:off x="12193524" y="3860800"/>
            <a:ext cx="3387090" cy="863600"/>
          </a:xfrm>
          <a:prstGeom prst="rect">
            <a:avLst/>
          </a:prstGeom>
          <a:noFill/>
          <a:ln/>
        </p:spPr>
        <p:txBody>
          <a:bodyPr/>
          <a:lstStyle/>
          <a:p>
            <a:endParaRPr lang="en-ID"/>
          </a:p>
        </p:txBody>
      </p:sp>
      <p:sp>
        <p:nvSpPr>
          <p:cNvPr id="20" name="Text 14"/>
          <p:cNvSpPr/>
          <p:nvPr/>
        </p:nvSpPr>
        <p:spPr>
          <a:xfrm>
            <a:off x="12193524" y="3818467"/>
            <a:ext cx="3471767" cy="948267"/>
          </a:xfrm>
          <a:prstGeom prst="rect">
            <a:avLst/>
          </a:prstGeom>
          <a:noFill/>
          <a:ln/>
        </p:spPr>
        <p:txBody>
          <a:bodyPr wrap="square" lIns="0" tIns="0" rIns="0" bIns="0" rtlCol="0" anchor="ctr"/>
          <a:lstStyle/>
          <a:p>
            <a:pPr marL="0" indent="0" algn="l">
              <a:lnSpc>
                <a:spcPts val="3000"/>
              </a:lnSpc>
              <a:buNone/>
            </a:pPr>
            <a:r>
              <a:rPr lang="en-US" sz="2000" kern="0" spc="-40" dirty="0">
                <a:solidFill>
                  <a:srgbClr val="333333">
                    <a:alpha val="100000"/>
                  </a:srgbClr>
                </a:solidFill>
                <a:latin typeface="Inter Regular" pitchFamily="34" charset="0"/>
                <a:ea typeface="Inter Regular" pitchFamily="34" charset="-122"/>
                <a:cs typeface="Inter Regular" pitchFamily="34" charset="-120"/>
              </a:rPr>
              <a:t>Conversion Rate</a:t>
            </a:r>
            <a:endParaRPr lang="en-US" sz="2000" dirty="0"/>
          </a:p>
        </p:txBody>
      </p:sp>
      <p:sp>
        <p:nvSpPr>
          <p:cNvPr id="21" name="Shape 15"/>
          <p:cNvSpPr/>
          <p:nvPr/>
        </p:nvSpPr>
        <p:spPr>
          <a:xfrm>
            <a:off x="15707628" y="3860800"/>
            <a:ext cx="3387090" cy="863600"/>
          </a:xfrm>
          <a:prstGeom prst="rect">
            <a:avLst/>
          </a:prstGeom>
          <a:noFill/>
          <a:ln/>
        </p:spPr>
        <p:txBody>
          <a:bodyPr/>
          <a:lstStyle/>
          <a:p>
            <a:endParaRPr lang="en-ID"/>
          </a:p>
        </p:txBody>
      </p:sp>
      <p:sp>
        <p:nvSpPr>
          <p:cNvPr id="22" name="Text 16"/>
          <p:cNvSpPr/>
          <p:nvPr/>
        </p:nvSpPr>
        <p:spPr>
          <a:xfrm>
            <a:off x="15707628" y="3818467"/>
            <a:ext cx="3471768" cy="948267"/>
          </a:xfrm>
          <a:prstGeom prst="rect">
            <a:avLst/>
          </a:prstGeom>
          <a:noFill/>
          <a:ln/>
        </p:spPr>
        <p:txBody>
          <a:bodyPr wrap="square" lIns="0" tIns="0" rIns="0" bIns="0" rtlCol="0" anchor="ctr"/>
          <a:lstStyle/>
          <a:p>
            <a:pPr marL="0" indent="0" algn="l">
              <a:lnSpc>
                <a:spcPts val="3000"/>
              </a:lnSpc>
              <a:buNone/>
            </a:pPr>
            <a:r>
              <a:rPr lang="en-US" sz="2000" kern="0" spc="-40" dirty="0">
                <a:solidFill>
                  <a:srgbClr val="333333">
                    <a:alpha val="100000"/>
                  </a:srgbClr>
                </a:solidFill>
                <a:latin typeface="Inter Regular" pitchFamily="34" charset="0"/>
                <a:ea typeface="Inter Regular" pitchFamily="34" charset="-122"/>
                <a:cs typeface="Inter Regular" pitchFamily="34" charset="-120"/>
              </a:rPr>
              <a:t>+20%</a:t>
            </a:r>
            <a:endParaRPr lang="en-US" sz="2000" dirty="0"/>
          </a:p>
        </p:txBody>
      </p:sp>
      <p:sp>
        <p:nvSpPr>
          <p:cNvPr id="23" name="Shape 17"/>
          <p:cNvSpPr/>
          <p:nvPr/>
        </p:nvSpPr>
        <p:spPr>
          <a:xfrm>
            <a:off x="19221738" y="3860800"/>
            <a:ext cx="3387090" cy="863600"/>
          </a:xfrm>
          <a:prstGeom prst="rect">
            <a:avLst/>
          </a:prstGeom>
          <a:noFill/>
          <a:ln/>
        </p:spPr>
        <p:txBody>
          <a:bodyPr/>
          <a:lstStyle/>
          <a:p>
            <a:endParaRPr lang="en-ID"/>
          </a:p>
        </p:txBody>
      </p:sp>
      <p:sp>
        <p:nvSpPr>
          <p:cNvPr id="24" name="Text 18"/>
          <p:cNvSpPr/>
          <p:nvPr/>
        </p:nvSpPr>
        <p:spPr>
          <a:xfrm>
            <a:off x="19221738" y="3818467"/>
            <a:ext cx="3471768" cy="948267"/>
          </a:xfrm>
          <a:prstGeom prst="rect">
            <a:avLst/>
          </a:prstGeom>
          <a:noFill/>
          <a:ln/>
        </p:spPr>
        <p:txBody>
          <a:bodyPr wrap="square" lIns="0" tIns="0" rIns="0" bIns="0" rtlCol="0" anchor="ctr"/>
          <a:lstStyle/>
          <a:p>
            <a:pPr marL="0" indent="0" algn="l">
              <a:lnSpc>
                <a:spcPts val="3000"/>
              </a:lnSpc>
              <a:buNone/>
            </a:pPr>
            <a:r>
              <a:rPr lang="en-US" sz="2000" kern="0" spc="-40" dirty="0">
                <a:solidFill>
                  <a:srgbClr val="333333">
                    <a:alpha val="100000"/>
                  </a:srgbClr>
                </a:solidFill>
                <a:latin typeface="Inter Regular" pitchFamily="34" charset="0"/>
                <a:ea typeface="Inter Regular" pitchFamily="34" charset="-122"/>
                <a:cs typeface="Inter Regular" pitchFamily="34" charset="-120"/>
              </a:rPr>
              <a:t>Analytics (Google/Amplitude)</a:t>
            </a:r>
            <a:endParaRPr lang="en-US" sz="2000" dirty="0"/>
          </a:p>
        </p:txBody>
      </p:sp>
      <p:sp>
        <p:nvSpPr>
          <p:cNvPr id="26" name="Shape 19"/>
          <p:cNvSpPr/>
          <p:nvPr/>
        </p:nvSpPr>
        <p:spPr>
          <a:xfrm>
            <a:off x="12193524" y="4991100"/>
            <a:ext cx="10415302" cy="863600"/>
          </a:xfrm>
          <a:prstGeom prst="rect">
            <a:avLst/>
          </a:prstGeom>
          <a:noFill/>
          <a:ln/>
        </p:spPr>
        <p:txBody>
          <a:bodyPr/>
          <a:lstStyle/>
          <a:p>
            <a:endParaRPr lang="en-ID"/>
          </a:p>
        </p:txBody>
      </p:sp>
      <p:sp>
        <p:nvSpPr>
          <p:cNvPr id="27" name="Shape 20"/>
          <p:cNvSpPr/>
          <p:nvPr/>
        </p:nvSpPr>
        <p:spPr>
          <a:xfrm>
            <a:off x="12193524" y="4991100"/>
            <a:ext cx="3387090" cy="863600"/>
          </a:xfrm>
          <a:prstGeom prst="rect">
            <a:avLst/>
          </a:prstGeom>
          <a:noFill/>
          <a:ln/>
        </p:spPr>
        <p:txBody>
          <a:bodyPr/>
          <a:lstStyle/>
          <a:p>
            <a:endParaRPr lang="en-ID"/>
          </a:p>
        </p:txBody>
      </p:sp>
      <p:sp>
        <p:nvSpPr>
          <p:cNvPr id="28" name="Text 21"/>
          <p:cNvSpPr/>
          <p:nvPr/>
        </p:nvSpPr>
        <p:spPr>
          <a:xfrm>
            <a:off x="12193524" y="4948767"/>
            <a:ext cx="3471767" cy="948267"/>
          </a:xfrm>
          <a:prstGeom prst="rect">
            <a:avLst/>
          </a:prstGeom>
          <a:noFill/>
          <a:ln/>
        </p:spPr>
        <p:txBody>
          <a:bodyPr wrap="square" lIns="0" tIns="0" rIns="0" bIns="0" rtlCol="0" anchor="ctr"/>
          <a:lstStyle/>
          <a:p>
            <a:pPr marL="0" indent="0" algn="l">
              <a:lnSpc>
                <a:spcPts val="3000"/>
              </a:lnSpc>
              <a:buNone/>
            </a:pPr>
            <a:r>
              <a:rPr lang="en-US" sz="2000" kern="0" spc="-40" dirty="0">
                <a:solidFill>
                  <a:srgbClr val="333333">
                    <a:alpha val="100000"/>
                  </a:srgbClr>
                </a:solidFill>
                <a:latin typeface="Inter Regular" pitchFamily="34" charset="0"/>
                <a:ea typeface="Inter Regular" pitchFamily="34" charset="-122"/>
                <a:cs typeface="Inter Regular" pitchFamily="34" charset="-120"/>
              </a:rPr>
              <a:t>Drop-Off Rate</a:t>
            </a:r>
            <a:endParaRPr lang="en-US" sz="2000" dirty="0"/>
          </a:p>
        </p:txBody>
      </p:sp>
      <p:sp>
        <p:nvSpPr>
          <p:cNvPr id="29" name="Shape 22"/>
          <p:cNvSpPr/>
          <p:nvPr/>
        </p:nvSpPr>
        <p:spPr>
          <a:xfrm>
            <a:off x="15707628" y="4991100"/>
            <a:ext cx="3387090" cy="863600"/>
          </a:xfrm>
          <a:prstGeom prst="rect">
            <a:avLst/>
          </a:prstGeom>
          <a:noFill/>
          <a:ln/>
        </p:spPr>
        <p:txBody>
          <a:bodyPr/>
          <a:lstStyle/>
          <a:p>
            <a:endParaRPr lang="en-ID"/>
          </a:p>
        </p:txBody>
      </p:sp>
      <p:sp>
        <p:nvSpPr>
          <p:cNvPr id="30" name="Text 23"/>
          <p:cNvSpPr/>
          <p:nvPr/>
        </p:nvSpPr>
        <p:spPr>
          <a:xfrm>
            <a:off x="15707628" y="4948767"/>
            <a:ext cx="3471768" cy="948267"/>
          </a:xfrm>
          <a:prstGeom prst="rect">
            <a:avLst/>
          </a:prstGeom>
          <a:noFill/>
          <a:ln/>
        </p:spPr>
        <p:txBody>
          <a:bodyPr wrap="square" lIns="0" tIns="0" rIns="0" bIns="0" rtlCol="0" anchor="ctr"/>
          <a:lstStyle/>
          <a:p>
            <a:pPr marL="0" indent="0" algn="l">
              <a:lnSpc>
                <a:spcPts val="3000"/>
              </a:lnSpc>
              <a:buNone/>
            </a:pPr>
            <a:r>
              <a:rPr lang="en-US" sz="2000" kern="0" spc="-40" dirty="0">
                <a:solidFill>
                  <a:srgbClr val="333333">
                    <a:alpha val="100000"/>
                  </a:srgbClr>
                </a:solidFill>
                <a:latin typeface="Inter Regular" pitchFamily="34" charset="0"/>
                <a:ea typeface="Inter Regular" pitchFamily="34" charset="-122"/>
                <a:cs typeface="Inter Regular" pitchFamily="34" charset="-120"/>
              </a:rPr>
              <a:t>-25%</a:t>
            </a:r>
            <a:endParaRPr lang="en-US" sz="2000" dirty="0"/>
          </a:p>
        </p:txBody>
      </p:sp>
      <p:sp>
        <p:nvSpPr>
          <p:cNvPr id="31" name="Shape 24"/>
          <p:cNvSpPr/>
          <p:nvPr/>
        </p:nvSpPr>
        <p:spPr>
          <a:xfrm>
            <a:off x="19221738" y="4991100"/>
            <a:ext cx="3387090" cy="863600"/>
          </a:xfrm>
          <a:prstGeom prst="rect">
            <a:avLst/>
          </a:prstGeom>
          <a:noFill/>
          <a:ln/>
        </p:spPr>
        <p:txBody>
          <a:bodyPr/>
          <a:lstStyle/>
          <a:p>
            <a:endParaRPr lang="en-ID"/>
          </a:p>
        </p:txBody>
      </p:sp>
      <p:sp>
        <p:nvSpPr>
          <p:cNvPr id="32" name="Text 25"/>
          <p:cNvSpPr/>
          <p:nvPr/>
        </p:nvSpPr>
        <p:spPr>
          <a:xfrm>
            <a:off x="19221738" y="4948767"/>
            <a:ext cx="3471768" cy="948267"/>
          </a:xfrm>
          <a:prstGeom prst="rect">
            <a:avLst/>
          </a:prstGeom>
          <a:noFill/>
          <a:ln/>
        </p:spPr>
        <p:txBody>
          <a:bodyPr wrap="square" lIns="0" tIns="0" rIns="0" bIns="0" rtlCol="0" anchor="ctr"/>
          <a:lstStyle/>
          <a:p>
            <a:pPr marL="0" indent="0" algn="l">
              <a:lnSpc>
                <a:spcPts val="3000"/>
              </a:lnSpc>
              <a:buNone/>
            </a:pPr>
            <a:r>
              <a:rPr lang="en-US" sz="2000" kern="0" spc="-40" dirty="0">
                <a:solidFill>
                  <a:srgbClr val="333333">
                    <a:alpha val="100000"/>
                  </a:srgbClr>
                </a:solidFill>
                <a:latin typeface="Inter Regular" pitchFamily="34" charset="0"/>
                <a:ea typeface="Inter Regular" pitchFamily="34" charset="-122"/>
                <a:cs typeface="Inter Regular" pitchFamily="34" charset="-120"/>
              </a:rPr>
              <a:t>Funnel tracking</a:t>
            </a:r>
            <a:endParaRPr lang="en-US" sz="2000" dirty="0"/>
          </a:p>
        </p:txBody>
      </p:sp>
      <p:sp>
        <p:nvSpPr>
          <p:cNvPr id="34" name="Shape 26"/>
          <p:cNvSpPr/>
          <p:nvPr/>
        </p:nvSpPr>
        <p:spPr>
          <a:xfrm>
            <a:off x="12193524" y="6108700"/>
            <a:ext cx="10415302" cy="863600"/>
          </a:xfrm>
          <a:prstGeom prst="rect">
            <a:avLst/>
          </a:prstGeom>
          <a:noFill/>
          <a:ln/>
        </p:spPr>
        <p:txBody>
          <a:bodyPr/>
          <a:lstStyle/>
          <a:p>
            <a:endParaRPr lang="en-ID"/>
          </a:p>
        </p:txBody>
      </p:sp>
      <p:sp>
        <p:nvSpPr>
          <p:cNvPr id="35" name="Shape 27"/>
          <p:cNvSpPr/>
          <p:nvPr/>
        </p:nvSpPr>
        <p:spPr>
          <a:xfrm>
            <a:off x="12193524" y="6108700"/>
            <a:ext cx="3387090" cy="863600"/>
          </a:xfrm>
          <a:prstGeom prst="rect">
            <a:avLst/>
          </a:prstGeom>
          <a:noFill/>
          <a:ln/>
        </p:spPr>
        <p:txBody>
          <a:bodyPr/>
          <a:lstStyle/>
          <a:p>
            <a:endParaRPr lang="en-ID"/>
          </a:p>
        </p:txBody>
      </p:sp>
      <p:sp>
        <p:nvSpPr>
          <p:cNvPr id="36" name="Text 28"/>
          <p:cNvSpPr/>
          <p:nvPr/>
        </p:nvSpPr>
        <p:spPr>
          <a:xfrm>
            <a:off x="12193524" y="6066367"/>
            <a:ext cx="3471767" cy="948267"/>
          </a:xfrm>
          <a:prstGeom prst="rect">
            <a:avLst/>
          </a:prstGeom>
          <a:noFill/>
          <a:ln/>
        </p:spPr>
        <p:txBody>
          <a:bodyPr wrap="square" lIns="0" tIns="0" rIns="0" bIns="0" rtlCol="0" anchor="ctr"/>
          <a:lstStyle/>
          <a:p>
            <a:pPr marL="0" indent="0" algn="l">
              <a:lnSpc>
                <a:spcPts val="3000"/>
              </a:lnSpc>
              <a:buNone/>
            </a:pPr>
            <a:r>
              <a:rPr lang="en-US" sz="2000" kern="0" spc="-40" dirty="0">
                <a:solidFill>
                  <a:srgbClr val="333333">
                    <a:alpha val="100000"/>
                  </a:srgbClr>
                </a:solidFill>
                <a:latin typeface="Inter Regular" pitchFamily="34" charset="0"/>
                <a:ea typeface="Inter Regular" pitchFamily="34" charset="-122"/>
                <a:cs typeface="Inter Regular" pitchFamily="34" charset="-120"/>
              </a:rPr>
              <a:t>Task Completion Rate</a:t>
            </a:r>
            <a:endParaRPr lang="en-US" sz="2000" dirty="0"/>
          </a:p>
        </p:txBody>
      </p:sp>
      <p:sp>
        <p:nvSpPr>
          <p:cNvPr id="37" name="Shape 29"/>
          <p:cNvSpPr/>
          <p:nvPr/>
        </p:nvSpPr>
        <p:spPr>
          <a:xfrm>
            <a:off x="15707628" y="6108700"/>
            <a:ext cx="3387090" cy="863600"/>
          </a:xfrm>
          <a:prstGeom prst="rect">
            <a:avLst/>
          </a:prstGeom>
          <a:noFill/>
          <a:ln/>
        </p:spPr>
        <p:txBody>
          <a:bodyPr/>
          <a:lstStyle/>
          <a:p>
            <a:endParaRPr lang="en-ID"/>
          </a:p>
        </p:txBody>
      </p:sp>
      <p:sp>
        <p:nvSpPr>
          <p:cNvPr id="38" name="Text 30"/>
          <p:cNvSpPr/>
          <p:nvPr/>
        </p:nvSpPr>
        <p:spPr>
          <a:xfrm>
            <a:off x="15707628" y="6066367"/>
            <a:ext cx="3471768" cy="948267"/>
          </a:xfrm>
          <a:prstGeom prst="rect">
            <a:avLst/>
          </a:prstGeom>
          <a:noFill/>
          <a:ln/>
        </p:spPr>
        <p:txBody>
          <a:bodyPr wrap="square" lIns="0" tIns="0" rIns="0" bIns="0" rtlCol="0" anchor="ctr"/>
          <a:lstStyle/>
          <a:p>
            <a:pPr marL="0" indent="0" algn="l">
              <a:lnSpc>
                <a:spcPts val="3000"/>
              </a:lnSpc>
              <a:buNone/>
            </a:pPr>
            <a:r>
              <a:rPr lang="en-US" sz="2000" kern="0" spc="-40" dirty="0">
                <a:solidFill>
                  <a:srgbClr val="333333">
                    <a:alpha val="100000"/>
                  </a:srgbClr>
                </a:solidFill>
                <a:latin typeface="Inter Regular" pitchFamily="34" charset="0"/>
                <a:ea typeface="Inter Regular" pitchFamily="34" charset="-122"/>
                <a:cs typeface="Inter Regular" pitchFamily="34" charset="-120"/>
              </a:rPr>
              <a:t>+15%</a:t>
            </a:r>
            <a:endParaRPr lang="en-US" sz="2000" dirty="0"/>
          </a:p>
        </p:txBody>
      </p:sp>
      <p:sp>
        <p:nvSpPr>
          <p:cNvPr id="39" name="Shape 31"/>
          <p:cNvSpPr/>
          <p:nvPr/>
        </p:nvSpPr>
        <p:spPr>
          <a:xfrm>
            <a:off x="19221738" y="6108700"/>
            <a:ext cx="3387090" cy="863600"/>
          </a:xfrm>
          <a:prstGeom prst="rect">
            <a:avLst/>
          </a:prstGeom>
          <a:noFill/>
          <a:ln/>
        </p:spPr>
        <p:txBody>
          <a:bodyPr/>
          <a:lstStyle/>
          <a:p>
            <a:endParaRPr lang="en-ID"/>
          </a:p>
        </p:txBody>
      </p:sp>
      <p:sp>
        <p:nvSpPr>
          <p:cNvPr id="40" name="Text 32"/>
          <p:cNvSpPr/>
          <p:nvPr/>
        </p:nvSpPr>
        <p:spPr>
          <a:xfrm>
            <a:off x="19221738" y="6066367"/>
            <a:ext cx="3471768" cy="948267"/>
          </a:xfrm>
          <a:prstGeom prst="rect">
            <a:avLst/>
          </a:prstGeom>
          <a:noFill/>
          <a:ln/>
        </p:spPr>
        <p:txBody>
          <a:bodyPr wrap="square" lIns="0" tIns="0" rIns="0" bIns="0" rtlCol="0" anchor="ctr"/>
          <a:lstStyle/>
          <a:p>
            <a:pPr marL="0" indent="0" algn="l">
              <a:lnSpc>
                <a:spcPts val="3000"/>
              </a:lnSpc>
              <a:buNone/>
            </a:pPr>
            <a:r>
              <a:rPr lang="en-US" sz="2000" kern="0" spc="-40" dirty="0">
                <a:solidFill>
                  <a:srgbClr val="333333">
                    <a:alpha val="100000"/>
                  </a:srgbClr>
                </a:solidFill>
                <a:latin typeface="Inter Regular" pitchFamily="34" charset="0"/>
                <a:ea typeface="Inter Regular" pitchFamily="34" charset="-122"/>
                <a:cs typeface="Inter Regular" pitchFamily="34" charset="-120"/>
              </a:rPr>
              <a:t>User testing / session replays</a:t>
            </a:r>
            <a:endParaRPr lang="en-US" sz="2000" dirty="0"/>
          </a:p>
        </p:txBody>
      </p:sp>
      <p:sp>
        <p:nvSpPr>
          <p:cNvPr id="42" name="Shape 33"/>
          <p:cNvSpPr/>
          <p:nvPr/>
        </p:nvSpPr>
        <p:spPr>
          <a:xfrm>
            <a:off x="12193524" y="7226300"/>
            <a:ext cx="10415302" cy="863600"/>
          </a:xfrm>
          <a:prstGeom prst="rect">
            <a:avLst/>
          </a:prstGeom>
          <a:noFill/>
          <a:ln/>
        </p:spPr>
        <p:txBody>
          <a:bodyPr/>
          <a:lstStyle/>
          <a:p>
            <a:endParaRPr lang="en-ID"/>
          </a:p>
        </p:txBody>
      </p:sp>
      <p:sp>
        <p:nvSpPr>
          <p:cNvPr id="43" name="Shape 34"/>
          <p:cNvSpPr/>
          <p:nvPr/>
        </p:nvSpPr>
        <p:spPr>
          <a:xfrm>
            <a:off x="12193524" y="7226300"/>
            <a:ext cx="3387090" cy="863600"/>
          </a:xfrm>
          <a:prstGeom prst="rect">
            <a:avLst/>
          </a:prstGeom>
          <a:noFill/>
          <a:ln/>
        </p:spPr>
        <p:txBody>
          <a:bodyPr/>
          <a:lstStyle/>
          <a:p>
            <a:endParaRPr lang="en-ID"/>
          </a:p>
        </p:txBody>
      </p:sp>
      <p:sp>
        <p:nvSpPr>
          <p:cNvPr id="44" name="Text 35"/>
          <p:cNvSpPr/>
          <p:nvPr/>
        </p:nvSpPr>
        <p:spPr>
          <a:xfrm>
            <a:off x="12193524" y="7183967"/>
            <a:ext cx="3471767" cy="948267"/>
          </a:xfrm>
          <a:prstGeom prst="rect">
            <a:avLst/>
          </a:prstGeom>
          <a:noFill/>
          <a:ln/>
        </p:spPr>
        <p:txBody>
          <a:bodyPr wrap="square" lIns="0" tIns="0" rIns="0" bIns="0" rtlCol="0" anchor="ctr"/>
          <a:lstStyle/>
          <a:p>
            <a:pPr marL="0" indent="0" algn="l">
              <a:lnSpc>
                <a:spcPts val="3000"/>
              </a:lnSpc>
              <a:buNone/>
            </a:pPr>
            <a:r>
              <a:rPr lang="en-US" sz="2000" kern="0" spc="-40" dirty="0">
                <a:solidFill>
                  <a:srgbClr val="333333">
                    <a:alpha val="100000"/>
                  </a:srgbClr>
                </a:solidFill>
                <a:latin typeface="Inter Regular" pitchFamily="34" charset="0"/>
                <a:ea typeface="Inter Regular" pitchFamily="34" charset="-122"/>
                <a:cs typeface="Inter Regular" pitchFamily="34" charset="-120"/>
              </a:rPr>
              <a:t>Time on Task</a:t>
            </a:r>
            <a:endParaRPr lang="en-US" sz="2000" dirty="0"/>
          </a:p>
        </p:txBody>
      </p:sp>
      <p:sp>
        <p:nvSpPr>
          <p:cNvPr id="45" name="Shape 36"/>
          <p:cNvSpPr/>
          <p:nvPr/>
        </p:nvSpPr>
        <p:spPr>
          <a:xfrm>
            <a:off x="15707628" y="7226300"/>
            <a:ext cx="3387090" cy="863600"/>
          </a:xfrm>
          <a:prstGeom prst="rect">
            <a:avLst/>
          </a:prstGeom>
          <a:noFill/>
          <a:ln/>
        </p:spPr>
        <p:txBody>
          <a:bodyPr/>
          <a:lstStyle/>
          <a:p>
            <a:endParaRPr lang="en-ID"/>
          </a:p>
        </p:txBody>
      </p:sp>
      <p:sp>
        <p:nvSpPr>
          <p:cNvPr id="46" name="Text 37"/>
          <p:cNvSpPr/>
          <p:nvPr/>
        </p:nvSpPr>
        <p:spPr>
          <a:xfrm>
            <a:off x="15707628" y="7183967"/>
            <a:ext cx="3471768" cy="948267"/>
          </a:xfrm>
          <a:prstGeom prst="rect">
            <a:avLst/>
          </a:prstGeom>
          <a:noFill/>
          <a:ln/>
        </p:spPr>
        <p:txBody>
          <a:bodyPr wrap="square" lIns="0" tIns="0" rIns="0" bIns="0" rtlCol="0" anchor="ctr"/>
          <a:lstStyle/>
          <a:p>
            <a:pPr marL="0" indent="0" algn="l">
              <a:lnSpc>
                <a:spcPts val="3000"/>
              </a:lnSpc>
              <a:buNone/>
            </a:pPr>
            <a:r>
              <a:rPr lang="en-US" sz="2000" kern="0" spc="-40" dirty="0">
                <a:solidFill>
                  <a:srgbClr val="333333">
                    <a:alpha val="100000"/>
                  </a:srgbClr>
                </a:solidFill>
                <a:latin typeface="Inter Regular" pitchFamily="34" charset="0"/>
                <a:ea typeface="Inter Regular" pitchFamily="34" charset="-122"/>
                <a:cs typeface="Inter Regular" pitchFamily="34" charset="-120"/>
              </a:rPr>
              <a:t>-30%</a:t>
            </a:r>
            <a:endParaRPr lang="en-US" sz="2000" dirty="0"/>
          </a:p>
        </p:txBody>
      </p:sp>
      <p:sp>
        <p:nvSpPr>
          <p:cNvPr id="47" name="Shape 38"/>
          <p:cNvSpPr/>
          <p:nvPr/>
        </p:nvSpPr>
        <p:spPr>
          <a:xfrm>
            <a:off x="19221738" y="7226300"/>
            <a:ext cx="3387090" cy="863600"/>
          </a:xfrm>
          <a:prstGeom prst="rect">
            <a:avLst/>
          </a:prstGeom>
          <a:noFill/>
          <a:ln/>
        </p:spPr>
        <p:txBody>
          <a:bodyPr/>
          <a:lstStyle/>
          <a:p>
            <a:endParaRPr lang="en-ID"/>
          </a:p>
        </p:txBody>
      </p:sp>
      <p:sp>
        <p:nvSpPr>
          <p:cNvPr id="48" name="Text 39"/>
          <p:cNvSpPr/>
          <p:nvPr/>
        </p:nvSpPr>
        <p:spPr>
          <a:xfrm>
            <a:off x="19221738" y="7183967"/>
            <a:ext cx="3471768" cy="948267"/>
          </a:xfrm>
          <a:prstGeom prst="rect">
            <a:avLst/>
          </a:prstGeom>
          <a:noFill/>
          <a:ln/>
        </p:spPr>
        <p:txBody>
          <a:bodyPr wrap="square" lIns="0" tIns="0" rIns="0" bIns="0" rtlCol="0" anchor="ctr"/>
          <a:lstStyle/>
          <a:p>
            <a:pPr marL="0" indent="0" algn="l">
              <a:lnSpc>
                <a:spcPts val="3000"/>
              </a:lnSpc>
              <a:buNone/>
            </a:pPr>
            <a:r>
              <a:rPr lang="en-US" sz="2000" kern="0" spc="-40" dirty="0">
                <a:solidFill>
                  <a:srgbClr val="333333">
                    <a:alpha val="100000"/>
                  </a:srgbClr>
                </a:solidFill>
                <a:latin typeface="Inter Regular" pitchFamily="34" charset="0"/>
                <a:ea typeface="Inter Regular" pitchFamily="34" charset="-122"/>
                <a:cs typeface="Inter Regular" pitchFamily="34" charset="-120"/>
              </a:rPr>
              <a:t>Usability testing</a:t>
            </a:r>
            <a:endParaRPr lang="en-US" sz="2000" dirty="0"/>
          </a:p>
        </p:txBody>
      </p:sp>
      <p:sp>
        <p:nvSpPr>
          <p:cNvPr id="50" name="Shape 40"/>
          <p:cNvSpPr/>
          <p:nvPr/>
        </p:nvSpPr>
        <p:spPr>
          <a:xfrm>
            <a:off x="12193524" y="8343900"/>
            <a:ext cx="10415302" cy="863600"/>
          </a:xfrm>
          <a:prstGeom prst="rect">
            <a:avLst/>
          </a:prstGeom>
          <a:noFill/>
          <a:ln/>
        </p:spPr>
        <p:txBody>
          <a:bodyPr/>
          <a:lstStyle/>
          <a:p>
            <a:endParaRPr lang="en-ID"/>
          </a:p>
        </p:txBody>
      </p:sp>
      <p:sp>
        <p:nvSpPr>
          <p:cNvPr id="51" name="Shape 41"/>
          <p:cNvSpPr/>
          <p:nvPr/>
        </p:nvSpPr>
        <p:spPr>
          <a:xfrm>
            <a:off x="12193524" y="8343900"/>
            <a:ext cx="3387090" cy="863600"/>
          </a:xfrm>
          <a:prstGeom prst="rect">
            <a:avLst/>
          </a:prstGeom>
          <a:noFill/>
          <a:ln/>
        </p:spPr>
        <p:txBody>
          <a:bodyPr/>
          <a:lstStyle/>
          <a:p>
            <a:endParaRPr lang="en-ID"/>
          </a:p>
        </p:txBody>
      </p:sp>
      <p:sp>
        <p:nvSpPr>
          <p:cNvPr id="52" name="Text 42"/>
          <p:cNvSpPr/>
          <p:nvPr/>
        </p:nvSpPr>
        <p:spPr>
          <a:xfrm>
            <a:off x="12193524" y="8301567"/>
            <a:ext cx="3471767" cy="948267"/>
          </a:xfrm>
          <a:prstGeom prst="rect">
            <a:avLst/>
          </a:prstGeom>
          <a:noFill/>
          <a:ln/>
        </p:spPr>
        <p:txBody>
          <a:bodyPr wrap="square" lIns="0" tIns="0" rIns="0" bIns="0" rtlCol="0" anchor="ctr"/>
          <a:lstStyle/>
          <a:p>
            <a:pPr marL="0" indent="0" algn="l">
              <a:lnSpc>
                <a:spcPts val="3000"/>
              </a:lnSpc>
              <a:buNone/>
            </a:pPr>
            <a:r>
              <a:rPr lang="en-US" sz="2000" kern="0" spc="-40" dirty="0">
                <a:solidFill>
                  <a:srgbClr val="333333">
                    <a:alpha val="100000"/>
                  </a:srgbClr>
                </a:solidFill>
                <a:latin typeface="Inter Regular" pitchFamily="34" charset="0"/>
                <a:ea typeface="Inter Regular" pitchFamily="34" charset="-122"/>
                <a:cs typeface="Inter Regular" pitchFamily="34" charset="-120"/>
              </a:rPr>
              <a:t>CSAT / NPS Score</a:t>
            </a:r>
            <a:endParaRPr lang="en-US" sz="2000" dirty="0"/>
          </a:p>
        </p:txBody>
      </p:sp>
      <p:sp>
        <p:nvSpPr>
          <p:cNvPr id="53" name="Shape 43"/>
          <p:cNvSpPr/>
          <p:nvPr/>
        </p:nvSpPr>
        <p:spPr>
          <a:xfrm>
            <a:off x="15707628" y="8343900"/>
            <a:ext cx="3387090" cy="863600"/>
          </a:xfrm>
          <a:prstGeom prst="rect">
            <a:avLst/>
          </a:prstGeom>
          <a:noFill/>
          <a:ln/>
        </p:spPr>
        <p:txBody>
          <a:bodyPr/>
          <a:lstStyle/>
          <a:p>
            <a:endParaRPr lang="en-ID"/>
          </a:p>
        </p:txBody>
      </p:sp>
      <p:sp>
        <p:nvSpPr>
          <p:cNvPr id="54" name="Text 44"/>
          <p:cNvSpPr/>
          <p:nvPr/>
        </p:nvSpPr>
        <p:spPr>
          <a:xfrm>
            <a:off x="15707628" y="8301567"/>
            <a:ext cx="3471768" cy="948267"/>
          </a:xfrm>
          <a:prstGeom prst="rect">
            <a:avLst/>
          </a:prstGeom>
          <a:noFill/>
          <a:ln/>
        </p:spPr>
        <p:txBody>
          <a:bodyPr wrap="square" lIns="0" tIns="0" rIns="0" bIns="0" rtlCol="0" anchor="ctr"/>
          <a:lstStyle/>
          <a:p>
            <a:pPr marL="0" indent="0" algn="l">
              <a:lnSpc>
                <a:spcPts val="3000"/>
              </a:lnSpc>
              <a:buNone/>
            </a:pPr>
            <a:r>
              <a:rPr lang="en-US" sz="2000" kern="0" spc="-40" dirty="0">
                <a:solidFill>
                  <a:srgbClr val="333333">
                    <a:alpha val="100000"/>
                  </a:srgbClr>
                </a:solidFill>
                <a:latin typeface="Inter Regular" pitchFamily="34" charset="0"/>
                <a:ea typeface="Inter Regular" pitchFamily="34" charset="-122"/>
                <a:cs typeface="Inter Regular" pitchFamily="34" charset="-120"/>
              </a:rPr>
              <a:t>+10 points</a:t>
            </a:r>
            <a:endParaRPr lang="en-US" sz="2000" dirty="0"/>
          </a:p>
        </p:txBody>
      </p:sp>
      <p:sp>
        <p:nvSpPr>
          <p:cNvPr id="55" name="Shape 45"/>
          <p:cNvSpPr/>
          <p:nvPr/>
        </p:nvSpPr>
        <p:spPr>
          <a:xfrm>
            <a:off x="19221738" y="8343900"/>
            <a:ext cx="3387090" cy="863600"/>
          </a:xfrm>
          <a:prstGeom prst="rect">
            <a:avLst/>
          </a:prstGeom>
          <a:noFill/>
          <a:ln/>
        </p:spPr>
        <p:txBody>
          <a:bodyPr/>
          <a:lstStyle/>
          <a:p>
            <a:endParaRPr lang="en-ID"/>
          </a:p>
        </p:txBody>
      </p:sp>
      <p:sp>
        <p:nvSpPr>
          <p:cNvPr id="56" name="Text 46"/>
          <p:cNvSpPr/>
          <p:nvPr/>
        </p:nvSpPr>
        <p:spPr>
          <a:xfrm>
            <a:off x="19221738" y="8301567"/>
            <a:ext cx="3471768" cy="948267"/>
          </a:xfrm>
          <a:prstGeom prst="rect">
            <a:avLst/>
          </a:prstGeom>
          <a:noFill/>
          <a:ln/>
        </p:spPr>
        <p:txBody>
          <a:bodyPr wrap="square" lIns="0" tIns="0" rIns="0" bIns="0" rtlCol="0" anchor="ctr"/>
          <a:lstStyle/>
          <a:p>
            <a:pPr marL="0" indent="0" algn="l">
              <a:lnSpc>
                <a:spcPts val="3000"/>
              </a:lnSpc>
              <a:buNone/>
            </a:pPr>
            <a:r>
              <a:rPr lang="en-US" sz="2000" kern="0" spc="-40" dirty="0">
                <a:solidFill>
                  <a:srgbClr val="333333">
                    <a:alpha val="100000"/>
                  </a:srgbClr>
                </a:solidFill>
                <a:latin typeface="Inter Regular" pitchFamily="34" charset="0"/>
                <a:ea typeface="Inter Regular" pitchFamily="34" charset="-122"/>
                <a:cs typeface="Inter Regular" pitchFamily="34" charset="-120"/>
              </a:rPr>
              <a:t>In-product survey</a:t>
            </a:r>
            <a:endParaRPr lang="en-US" sz="2000" dirty="0"/>
          </a:p>
        </p:txBody>
      </p:sp>
      <p:sp>
        <p:nvSpPr>
          <p:cNvPr id="58" name="Shape 47"/>
          <p:cNvSpPr/>
          <p:nvPr/>
        </p:nvSpPr>
        <p:spPr>
          <a:xfrm>
            <a:off x="12193524" y="9461500"/>
            <a:ext cx="10415302" cy="863600"/>
          </a:xfrm>
          <a:prstGeom prst="rect">
            <a:avLst/>
          </a:prstGeom>
          <a:noFill/>
          <a:ln/>
        </p:spPr>
        <p:txBody>
          <a:bodyPr/>
          <a:lstStyle/>
          <a:p>
            <a:endParaRPr lang="en-ID"/>
          </a:p>
        </p:txBody>
      </p:sp>
      <p:sp>
        <p:nvSpPr>
          <p:cNvPr id="59" name="Shape 48"/>
          <p:cNvSpPr/>
          <p:nvPr/>
        </p:nvSpPr>
        <p:spPr>
          <a:xfrm>
            <a:off x="12193524" y="9461500"/>
            <a:ext cx="3387090" cy="863600"/>
          </a:xfrm>
          <a:prstGeom prst="rect">
            <a:avLst/>
          </a:prstGeom>
          <a:noFill/>
          <a:ln/>
        </p:spPr>
        <p:txBody>
          <a:bodyPr/>
          <a:lstStyle/>
          <a:p>
            <a:endParaRPr lang="en-ID"/>
          </a:p>
        </p:txBody>
      </p:sp>
      <p:sp>
        <p:nvSpPr>
          <p:cNvPr id="60" name="Text 49"/>
          <p:cNvSpPr/>
          <p:nvPr/>
        </p:nvSpPr>
        <p:spPr>
          <a:xfrm>
            <a:off x="12193524" y="9419167"/>
            <a:ext cx="3471767" cy="948267"/>
          </a:xfrm>
          <a:prstGeom prst="rect">
            <a:avLst/>
          </a:prstGeom>
          <a:noFill/>
          <a:ln/>
        </p:spPr>
        <p:txBody>
          <a:bodyPr wrap="square" lIns="0" tIns="0" rIns="0" bIns="0" rtlCol="0" anchor="ctr"/>
          <a:lstStyle/>
          <a:p>
            <a:pPr marL="0" indent="0" algn="l">
              <a:lnSpc>
                <a:spcPts val="3000"/>
              </a:lnSpc>
              <a:buNone/>
            </a:pPr>
            <a:r>
              <a:rPr lang="en-US" sz="2000" kern="0" spc="-40" dirty="0">
                <a:solidFill>
                  <a:srgbClr val="333333">
                    <a:alpha val="100000"/>
                  </a:srgbClr>
                </a:solidFill>
                <a:latin typeface="Inter Regular" pitchFamily="34" charset="0"/>
                <a:ea typeface="Inter Regular" pitchFamily="34" charset="-122"/>
                <a:cs typeface="Inter Regular" pitchFamily="34" charset="-120"/>
              </a:rPr>
              <a:t>Mobile Tap Accuracy</a:t>
            </a:r>
            <a:endParaRPr lang="en-US" sz="2000" dirty="0"/>
          </a:p>
        </p:txBody>
      </p:sp>
      <p:sp>
        <p:nvSpPr>
          <p:cNvPr id="61" name="Shape 50"/>
          <p:cNvSpPr/>
          <p:nvPr/>
        </p:nvSpPr>
        <p:spPr>
          <a:xfrm>
            <a:off x="15707628" y="9461500"/>
            <a:ext cx="3387090" cy="863600"/>
          </a:xfrm>
          <a:prstGeom prst="rect">
            <a:avLst/>
          </a:prstGeom>
          <a:noFill/>
          <a:ln/>
        </p:spPr>
        <p:txBody>
          <a:bodyPr/>
          <a:lstStyle/>
          <a:p>
            <a:endParaRPr lang="en-ID"/>
          </a:p>
        </p:txBody>
      </p:sp>
      <p:sp>
        <p:nvSpPr>
          <p:cNvPr id="62" name="Text 51"/>
          <p:cNvSpPr/>
          <p:nvPr/>
        </p:nvSpPr>
        <p:spPr>
          <a:xfrm>
            <a:off x="15707628" y="9419167"/>
            <a:ext cx="3471768" cy="948267"/>
          </a:xfrm>
          <a:prstGeom prst="rect">
            <a:avLst/>
          </a:prstGeom>
          <a:noFill/>
          <a:ln/>
        </p:spPr>
        <p:txBody>
          <a:bodyPr wrap="square" lIns="0" tIns="0" rIns="0" bIns="0" rtlCol="0" anchor="ctr"/>
          <a:lstStyle/>
          <a:p>
            <a:pPr marL="0" indent="0" algn="l">
              <a:lnSpc>
                <a:spcPts val="3000"/>
              </a:lnSpc>
              <a:buNone/>
            </a:pPr>
            <a:r>
              <a:rPr lang="en-US" sz="2000" kern="0" spc="-40" dirty="0">
                <a:solidFill>
                  <a:srgbClr val="333333">
                    <a:alpha val="100000"/>
                  </a:srgbClr>
                </a:solidFill>
                <a:latin typeface="Inter Regular" pitchFamily="34" charset="0"/>
                <a:ea typeface="Inter Regular" pitchFamily="34" charset="-122"/>
                <a:cs typeface="Inter Regular" pitchFamily="34" charset="-120"/>
              </a:rPr>
              <a:t>+20%</a:t>
            </a:r>
            <a:endParaRPr lang="en-US" sz="2000" dirty="0"/>
          </a:p>
        </p:txBody>
      </p:sp>
      <p:sp>
        <p:nvSpPr>
          <p:cNvPr id="63" name="Shape 52"/>
          <p:cNvSpPr/>
          <p:nvPr/>
        </p:nvSpPr>
        <p:spPr>
          <a:xfrm>
            <a:off x="19221738" y="9461500"/>
            <a:ext cx="3387090" cy="863600"/>
          </a:xfrm>
          <a:prstGeom prst="rect">
            <a:avLst/>
          </a:prstGeom>
          <a:noFill/>
          <a:ln/>
        </p:spPr>
        <p:txBody>
          <a:bodyPr/>
          <a:lstStyle/>
          <a:p>
            <a:endParaRPr lang="en-ID"/>
          </a:p>
        </p:txBody>
      </p:sp>
      <p:sp>
        <p:nvSpPr>
          <p:cNvPr id="64" name="Text 53"/>
          <p:cNvSpPr/>
          <p:nvPr/>
        </p:nvSpPr>
        <p:spPr>
          <a:xfrm>
            <a:off x="19221738" y="9419167"/>
            <a:ext cx="3471768" cy="948267"/>
          </a:xfrm>
          <a:prstGeom prst="rect">
            <a:avLst/>
          </a:prstGeom>
          <a:noFill/>
          <a:ln/>
        </p:spPr>
        <p:txBody>
          <a:bodyPr wrap="square" lIns="0" tIns="0" rIns="0" bIns="0" rtlCol="0" anchor="ctr"/>
          <a:lstStyle/>
          <a:p>
            <a:pPr marL="0" indent="0" algn="l">
              <a:lnSpc>
                <a:spcPts val="3000"/>
              </a:lnSpc>
              <a:buNone/>
            </a:pPr>
            <a:r>
              <a:rPr lang="en-US" sz="2000" kern="0" spc="-40" dirty="0">
                <a:solidFill>
                  <a:srgbClr val="333333">
                    <a:alpha val="100000"/>
                  </a:srgbClr>
                </a:solidFill>
                <a:latin typeface="Inter Regular" pitchFamily="34" charset="0"/>
                <a:ea typeface="Inter Regular" pitchFamily="34" charset="-122"/>
                <a:cs typeface="Inter Regular" pitchFamily="34" charset="-120"/>
              </a:rPr>
              <a:t>Heatmap / click tracking</a:t>
            </a:r>
            <a:endParaRPr lang="en-US"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04541"/>
        </a:solidFill>
        <a:effectLst/>
      </p:bgPr>
    </p:bg>
    <p:spTree>
      <p:nvGrpSpPr>
        <p:cNvPr id="1" name=""/>
        <p:cNvGrpSpPr/>
        <p:nvPr/>
      </p:nvGrpSpPr>
      <p:grpSpPr>
        <a:xfrm>
          <a:off x="0" y="0"/>
          <a:ext cx="0" cy="0"/>
          <a:chOff x="0" y="0"/>
          <a:chExt cx="0" cy="0"/>
        </a:xfrm>
      </p:grpSpPr>
      <p:sp>
        <p:nvSpPr>
          <p:cNvPr id="2" name="Text 0"/>
          <p:cNvSpPr/>
          <p:nvPr/>
        </p:nvSpPr>
        <p:spPr>
          <a:xfrm>
            <a:off x="1524191" y="2501900"/>
            <a:ext cx="9026595" cy="2777067"/>
          </a:xfrm>
          <a:prstGeom prst="rect">
            <a:avLst/>
          </a:prstGeom>
          <a:noFill/>
          <a:ln/>
        </p:spPr>
        <p:txBody>
          <a:bodyPr wrap="square" lIns="0" tIns="0" rIns="0" bIns="0" rtlCol="0" anchor="t"/>
          <a:lstStyle/>
          <a:p>
            <a:pPr marL="0" indent="0" algn="l">
              <a:lnSpc>
                <a:spcPts val="9600"/>
              </a:lnSpc>
              <a:buNone/>
            </a:pPr>
            <a:r>
              <a:rPr lang="en-US" sz="8000" kern="0" spc="-480" dirty="0">
                <a:solidFill>
                  <a:srgbClr val="FFFFFF">
                    <a:alpha val="100000"/>
                  </a:srgbClr>
                </a:solidFill>
                <a:latin typeface="Inter Medium" pitchFamily="34" charset="0"/>
                <a:ea typeface="Inter Medium" pitchFamily="34" charset="-122"/>
                <a:cs typeface="Inter Medium" pitchFamily="34" charset="-120"/>
              </a:rPr>
              <a:t>Summary of Key Recommendations</a:t>
            </a:r>
            <a:endParaRPr lang="en-US" sz="8000" dirty="0"/>
          </a:p>
        </p:txBody>
      </p:sp>
      <p:sp>
        <p:nvSpPr>
          <p:cNvPr id="3" name="Text 1"/>
          <p:cNvSpPr/>
          <p:nvPr/>
        </p:nvSpPr>
        <p:spPr>
          <a:xfrm>
            <a:off x="1524191" y="1524000"/>
            <a:ext cx="1841730" cy="469900"/>
          </a:xfrm>
          <a:prstGeom prst="rect">
            <a:avLst/>
          </a:prstGeom>
          <a:noFill/>
          <a:ln/>
        </p:spPr>
        <p:txBody>
          <a:bodyPr wrap="square" lIns="0" tIns="0" rIns="0" bIns="0" rtlCol="0" anchor="t"/>
          <a:lstStyle/>
          <a:p>
            <a:pPr marL="0" indent="0" algn="l">
              <a:buNone/>
            </a:pPr>
            <a:r>
              <a:rPr lang="en-US" sz="2400" dirty="0">
                <a:solidFill>
                  <a:srgbClr val="FFFFFF">
                    <a:alpha val="100000"/>
                  </a:srgbClr>
                </a:solidFill>
                <a:latin typeface="Inter Regular" pitchFamily="34" charset="0"/>
                <a:ea typeface="Inter Regular" pitchFamily="34" charset="-122"/>
                <a:cs typeface="Inter Regular" pitchFamily="34" charset="-120"/>
              </a:rPr>
              <a:t>Fix the Flow</a:t>
            </a:r>
            <a:endParaRPr lang="en-US" sz="2400" dirty="0"/>
          </a:p>
        </p:txBody>
      </p:sp>
      <p:sp>
        <p:nvSpPr>
          <p:cNvPr id="4" name="Text 2"/>
          <p:cNvSpPr/>
          <p:nvPr/>
        </p:nvSpPr>
        <p:spPr>
          <a:xfrm>
            <a:off x="1524191" y="5270500"/>
            <a:ext cx="7951194" cy="1930400"/>
          </a:xfrm>
          <a:prstGeom prst="rect">
            <a:avLst/>
          </a:prstGeom>
          <a:noFill/>
          <a:ln/>
        </p:spPr>
        <p:txBody>
          <a:bodyPr wrap="square" lIns="0" tIns="0" rIns="0" bIns="0" rtlCol="0" anchor="t"/>
          <a:lstStyle/>
          <a:p>
            <a:pPr marL="0" indent="0" algn="l">
              <a:lnSpc>
                <a:spcPts val="3600"/>
              </a:lnSpc>
              <a:buNone/>
            </a:pPr>
            <a:r>
              <a:rPr lang="en-US" sz="2400" kern="0" spc="-48" dirty="0">
                <a:solidFill>
                  <a:srgbClr val="FFFFFF">
                    <a:alpha val="100000"/>
                  </a:srgbClr>
                </a:solidFill>
                <a:latin typeface="Inter Regular" pitchFamily="34" charset="0"/>
                <a:ea typeface="Inter Regular" pitchFamily="34" charset="-122"/>
                <a:cs typeface="Inter Regular" pitchFamily="34" charset="-120"/>
              </a:rPr>
              <a:t>This slide recaps the top priority UX fixes identified through the audit. These are the improvements with the highest potential ROI, lowest effort, or most user impact distilled into clear action items for fast alignment.</a:t>
            </a:r>
            <a:endParaRPr lang="en-US" sz="2400" dirty="0"/>
          </a:p>
        </p:txBody>
      </p:sp>
      <p:sp>
        <p:nvSpPr>
          <p:cNvPr id="5" name="Text 3"/>
          <p:cNvSpPr/>
          <p:nvPr/>
        </p:nvSpPr>
        <p:spPr>
          <a:xfrm>
            <a:off x="1524191" y="11785600"/>
            <a:ext cx="7951194" cy="1016000"/>
          </a:xfrm>
          <a:prstGeom prst="rect">
            <a:avLst/>
          </a:prstGeom>
          <a:noFill/>
          <a:ln/>
        </p:spPr>
        <p:txBody>
          <a:bodyPr wrap="square" lIns="0" tIns="0" rIns="0" bIns="0" rtlCol="0" anchor="t"/>
          <a:lstStyle/>
          <a:p>
            <a:pPr marL="0" indent="0" algn="l">
              <a:lnSpc>
                <a:spcPts val="3600"/>
              </a:lnSpc>
              <a:buNone/>
            </a:pPr>
            <a:r>
              <a:rPr lang="en-US" sz="2400" kern="0" spc="-48" dirty="0">
                <a:solidFill>
                  <a:srgbClr val="FFFFFF">
                    <a:alpha val="100000"/>
                  </a:srgbClr>
                </a:solidFill>
                <a:latin typeface="Inter Regular" pitchFamily="34" charset="0"/>
                <a:ea typeface="Inter Regular" pitchFamily="34" charset="-122"/>
                <a:cs typeface="Inter Regular" pitchFamily="34" charset="-120"/>
              </a:rPr>
              <a:t>“These five fixes will create the clearest improvement in user experience fast.”</a:t>
            </a:r>
            <a:endParaRPr lang="en-US" sz="2400" dirty="0"/>
          </a:p>
        </p:txBody>
      </p:sp>
      <p:grpSp>
        <p:nvGrpSpPr>
          <p:cNvPr id="41" name="Group 40">
            <a:extLst>
              <a:ext uri="{FF2B5EF4-FFF2-40B4-BE49-F238E27FC236}">
                <a16:creationId xmlns:a16="http://schemas.microsoft.com/office/drawing/2014/main" id="{C04F55FA-CEDE-A64B-EBC7-94322FCD043A}"/>
              </a:ext>
            </a:extLst>
          </p:cNvPr>
          <p:cNvGrpSpPr/>
          <p:nvPr/>
        </p:nvGrpSpPr>
        <p:grpSpPr>
          <a:xfrm>
            <a:off x="12320540" y="1562100"/>
            <a:ext cx="10542318" cy="10680700"/>
            <a:chOff x="12320540" y="1562100"/>
            <a:chExt cx="10542318" cy="10680700"/>
          </a:xfrm>
        </p:grpSpPr>
        <p:pic>
          <p:nvPicPr>
            <p:cNvPr id="6" name="Image 0"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320540" y="5207000"/>
              <a:ext cx="5144143" cy="3390900"/>
            </a:xfrm>
            <a:prstGeom prst="rect">
              <a:avLst/>
            </a:prstGeom>
          </p:spPr>
        </p:pic>
        <p:sp>
          <p:nvSpPr>
            <p:cNvPr id="7" name="Text 4"/>
            <p:cNvSpPr/>
            <p:nvPr/>
          </p:nvSpPr>
          <p:spPr>
            <a:xfrm>
              <a:off x="12701588" y="7302500"/>
              <a:ext cx="3213502" cy="1016000"/>
            </a:xfrm>
            <a:prstGeom prst="rect">
              <a:avLst/>
            </a:prstGeom>
            <a:noFill/>
            <a:ln/>
          </p:spPr>
          <p:txBody>
            <a:bodyPr wrap="square" lIns="0" tIns="0" rIns="0" bIns="0" rtlCol="0" anchor="t"/>
            <a:lstStyle/>
            <a:p>
              <a:pPr marL="0" indent="0" algn="l">
                <a:lnSpc>
                  <a:spcPts val="3600"/>
                </a:lnSpc>
                <a:buNone/>
              </a:pPr>
              <a:r>
                <a:rPr lang="en-US" sz="2400" kern="0" spc="-48" dirty="0">
                  <a:solidFill>
                    <a:srgbClr val="FFFFFF">
                      <a:alpha val="100000"/>
                    </a:srgbClr>
                  </a:solidFill>
                  <a:latin typeface="Inter Regular" pitchFamily="34" charset="0"/>
                  <a:ea typeface="Inter Regular" pitchFamily="34" charset="-122"/>
                  <a:cs typeface="Inter Regular" pitchFamily="34" charset="-120"/>
                </a:rPr>
                <a:t>Enable Guest Checkout Option</a:t>
              </a:r>
              <a:endParaRPr lang="en-US" sz="2400" dirty="0"/>
            </a:p>
          </p:txBody>
        </p:sp>
        <p:sp>
          <p:nvSpPr>
            <p:cNvPr id="8" name="Shape 5"/>
            <p:cNvSpPr/>
            <p:nvPr/>
          </p:nvSpPr>
          <p:spPr>
            <a:xfrm>
              <a:off x="16397749" y="7531100"/>
              <a:ext cx="812902" cy="812800"/>
            </a:xfrm>
            <a:prstGeom prst="ellipse">
              <a:avLst/>
            </a:prstGeom>
            <a:noFill/>
            <a:ln w="50800">
              <a:solidFill>
                <a:srgbClr val="FFFFFF"/>
              </a:solidFill>
              <a:prstDash val="solid"/>
            </a:ln>
          </p:spPr>
          <p:txBody>
            <a:bodyPr/>
            <a:lstStyle/>
            <a:p>
              <a:endParaRPr lang="en-ID"/>
            </a:p>
          </p:txBody>
        </p:sp>
        <p:pic>
          <p:nvPicPr>
            <p:cNvPr id="9" name="Image 1"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6670015" y="7792058"/>
              <a:ext cx="283417" cy="283381"/>
            </a:xfrm>
            <a:prstGeom prst="rect">
              <a:avLst/>
            </a:prstGeom>
          </p:spPr>
        </p:pic>
        <p:pic>
          <p:nvPicPr>
            <p:cNvPr id="10" name="Image 2" descr=" "/>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6704243" y="7781119"/>
              <a:ext cx="260389" cy="255005"/>
            </a:xfrm>
            <a:prstGeom prst="rect">
              <a:avLst/>
            </a:prstGeom>
          </p:spPr>
        </p:pic>
        <p:sp>
          <p:nvSpPr>
            <p:cNvPr id="11" name="Shape 6"/>
            <p:cNvSpPr/>
            <p:nvPr/>
          </p:nvSpPr>
          <p:spPr>
            <a:xfrm>
              <a:off x="21795924" y="5829300"/>
              <a:ext cx="812902" cy="812800"/>
            </a:xfrm>
            <a:prstGeom prst="ellipse">
              <a:avLst/>
            </a:prstGeom>
            <a:noFill/>
            <a:ln w="50800">
              <a:solidFill>
                <a:srgbClr val="FFFFFF"/>
              </a:solidFill>
              <a:prstDash val="solid"/>
            </a:ln>
          </p:spPr>
          <p:txBody>
            <a:bodyPr/>
            <a:lstStyle/>
            <a:p>
              <a:endParaRPr lang="en-ID"/>
            </a:p>
          </p:txBody>
        </p:sp>
        <p:pic>
          <p:nvPicPr>
            <p:cNvPr id="12" name="Image 3"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2068190" y="6090258"/>
              <a:ext cx="283417" cy="283381"/>
            </a:xfrm>
            <a:prstGeom prst="rect">
              <a:avLst/>
            </a:prstGeom>
          </p:spPr>
        </p:pic>
        <p:pic>
          <p:nvPicPr>
            <p:cNvPr id="13" name="Image 4" descr=" "/>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2102418" y="6079319"/>
              <a:ext cx="260389" cy="255005"/>
            </a:xfrm>
            <a:prstGeom prst="rect">
              <a:avLst/>
            </a:prstGeom>
          </p:spPr>
        </p:pic>
        <p:sp>
          <p:nvSpPr>
            <p:cNvPr id="14" name="Shape 7"/>
            <p:cNvSpPr/>
            <p:nvPr/>
          </p:nvSpPr>
          <p:spPr>
            <a:xfrm>
              <a:off x="21795924" y="9474200"/>
              <a:ext cx="812902" cy="812800"/>
            </a:xfrm>
            <a:prstGeom prst="ellipse">
              <a:avLst/>
            </a:prstGeom>
            <a:noFill/>
            <a:ln w="50800">
              <a:solidFill>
                <a:srgbClr val="FFFFFF"/>
              </a:solidFill>
              <a:prstDash val="solid"/>
            </a:ln>
          </p:spPr>
          <p:txBody>
            <a:bodyPr/>
            <a:lstStyle/>
            <a:p>
              <a:endParaRPr lang="en-ID"/>
            </a:p>
          </p:txBody>
        </p:sp>
        <p:pic>
          <p:nvPicPr>
            <p:cNvPr id="15" name="Image 5"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2068190" y="9735158"/>
              <a:ext cx="283417" cy="283381"/>
            </a:xfrm>
            <a:prstGeom prst="rect">
              <a:avLst/>
            </a:prstGeom>
          </p:spPr>
        </p:pic>
        <p:pic>
          <p:nvPicPr>
            <p:cNvPr id="16" name="Image 6" descr=" "/>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2102418" y="9724219"/>
              <a:ext cx="260389" cy="255005"/>
            </a:xfrm>
            <a:prstGeom prst="rect">
              <a:avLst/>
            </a:prstGeom>
          </p:spPr>
        </p:pic>
        <p:sp>
          <p:nvSpPr>
            <p:cNvPr id="17" name="Shape 8"/>
            <p:cNvSpPr/>
            <p:nvPr/>
          </p:nvSpPr>
          <p:spPr>
            <a:xfrm>
              <a:off x="16397749" y="11176000"/>
              <a:ext cx="812902" cy="812800"/>
            </a:xfrm>
            <a:prstGeom prst="ellipse">
              <a:avLst/>
            </a:prstGeom>
            <a:noFill/>
            <a:ln w="50800">
              <a:solidFill>
                <a:srgbClr val="FFFFFF"/>
              </a:solidFill>
              <a:prstDash val="solid"/>
            </a:ln>
          </p:spPr>
          <p:txBody>
            <a:bodyPr/>
            <a:lstStyle/>
            <a:p>
              <a:endParaRPr lang="en-ID"/>
            </a:p>
          </p:txBody>
        </p:sp>
        <p:pic>
          <p:nvPicPr>
            <p:cNvPr id="18" name="Image 7"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6670015" y="11436958"/>
              <a:ext cx="283417" cy="283381"/>
            </a:xfrm>
            <a:prstGeom prst="rect">
              <a:avLst/>
            </a:prstGeom>
          </p:spPr>
        </p:pic>
        <p:pic>
          <p:nvPicPr>
            <p:cNvPr id="19" name="Image 8" descr=" "/>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6704243" y="11426019"/>
              <a:ext cx="260389" cy="255005"/>
            </a:xfrm>
            <a:prstGeom prst="rect">
              <a:avLst/>
            </a:prstGeom>
          </p:spPr>
        </p:pic>
        <p:pic>
          <p:nvPicPr>
            <p:cNvPr id="20" name="Image 9" descr=" "/>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2371346" y="1562100"/>
              <a:ext cx="5144143" cy="3390900"/>
            </a:xfrm>
            <a:prstGeom prst="rect">
              <a:avLst/>
            </a:prstGeom>
          </p:spPr>
        </p:pic>
        <p:sp>
          <p:nvSpPr>
            <p:cNvPr id="21" name="Shape 9"/>
            <p:cNvSpPr/>
            <p:nvPr/>
          </p:nvSpPr>
          <p:spPr>
            <a:xfrm>
              <a:off x="16448556" y="3886200"/>
              <a:ext cx="812902" cy="812800"/>
            </a:xfrm>
            <a:prstGeom prst="ellipse">
              <a:avLst/>
            </a:prstGeom>
            <a:noFill/>
            <a:ln w="50800">
              <a:solidFill>
                <a:srgbClr val="E2E2E2"/>
              </a:solidFill>
              <a:prstDash val="solid"/>
            </a:ln>
          </p:spPr>
          <p:txBody>
            <a:bodyPr/>
            <a:lstStyle/>
            <a:p>
              <a:endParaRPr lang="en-ID"/>
            </a:p>
          </p:txBody>
        </p:sp>
        <p:pic>
          <p:nvPicPr>
            <p:cNvPr id="22" name="Image 10" descr=" "/>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6720827" y="4147158"/>
              <a:ext cx="283417" cy="283381"/>
            </a:xfrm>
            <a:prstGeom prst="rect">
              <a:avLst/>
            </a:prstGeom>
          </p:spPr>
        </p:pic>
        <p:pic>
          <p:nvPicPr>
            <p:cNvPr id="23" name="Image 11" descr=" "/>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6755050" y="4136219"/>
              <a:ext cx="260389" cy="255005"/>
            </a:xfrm>
            <a:prstGeom prst="rect">
              <a:avLst/>
            </a:prstGeom>
          </p:spPr>
        </p:pic>
        <p:pic>
          <p:nvPicPr>
            <p:cNvPr id="24" name="Image 12" descr=" "/>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2320540" y="8851900"/>
              <a:ext cx="5144143" cy="3390900"/>
            </a:xfrm>
            <a:prstGeom prst="rect">
              <a:avLst/>
            </a:prstGeom>
          </p:spPr>
        </p:pic>
        <p:sp>
          <p:nvSpPr>
            <p:cNvPr id="25" name="Text 10"/>
            <p:cNvSpPr/>
            <p:nvPr/>
          </p:nvSpPr>
          <p:spPr>
            <a:xfrm>
              <a:off x="12701588" y="10947400"/>
              <a:ext cx="3213502" cy="1016000"/>
            </a:xfrm>
            <a:prstGeom prst="rect">
              <a:avLst/>
            </a:prstGeom>
            <a:noFill/>
            <a:ln/>
          </p:spPr>
          <p:txBody>
            <a:bodyPr wrap="square" lIns="0" tIns="0" rIns="0" bIns="0" rtlCol="0" anchor="t"/>
            <a:lstStyle/>
            <a:p>
              <a:pPr marL="0" indent="0" algn="l">
                <a:lnSpc>
                  <a:spcPts val="3600"/>
                </a:lnSpc>
                <a:buNone/>
              </a:pPr>
              <a:r>
                <a:rPr lang="en-US" sz="2400" kern="0" spc="-48" dirty="0">
                  <a:solidFill>
                    <a:srgbClr val="FFFFFF">
                      <a:alpha val="100000"/>
                    </a:srgbClr>
                  </a:solidFill>
                  <a:latin typeface="Inter Regular" pitchFamily="34" charset="0"/>
                  <a:ea typeface="Inter Regular" pitchFamily="34" charset="-122"/>
                  <a:cs typeface="Inter Regular" pitchFamily="34" charset="-120"/>
                </a:rPr>
                <a:t>Simplify Form Field Layouts</a:t>
              </a:r>
              <a:endParaRPr lang="en-US" sz="2400" dirty="0"/>
            </a:p>
          </p:txBody>
        </p:sp>
        <p:pic>
          <p:nvPicPr>
            <p:cNvPr id="26" name="Image 13" descr=" "/>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7718715" y="3505200"/>
              <a:ext cx="5144143" cy="3390900"/>
            </a:xfrm>
            <a:prstGeom prst="rect">
              <a:avLst/>
            </a:prstGeom>
          </p:spPr>
        </p:pic>
        <p:sp>
          <p:nvSpPr>
            <p:cNvPr id="27" name="Text 11"/>
            <p:cNvSpPr/>
            <p:nvPr/>
          </p:nvSpPr>
          <p:spPr>
            <a:xfrm>
              <a:off x="18099762" y="5600700"/>
              <a:ext cx="3213502" cy="1016000"/>
            </a:xfrm>
            <a:prstGeom prst="rect">
              <a:avLst/>
            </a:prstGeom>
            <a:noFill/>
            <a:ln/>
          </p:spPr>
          <p:txBody>
            <a:bodyPr wrap="square" lIns="0" tIns="0" rIns="0" bIns="0" rtlCol="0" anchor="t"/>
            <a:lstStyle/>
            <a:p>
              <a:pPr marL="0" indent="0" algn="l">
                <a:lnSpc>
                  <a:spcPts val="3600"/>
                </a:lnSpc>
                <a:buNone/>
              </a:pPr>
              <a:r>
                <a:rPr lang="en-US" sz="2400" kern="0" spc="-48" dirty="0">
                  <a:solidFill>
                    <a:srgbClr val="FFFFFF">
                      <a:alpha val="100000"/>
                    </a:srgbClr>
                  </a:solidFill>
                  <a:latin typeface="Inter Regular" pitchFamily="34" charset="0"/>
                  <a:ea typeface="Inter Regular" pitchFamily="34" charset="-122"/>
                  <a:cs typeface="Inter Regular" pitchFamily="34" charset="-120"/>
                </a:rPr>
                <a:t>Unify Button Styles Across Platform</a:t>
              </a:r>
              <a:endParaRPr lang="en-US" sz="2400" dirty="0"/>
            </a:p>
          </p:txBody>
        </p:sp>
        <p:sp>
          <p:nvSpPr>
            <p:cNvPr id="28" name="Text 12"/>
            <p:cNvSpPr/>
            <p:nvPr/>
          </p:nvSpPr>
          <p:spPr>
            <a:xfrm>
              <a:off x="21186248" y="3886200"/>
              <a:ext cx="1236288" cy="296333"/>
            </a:xfrm>
            <a:prstGeom prst="rect">
              <a:avLst/>
            </a:prstGeom>
            <a:noFill/>
            <a:ln/>
          </p:spPr>
          <p:txBody>
            <a:bodyPr wrap="square" lIns="0" tIns="0" rIns="0" bIns="0" rtlCol="0" anchor="t"/>
            <a:lstStyle/>
            <a:p>
              <a:pPr marL="0" indent="0" algn="l">
                <a:lnSpc>
                  <a:spcPts val="1760"/>
                </a:lnSpc>
                <a:buNone/>
              </a:pPr>
              <a:r>
                <a:rPr lang="en-US" sz="1600" kern="0" spc="-32" dirty="0">
                  <a:solidFill>
                    <a:srgbClr val="FFFFFF">
                      <a:alpha val="100000"/>
                    </a:srgbClr>
                  </a:solidFill>
                  <a:latin typeface="Inter Regular" pitchFamily="34" charset="0"/>
                  <a:ea typeface="Inter Regular" pitchFamily="34" charset="-122"/>
                  <a:cs typeface="Inter Regular" pitchFamily="34" charset="-120"/>
                </a:rPr>
                <a:t>Systemic Fix</a:t>
              </a:r>
              <a:endParaRPr lang="en-US" sz="1600" dirty="0"/>
            </a:p>
          </p:txBody>
        </p:sp>
        <p:pic>
          <p:nvPicPr>
            <p:cNvPr id="29" name="Image 14" descr=" "/>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7718715" y="7150100"/>
              <a:ext cx="5144143" cy="3390900"/>
            </a:xfrm>
            <a:prstGeom prst="rect">
              <a:avLst/>
            </a:prstGeom>
          </p:spPr>
        </p:pic>
        <p:sp>
          <p:nvSpPr>
            <p:cNvPr id="30" name="Text 13"/>
            <p:cNvSpPr/>
            <p:nvPr/>
          </p:nvSpPr>
          <p:spPr>
            <a:xfrm>
              <a:off x="12701588" y="3517900"/>
              <a:ext cx="3213502" cy="1016000"/>
            </a:xfrm>
            <a:prstGeom prst="rect">
              <a:avLst/>
            </a:prstGeom>
            <a:noFill/>
            <a:ln/>
          </p:spPr>
          <p:txBody>
            <a:bodyPr wrap="square" lIns="0" tIns="0" rIns="0" bIns="0" rtlCol="0" anchor="t"/>
            <a:lstStyle/>
            <a:p>
              <a:pPr marL="0" indent="0" algn="l">
                <a:lnSpc>
                  <a:spcPts val="3600"/>
                </a:lnSpc>
                <a:buNone/>
              </a:pPr>
              <a:r>
                <a:rPr lang="en-US" sz="2400" kern="0" spc="-48" dirty="0">
                  <a:solidFill>
                    <a:srgbClr val="FFFFFF">
                      <a:alpha val="100000"/>
                    </a:srgbClr>
                  </a:solidFill>
                  <a:latin typeface="Inter Regular" pitchFamily="34" charset="0"/>
                  <a:ea typeface="Inter Regular" pitchFamily="34" charset="-122"/>
                  <a:cs typeface="Inter Regular" pitchFamily="34" charset="-120"/>
                </a:rPr>
                <a:t>Make Checkout CTA Larger &amp; More Visible</a:t>
              </a:r>
              <a:endParaRPr lang="en-US" sz="2400" dirty="0"/>
            </a:p>
          </p:txBody>
        </p:sp>
        <p:sp>
          <p:nvSpPr>
            <p:cNvPr id="31" name="Text 14"/>
            <p:cNvSpPr/>
            <p:nvPr/>
          </p:nvSpPr>
          <p:spPr>
            <a:xfrm>
              <a:off x="16423153" y="1803400"/>
              <a:ext cx="626612" cy="296333"/>
            </a:xfrm>
            <a:prstGeom prst="rect">
              <a:avLst/>
            </a:prstGeom>
            <a:noFill/>
            <a:ln/>
          </p:spPr>
          <p:txBody>
            <a:bodyPr wrap="square" lIns="0" tIns="0" rIns="0" bIns="0" rtlCol="0" anchor="t"/>
            <a:lstStyle/>
            <a:p>
              <a:pPr marL="0" indent="0" algn="l">
                <a:lnSpc>
                  <a:spcPts val="1760"/>
                </a:lnSpc>
                <a:buNone/>
              </a:pPr>
              <a:r>
                <a:rPr lang="en-US" sz="1600" kern="0" spc="-32" dirty="0">
                  <a:solidFill>
                    <a:srgbClr val="FFFFFF">
                      <a:alpha val="100000"/>
                    </a:srgbClr>
                  </a:solidFill>
                  <a:latin typeface="Inter Regular" pitchFamily="34" charset="0"/>
                  <a:ea typeface="Inter Regular" pitchFamily="34" charset="-122"/>
                  <a:cs typeface="Inter Regular" pitchFamily="34" charset="-120"/>
                </a:rPr>
                <a:t>Visual</a:t>
              </a:r>
              <a:endParaRPr lang="en-US" sz="1600" dirty="0"/>
            </a:p>
          </p:txBody>
        </p:sp>
        <p:sp>
          <p:nvSpPr>
            <p:cNvPr id="32" name="Text 15"/>
            <p:cNvSpPr/>
            <p:nvPr/>
          </p:nvSpPr>
          <p:spPr>
            <a:xfrm>
              <a:off x="16473959" y="5588000"/>
              <a:ext cx="575805" cy="296333"/>
            </a:xfrm>
            <a:prstGeom prst="rect">
              <a:avLst/>
            </a:prstGeom>
            <a:noFill/>
            <a:ln/>
          </p:spPr>
          <p:txBody>
            <a:bodyPr wrap="square" lIns="0" tIns="0" rIns="0" bIns="0" rtlCol="0" anchor="t"/>
            <a:lstStyle/>
            <a:p>
              <a:pPr marL="0" indent="0" algn="l">
                <a:lnSpc>
                  <a:spcPts val="1760"/>
                </a:lnSpc>
                <a:buNone/>
              </a:pPr>
              <a:r>
                <a:rPr lang="en-US" sz="1600" kern="0" spc="-32" dirty="0">
                  <a:solidFill>
                    <a:srgbClr val="FFFFFF">
                      <a:alpha val="100000"/>
                    </a:srgbClr>
                  </a:solidFill>
                  <a:latin typeface="Inter Regular" pitchFamily="34" charset="0"/>
                  <a:ea typeface="Inter Regular" pitchFamily="34" charset="-122"/>
                  <a:cs typeface="Inter Regular" pitchFamily="34" charset="-120"/>
                </a:rPr>
                <a:t>Logic</a:t>
              </a:r>
              <a:endParaRPr lang="en-US" sz="1600" dirty="0"/>
            </a:p>
          </p:txBody>
        </p:sp>
        <p:sp>
          <p:nvSpPr>
            <p:cNvPr id="33" name="Text 16"/>
            <p:cNvSpPr/>
            <p:nvPr/>
          </p:nvSpPr>
          <p:spPr>
            <a:xfrm>
              <a:off x="16359645" y="9232900"/>
              <a:ext cx="702821" cy="296333"/>
            </a:xfrm>
            <a:prstGeom prst="rect">
              <a:avLst/>
            </a:prstGeom>
            <a:noFill/>
            <a:ln/>
          </p:spPr>
          <p:txBody>
            <a:bodyPr wrap="square" lIns="0" tIns="0" rIns="0" bIns="0" rtlCol="0" anchor="t"/>
            <a:lstStyle/>
            <a:p>
              <a:pPr marL="0" indent="0" algn="l">
                <a:lnSpc>
                  <a:spcPts val="1760"/>
                </a:lnSpc>
                <a:buNone/>
              </a:pPr>
              <a:r>
                <a:rPr lang="en-US" sz="1600" kern="0" spc="-32" dirty="0">
                  <a:solidFill>
                    <a:srgbClr val="FFFFFF">
                      <a:alpha val="100000"/>
                    </a:srgbClr>
                  </a:solidFill>
                  <a:latin typeface="Inter Regular" pitchFamily="34" charset="0"/>
                  <a:ea typeface="Inter Regular" pitchFamily="34" charset="-122"/>
                  <a:cs typeface="Inter Regular" pitchFamily="34" charset="-120"/>
                </a:rPr>
                <a:t>Layout</a:t>
              </a:r>
              <a:endParaRPr lang="en-US" sz="1600" dirty="0"/>
            </a:p>
          </p:txBody>
        </p:sp>
        <p:sp>
          <p:nvSpPr>
            <p:cNvPr id="34" name="Text 17"/>
            <p:cNvSpPr/>
            <p:nvPr/>
          </p:nvSpPr>
          <p:spPr>
            <a:xfrm>
              <a:off x="18099762" y="9245600"/>
              <a:ext cx="3213502" cy="1016000"/>
            </a:xfrm>
            <a:prstGeom prst="rect">
              <a:avLst/>
            </a:prstGeom>
            <a:noFill/>
            <a:ln/>
          </p:spPr>
          <p:txBody>
            <a:bodyPr wrap="square" lIns="0" tIns="0" rIns="0" bIns="0" rtlCol="0" anchor="t"/>
            <a:lstStyle/>
            <a:p>
              <a:pPr marL="0" indent="0" algn="l">
                <a:lnSpc>
                  <a:spcPts val="3600"/>
                </a:lnSpc>
                <a:buNone/>
              </a:pPr>
              <a:r>
                <a:rPr lang="en-US" sz="2400" kern="0" spc="-48" dirty="0">
                  <a:solidFill>
                    <a:srgbClr val="FFFFFF">
                      <a:alpha val="100000"/>
                    </a:srgbClr>
                  </a:solidFill>
                  <a:latin typeface="Inter Regular" pitchFamily="34" charset="0"/>
                  <a:ea typeface="Inter Regular" pitchFamily="34" charset="-122"/>
                  <a:cs typeface="Inter Regular" pitchFamily="34" charset="-120"/>
                </a:rPr>
                <a:t>Add Progress Bar to Checkout Steps</a:t>
              </a:r>
              <a:endParaRPr lang="en-US" sz="2400" dirty="0"/>
            </a:p>
          </p:txBody>
        </p:sp>
        <p:sp>
          <p:nvSpPr>
            <p:cNvPr id="35" name="Text 18"/>
            <p:cNvSpPr/>
            <p:nvPr/>
          </p:nvSpPr>
          <p:spPr>
            <a:xfrm>
              <a:off x="20868708" y="7531100"/>
              <a:ext cx="1553828" cy="296333"/>
            </a:xfrm>
            <a:prstGeom prst="rect">
              <a:avLst/>
            </a:prstGeom>
            <a:noFill/>
            <a:ln/>
          </p:spPr>
          <p:txBody>
            <a:bodyPr wrap="square" lIns="0" tIns="0" rIns="0" bIns="0" rtlCol="0" anchor="t"/>
            <a:lstStyle/>
            <a:p>
              <a:pPr marL="0" indent="0" algn="l">
                <a:lnSpc>
                  <a:spcPts val="1760"/>
                </a:lnSpc>
                <a:buNone/>
              </a:pPr>
              <a:r>
                <a:rPr lang="en-US" sz="1600" kern="0" spc="-32" dirty="0">
                  <a:solidFill>
                    <a:srgbClr val="FFFFFF">
                      <a:alpha val="100000"/>
                    </a:srgbClr>
                  </a:solidFill>
                  <a:latin typeface="Inter Regular" pitchFamily="34" charset="0"/>
                  <a:ea typeface="Inter Regular" pitchFamily="34" charset="-122"/>
                  <a:cs typeface="Inter Regular" pitchFamily="34" charset="-120"/>
                </a:rPr>
                <a:t>Interaction Flow</a:t>
              </a:r>
              <a:endParaRPr lang="en-US" sz="1600" dirty="0"/>
            </a:p>
          </p:txBody>
        </p:sp>
        <p:pic>
          <p:nvPicPr>
            <p:cNvPr id="36" name="Image 15" descr=" "/>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12752394" y="2844800"/>
              <a:ext cx="508063" cy="381000"/>
            </a:xfrm>
            <a:prstGeom prst="rect">
              <a:avLst/>
            </a:prstGeom>
          </p:spPr>
        </p:pic>
        <p:pic>
          <p:nvPicPr>
            <p:cNvPr id="37" name="Image 16" descr=" "/>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12777797" y="6553200"/>
              <a:ext cx="457257" cy="508000"/>
            </a:xfrm>
            <a:prstGeom prst="rect">
              <a:avLst/>
            </a:prstGeom>
          </p:spPr>
        </p:pic>
        <p:pic>
          <p:nvPicPr>
            <p:cNvPr id="38" name="Image 17" descr=" "/>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12777797" y="10223500"/>
              <a:ext cx="457257" cy="457200"/>
            </a:xfrm>
            <a:prstGeom prst="rect">
              <a:avLst/>
            </a:prstGeom>
          </p:spPr>
        </p:pic>
        <p:pic>
          <p:nvPicPr>
            <p:cNvPr id="39" name="Image 18" descr=" "/>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18226778" y="8496300"/>
              <a:ext cx="355644" cy="508000"/>
            </a:xfrm>
            <a:prstGeom prst="rect">
              <a:avLst/>
            </a:prstGeom>
          </p:spPr>
        </p:pic>
        <p:pic>
          <p:nvPicPr>
            <p:cNvPr id="40" name="Image 19" descr=" "/>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18150569" y="4876800"/>
              <a:ext cx="508063" cy="457200"/>
            </a:xfrm>
            <a:prstGeom prst="rect">
              <a:avLst/>
            </a:prstGeom>
          </p:spPr>
        </p:pic>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90A0B"/>
        </a:solidFill>
        <a:effectLst/>
      </p:bgPr>
    </p:bg>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1AC2D8CF-43DD-A366-3B94-6B497CFBA7BC}"/>
              </a:ext>
            </a:extLst>
          </p:cNvPr>
          <p:cNvGrpSpPr/>
          <p:nvPr/>
        </p:nvGrpSpPr>
        <p:grpSpPr>
          <a:xfrm>
            <a:off x="0" y="7073900"/>
            <a:ext cx="24971321" cy="6642100"/>
            <a:chOff x="0" y="7073900"/>
            <a:chExt cx="24971321" cy="6642100"/>
          </a:xfrm>
        </p:grpSpPr>
        <p:sp>
          <p:nvSpPr>
            <p:cNvPr id="2" name="Shape 0"/>
            <p:cNvSpPr/>
            <p:nvPr/>
          </p:nvSpPr>
          <p:spPr>
            <a:xfrm>
              <a:off x="0" y="10439400"/>
              <a:ext cx="10885260" cy="3276600"/>
            </a:xfrm>
            <a:prstGeom prst="rect">
              <a:avLst/>
            </a:prstGeom>
            <a:solidFill>
              <a:srgbClr val="F4F4F4">
                <a:alpha val="100000"/>
              </a:srgbClr>
            </a:solidFill>
            <a:ln/>
          </p:spPr>
          <p:txBody>
            <a:bodyPr/>
            <a:lstStyle/>
            <a:p>
              <a:endParaRPr lang="en-ID"/>
            </a:p>
          </p:txBody>
        </p:sp>
        <p:sp>
          <p:nvSpPr>
            <p:cNvPr id="3" name="Shape 1"/>
            <p:cNvSpPr/>
            <p:nvPr/>
          </p:nvSpPr>
          <p:spPr>
            <a:xfrm rot="10800000">
              <a:off x="10618527" y="8597900"/>
              <a:ext cx="9551594" cy="5118100"/>
            </a:xfrm>
            <a:prstGeom prst="rect">
              <a:avLst/>
            </a:prstGeom>
            <a:solidFill>
              <a:srgbClr val="F4F4F4">
                <a:alpha val="100000"/>
              </a:srgbClr>
            </a:solidFill>
            <a:ln/>
          </p:spPr>
          <p:txBody>
            <a:bodyPr/>
            <a:lstStyle/>
            <a:p>
              <a:endParaRPr lang="en-ID"/>
            </a:p>
          </p:txBody>
        </p:sp>
        <p:sp>
          <p:nvSpPr>
            <p:cNvPr id="4" name="Shape 2"/>
            <p:cNvSpPr/>
            <p:nvPr/>
          </p:nvSpPr>
          <p:spPr>
            <a:xfrm rot="10800000">
              <a:off x="18404600" y="7073900"/>
              <a:ext cx="6566721" cy="6642100"/>
            </a:xfrm>
            <a:prstGeom prst="rect">
              <a:avLst/>
            </a:prstGeom>
            <a:solidFill>
              <a:srgbClr val="F4F4F4">
                <a:alpha val="100000"/>
              </a:srgbClr>
            </a:solidFill>
            <a:ln/>
          </p:spPr>
          <p:txBody>
            <a:bodyPr/>
            <a:lstStyle/>
            <a:p>
              <a:endParaRPr lang="en-ID"/>
            </a:p>
          </p:txBody>
        </p:sp>
      </p:grpSp>
      <p:sp>
        <p:nvSpPr>
          <p:cNvPr id="5" name="Text 3"/>
          <p:cNvSpPr/>
          <p:nvPr/>
        </p:nvSpPr>
        <p:spPr>
          <a:xfrm>
            <a:off x="1524191" y="2908300"/>
            <a:ext cx="21804392" cy="5532967"/>
          </a:xfrm>
          <a:prstGeom prst="rect">
            <a:avLst/>
          </a:prstGeom>
          <a:noFill/>
          <a:ln/>
        </p:spPr>
        <p:txBody>
          <a:bodyPr wrap="square" lIns="0" tIns="0" rIns="0" bIns="0" rtlCol="0" anchor="t"/>
          <a:lstStyle/>
          <a:p>
            <a:pPr marL="0" indent="0" algn="l">
              <a:buNone/>
            </a:pPr>
            <a:r>
              <a:rPr lang="en-US" sz="11000" kern="0" spc="-660" dirty="0">
                <a:solidFill>
                  <a:srgbClr val="FFFFFF">
                    <a:alpha val="100000"/>
                  </a:srgbClr>
                </a:solidFill>
                <a:latin typeface="Inter Medium" pitchFamily="34" charset="0"/>
                <a:ea typeface="Inter Medium" pitchFamily="34" charset="-122"/>
                <a:cs typeface="Inter Medium" pitchFamily="34" charset="-120"/>
              </a:rPr>
              <a:t>Ready to turn insights into action? </a:t>
            </a:r>
            <a:r>
              <a:rPr lang="en-US" sz="11000" kern="0" spc="-660" dirty="0">
                <a:solidFill>
                  <a:srgbClr val="F88A24">
                    <a:alpha val="100000"/>
                  </a:srgbClr>
                </a:solidFill>
                <a:latin typeface="Inter Medium" pitchFamily="34" charset="0"/>
                <a:ea typeface="Inter Medium" pitchFamily="34" charset="-122"/>
                <a:cs typeface="Inter Medium" pitchFamily="34" charset="-120"/>
              </a:rPr>
              <a:t>Let's collaborate</a:t>
            </a:r>
            <a:r>
              <a:rPr lang="en-US" sz="11000" kern="0" spc="-660" dirty="0">
                <a:solidFill>
                  <a:srgbClr val="FFFFFF">
                    <a:alpha val="100000"/>
                  </a:srgbClr>
                </a:solidFill>
                <a:latin typeface="Inter Medium" pitchFamily="34" charset="0"/>
                <a:ea typeface="Inter Medium" pitchFamily="34" charset="-122"/>
                <a:cs typeface="Inter Medium" pitchFamily="34" charset="-120"/>
              </a:rPr>
              <a:t> on building a faster, smarter experience.</a:t>
            </a:r>
            <a:endParaRPr lang="en-US" sz="11000" dirty="0"/>
          </a:p>
        </p:txBody>
      </p:sp>
      <p:sp>
        <p:nvSpPr>
          <p:cNvPr id="6" name="Text 4"/>
          <p:cNvSpPr/>
          <p:nvPr/>
        </p:nvSpPr>
        <p:spPr>
          <a:xfrm>
            <a:off x="1524191" y="1524000"/>
            <a:ext cx="1841730" cy="469900"/>
          </a:xfrm>
          <a:prstGeom prst="rect">
            <a:avLst/>
          </a:prstGeom>
          <a:noFill/>
          <a:ln/>
        </p:spPr>
        <p:txBody>
          <a:bodyPr wrap="square" lIns="0" tIns="0" rIns="0" bIns="0" rtlCol="0" anchor="t"/>
          <a:lstStyle/>
          <a:p>
            <a:pPr marL="0" indent="0" algn="l">
              <a:buNone/>
            </a:pPr>
            <a:r>
              <a:rPr lang="en-US" sz="2400" dirty="0">
                <a:solidFill>
                  <a:srgbClr val="FFFFFF">
                    <a:alpha val="100000"/>
                  </a:srgbClr>
                </a:solidFill>
                <a:latin typeface="Inter Regular" pitchFamily="34" charset="0"/>
                <a:ea typeface="Inter Regular" pitchFamily="34" charset="-122"/>
                <a:cs typeface="Inter Regular" pitchFamily="34" charset="-120"/>
              </a:rPr>
              <a:t>Fix the Flow</a:t>
            </a:r>
            <a:endParaRPr lang="en-US" sz="2400" dirty="0"/>
          </a:p>
        </p:txBody>
      </p:sp>
      <p:sp>
        <p:nvSpPr>
          <p:cNvPr id="7" name="Shape 5"/>
          <p:cNvSpPr/>
          <p:nvPr/>
        </p:nvSpPr>
        <p:spPr>
          <a:xfrm>
            <a:off x="8776797" y="8597900"/>
            <a:ext cx="1587698" cy="1587500"/>
          </a:xfrm>
          <a:prstGeom prst="ellipse">
            <a:avLst/>
          </a:prstGeom>
          <a:noFill/>
          <a:ln w="76200">
            <a:solidFill>
              <a:srgbClr val="F4F4F4"/>
            </a:solidFill>
            <a:prstDash val="solid"/>
          </a:ln>
        </p:spPr>
        <p:txBody>
          <a:bodyPr/>
          <a:lstStyle/>
          <a:p>
            <a:endParaRPr lang="en-ID"/>
          </a:p>
        </p:txBody>
      </p:sp>
      <p:pic>
        <p:nvPicPr>
          <p:cNvPr id="8" name="Image 0"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320088" y="9119084"/>
            <a:ext cx="530527" cy="530467"/>
          </a:xfrm>
          <a:prstGeom prst="rect">
            <a:avLst/>
          </a:prstGeom>
        </p:spPr>
      </p:pic>
      <p:pic>
        <p:nvPicPr>
          <p:cNvPr id="9" name="Image 1"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386957" y="9097702"/>
            <a:ext cx="485464" cy="475121"/>
          </a:xfrm>
          <a:prstGeom prst="rect">
            <a:avLst/>
          </a:prstGeom>
        </p:spPr>
      </p:pic>
      <p:sp>
        <p:nvSpPr>
          <p:cNvPr id="10" name="Text 6"/>
          <p:cNvSpPr/>
          <p:nvPr/>
        </p:nvSpPr>
        <p:spPr>
          <a:xfrm>
            <a:off x="1524191" y="11442700"/>
            <a:ext cx="4902813" cy="558800"/>
          </a:xfrm>
          <a:prstGeom prst="rect">
            <a:avLst/>
          </a:prstGeom>
          <a:noFill/>
          <a:ln/>
        </p:spPr>
        <p:txBody>
          <a:bodyPr wrap="square" lIns="0" tIns="0" rIns="0" bIns="0" rtlCol="0" anchor="t"/>
          <a:lstStyle/>
          <a:p>
            <a:pPr marL="0" indent="0" algn="l">
              <a:lnSpc>
                <a:spcPts val="3600"/>
              </a:lnSpc>
              <a:buNone/>
            </a:pPr>
            <a:r>
              <a:rPr lang="en-US" sz="2400" kern="0" spc="-48" dirty="0">
                <a:solidFill>
                  <a:srgbClr val="F88A24">
                    <a:alpha val="100000"/>
                  </a:srgbClr>
                </a:solidFill>
                <a:latin typeface="Inter Bold" pitchFamily="34" charset="0"/>
                <a:ea typeface="Inter Bold" pitchFamily="34" charset="-122"/>
                <a:cs typeface="Inter Bold" pitchFamily="34" charset="-120"/>
              </a:rPr>
              <a:t>Email</a:t>
            </a:r>
            <a:endParaRPr lang="en-US" sz="2400" dirty="0"/>
          </a:p>
        </p:txBody>
      </p:sp>
      <p:sp>
        <p:nvSpPr>
          <p:cNvPr id="11" name="Text 7"/>
          <p:cNvSpPr/>
          <p:nvPr/>
        </p:nvSpPr>
        <p:spPr>
          <a:xfrm>
            <a:off x="1524191" y="12001500"/>
            <a:ext cx="4945151" cy="664633"/>
          </a:xfrm>
          <a:prstGeom prst="rect">
            <a:avLst/>
          </a:prstGeom>
          <a:noFill/>
          <a:ln/>
        </p:spPr>
        <p:txBody>
          <a:bodyPr wrap="square" lIns="0" tIns="0" rIns="0" bIns="0" rtlCol="0" anchor="t"/>
          <a:lstStyle/>
          <a:p>
            <a:pPr marL="0" indent="0" algn="l">
              <a:buNone/>
            </a:pPr>
            <a:r>
              <a:rPr lang="en-US" sz="3400" dirty="0">
                <a:solidFill>
                  <a:srgbClr val="050C29">
                    <a:alpha val="100000"/>
                  </a:srgbClr>
                </a:solidFill>
                <a:latin typeface="Inter Regular" pitchFamily="34" charset="0"/>
                <a:ea typeface="Inter Regular" pitchFamily="34" charset="-122"/>
                <a:cs typeface="Inter Regular" pitchFamily="34" charset="-120"/>
              </a:rPr>
              <a:t>Design@gogokraft.com</a:t>
            </a:r>
            <a:endParaRPr lang="en-US" sz="3400" dirty="0"/>
          </a:p>
        </p:txBody>
      </p:sp>
      <p:sp>
        <p:nvSpPr>
          <p:cNvPr id="12" name="Text 8"/>
          <p:cNvSpPr/>
          <p:nvPr/>
        </p:nvSpPr>
        <p:spPr>
          <a:xfrm>
            <a:off x="10618527" y="11442700"/>
            <a:ext cx="4178822" cy="558800"/>
          </a:xfrm>
          <a:prstGeom prst="rect">
            <a:avLst/>
          </a:prstGeom>
          <a:noFill/>
          <a:ln/>
        </p:spPr>
        <p:txBody>
          <a:bodyPr wrap="square" lIns="0" tIns="0" rIns="0" bIns="0" rtlCol="0" anchor="t"/>
          <a:lstStyle/>
          <a:p>
            <a:pPr marL="0" indent="0" algn="l">
              <a:lnSpc>
                <a:spcPts val="3600"/>
              </a:lnSpc>
              <a:buNone/>
            </a:pPr>
            <a:r>
              <a:rPr lang="en-US" sz="2400" kern="0" spc="-48" dirty="0">
                <a:solidFill>
                  <a:srgbClr val="F88A24">
                    <a:alpha val="100000"/>
                  </a:srgbClr>
                </a:solidFill>
                <a:latin typeface="Inter Bold" pitchFamily="34" charset="0"/>
                <a:ea typeface="Inter Bold" pitchFamily="34" charset="-122"/>
                <a:cs typeface="Inter Bold" pitchFamily="34" charset="-120"/>
              </a:rPr>
              <a:t>Contact</a:t>
            </a:r>
            <a:endParaRPr lang="en-US" sz="2400" dirty="0"/>
          </a:p>
        </p:txBody>
      </p:sp>
      <p:sp>
        <p:nvSpPr>
          <p:cNvPr id="13" name="Text 9"/>
          <p:cNvSpPr/>
          <p:nvPr/>
        </p:nvSpPr>
        <p:spPr>
          <a:xfrm>
            <a:off x="10618527" y="12001500"/>
            <a:ext cx="4221161" cy="664633"/>
          </a:xfrm>
          <a:prstGeom prst="rect">
            <a:avLst/>
          </a:prstGeom>
          <a:noFill/>
          <a:ln/>
        </p:spPr>
        <p:txBody>
          <a:bodyPr wrap="square" lIns="0" tIns="0" rIns="0" bIns="0" rtlCol="0" anchor="t"/>
          <a:lstStyle/>
          <a:p>
            <a:pPr marL="0" indent="0" algn="l">
              <a:buNone/>
            </a:pPr>
            <a:r>
              <a:rPr lang="en-US" sz="3400" dirty="0">
                <a:solidFill>
                  <a:srgbClr val="050C29">
                    <a:alpha val="100000"/>
                  </a:srgbClr>
                </a:solidFill>
                <a:latin typeface="Inter Regular" pitchFamily="34" charset="0"/>
                <a:ea typeface="Inter Regular" pitchFamily="34" charset="-122"/>
                <a:cs typeface="Inter Regular" pitchFamily="34" charset="-120"/>
              </a:rPr>
              <a:t>(+62)84268909505</a:t>
            </a:r>
            <a:endParaRPr lang="en-US" sz="3400" dirty="0"/>
          </a:p>
        </p:txBody>
      </p:sp>
      <p:sp>
        <p:nvSpPr>
          <p:cNvPr id="14" name="Text 10"/>
          <p:cNvSpPr/>
          <p:nvPr/>
        </p:nvSpPr>
        <p:spPr>
          <a:xfrm>
            <a:off x="18988873" y="11442700"/>
            <a:ext cx="3975597" cy="558800"/>
          </a:xfrm>
          <a:prstGeom prst="rect">
            <a:avLst/>
          </a:prstGeom>
          <a:noFill/>
          <a:ln/>
        </p:spPr>
        <p:txBody>
          <a:bodyPr wrap="square" lIns="0" tIns="0" rIns="0" bIns="0" rtlCol="0" anchor="t"/>
          <a:lstStyle/>
          <a:p>
            <a:pPr marL="0" indent="0" algn="l">
              <a:lnSpc>
                <a:spcPts val="3600"/>
              </a:lnSpc>
              <a:buNone/>
            </a:pPr>
            <a:r>
              <a:rPr lang="en-US" sz="2400" kern="0" spc="-48" dirty="0">
                <a:solidFill>
                  <a:srgbClr val="F88A24">
                    <a:alpha val="100000"/>
                  </a:srgbClr>
                </a:solidFill>
                <a:latin typeface="Inter Bold" pitchFamily="34" charset="0"/>
                <a:ea typeface="Inter Bold" pitchFamily="34" charset="-122"/>
                <a:cs typeface="Inter Bold" pitchFamily="34" charset="-120"/>
              </a:rPr>
              <a:t>Address</a:t>
            </a:r>
            <a:endParaRPr lang="en-US" sz="2400" dirty="0"/>
          </a:p>
        </p:txBody>
      </p:sp>
      <p:sp>
        <p:nvSpPr>
          <p:cNvPr id="15" name="Text 11"/>
          <p:cNvSpPr/>
          <p:nvPr/>
        </p:nvSpPr>
        <p:spPr>
          <a:xfrm>
            <a:off x="18988873" y="12001500"/>
            <a:ext cx="4017936" cy="664633"/>
          </a:xfrm>
          <a:prstGeom prst="rect">
            <a:avLst/>
          </a:prstGeom>
          <a:noFill/>
          <a:ln/>
        </p:spPr>
        <p:txBody>
          <a:bodyPr wrap="square" lIns="0" tIns="0" rIns="0" bIns="0" rtlCol="0" anchor="t"/>
          <a:lstStyle/>
          <a:p>
            <a:pPr marL="0" indent="0" algn="l">
              <a:buNone/>
            </a:pPr>
            <a:r>
              <a:rPr lang="en-US" sz="3400" dirty="0">
                <a:solidFill>
                  <a:srgbClr val="050C29">
                    <a:alpha val="100000"/>
                  </a:srgbClr>
                </a:solidFill>
                <a:latin typeface="Inter Regular" pitchFamily="34" charset="0"/>
                <a:ea typeface="Inter Regular" pitchFamily="34" charset="-122"/>
                <a:cs typeface="Inter Regular" pitchFamily="34" charset="-120"/>
              </a:rPr>
              <a:t>St. North Progo (5)</a:t>
            </a:r>
            <a:endParaRPr lang="en-US" sz="3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177</TotalTime>
  <Words>2447</Words>
  <Application>Microsoft Office PowerPoint</Application>
  <PresentationFormat>Custom</PresentationFormat>
  <Paragraphs>382</Paragraphs>
  <Slides>25</Slides>
  <Notes>25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Inter Bold</vt:lpstr>
      <vt:lpstr>Inter Medium</vt:lpstr>
      <vt:lpstr>Inter Regular</vt:lpstr>
      <vt:lpstr>Montserrat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aria zz</cp:lastModifiedBy>
  <cp:revision>6</cp:revision>
  <dcterms:created xsi:type="dcterms:W3CDTF">2025-05-05T08:38:24Z</dcterms:created>
  <dcterms:modified xsi:type="dcterms:W3CDTF">2025-05-06T04:19:50Z</dcterms:modified>
</cp:coreProperties>
</file>