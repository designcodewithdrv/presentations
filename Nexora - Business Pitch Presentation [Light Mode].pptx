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82" r:id="rId2"/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D6574A0-F066-49EB-B90E-2C64A55F205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D8A9B7-DA95-92EB-7877-CD486ABB9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" y="4362450"/>
            <a:ext cx="17830800" cy="5695950"/>
          </a:xfrm>
          <a:custGeom>
            <a:avLst/>
            <a:gdLst>
              <a:gd name="connsiteX0" fmla="*/ 0 w 17830800"/>
              <a:gd name="connsiteY0" fmla="*/ 0 h 5695950"/>
              <a:gd name="connsiteX1" fmla="*/ 17830800 w 17830800"/>
              <a:gd name="connsiteY1" fmla="*/ 0 h 5695950"/>
              <a:gd name="connsiteX2" fmla="*/ 17830800 w 17830800"/>
              <a:gd name="connsiteY2" fmla="*/ 5695950 h 5695950"/>
              <a:gd name="connsiteX3" fmla="*/ 0 w 17830800"/>
              <a:gd name="connsiteY3" fmla="*/ 5695950 h 569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00" h="5695950">
                <a:moveTo>
                  <a:pt x="0" y="0"/>
                </a:moveTo>
                <a:lnTo>
                  <a:pt x="17830800" y="0"/>
                </a:lnTo>
                <a:lnTo>
                  <a:pt x="17830800" y="5695950"/>
                </a:lnTo>
                <a:lnTo>
                  <a:pt x="0" y="56959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740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5AE29BB8-9BFD-3CB4-AD20-6631F3AE88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58300" y="762000"/>
            <a:ext cx="8801100" cy="92964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581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C23192C6-6E48-0C9D-3793-10C30FA570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0775" y="0"/>
            <a:ext cx="12087225" cy="102870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778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A9CBEE-9723-252A-27F1-E6BA4A0560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5051" y="990600"/>
            <a:ext cx="2981324" cy="29813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DB6A85F-0B0D-2444-41FC-FBDB7F9C6A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15826" y="990600"/>
            <a:ext cx="2981324" cy="29813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53792942-90B9-012F-BED8-EDAF214741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15051" y="5495925"/>
            <a:ext cx="2981324" cy="29813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DF5039E-8EFC-6610-BB8A-CCA0AA1355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15826" y="5495925"/>
            <a:ext cx="2981324" cy="29813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842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2E16ABE-DF66-960A-E99A-5AC51E01B3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087224" y="3905250"/>
            <a:ext cx="5438776" cy="638175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959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457A872-4C2B-A233-38A0-36080E4A34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48925" y="1657350"/>
            <a:ext cx="7286624" cy="862965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399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525F25-D988-DF4E-589D-43838CF02B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34724" y="6381750"/>
            <a:ext cx="3638551" cy="20193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378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92622A8-926D-4A46-EA00-CD171BA500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000" y="2781300"/>
            <a:ext cx="4019550" cy="24765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3A9D20EA-76ED-C4A8-A22F-D4E215EC05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10150" y="2781300"/>
            <a:ext cx="4019550" cy="24765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1EB55AEF-9B8C-70C3-43CA-E06A1C5CAC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58300" y="2781300"/>
            <a:ext cx="4019550" cy="24765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51051254-CCF6-4250-973F-547EFEF0B2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000" y="6267450"/>
            <a:ext cx="4019550" cy="24765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5830F2CD-BF25-FE4B-D3E0-88F30CB29C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10150" y="6267450"/>
            <a:ext cx="4019550" cy="24765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4DFA10F-3676-BD74-7CB8-DE2D1FA762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58300" y="6267450"/>
            <a:ext cx="4019550" cy="24765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782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5C48B35-E747-FE41-67D4-4E0A79F182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0150" y="2647950"/>
            <a:ext cx="4019550" cy="763905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4D86644-34F1-1D3C-1ED8-66FA9AAD62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58300" y="0"/>
            <a:ext cx="4019550" cy="763905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EC19C897-C203-C362-A105-F930EAE85A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506450" y="990600"/>
            <a:ext cx="4019550" cy="763905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689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97E36C53-4D79-A145-4E47-657EA787D5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10475" y="0"/>
            <a:ext cx="10677525" cy="102870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078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7213E8E7-6C6B-5D89-3346-4484AEFEAC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" y="990600"/>
            <a:ext cx="17830800" cy="569595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7923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1AD041A-A941-F2E0-7725-1CF5B7519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475" y="3886200"/>
            <a:ext cx="11106150" cy="451485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3542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6E2E115-561E-7417-78EA-5E6C2BB65E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" y="228599"/>
            <a:ext cx="17830800" cy="9829799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4681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C0602FF-7F00-18A4-0F0A-DDD10701FE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1049" y="2838450"/>
            <a:ext cx="5276849" cy="668655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ACF53D6-C0F8-7432-6ECF-DE259DE48E7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15101" y="2838450"/>
            <a:ext cx="5276849" cy="668655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E9D6AD8-1EB1-13BB-64FA-7B98548E32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49151" y="2838450"/>
            <a:ext cx="5276849" cy="668655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0557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E512C0F-16FC-860A-2F15-CB4CD1D31A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0151" y="4133849"/>
            <a:ext cx="4019550" cy="2476499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742637B-45B8-8C38-43D0-0F32AFAB2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58299" y="4133849"/>
            <a:ext cx="4019550" cy="2476499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09EEBE1-A215-A409-0E77-269E57266F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506447" y="4133849"/>
            <a:ext cx="4019550" cy="2476499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7224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75F7570-0F2A-C662-DB26-0C9C0B8177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67673" y="1885951"/>
            <a:ext cx="6629401" cy="201930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8578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1EC21A9-4C14-56F7-82A7-0B55E26255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9374" y="4133849"/>
            <a:ext cx="11325225" cy="6153150"/>
          </a:xfrm>
          <a:prstGeom prst="round2SameRect">
            <a:avLst>
              <a:gd name="adj1" fmla="val 2986"/>
              <a:gd name="adj2" fmla="val 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44749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536172BB-2EFA-C312-E055-31F658D1A2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000" y="4133849"/>
            <a:ext cx="8267700" cy="5391149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16535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B81892D-3347-E973-5A92-AE13BE66DF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4800" y="4133850"/>
            <a:ext cx="3312318" cy="3312318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8783D0CB-6DD5-AC37-77E2-472E52F17F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25718" y="4133850"/>
            <a:ext cx="3312318" cy="3312318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6DEC3220-0803-229B-5A77-68B01B58D6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72762" y="4133850"/>
            <a:ext cx="3312318" cy="3312318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F337545F-9BD6-C5A9-716D-51CF9964F9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213681" y="4133850"/>
            <a:ext cx="3312318" cy="3312318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8048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DF028F0B-F417-6A0A-75A4-6B63F5DF18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39076" y="4133850"/>
            <a:ext cx="4843462" cy="561975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E82406A-54A2-B7D2-E770-B3603907D1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911136" y="4133850"/>
            <a:ext cx="4843462" cy="561975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94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2523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91CD17-6A5E-7433-0C05-842A02D833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087224" y="4330702"/>
            <a:ext cx="5438775" cy="3105149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07707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B644BF-DC24-C044-4527-EDC773EC7F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1049" y="762000"/>
            <a:ext cx="5686426" cy="876300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77696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F8869F-2F1A-955E-147E-B86B698759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10474" y="762000"/>
            <a:ext cx="5686426" cy="876300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659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126173A3-EE86-643A-A53F-61C3D1A6B8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52626" y="2181224"/>
            <a:ext cx="8496300" cy="5924551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1404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C0565CF-4BEE-9241-73F9-01981CCE3F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05950" y="228600"/>
            <a:ext cx="8553450" cy="9829800"/>
          </a:xfrm>
          <a:prstGeom prst="roundRect">
            <a:avLst>
              <a:gd name="adj" fmla="val 1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11799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16028F6D-ABFA-375E-5E7D-F1E7E92FD3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2450" y="1657350"/>
            <a:ext cx="14363700" cy="451485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878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7B5EF2E-C5AC-AA44-4A2C-C8B6EC8461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5" y="3009900"/>
            <a:ext cx="9915525" cy="674370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57810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32E7199C-DD19-4ABF-61E6-F218A3C3A6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9375" y="762000"/>
            <a:ext cx="11096624" cy="2768603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60346AF8-9A5D-C783-C7A8-9634503D93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9375" y="3759203"/>
            <a:ext cx="11096624" cy="2768603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CE3AC020-150E-88BD-A625-EB05DB27A60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29375" y="6756395"/>
            <a:ext cx="11096624" cy="2768603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65911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BA719D55-6C36-8458-7CFF-D5BDF9E30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0" y="5257800"/>
            <a:ext cx="5429250" cy="348615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80CC276-ED32-B31E-9761-A46802BB2F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9375" y="5257800"/>
            <a:ext cx="5429250" cy="348615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E07127F-E845-03AF-C99D-1A38513666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077700" y="5257800"/>
            <a:ext cx="5429250" cy="348615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97E3E50-EF67-B2EA-E0AE-8FB4B9C9550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29375" y="762000"/>
            <a:ext cx="5429250" cy="348615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6982E4DB-9ADC-6369-3FA3-1FA04A1DF4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077700" y="762000"/>
            <a:ext cx="5429250" cy="348615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02545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8DCC5CF-1A12-5785-E502-703B3BCF12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0600" y="7277100"/>
            <a:ext cx="4981575" cy="201930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71614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A619FD30-F70E-7842-C39D-261E42A251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9375" y="3600450"/>
            <a:ext cx="5429251" cy="615315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94227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E7A2B47B-09E9-155D-C45A-9BC2EA0396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0" y="4133850"/>
            <a:ext cx="8267699" cy="5391150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60666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856C010E-E9F8-7299-883B-7DE8E44793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001" y="762000"/>
            <a:ext cx="3312318" cy="3312318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D0A1ED-7AB1-1F29-2BA9-85C61F3E80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67224" y="762000"/>
            <a:ext cx="3312318" cy="3312318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8B4A0EE-8667-F45F-8BA8-6B591681D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49" y="762000"/>
            <a:ext cx="3312318" cy="3312318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6D94403-5575-9353-2A14-4F77BECC50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1" y="5257800"/>
            <a:ext cx="3312318" cy="3312318"/>
          </a:xfrm>
          <a:prstGeom prst="roundRect">
            <a:avLst>
              <a:gd name="adj" fmla="val 2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51978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575A197-81B4-E6FB-CCB0-1F05B62AE9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400" y="5029200"/>
            <a:ext cx="4848225" cy="4724400"/>
          </a:xfrm>
          <a:prstGeom prst="roundRect">
            <a:avLst>
              <a:gd name="adj" fmla="val 3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71FDE2DD-FD76-665A-9718-7D2E80747D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00699" y="4133850"/>
            <a:ext cx="4848225" cy="5619750"/>
          </a:xfrm>
          <a:prstGeom prst="roundRect">
            <a:avLst>
              <a:gd name="adj" fmla="val 3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1688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FEE7E9D9-379D-B27C-3F84-615CAB72FF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1225" y="762000"/>
            <a:ext cx="6848475" cy="8763000"/>
          </a:xfrm>
          <a:prstGeom prst="roundRect">
            <a:avLst>
              <a:gd name="adj" fmla="val 3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00539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36E84129-BB08-D0EB-8C1A-D7D39F00C0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000" y="762000"/>
            <a:ext cx="5438775" cy="8763000"/>
          </a:xfrm>
          <a:prstGeom prst="roundRect">
            <a:avLst>
              <a:gd name="adj" fmla="val 3000"/>
            </a:avLst>
          </a:prstGeom>
        </p:spPr>
        <p:txBody>
          <a:bodyPr/>
          <a:lstStyle/>
          <a:p>
            <a:endParaRPr lang="en-ID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D9008EAF-B56A-3BE5-3041-40DC76D4C0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6450" y="762000"/>
            <a:ext cx="4019550" cy="4267200"/>
          </a:xfrm>
          <a:prstGeom prst="roundRect">
            <a:avLst>
              <a:gd name="adj" fmla="val 3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37029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D338E2C-271F-D9AA-9D1A-4A407BC963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58300" y="1657350"/>
            <a:ext cx="8267700" cy="5848350"/>
          </a:xfrm>
          <a:prstGeom prst="roundRect">
            <a:avLst>
              <a:gd name="adj" fmla="val 3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25713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158DD67-8224-74A8-0DBD-C078F39E82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9374" y="228600"/>
            <a:ext cx="8267699" cy="9829800"/>
          </a:xfrm>
          <a:prstGeom prst="roundRect">
            <a:avLst>
              <a:gd name="adj" fmla="val 3000"/>
            </a:avLst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871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46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72" r:id="rId4"/>
    <p:sldLayoutId id="2147483670" r:id="rId5"/>
    <p:sldLayoutId id="2147483671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9FEB98-DF99-73C3-32F9-17BC7A68C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A8A6-C592-EA40-6B8F-F3FEA76C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F5B9-F681-7ED7-E4FF-06241D832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94933-E55C-4A39-91B1-E69847C1FC2C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9C69B-A415-A61B-57CC-72E8688A3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A9012-363E-1D4F-810C-ACB73795C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2902B-E0B1-4CDB-B5F5-0B1DE661C7E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0873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8" r:id="rId2"/>
    <p:sldLayoutId id="2147483695" r:id="rId3"/>
    <p:sldLayoutId id="2147483694" r:id="rId4"/>
    <p:sldLayoutId id="2147483693" r:id="rId5"/>
    <p:sldLayoutId id="2147483692" r:id="rId6"/>
    <p:sldLayoutId id="2147483691" r:id="rId7"/>
    <p:sldLayoutId id="2147483690" r:id="rId8"/>
    <p:sldLayoutId id="2147483689" r:id="rId9"/>
    <p:sldLayoutId id="2147483686" r:id="rId10"/>
    <p:sldLayoutId id="2147483688" r:id="rId11"/>
    <p:sldLayoutId id="2147483687" r:id="rId12"/>
    <p:sldLayoutId id="2147483685" r:id="rId13"/>
    <p:sldLayoutId id="2147483684" r:id="rId14"/>
    <p:sldLayoutId id="21474836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90277-C094-5B1F-FEB9-5DF1DA67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E73D-4C6D-2D7A-D480-7C443F34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9ABF-0EC9-FCA1-F727-8DE52F2C3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7C3E3-3584-4FEC-9BE9-9B371668D218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3BB4A-DFAD-72AC-56C5-D7048D00D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F1FC-75E3-5C5B-EBD7-DDAB0ED9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B78AA-B251-4A28-BAAC-0BA5890A08B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002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61" r:id="rId7"/>
    <p:sldLayoutId id="2147483660" r:id="rId8"/>
    <p:sldLayoutId id="2147483659" r:id="rId9"/>
    <p:sldLayoutId id="2147483658" r:id="rId10"/>
    <p:sldLayoutId id="2147483657" r:id="rId11"/>
    <p:sldLayoutId id="2147483656" r:id="rId12"/>
    <p:sldLayoutId id="214748365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3E37914-F1AF-9269-615E-906F243CF2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917C45-CAE3-FF3C-2509-86C09325A9D7}"/>
              </a:ext>
            </a:extLst>
          </p:cNvPr>
          <p:cNvSpPr/>
          <p:nvPr/>
        </p:nvSpPr>
        <p:spPr>
          <a:xfrm>
            <a:off x="228600" y="7505700"/>
            <a:ext cx="17830800" cy="2552700"/>
          </a:xfrm>
          <a:custGeom>
            <a:avLst/>
            <a:gdLst>
              <a:gd name="connsiteX0" fmla="*/ 0 w 17830800"/>
              <a:gd name="connsiteY0" fmla="*/ 0 h 2552700"/>
              <a:gd name="connsiteX1" fmla="*/ 17830800 w 17830800"/>
              <a:gd name="connsiteY1" fmla="*/ 0 h 2552700"/>
              <a:gd name="connsiteX2" fmla="*/ 17830800 w 17830800"/>
              <a:gd name="connsiteY2" fmla="*/ 2552700 h 2552700"/>
              <a:gd name="connsiteX3" fmla="*/ 0 w 17830800"/>
              <a:gd name="connsiteY3" fmla="*/ 2552700 h 255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00" h="2552700">
                <a:moveTo>
                  <a:pt x="0" y="0"/>
                </a:moveTo>
                <a:lnTo>
                  <a:pt x="17830800" y="0"/>
                </a:lnTo>
                <a:lnTo>
                  <a:pt x="17830800" y="2552700"/>
                </a:lnTo>
                <a:lnTo>
                  <a:pt x="0" y="2552700"/>
                </a:lnTo>
                <a:close/>
              </a:path>
            </a:pathLst>
          </a:custGeom>
          <a:gradFill>
            <a:gsLst>
              <a:gs pos="0">
                <a:srgbClr val="000000">
                  <a:alpha val="49804"/>
                </a:srgbClr>
              </a:gs>
              <a:gs pos="50000">
                <a:srgbClr val="000000">
                  <a:alpha val="24706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1C697D-975E-CFC6-9606-F5D32DE4552A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84F78-7808-FD50-76CB-239CF1FEA1A9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DE198-366B-CEE2-A694-F110227C0E0F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DA3AA-BEE8-E745-7310-2CF34D9C8513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D78042D-D6C3-1DA8-1E89-ECCA9003CB65}"/>
              </a:ext>
            </a:extLst>
          </p:cNvPr>
          <p:cNvSpPr/>
          <p:nvPr/>
        </p:nvSpPr>
        <p:spPr>
          <a:xfrm>
            <a:off x="533400" y="8934450"/>
            <a:ext cx="819150" cy="819150"/>
          </a:xfrm>
          <a:custGeom>
            <a:avLst/>
            <a:gdLst>
              <a:gd name="connsiteX0" fmla="*/ 819150 w 819150"/>
              <a:gd name="connsiteY0" fmla="*/ 409575 h 819150"/>
              <a:gd name="connsiteX1" fmla="*/ 409575 w 819150"/>
              <a:gd name="connsiteY1" fmla="*/ 819150 h 819150"/>
              <a:gd name="connsiteX2" fmla="*/ 0 w 819150"/>
              <a:gd name="connsiteY2" fmla="*/ 409575 h 819150"/>
              <a:gd name="connsiteX3" fmla="*/ 409575 w 819150"/>
              <a:gd name="connsiteY3" fmla="*/ 0 h 819150"/>
              <a:gd name="connsiteX4" fmla="*/ 819150 w 819150"/>
              <a:gd name="connsiteY4" fmla="*/ 409575 h 8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150" h="819150">
                <a:moveTo>
                  <a:pt x="819150" y="409575"/>
                </a:moveTo>
                <a:cubicBezTo>
                  <a:pt x="819150" y="635777"/>
                  <a:pt x="635777" y="819150"/>
                  <a:pt x="409575" y="819150"/>
                </a:cubicBezTo>
                <a:cubicBezTo>
                  <a:pt x="183373" y="819150"/>
                  <a:pt x="0" y="635777"/>
                  <a:pt x="0" y="409575"/>
                </a:cubicBezTo>
                <a:cubicBezTo>
                  <a:pt x="0" y="183373"/>
                  <a:pt x="183373" y="0"/>
                  <a:pt x="409575" y="0"/>
                </a:cubicBezTo>
                <a:cubicBezTo>
                  <a:pt x="635777" y="0"/>
                  <a:pt x="819150" y="183373"/>
                  <a:pt x="819150" y="409575"/>
                </a:cubicBez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ECFFDD7-6587-FB13-8DEC-497D3C5E08D3}"/>
              </a:ext>
            </a:extLst>
          </p:cNvPr>
          <p:cNvSpPr/>
          <p:nvPr/>
        </p:nvSpPr>
        <p:spPr>
          <a:xfrm>
            <a:off x="742950" y="9163050"/>
            <a:ext cx="400050" cy="361950"/>
          </a:xfrm>
          <a:custGeom>
            <a:avLst/>
            <a:gdLst>
              <a:gd name="connsiteX0" fmla="*/ 35299 w 400050"/>
              <a:gd name="connsiteY0" fmla="*/ 0 h 361950"/>
              <a:gd name="connsiteX1" fmla="*/ 0 w 400050"/>
              <a:gd name="connsiteY1" fmla="*/ 0 h 361950"/>
              <a:gd name="connsiteX2" fmla="*/ 0 w 400050"/>
              <a:gd name="connsiteY2" fmla="*/ 361950 h 361950"/>
              <a:gd name="connsiteX3" fmla="*/ 223561 w 400050"/>
              <a:gd name="connsiteY3" fmla="*/ 361950 h 361950"/>
              <a:gd name="connsiteX4" fmla="*/ 35299 w 400050"/>
              <a:gd name="connsiteY4" fmla="*/ 0 h 361950"/>
              <a:gd name="connsiteX5" fmla="*/ 164726 w 400050"/>
              <a:gd name="connsiteY5" fmla="*/ 0 h 361950"/>
              <a:gd name="connsiteX6" fmla="*/ 352987 w 400050"/>
              <a:gd name="connsiteY6" fmla="*/ 361950 h 361950"/>
              <a:gd name="connsiteX7" fmla="*/ 400050 w 400050"/>
              <a:gd name="connsiteY7" fmla="*/ 361950 h 361950"/>
              <a:gd name="connsiteX8" fmla="*/ 400050 w 400050"/>
              <a:gd name="connsiteY8" fmla="*/ 0 h 361950"/>
              <a:gd name="connsiteX9" fmla="*/ 164726 w 400050"/>
              <a:gd name="connsiteY9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0050" h="361950">
                <a:moveTo>
                  <a:pt x="35299" y="0"/>
                </a:moveTo>
                <a:lnTo>
                  <a:pt x="0" y="0"/>
                </a:lnTo>
                <a:lnTo>
                  <a:pt x="0" y="361950"/>
                </a:lnTo>
                <a:lnTo>
                  <a:pt x="223561" y="361950"/>
                </a:lnTo>
                <a:lnTo>
                  <a:pt x="35299" y="0"/>
                </a:lnTo>
                <a:close/>
                <a:moveTo>
                  <a:pt x="164726" y="0"/>
                </a:moveTo>
                <a:lnTo>
                  <a:pt x="352987" y="361950"/>
                </a:lnTo>
                <a:lnTo>
                  <a:pt x="400050" y="361950"/>
                </a:lnTo>
                <a:lnTo>
                  <a:pt x="400050" y="0"/>
                </a:lnTo>
                <a:lnTo>
                  <a:pt x="164726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45B3DF-D5FB-4595-03EA-BB657D7020D8}"/>
              </a:ext>
            </a:extLst>
          </p:cNvPr>
          <p:cNvSpPr txBox="1"/>
          <p:nvPr/>
        </p:nvSpPr>
        <p:spPr>
          <a:xfrm>
            <a:off x="1489710" y="9040367"/>
            <a:ext cx="1143914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F3F3F3"/>
                </a:solidFill>
                <a:latin typeface="Plus Jakarta Sans"/>
                <a:cs typeface="Plus Jakarta Sans"/>
                <a:sym typeface="Plus Jakarta Sans"/>
                <a:rtl val="0"/>
              </a:rPr>
              <a:t>Presented by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511BAD-D424-611E-4FCC-D4E375B76495}"/>
              </a:ext>
            </a:extLst>
          </p:cNvPr>
          <p:cNvSpPr txBox="1"/>
          <p:nvPr/>
        </p:nvSpPr>
        <p:spPr>
          <a:xfrm>
            <a:off x="1489710" y="9268567"/>
            <a:ext cx="1561338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F3F3F3"/>
                </a:solidFill>
                <a:latin typeface="Plus Jakarta Sans"/>
                <a:cs typeface="Plus Jakarta Sans"/>
                <a:sym typeface="Plus Jakarta Sans"/>
                <a:rtl val="0"/>
              </a:rPr>
              <a:t>James Smith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B95F52-E445-D73E-7A34-F7590245F2FB}"/>
              </a:ext>
            </a:extLst>
          </p:cNvPr>
          <p:cNvSpPr txBox="1"/>
          <p:nvPr/>
        </p:nvSpPr>
        <p:spPr>
          <a:xfrm>
            <a:off x="441960" y="1612010"/>
            <a:ext cx="8972054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The Future of Smart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Online Shopping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5D31D8-2455-BFCF-CAE1-3D3427412A81}"/>
              </a:ext>
            </a:extLst>
          </p:cNvPr>
          <p:cNvSpPr txBox="1"/>
          <p:nvPr/>
        </p:nvSpPr>
        <p:spPr>
          <a:xfrm>
            <a:off x="13415011" y="3153918"/>
            <a:ext cx="4802352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Introduce the brand’s vision as a next-gen e-commerce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platform that bridges convenience and technology.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NEXORA empowers users to shop faster, safer, and smarter.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D38E7C-56A6-1A61-A682-A8BA5F1D7E6D}"/>
              </a:ext>
            </a:extLst>
          </p:cNvPr>
          <p:cNvSpPr txBox="1"/>
          <p:nvPr/>
        </p:nvSpPr>
        <p:spPr>
          <a:xfrm>
            <a:off x="10586085" y="3153346"/>
            <a:ext cx="2207666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2E2E2E"/>
                </a:solidFill>
                <a:latin typeface="Plus Jakarta Sans" pitchFamily="2" charset="0"/>
              </a:rPr>
              <a:t>Welcome to  </a:t>
            </a:r>
          </a:p>
          <a:p>
            <a:r>
              <a:rPr lang="en-ID" sz="2100" b="1">
                <a:solidFill>
                  <a:srgbClr val="2E2E2E"/>
                </a:solidFill>
                <a:latin typeface="Plus Jakarta Sans" pitchFamily="2" charset="0"/>
              </a:rPr>
              <a:t>NEXORA</a:t>
            </a:r>
          </a:p>
        </p:txBody>
      </p:sp>
    </p:spTree>
    <p:extLst>
      <p:ext uri="{BB962C8B-B14F-4D97-AF65-F5344CB8AC3E}">
        <p14:creationId xmlns:p14="http://schemas.microsoft.com/office/powerpoint/2010/main" val="121764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7971A432-EAD1-A69B-B08B-715C8A05A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582C8-73FA-83C5-B706-25CCE2D147FA}"/>
              </a:ext>
            </a:extLst>
          </p:cNvPr>
          <p:cNvSpPr txBox="1"/>
          <p:nvPr/>
        </p:nvSpPr>
        <p:spPr>
          <a:xfrm>
            <a:off x="1146810" y="5734812"/>
            <a:ext cx="3693947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Digital commerce for everyone.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5B1032-A6E1-1455-23A0-78790494CA92}"/>
              </a:ext>
            </a:extLst>
          </p:cNvPr>
          <p:cNvSpPr/>
          <p:nvPr/>
        </p:nvSpPr>
        <p:spPr>
          <a:xfrm>
            <a:off x="8067675" y="891540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1C344-5E9F-E603-A48E-3A4F731513A5}"/>
              </a:ext>
            </a:extLst>
          </p:cNvPr>
          <p:cNvSpPr/>
          <p:nvPr/>
        </p:nvSpPr>
        <p:spPr>
          <a:xfrm>
            <a:off x="8337546" y="9182100"/>
            <a:ext cx="660406" cy="609600"/>
          </a:xfrm>
          <a:custGeom>
            <a:avLst/>
            <a:gdLst>
              <a:gd name="connsiteX0" fmla="*/ 58274 w 660406"/>
              <a:gd name="connsiteY0" fmla="*/ 0 h 609600"/>
              <a:gd name="connsiteX1" fmla="*/ 0 w 660406"/>
              <a:gd name="connsiteY1" fmla="*/ 0 h 609600"/>
              <a:gd name="connsiteX2" fmla="*/ 0 w 660406"/>
              <a:gd name="connsiteY2" fmla="*/ 609600 h 609600"/>
              <a:gd name="connsiteX3" fmla="*/ 369055 w 660406"/>
              <a:gd name="connsiteY3" fmla="*/ 609600 h 609600"/>
              <a:gd name="connsiteX4" fmla="*/ 58274 w 660406"/>
              <a:gd name="connsiteY4" fmla="*/ 0 h 609600"/>
              <a:gd name="connsiteX5" fmla="*/ 271939 w 660406"/>
              <a:gd name="connsiteY5" fmla="*/ 0 h 609600"/>
              <a:gd name="connsiteX6" fmla="*/ 582711 w 660406"/>
              <a:gd name="connsiteY6" fmla="*/ 609600 h 609600"/>
              <a:gd name="connsiteX7" fmla="*/ 660406 w 660406"/>
              <a:gd name="connsiteY7" fmla="*/ 609600 h 609600"/>
              <a:gd name="connsiteX8" fmla="*/ 660406 w 660406"/>
              <a:gd name="connsiteY8" fmla="*/ 0 h 609600"/>
              <a:gd name="connsiteX9" fmla="*/ 271939 w 66040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0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55" y="609600"/>
                </a:lnTo>
                <a:lnTo>
                  <a:pt x="58274" y="0"/>
                </a:lnTo>
                <a:close/>
                <a:moveTo>
                  <a:pt x="271939" y="0"/>
                </a:moveTo>
                <a:lnTo>
                  <a:pt x="582711" y="609600"/>
                </a:lnTo>
                <a:lnTo>
                  <a:pt x="660406" y="609600"/>
                </a:lnTo>
                <a:lnTo>
                  <a:pt x="660406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AE1441C-02C5-2A8B-F9D7-17EDBCBF7AA1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7381BA-83CF-42B4-AADC-29D24BE0D8AA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75C5AE-3E8E-99A4-E737-B185A2BB0203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05A55-541D-58C5-39F4-BDB80DF0CFF1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77A900-86B2-2234-F3E1-753B8AAC3EAD}"/>
              </a:ext>
            </a:extLst>
          </p:cNvPr>
          <p:cNvSpPr txBox="1"/>
          <p:nvPr/>
        </p:nvSpPr>
        <p:spPr>
          <a:xfrm>
            <a:off x="1146810" y="6480428"/>
            <a:ext cx="4659267" cy="71558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Explain that NEXORA aims to make online shopping </a:t>
            </a:r>
          </a:p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seamless and personalized, blending user-centric </a:t>
            </a:r>
          </a:p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design with AI-driven recommendations.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2878CB-6196-3534-BEDC-EA86D5842EBE}"/>
              </a:ext>
            </a:extLst>
          </p:cNvPr>
          <p:cNvSpPr txBox="1"/>
          <p:nvPr/>
        </p:nvSpPr>
        <p:spPr>
          <a:xfrm>
            <a:off x="1146810" y="3069336"/>
            <a:ext cx="6195060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Introduction 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to Our Vision</a:t>
            </a:r>
          </a:p>
        </p:txBody>
      </p:sp>
    </p:spTree>
    <p:extLst>
      <p:ext uri="{BB962C8B-B14F-4D97-AF65-F5344CB8AC3E}">
        <p14:creationId xmlns:p14="http://schemas.microsoft.com/office/powerpoint/2010/main" val="1557698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BBCE91E-EAFE-AD57-F6A4-6A6711137D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AB1AD0B-B18E-C016-C23D-BC862CFAFE5D}"/>
              </a:ext>
            </a:extLst>
          </p:cNvPr>
          <p:cNvSpPr/>
          <p:nvPr/>
        </p:nvSpPr>
        <p:spPr>
          <a:xfrm>
            <a:off x="2181225" y="1885950"/>
            <a:ext cx="6848475" cy="7639050"/>
          </a:xfrm>
          <a:custGeom>
            <a:avLst/>
            <a:gdLst>
              <a:gd name="connsiteX0" fmla="*/ 0 w 6848475"/>
              <a:gd name="connsiteY0" fmla="*/ 0 h 7639050"/>
              <a:gd name="connsiteX1" fmla="*/ 6848475 w 6848475"/>
              <a:gd name="connsiteY1" fmla="*/ 0 h 7639050"/>
              <a:gd name="connsiteX2" fmla="*/ 6848475 w 6848475"/>
              <a:gd name="connsiteY2" fmla="*/ 7639050 h 7639050"/>
              <a:gd name="connsiteX3" fmla="*/ 0 w 6848475"/>
              <a:gd name="connsiteY3" fmla="*/ 7639050 h 763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8475" h="7639050">
                <a:moveTo>
                  <a:pt x="0" y="0"/>
                </a:moveTo>
                <a:lnTo>
                  <a:pt x="6848475" y="0"/>
                </a:lnTo>
                <a:lnTo>
                  <a:pt x="6848475" y="7639050"/>
                </a:lnTo>
                <a:lnTo>
                  <a:pt x="0" y="763905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E944302-3225-7A3E-9817-6921163D1EF6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9083F-4740-2323-B8DA-FA2354314A49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C6C297-DB7E-9093-BF8A-FAA91E68700E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21B5EF-FD2E-91D3-50B8-4CE5D8A66E85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587EE9-41EC-733C-9A38-D5123DAAE680}"/>
              </a:ext>
            </a:extLst>
          </p:cNvPr>
          <p:cNvSpPr txBox="1"/>
          <p:nvPr/>
        </p:nvSpPr>
        <p:spPr>
          <a:xfrm>
            <a:off x="3280410" y="6811327"/>
            <a:ext cx="5025007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Describe how the surge in mobile usage and post-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pandemic trends reshape the retail landscape. E-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commerce is no longer luxury—it’s daily life.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959368-EB3A-EEF5-CFDE-6A43DF285655}"/>
              </a:ext>
            </a:extLst>
          </p:cNvPr>
          <p:cNvSpPr txBox="1"/>
          <p:nvPr/>
        </p:nvSpPr>
        <p:spPr>
          <a:xfrm>
            <a:off x="3280410" y="3794569"/>
            <a:ext cx="5062499" cy="230832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Understanding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today’s digital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market.</a:t>
            </a:r>
          </a:p>
        </p:txBody>
      </p:sp>
    </p:spTree>
    <p:extLst>
      <p:ext uri="{BB962C8B-B14F-4D97-AF65-F5344CB8AC3E}">
        <p14:creationId xmlns:p14="http://schemas.microsoft.com/office/powerpoint/2010/main" val="148265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581D7AC-33D4-2242-F383-D895EA2D62C9}"/>
              </a:ext>
            </a:extLst>
          </p:cNvPr>
          <p:cNvSpPr/>
          <p:nvPr/>
        </p:nvSpPr>
        <p:spPr>
          <a:xfrm>
            <a:off x="762000" y="2114759"/>
            <a:ext cx="8267700" cy="3590924"/>
          </a:xfrm>
          <a:custGeom>
            <a:avLst/>
            <a:gdLst>
              <a:gd name="connsiteX0" fmla="*/ 0 w 8267700"/>
              <a:gd name="connsiteY0" fmla="*/ 0 h 3590924"/>
              <a:gd name="connsiteX1" fmla="*/ 8267700 w 8267700"/>
              <a:gd name="connsiteY1" fmla="*/ 0 h 3590924"/>
              <a:gd name="connsiteX2" fmla="*/ 8267700 w 8267700"/>
              <a:gd name="connsiteY2" fmla="*/ 3590925 h 3590924"/>
              <a:gd name="connsiteX3" fmla="*/ 0 w 8267700"/>
              <a:gd name="connsiteY3" fmla="*/ 3590925 h 3590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7700" h="3590924">
                <a:moveTo>
                  <a:pt x="0" y="0"/>
                </a:moveTo>
                <a:lnTo>
                  <a:pt x="8267700" y="0"/>
                </a:lnTo>
                <a:lnTo>
                  <a:pt x="8267700" y="3590925"/>
                </a:lnTo>
                <a:lnTo>
                  <a:pt x="0" y="3590925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8D03280-E2B2-F2C7-EE45-7C5BA1E504FE}"/>
              </a:ext>
            </a:extLst>
          </p:cNvPr>
          <p:cNvSpPr/>
          <p:nvPr/>
        </p:nvSpPr>
        <p:spPr>
          <a:xfrm>
            <a:off x="762000" y="5934284"/>
            <a:ext cx="8267700" cy="3590925"/>
          </a:xfrm>
          <a:custGeom>
            <a:avLst/>
            <a:gdLst>
              <a:gd name="connsiteX0" fmla="*/ 0 w 8267700"/>
              <a:gd name="connsiteY0" fmla="*/ 0 h 3590925"/>
              <a:gd name="connsiteX1" fmla="*/ 8267700 w 8267700"/>
              <a:gd name="connsiteY1" fmla="*/ 0 h 3590925"/>
              <a:gd name="connsiteX2" fmla="*/ 8267700 w 8267700"/>
              <a:gd name="connsiteY2" fmla="*/ 3590925 h 3590925"/>
              <a:gd name="connsiteX3" fmla="*/ 0 w 8267700"/>
              <a:gd name="connsiteY3" fmla="*/ 3590925 h 359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7700" h="3590925">
                <a:moveTo>
                  <a:pt x="0" y="0"/>
                </a:moveTo>
                <a:lnTo>
                  <a:pt x="8267700" y="0"/>
                </a:lnTo>
                <a:lnTo>
                  <a:pt x="8267700" y="3590925"/>
                </a:lnTo>
                <a:lnTo>
                  <a:pt x="0" y="3590925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0EA0485-A63F-F894-60CF-B312710406E9}"/>
              </a:ext>
            </a:extLst>
          </p:cNvPr>
          <p:cNvSpPr/>
          <p:nvPr/>
        </p:nvSpPr>
        <p:spPr>
          <a:xfrm>
            <a:off x="9258300" y="2114759"/>
            <a:ext cx="8267700" cy="3590924"/>
          </a:xfrm>
          <a:custGeom>
            <a:avLst/>
            <a:gdLst>
              <a:gd name="connsiteX0" fmla="*/ 0 w 8267700"/>
              <a:gd name="connsiteY0" fmla="*/ 0 h 3590924"/>
              <a:gd name="connsiteX1" fmla="*/ 8267700 w 8267700"/>
              <a:gd name="connsiteY1" fmla="*/ 0 h 3590924"/>
              <a:gd name="connsiteX2" fmla="*/ 8267700 w 8267700"/>
              <a:gd name="connsiteY2" fmla="*/ 3590925 h 3590924"/>
              <a:gd name="connsiteX3" fmla="*/ 0 w 8267700"/>
              <a:gd name="connsiteY3" fmla="*/ 3590925 h 3590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7700" h="3590924">
                <a:moveTo>
                  <a:pt x="0" y="0"/>
                </a:moveTo>
                <a:lnTo>
                  <a:pt x="8267700" y="0"/>
                </a:lnTo>
                <a:lnTo>
                  <a:pt x="8267700" y="3590925"/>
                </a:lnTo>
                <a:lnTo>
                  <a:pt x="0" y="3590925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C8C8E8-0D5D-CE9A-7637-BC3C1E05BCEF}"/>
              </a:ext>
            </a:extLst>
          </p:cNvPr>
          <p:cNvSpPr/>
          <p:nvPr/>
        </p:nvSpPr>
        <p:spPr>
          <a:xfrm>
            <a:off x="9258300" y="5934284"/>
            <a:ext cx="8267700" cy="3590925"/>
          </a:xfrm>
          <a:custGeom>
            <a:avLst/>
            <a:gdLst>
              <a:gd name="connsiteX0" fmla="*/ 0 w 8267700"/>
              <a:gd name="connsiteY0" fmla="*/ 0 h 3590925"/>
              <a:gd name="connsiteX1" fmla="*/ 8267700 w 8267700"/>
              <a:gd name="connsiteY1" fmla="*/ 0 h 3590925"/>
              <a:gd name="connsiteX2" fmla="*/ 8267700 w 8267700"/>
              <a:gd name="connsiteY2" fmla="*/ 3590925 h 3590925"/>
              <a:gd name="connsiteX3" fmla="*/ 0 w 8267700"/>
              <a:gd name="connsiteY3" fmla="*/ 3590925 h 359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7700" h="3590925">
                <a:moveTo>
                  <a:pt x="0" y="0"/>
                </a:moveTo>
                <a:lnTo>
                  <a:pt x="8267700" y="0"/>
                </a:lnTo>
                <a:lnTo>
                  <a:pt x="8267700" y="3590925"/>
                </a:lnTo>
                <a:lnTo>
                  <a:pt x="0" y="3590925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C2B87-3998-4925-1F0C-02E04A1C6B32}"/>
              </a:ext>
            </a:extLst>
          </p:cNvPr>
          <p:cNvSpPr txBox="1"/>
          <p:nvPr/>
        </p:nvSpPr>
        <p:spPr>
          <a:xfrm>
            <a:off x="670560" y="1070629"/>
            <a:ext cx="6634276" cy="859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Purpose &amp; 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3BB2E-D2E3-9B98-B337-7FDFDCA6C24A}"/>
              </a:ext>
            </a:extLst>
          </p:cNvPr>
          <p:cNvSpPr txBox="1"/>
          <p:nvPr/>
        </p:nvSpPr>
        <p:spPr>
          <a:xfrm>
            <a:off x="7747635" y="1479997"/>
            <a:ext cx="3505580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 dirty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Our mission to simplify e-commerce.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4AE5BF-E594-19DB-26C3-6B6283CF028E}"/>
              </a:ext>
            </a:extLst>
          </p:cNvPr>
          <p:cNvSpPr/>
          <p:nvPr/>
        </p:nvSpPr>
        <p:spPr>
          <a:xfrm>
            <a:off x="1219200" y="4105275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7D63872-3202-1D40-3D0C-F458D2C3BBD7}"/>
              </a:ext>
            </a:extLst>
          </p:cNvPr>
          <p:cNvSpPr/>
          <p:nvPr/>
        </p:nvSpPr>
        <p:spPr>
          <a:xfrm>
            <a:off x="1489071" y="4371975"/>
            <a:ext cx="660406" cy="609600"/>
          </a:xfrm>
          <a:custGeom>
            <a:avLst/>
            <a:gdLst>
              <a:gd name="connsiteX0" fmla="*/ 58274 w 660406"/>
              <a:gd name="connsiteY0" fmla="*/ 0 h 609600"/>
              <a:gd name="connsiteX1" fmla="*/ 0 w 660406"/>
              <a:gd name="connsiteY1" fmla="*/ 0 h 609600"/>
              <a:gd name="connsiteX2" fmla="*/ 0 w 660406"/>
              <a:gd name="connsiteY2" fmla="*/ 609600 h 609600"/>
              <a:gd name="connsiteX3" fmla="*/ 369056 w 660406"/>
              <a:gd name="connsiteY3" fmla="*/ 609600 h 609600"/>
              <a:gd name="connsiteX4" fmla="*/ 58274 w 660406"/>
              <a:gd name="connsiteY4" fmla="*/ 0 h 609600"/>
              <a:gd name="connsiteX5" fmla="*/ 271939 w 660406"/>
              <a:gd name="connsiteY5" fmla="*/ 0 h 609600"/>
              <a:gd name="connsiteX6" fmla="*/ 582711 w 660406"/>
              <a:gd name="connsiteY6" fmla="*/ 609600 h 609600"/>
              <a:gd name="connsiteX7" fmla="*/ 660407 w 660406"/>
              <a:gd name="connsiteY7" fmla="*/ 609600 h 609600"/>
              <a:gd name="connsiteX8" fmla="*/ 660407 w 660406"/>
              <a:gd name="connsiteY8" fmla="*/ 0 h 609600"/>
              <a:gd name="connsiteX9" fmla="*/ 271939 w 66040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0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56" y="609600"/>
                </a:lnTo>
                <a:lnTo>
                  <a:pt x="58274" y="0"/>
                </a:lnTo>
                <a:close/>
                <a:moveTo>
                  <a:pt x="271939" y="0"/>
                </a:moveTo>
                <a:lnTo>
                  <a:pt x="582711" y="609600"/>
                </a:lnTo>
                <a:lnTo>
                  <a:pt x="660407" y="609600"/>
                </a:lnTo>
                <a:lnTo>
                  <a:pt x="660407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C8F33-11AF-801E-C866-34DA1201663F}"/>
              </a:ext>
            </a:extLst>
          </p:cNvPr>
          <p:cNvSpPr txBox="1"/>
          <p:nvPr/>
        </p:nvSpPr>
        <p:spPr>
          <a:xfrm>
            <a:off x="2775585" y="3924871"/>
            <a:ext cx="5535281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 dirty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Improve experience with personalization.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E662514-5451-A82A-56E7-74BDE8646072}"/>
              </a:ext>
            </a:extLst>
          </p:cNvPr>
          <p:cNvSpPr/>
          <p:nvPr/>
        </p:nvSpPr>
        <p:spPr>
          <a:xfrm>
            <a:off x="9715500" y="4105275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44522F0-CBA3-09FA-E921-DADABB6617FF}"/>
              </a:ext>
            </a:extLst>
          </p:cNvPr>
          <p:cNvSpPr/>
          <p:nvPr/>
        </p:nvSpPr>
        <p:spPr>
          <a:xfrm>
            <a:off x="9985342" y="4371975"/>
            <a:ext cx="660464" cy="609600"/>
          </a:xfrm>
          <a:custGeom>
            <a:avLst/>
            <a:gdLst>
              <a:gd name="connsiteX0" fmla="*/ 58293 w 660464"/>
              <a:gd name="connsiteY0" fmla="*/ 0 h 609600"/>
              <a:gd name="connsiteX1" fmla="*/ 0 w 660464"/>
              <a:gd name="connsiteY1" fmla="*/ 0 h 609600"/>
              <a:gd name="connsiteX2" fmla="*/ 0 w 660464"/>
              <a:gd name="connsiteY2" fmla="*/ 609600 h 609600"/>
              <a:gd name="connsiteX3" fmla="*/ 369094 w 660464"/>
              <a:gd name="connsiteY3" fmla="*/ 609600 h 609600"/>
              <a:gd name="connsiteX4" fmla="*/ 58293 w 660464"/>
              <a:gd name="connsiteY4" fmla="*/ 0 h 609600"/>
              <a:gd name="connsiteX5" fmla="*/ 271939 w 660464"/>
              <a:gd name="connsiteY5" fmla="*/ 0 h 609600"/>
              <a:gd name="connsiteX6" fmla="*/ 582740 w 660464"/>
              <a:gd name="connsiteY6" fmla="*/ 609600 h 609600"/>
              <a:gd name="connsiteX7" fmla="*/ 660464 w 660464"/>
              <a:gd name="connsiteY7" fmla="*/ 609600 h 609600"/>
              <a:gd name="connsiteX8" fmla="*/ 660464 w 660464"/>
              <a:gd name="connsiteY8" fmla="*/ 0 h 609600"/>
              <a:gd name="connsiteX9" fmla="*/ 271939 w 660464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64" h="609600">
                <a:moveTo>
                  <a:pt x="58293" y="0"/>
                </a:moveTo>
                <a:lnTo>
                  <a:pt x="0" y="0"/>
                </a:lnTo>
                <a:lnTo>
                  <a:pt x="0" y="609600"/>
                </a:lnTo>
                <a:lnTo>
                  <a:pt x="369094" y="609600"/>
                </a:lnTo>
                <a:lnTo>
                  <a:pt x="58293" y="0"/>
                </a:lnTo>
                <a:close/>
                <a:moveTo>
                  <a:pt x="271939" y="0"/>
                </a:moveTo>
                <a:lnTo>
                  <a:pt x="582740" y="609600"/>
                </a:lnTo>
                <a:lnTo>
                  <a:pt x="660464" y="609600"/>
                </a:lnTo>
                <a:lnTo>
                  <a:pt x="660464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84CF89-F472-052B-D055-84B7F85B6E75}"/>
              </a:ext>
            </a:extLst>
          </p:cNvPr>
          <p:cNvSpPr txBox="1"/>
          <p:nvPr/>
        </p:nvSpPr>
        <p:spPr>
          <a:xfrm>
            <a:off x="11271885" y="3924871"/>
            <a:ext cx="3805199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Reduce transaction friction.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9151FC0-4198-23BB-B6F3-F9C1CF925EA6}"/>
              </a:ext>
            </a:extLst>
          </p:cNvPr>
          <p:cNvSpPr/>
          <p:nvPr/>
        </p:nvSpPr>
        <p:spPr>
          <a:xfrm>
            <a:off x="9715500" y="792480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5548D21-3FDB-2C22-7353-42F30A528E1F}"/>
              </a:ext>
            </a:extLst>
          </p:cNvPr>
          <p:cNvSpPr/>
          <p:nvPr/>
        </p:nvSpPr>
        <p:spPr>
          <a:xfrm>
            <a:off x="9985342" y="8191500"/>
            <a:ext cx="660464" cy="609600"/>
          </a:xfrm>
          <a:custGeom>
            <a:avLst/>
            <a:gdLst>
              <a:gd name="connsiteX0" fmla="*/ 58293 w 660464"/>
              <a:gd name="connsiteY0" fmla="*/ 0 h 609600"/>
              <a:gd name="connsiteX1" fmla="*/ 0 w 660464"/>
              <a:gd name="connsiteY1" fmla="*/ 0 h 609600"/>
              <a:gd name="connsiteX2" fmla="*/ 0 w 660464"/>
              <a:gd name="connsiteY2" fmla="*/ 609600 h 609600"/>
              <a:gd name="connsiteX3" fmla="*/ 369094 w 660464"/>
              <a:gd name="connsiteY3" fmla="*/ 609600 h 609600"/>
              <a:gd name="connsiteX4" fmla="*/ 58293 w 660464"/>
              <a:gd name="connsiteY4" fmla="*/ 0 h 609600"/>
              <a:gd name="connsiteX5" fmla="*/ 271939 w 660464"/>
              <a:gd name="connsiteY5" fmla="*/ 0 h 609600"/>
              <a:gd name="connsiteX6" fmla="*/ 582740 w 660464"/>
              <a:gd name="connsiteY6" fmla="*/ 609600 h 609600"/>
              <a:gd name="connsiteX7" fmla="*/ 660464 w 660464"/>
              <a:gd name="connsiteY7" fmla="*/ 609600 h 609600"/>
              <a:gd name="connsiteX8" fmla="*/ 660464 w 660464"/>
              <a:gd name="connsiteY8" fmla="*/ 0 h 609600"/>
              <a:gd name="connsiteX9" fmla="*/ 271939 w 660464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64" h="609600">
                <a:moveTo>
                  <a:pt x="58293" y="0"/>
                </a:moveTo>
                <a:lnTo>
                  <a:pt x="0" y="0"/>
                </a:lnTo>
                <a:lnTo>
                  <a:pt x="0" y="609600"/>
                </a:lnTo>
                <a:lnTo>
                  <a:pt x="369094" y="609600"/>
                </a:lnTo>
                <a:lnTo>
                  <a:pt x="58293" y="0"/>
                </a:lnTo>
                <a:close/>
                <a:moveTo>
                  <a:pt x="271939" y="0"/>
                </a:moveTo>
                <a:lnTo>
                  <a:pt x="582740" y="609600"/>
                </a:lnTo>
                <a:lnTo>
                  <a:pt x="660464" y="609600"/>
                </a:lnTo>
                <a:lnTo>
                  <a:pt x="660464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E098D7-F73A-05BC-D329-E22D822958E5}"/>
              </a:ext>
            </a:extLst>
          </p:cNvPr>
          <p:cNvSpPr txBox="1"/>
          <p:nvPr/>
        </p:nvSpPr>
        <p:spPr>
          <a:xfrm>
            <a:off x="11271885" y="7744396"/>
            <a:ext cx="3248062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Build strong seller trust.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20F777F-3541-E3C2-6E07-430E83E90D37}"/>
              </a:ext>
            </a:extLst>
          </p:cNvPr>
          <p:cNvSpPr/>
          <p:nvPr/>
        </p:nvSpPr>
        <p:spPr>
          <a:xfrm>
            <a:off x="1219200" y="792480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3EB1F2-977B-FB17-B484-73DA698D0919}"/>
              </a:ext>
            </a:extLst>
          </p:cNvPr>
          <p:cNvSpPr/>
          <p:nvPr/>
        </p:nvSpPr>
        <p:spPr>
          <a:xfrm>
            <a:off x="1489071" y="8191500"/>
            <a:ext cx="660406" cy="609600"/>
          </a:xfrm>
          <a:custGeom>
            <a:avLst/>
            <a:gdLst>
              <a:gd name="connsiteX0" fmla="*/ 58274 w 660406"/>
              <a:gd name="connsiteY0" fmla="*/ 0 h 609600"/>
              <a:gd name="connsiteX1" fmla="*/ 0 w 660406"/>
              <a:gd name="connsiteY1" fmla="*/ 0 h 609600"/>
              <a:gd name="connsiteX2" fmla="*/ 0 w 660406"/>
              <a:gd name="connsiteY2" fmla="*/ 609600 h 609600"/>
              <a:gd name="connsiteX3" fmla="*/ 369056 w 660406"/>
              <a:gd name="connsiteY3" fmla="*/ 609600 h 609600"/>
              <a:gd name="connsiteX4" fmla="*/ 58274 w 660406"/>
              <a:gd name="connsiteY4" fmla="*/ 0 h 609600"/>
              <a:gd name="connsiteX5" fmla="*/ 271939 w 660406"/>
              <a:gd name="connsiteY5" fmla="*/ 0 h 609600"/>
              <a:gd name="connsiteX6" fmla="*/ 582711 w 660406"/>
              <a:gd name="connsiteY6" fmla="*/ 609600 h 609600"/>
              <a:gd name="connsiteX7" fmla="*/ 660407 w 660406"/>
              <a:gd name="connsiteY7" fmla="*/ 609600 h 609600"/>
              <a:gd name="connsiteX8" fmla="*/ 660407 w 660406"/>
              <a:gd name="connsiteY8" fmla="*/ 0 h 609600"/>
              <a:gd name="connsiteX9" fmla="*/ 271939 w 66040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0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56" y="609600"/>
                </a:lnTo>
                <a:lnTo>
                  <a:pt x="58274" y="0"/>
                </a:lnTo>
                <a:close/>
                <a:moveTo>
                  <a:pt x="271939" y="0"/>
                </a:moveTo>
                <a:lnTo>
                  <a:pt x="582711" y="609600"/>
                </a:lnTo>
                <a:lnTo>
                  <a:pt x="660407" y="609600"/>
                </a:lnTo>
                <a:lnTo>
                  <a:pt x="660407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73B2F3-DA47-4724-632B-2002C92AEC1C}"/>
              </a:ext>
            </a:extLst>
          </p:cNvPr>
          <p:cNvSpPr txBox="1"/>
          <p:nvPr/>
        </p:nvSpPr>
        <p:spPr>
          <a:xfrm>
            <a:off x="2775585" y="7744396"/>
            <a:ext cx="4640236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Expand marketplace accessibility.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D88CE6D-6A87-6F5F-835E-37BFDC4EA397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E082A9-A014-98FF-57D5-9D9C1FE03D94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B7CFF0-6F2E-1D8D-F159-5C81A1E88F8E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D6106F-0177-1A7A-85A0-A71790215D3E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40CDAC-D854-85A9-4C14-D795B721F45C}"/>
              </a:ext>
            </a:extLst>
          </p:cNvPr>
          <p:cNvSpPr txBox="1"/>
          <p:nvPr/>
        </p:nvSpPr>
        <p:spPr>
          <a:xfrm>
            <a:off x="2775585" y="8306752"/>
            <a:ext cx="6003607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massa mi. Aliquam in hendrerit urna. Pellentesque sit amet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sapien fringilla.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36A74B-9032-D1D1-1FA0-56CC1C245705}"/>
              </a:ext>
            </a:extLst>
          </p:cNvPr>
          <p:cNvSpPr txBox="1"/>
          <p:nvPr/>
        </p:nvSpPr>
        <p:spPr>
          <a:xfrm>
            <a:off x="11271885" y="8306752"/>
            <a:ext cx="6003607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massa mi. Aliquam in hendrerit urna. Pellentesque sit amet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sapien fringilla.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ACE14C-50BD-76F8-50DB-1B60999D94BD}"/>
              </a:ext>
            </a:extLst>
          </p:cNvPr>
          <p:cNvSpPr txBox="1"/>
          <p:nvPr/>
        </p:nvSpPr>
        <p:spPr>
          <a:xfrm>
            <a:off x="11271885" y="4487227"/>
            <a:ext cx="6003607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massa mi. Aliquam in hendrerit urna. Pellentesque sit amet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sapien fringilla.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669726-B72B-10A4-7F13-EE5C17E1E70C}"/>
              </a:ext>
            </a:extLst>
          </p:cNvPr>
          <p:cNvSpPr txBox="1"/>
          <p:nvPr/>
        </p:nvSpPr>
        <p:spPr>
          <a:xfrm>
            <a:off x="2775585" y="4487227"/>
            <a:ext cx="6003607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massa mi. Aliquam in hendrerit urna. Pellentesque sit amet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sapien fringilla.</a:t>
            </a:r>
          </a:p>
        </p:txBody>
      </p:sp>
    </p:spTree>
    <p:extLst>
      <p:ext uri="{BB962C8B-B14F-4D97-AF65-F5344CB8AC3E}">
        <p14:creationId xmlns:p14="http://schemas.microsoft.com/office/powerpoint/2010/main" val="367762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A8F681-B3DD-E740-A628-CDD018EF5954}"/>
              </a:ext>
            </a:extLst>
          </p:cNvPr>
          <p:cNvSpPr txBox="1"/>
          <p:nvPr/>
        </p:nvSpPr>
        <p:spPr>
          <a:xfrm>
            <a:off x="670560" y="1612220"/>
            <a:ext cx="9977285" cy="1195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Timeline of Our Growth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9BA44D-1413-6131-2AF8-0A9D37E5FA9C}"/>
              </a:ext>
            </a:extLst>
          </p:cNvPr>
          <p:cNvSpPr/>
          <p:nvPr/>
        </p:nvSpPr>
        <p:spPr>
          <a:xfrm>
            <a:off x="762000" y="5355640"/>
            <a:ext cx="1419225" cy="1352550"/>
          </a:xfrm>
          <a:custGeom>
            <a:avLst/>
            <a:gdLst>
              <a:gd name="connsiteX0" fmla="*/ 0 w 1419225"/>
              <a:gd name="connsiteY0" fmla="*/ 0 h 1352550"/>
              <a:gd name="connsiteX1" fmla="*/ 1419225 w 1419225"/>
              <a:gd name="connsiteY1" fmla="*/ 0 h 1352550"/>
              <a:gd name="connsiteX2" fmla="*/ 1419225 w 1419225"/>
              <a:gd name="connsiteY2" fmla="*/ 1352550 h 1352550"/>
              <a:gd name="connsiteX3" fmla="*/ 0 w 1419225"/>
              <a:gd name="connsiteY3" fmla="*/ 1352550 h 1352550"/>
              <a:gd name="connsiteX4" fmla="*/ 0 w 1419225"/>
              <a:gd name="connsiteY4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9225" h="1352550">
                <a:moveTo>
                  <a:pt x="0" y="0"/>
                </a:moveTo>
                <a:lnTo>
                  <a:pt x="1419225" y="0"/>
                </a:lnTo>
                <a:lnTo>
                  <a:pt x="1419225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34BC1-BD3A-9112-FD9D-F0C2D056B238}"/>
              </a:ext>
            </a:extLst>
          </p:cNvPr>
          <p:cNvSpPr txBox="1"/>
          <p:nvPr/>
        </p:nvSpPr>
        <p:spPr>
          <a:xfrm>
            <a:off x="1914763" y="3391871"/>
            <a:ext cx="761695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2022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71EB6C3-101B-F3EB-A476-49A9D1C2328B}"/>
              </a:ext>
            </a:extLst>
          </p:cNvPr>
          <p:cNvSpPr/>
          <p:nvPr/>
        </p:nvSpPr>
        <p:spPr>
          <a:xfrm>
            <a:off x="2295525" y="3953084"/>
            <a:ext cx="9525" cy="3319462"/>
          </a:xfrm>
          <a:custGeom>
            <a:avLst/>
            <a:gdLst>
              <a:gd name="connsiteX0" fmla="*/ 0 w 9525"/>
              <a:gd name="connsiteY0" fmla="*/ 0 h 3319462"/>
              <a:gd name="connsiteX1" fmla="*/ 0 w 9525"/>
              <a:gd name="connsiteY1" fmla="*/ 3319462 h 3319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319462">
                <a:moveTo>
                  <a:pt x="0" y="0"/>
                </a:moveTo>
                <a:lnTo>
                  <a:pt x="0" y="3319462"/>
                </a:lnTo>
              </a:path>
            </a:pathLst>
          </a:custGeom>
          <a:noFill/>
          <a:ln w="9525" cap="flat">
            <a:solidFill>
              <a:srgbClr val="000000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A03F8A0-E210-848E-3473-7622342F499F}"/>
              </a:ext>
            </a:extLst>
          </p:cNvPr>
          <p:cNvSpPr/>
          <p:nvPr/>
        </p:nvSpPr>
        <p:spPr>
          <a:xfrm>
            <a:off x="628650" y="7501147"/>
            <a:ext cx="3333750" cy="1123950"/>
          </a:xfrm>
          <a:custGeom>
            <a:avLst/>
            <a:gdLst>
              <a:gd name="connsiteX0" fmla="*/ 0 w 3333750"/>
              <a:gd name="connsiteY0" fmla="*/ 0 h 1123950"/>
              <a:gd name="connsiteX1" fmla="*/ 3333750 w 3333750"/>
              <a:gd name="connsiteY1" fmla="*/ 0 h 1123950"/>
              <a:gd name="connsiteX2" fmla="*/ 3333750 w 3333750"/>
              <a:gd name="connsiteY2" fmla="*/ 1123950 h 1123950"/>
              <a:gd name="connsiteX3" fmla="*/ 0 w 3333750"/>
              <a:gd name="connsiteY3" fmla="*/ 112395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3750" h="1123950">
                <a:moveTo>
                  <a:pt x="0" y="0"/>
                </a:moveTo>
                <a:lnTo>
                  <a:pt x="3333750" y="0"/>
                </a:lnTo>
                <a:lnTo>
                  <a:pt x="3333750" y="1123950"/>
                </a:lnTo>
                <a:lnTo>
                  <a:pt x="0" y="112395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9B2B474-EDC6-7279-2376-FD15E8A85EE2}"/>
              </a:ext>
            </a:extLst>
          </p:cNvPr>
          <p:cNvSpPr/>
          <p:nvPr/>
        </p:nvSpPr>
        <p:spPr>
          <a:xfrm>
            <a:off x="2409825" y="5355640"/>
            <a:ext cx="4337046" cy="1352550"/>
          </a:xfrm>
          <a:custGeom>
            <a:avLst/>
            <a:gdLst>
              <a:gd name="connsiteX0" fmla="*/ 0 w 4337046"/>
              <a:gd name="connsiteY0" fmla="*/ 0 h 1352550"/>
              <a:gd name="connsiteX1" fmla="*/ 4337047 w 4337046"/>
              <a:gd name="connsiteY1" fmla="*/ 0 h 1352550"/>
              <a:gd name="connsiteX2" fmla="*/ 4337047 w 4337046"/>
              <a:gd name="connsiteY2" fmla="*/ 1352550 h 1352550"/>
              <a:gd name="connsiteX3" fmla="*/ 0 w 4337046"/>
              <a:gd name="connsiteY3" fmla="*/ 1352550 h 1352550"/>
              <a:gd name="connsiteX4" fmla="*/ 0 w 4337046"/>
              <a:gd name="connsiteY4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7046" h="1352550">
                <a:moveTo>
                  <a:pt x="0" y="0"/>
                </a:moveTo>
                <a:lnTo>
                  <a:pt x="4337047" y="0"/>
                </a:lnTo>
                <a:lnTo>
                  <a:pt x="4337047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41C902-2CCB-11CD-2D4C-EE702BD34D83}"/>
              </a:ext>
            </a:extLst>
          </p:cNvPr>
          <p:cNvSpPr txBox="1"/>
          <p:nvPr/>
        </p:nvSpPr>
        <p:spPr>
          <a:xfrm>
            <a:off x="6479295" y="3391871"/>
            <a:ext cx="763752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2023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713C1F-2982-D035-4E7C-48065B6B58B8}"/>
              </a:ext>
            </a:extLst>
          </p:cNvPr>
          <p:cNvSpPr/>
          <p:nvPr/>
        </p:nvSpPr>
        <p:spPr>
          <a:xfrm>
            <a:off x="6861171" y="3953084"/>
            <a:ext cx="9525" cy="3319462"/>
          </a:xfrm>
          <a:custGeom>
            <a:avLst/>
            <a:gdLst>
              <a:gd name="connsiteX0" fmla="*/ 0 w 9525"/>
              <a:gd name="connsiteY0" fmla="*/ 0 h 3319462"/>
              <a:gd name="connsiteX1" fmla="*/ 0 w 9525"/>
              <a:gd name="connsiteY1" fmla="*/ 3319462 h 3319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319462">
                <a:moveTo>
                  <a:pt x="0" y="0"/>
                </a:moveTo>
                <a:lnTo>
                  <a:pt x="0" y="3319462"/>
                </a:lnTo>
              </a:path>
            </a:pathLst>
          </a:custGeom>
          <a:noFill/>
          <a:ln w="9525" cap="flat">
            <a:solidFill>
              <a:srgbClr val="000000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392D911-65D5-2221-D3B9-788B01F518AA}"/>
              </a:ext>
            </a:extLst>
          </p:cNvPr>
          <p:cNvSpPr/>
          <p:nvPr/>
        </p:nvSpPr>
        <p:spPr>
          <a:xfrm>
            <a:off x="5194296" y="7501147"/>
            <a:ext cx="3333750" cy="1123950"/>
          </a:xfrm>
          <a:custGeom>
            <a:avLst/>
            <a:gdLst>
              <a:gd name="connsiteX0" fmla="*/ 0 w 3333750"/>
              <a:gd name="connsiteY0" fmla="*/ 0 h 1123950"/>
              <a:gd name="connsiteX1" fmla="*/ 3333750 w 3333750"/>
              <a:gd name="connsiteY1" fmla="*/ 0 h 1123950"/>
              <a:gd name="connsiteX2" fmla="*/ 3333750 w 3333750"/>
              <a:gd name="connsiteY2" fmla="*/ 1123950 h 1123950"/>
              <a:gd name="connsiteX3" fmla="*/ 0 w 3333750"/>
              <a:gd name="connsiteY3" fmla="*/ 112395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3750" h="1123950">
                <a:moveTo>
                  <a:pt x="0" y="0"/>
                </a:moveTo>
                <a:lnTo>
                  <a:pt x="3333750" y="0"/>
                </a:lnTo>
                <a:lnTo>
                  <a:pt x="3333750" y="1123950"/>
                </a:lnTo>
                <a:lnTo>
                  <a:pt x="0" y="112395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6549885-702B-AE95-22E0-9E572B587D41}"/>
              </a:ext>
            </a:extLst>
          </p:cNvPr>
          <p:cNvSpPr/>
          <p:nvPr/>
        </p:nvSpPr>
        <p:spPr>
          <a:xfrm>
            <a:off x="6975471" y="5355640"/>
            <a:ext cx="4337085" cy="1352550"/>
          </a:xfrm>
          <a:custGeom>
            <a:avLst/>
            <a:gdLst>
              <a:gd name="connsiteX0" fmla="*/ 0 w 4337085"/>
              <a:gd name="connsiteY0" fmla="*/ 0 h 1352550"/>
              <a:gd name="connsiteX1" fmla="*/ 4337086 w 4337085"/>
              <a:gd name="connsiteY1" fmla="*/ 0 h 1352550"/>
              <a:gd name="connsiteX2" fmla="*/ 4337086 w 4337085"/>
              <a:gd name="connsiteY2" fmla="*/ 1352550 h 1352550"/>
              <a:gd name="connsiteX3" fmla="*/ 0 w 4337085"/>
              <a:gd name="connsiteY3" fmla="*/ 1352550 h 1352550"/>
              <a:gd name="connsiteX4" fmla="*/ 0 w 4337085"/>
              <a:gd name="connsiteY4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7085" h="1352550">
                <a:moveTo>
                  <a:pt x="0" y="0"/>
                </a:moveTo>
                <a:lnTo>
                  <a:pt x="4337086" y="0"/>
                </a:lnTo>
                <a:lnTo>
                  <a:pt x="4337086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370ECF-8367-77ED-5E25-3575F3F548B0}"/>
              </a:ext>
            </a:extLst>
          </p:cNvPr>
          <p:cNvSpPr txBox="1"/>
          <p:nvPr/>
        </p:nvSpPr>
        <p:spPr>
          <a:xfrm>
            <a:off x="11043761" y="3391871"/>
            <a:ext cx="766266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2024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866084B-4DC5-7AB0-8EF1-7CA0E3E07881}"/>
              </a:ext>
            </a:extLst>
          </p:cNvPr>
          <p:cNvSpPr/>
          <p:nvPr/>
        </p:nvSpPr>
        <p:spPr>
          <a:xfrm>
            <a:off x="11426857" y="3953084"/>
            <a:ext cx="9525" cy="3319462"/>
          </a:xfrm>
          <a:custGeom>
            <a:avLst/>
            <a:gdLst>
              <a:gd name="connsiteX0" fmla="*/ 0 w 9525"/>
              <a:gd name="connsiteY0" fmla="*/ 0 h 3319462"/>
              <a:gd name="connsiteX1" fmla="*/ 0 w 9525"/>
              <a:gd name="connsiteY1" fmla="*/ 3319462 h 3319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319462">
                <a:moveTo>
                  <a:pt x="0" y="0"/>
                </a:moveTo>
                <a:lnTo>
                  <a:pt x="0" y="3319462"/>
                </a:lnTo>
              </a:path>
            </a:pathLst>
          </a:custGeom>
          <a:noFill/>
          <a:ln w="9525" cap="flat">
            <a:solidFill>
              <a:srgbClr val="000000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6408CB-3843-4BD7-4D04-F8C0E0C179E1}"/>
              </a:ext>
            </a:extLst>
          </p:cNvPr>
          <p:cNvSpPr/>
          <p:nvPr/>
        </p:nvSpPr>
        <p:spPr>
          <a:xfrm>
            <a:off x="9759981" y="7501147"/>
            <a:ext cx="3333750" cy="1123950"/>
          </a:xfrm>
          <a:custGeom>
            <a:avLst/>
            <a:gdLst>
              <a:gd name="connsiteX0" fmla="*/ 0 w 3333750"/>
              <a:gd name="connsiteY0" fmla="*/ 0 h 1123950"/>
              <a:gd name="connsiteX1" fmla="*/ 3333751 w 3333750"/>
              <a:gd name="connsiteY1" fmla="*/ 0 h 1123950"/>
              <a:gd name="connsiteX2" fmla="*/ 3333751 w 3333750"/>
              <a:gd name="connsiteY2" fmla="*/ 1123950 h 1123950"/>
              <a:gd name="connsiteX3" fmla="*/ 0 w 3333750"/>
              <a:gd name="connsiteY3" fmla="*/ 112395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3750" h="1123950">
                <a:moveTo>
                  <a:pt x="0" y="0"/>
                </a:moveTo>
                <a:lnTo>
                  <a:pt x="3333751" y="0"/>
                </a:lnTo>
                <a:lnTo>
                  <a:pt x="3333751" y="1123950"/>
                </a:lnTo>
                <a:lnTo>
                  <a:pt x="0" y="112395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87FA52B-2F7F-9DC0-5158-0E27F0C71EC3}"/>
              </a:ext>
            </a:extLst>
          </p:cNvPr>
          <p:cNvSpPr/>
          <p:nvPr/>
        </p:nvSpPr>
        <p:spPr>
          <a:xfrm>
            <a:off x="11541157" y="5355640"/>
            <a:ext cx="4337017" cy="1352550"/>
          </a:xfrm>
          <a:custGeom>
            <a:avLst/>
            <a:gdLst>
              <a:gd name="connsiteX0" fmla="*/ 0 w 4337017"/>
              <a:gd name="connsiteY0" fmla="*/ 0 h 1352550"/>
              <a:gd name="connsiteX1" fmla="*/ 4337018 w 4337017"/>
              <a:gd name="connsiteY1" fmla="*/ 0 h 1352550"/>
              <a:gd name="connsiteX2" fmla="*/ 4337018 w 4337017"/>
              <a:gd name="connsiteY2" fmla="*/ 1352550 h 1352550"/>
              <a:gd name="connsiteX3" fmla="*/ 0 w 4337017"/>
              <a:gd name="connsiteY3" fmla="*/ 1352550 h 1352550"/>
              <a:gd name="connsiteX4" fmla="*/ 0 w 4337017"/>
              <a:gd name="connsiteY4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7017" h="1352550">
                <a:moveTo>
                  <a:pt x="0" y="0"/>
                </a:moveTo>
                <a:lnTo>
                  <a:pt x="4337018" y="0"/>
                </a:lnTo>
                <a:lnTo>
                  <a:pt x="4337018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9B5AF2-0960-4D3D-2DF6-7AF765842BDB}"/>
              </a:ext>
            </a:extLst>
          </p:cNvPr>
          <p:cNvSpPr txBox="1"/>
          <p:nvPr/>
        </p:nvSpPr>
        <p:spPr>
          <a:xfrm>
            <a:off x="15609856" y="3391871"/>
            <a:ext cx="765352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2025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8D891C2-9701-B1EE-85B4-92B46A94E9B0}"/>
              </a:ext>
            </a:extLst>
          </p:cNvPr>
          <p:cNvSpPr/>
          <p:nvPr/>
        </p:nvSpPr>
        <p:spPr>
          <a:xfrm>
            <a:off x="15992475" y="3953084"/>
            <a:ext cx="9525" cy="3319462"/>
          </a:xfrm>
          <a:custGeom>
            <a:avLst/>
            <a:gdLst>
              <a:gd name="connsiteX0" fmla="*/ 0 w 9525"/>
              <a:gd name="connsiteY0" fmla="*/ 0 h 3319462"/>
              <a:gd name="connsiteX1" fmla="*/ 0 w 9525"/>
              <a:gd name="connsiteY1" fmla="*/ 3319462 h 3319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319462">
                <a:moveTo>
                  <a:pt x="0" y="0"/>
                </a:moveTo>
                <a:lnTo>
                  <a:pt x="0" y="3319462"/>
                </a:lnTo>
              </a:path>
            </a:pathLst>
          </a:custGeom>
          <a:noFill/>
          <a:ln w="9525" cap="flat">
            <a:solidFill>
              <a:srgbClr val="000000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4832E3F-C6DC-F4C2-DE50-C516B24B313A}"/>
              </a:ext>
            </a:extLst>
          </p:cNvPr>
          <p:cNvSpPr/>
          <p:nvPr/>
        </p:nvSpPr>
        <p:spPr>
          <a:xfrm>
            <a:off x="14325600" y="7501147"/>
            <a:ext cx="3333750" cy="1123950"/>
          </a:xfrm>
          <a:custGeom>
            <a:avLst/>
            <a:gdLst>
              <a:gd name="connsiteX0" fmla="*/ 0 w 3333750"/>
              <a:gd name="connsiteY0" fmla="*/ 0 h 1123950"/>
              <a:gd name="connsiteX1" fmla="*/ 3333750 w 3333750"/>
              <a:gd name="connsiteY1" fmla="*/ 0 h 1123950"/>
              <a:gd name="connsiteX2" fmla="*/ 3333750 w 3333750"/>
              <a:gd name="connsiteY2" fmla="*/ 1123950 h 1123950"/>
              <a:gd name="connsiteX3" fmla="*/ 0 w 3333750"/>
              <a:gd name="connsiteY3" fmla="*/ 112395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3750" h="1123950">
                <a:moveTo>
                  <a:pt x="0" y="0"/>
                </a:moveTo>
                <a:lnTo>
                  <a:pt x="3333750" y="0"/>
                </a:lnTo>
                <a:lnTo>
                  <a:pt x="3333750" y="1123950"/>
                </a:lnTo>
                <a:lnTo>
                  <a:pt x="0" y="112395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017F37F-69D7-5A77-51D7-0E307B094D0D}"/>
              </a:ext>
            </a:extLst>
          </p:cNvPr>
          <p:cNvSpPr/>
          <p:nvPr/>
        </p:nvSpPr>
        <p:spPr>
          <a:xfrm>
            <a:off x="16106775" y="5355640"/>
            <a:ext cx="1419225" cy="1352550"/>
          </a:xfrm>
          <a:custGeom>
            <a:avLst/>
            <a:gdLst>
              <a:gd name="connsiteX0" fmla="*/ 0 w 1419225"/>
              <a:gd name="connsiteY0" fmla="*/ 0 h 1352550"/>
              <a:gd name="connsiteX1" fmla="*/ 1419225 w 1419225"/>
              <a:gd name="connsiteY1" fmla="*/ 0 h 1352550"/>
              <a:gd name="connsiteX2" fmla="*/ 1419225 w 1419225"/>
              <a:gd name="connsiteY2" fmla="*/ 1352550 h 1352550"/>
              <a:gd name="connsiteX3" fmla="*/ 0 w 1419225"/>
              <a:gd name="connsiteY3" fmla="*/ 1352550 h 1352550"/>
              <a:gd name="connsiteX4" fmla="*/ 0 w 1419225"/>
              <a:gd name="connsiteY4" fmla="*/ 0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9225" h="1352550">
                <a:moveTo>
                  <a:pt x="0" y="0"/>
                </a:moveTo>
                <a:lnTo>
                  <a:pt x="1419225" y="0"/>
                </a:lnTo>
                <a:lnTo>
                  <a:pt x="1419225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57036F8-895E-CA47-92F0-53A0CE4D815D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5AE64F-F4E3-44AB-B4A1-237F563B640F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B9FC75-FD3B-2D02-156C-4BE0AF4DAB2B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088EDF-16C9-C71C-F420-A9B2E9B6DEDC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9BC2B8-5B02-0365-C1DF-40688A535143}"/>
              </a:ext>
            </a:extLst>
          </p:cNvPr>
          <p:cNvSpPr txBox="1"/>
          <p:nvPr/>
        </p:nvSpPr>
        <p:spPr>
          <a:xfrm>
            <a:off x="14923864" y="7682693"/>
            <a:ext cx="2497035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>
                <a:solidFill>
                  <a:srgbClr val="2E2E2E"/>
                </a:solidFill>
                <a:latin typeface="Plus Jakarta Sans" pitchFamily="2" charset="0"/>
              </a:rPr>
              <a:t>Expansion to </a:t>
            </a:r>
          </a:p>
          <a:p>
            <a:r>
              <a:rPr lang="en-ID" sz="2100">
                <a:solidFill>
                  <a:srgbClr val="2E2E2E"/>
                </a:solidFill>
                <a:latin typeface="Plus Jakarta Sans" pitchFamily="2" charset="0"/>
              </a:rPr>
              <a:t>Southeast Asia.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345B7C-2B13-D1E6-AC6D-79F63870DD27}"/>
              </a:ext>
            </a:extLst>
          </p:cNvPr>
          <p:cNvSpPr txBox="1"/>
          <p:nvPr/>
        </p:nvSpPr>
        <p:spPr>
          <a:xfrm>
            <a:off x="9911143" y="7682693"/>
            <a:ext cx="3436886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>
                <a:solidFill>
                  <a:srgbClr val="2E2E2E"/>
                </a:solidFill>
                <a:latin typeface="Plus Jakarta Sans" pitchFamily="2" charset="0"/>
              </a:rPr>
              <a:t>AI integration for smart </a:t>
            </a:r>
          </a:p>
          <a:p>
            <a:r>
              <a:rPr lang="en-ID" sz="2100">
                <a:solidFill>
                  <a:srgbClr val="2E2E2E"/>
                </a:solidFill>
                <a:latin typeface="Plus Jakarta Sans" pitchFamily="2" charset="0"/>
              </a:rPr>
              <a:t>shopping.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C78BEC-FF5E-DE52-34A8-E200A151D4CB}"/>
              </a:ext>
            </a:extLst>
          </p:cNvPr>
          <p:cNvSpPr txBox="1"/>
          <p:nvPr/>
        </p:nvSpPr>
        <p:spPr>
          <a:xfrm>
            <a:off x="5973536" y="7682693"/>
            <a:ext cx="2135391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>
                <a:solidFill>
                  <a:srgbClr val="2E2E2E"/>
                </a:solidFill>
                <a:latin typeface="Plus Jakarta Sans" pitchFamily="2" charset="0"/>
              </a:rPr>
              <a:t>50K  </a:t>
            </a:r>
          </a:p>
          <a:p>
            <a:r>
              <a:rPr lang="en-ID" sz="2100">
                <a:solidFill>
                  <a:srgbClr val="2E2E2E"/>
                </a:solidFill>
                <a:latin typeface="Plus Jakarta Sans" pitchFamily="2" charset="0"/>
              </a:rPr>
              <a:t>Active users.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9CA44D-5B49-0FB0-A075-766BC11FF2AC}"/>
              </a:ext>
            </a:extLst>
          </p:cNvPr>
          <p:cNvSpPr txBox="1"/>
          <p:nvPr/>
        </p:nvSpPr>
        <p:spPr>
          <a:xfrm>
            <a:off x="1208646" y="7682693"/>
            <a:ext cx="2578912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>
                <a:solidFill>
                  <a:srgbClr val="2E2E2E"/>
                </a:solidFill>
                <a:latin typeface="Plus Jakarta Sans" pitchFamily="2" charset="0"/>
              </a:rPr>
              <a:t>Concept &amp; MVP </a:t>
            </a:r>
          </a:p>
          <a:p>
            <a:r>
              <a:rPr lang="en-ID" sz="2100">
                <a:solidFill>
                  <a:srgbClr val="2E2E2E"/>
                </a:solidFill>
                <a:latin typeface="Plus Jakarta Sans" pitchFamily="2" charset="0"/>
              </a:rPr>
              <a:t>launch.</a:t>
            </a:r>
          </a:p>
        </p:txBody>
      </p:sp>
    </p:spTree>
    <p:extLst>
      <p:ext uri="{BB962C8B-B14F-4D97-AF65-F5344CB8AC3E}">
        <p14:creationId xmlns:p14="http://schemas.microsoft.com/office/powerpoint/2010/main" val="45850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8050BA-C097-F530-71B3-A296D62D65AB}"/>
              </a:ext>
            </a:extLst>
          </p:cNvPr>
          <p:cNvSpPr txBox="1"/>
          <p:nvPr/>
        </p:nvSpPr>
        <p:spPr>
          <a:xfrm>
            <a:off x="9166860" y="1840610"/>
            <a:ext cx="6188163" cy="1195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Key Concepts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7ECD4-9153-41A1-2129-750C775C64BB}"/>
              </a:ext>
            </a:extLst>
          </p:cNvPr>
          <p:cNvSpPr txBox="1"/>
          <p:nvPr/>
        </p:nvSpPr>
        <p:spPr>
          <a:xfrm>
            <a:off x="9166860" y="3172777"/>
            <a:ext cx="2879597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Innovation drives our strategy.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6EF9F9-A852-EC23-C773-823BAC5E36AD}"/>
              </a:ext>
            </a:extLst>
          </p:cNvPr>
          <p:cNvSpPr/>
          <p:nvPr/>
        </p:nvSpPr>
        <p:spPr>
          <a:xfrm>
            <a:off x="9715500" y="4438650"/>
            <a:ext cx="285750" cy="190500"/>
          </a:xfrm>
          <a:custGeom>
            <a:avLst/>
            <a:gdLst>
              <a:gd name="connsiteX0" fmla="*/ 0 w 285750"/>
              <a:gd name="connsiteY0" fmla="*/ 0 h 190500"/>
              <a:gd name="connsiteX1" fmla="*/ 285750 w 285750"/>
              <a:gd name="connsiteY1" fmla="*/ 0 h 190500"/>
              <a:gd name="connsiteX2" fmla="*/ 285750 w 285750"/>
              <a:gd name="connsiteY2" fmla="*/ 190500 h 190500"/>
              <a:gd name="connsiteX3" fmla="*/ 0 w 28575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90500">
                <a:moveTo>
                  <a:pt x="0" y="0"/>
                </a:moveTo>
                <a:lnTo>
                  <a:pt x="285750" y="0"/>
                </a:lnTo>
                <a:lnTo>
                  <a:pt x="28575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7BF19-A929-793B-0454-466C2F24AC3A}"/>
              </a:ext>
            </a:extLst>
          </p:cNvPr>
          <p:cNvSpPr txBox="1"/>
          <p:nvPr/>
        </p:nvSpPr>
        <p:spPr>
          <a:xfrm>
            <a:off x="9624060" y="4392168"/>
            <a:ext cx="416356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4AEE0-99F1-C607-3253-B3A27BA8BD3B}"/>
              </a:ext>
            </a:extLst>
          </p:cNvPr>
          <p:cNvSpPr txBox="1"/>
          <p:nvPr/>
        </p:nvSpPr>
        <p:spPr>
          <a:xfrm>
            <a:off x="11024235" y="4314539"/>
            <a:ext cx="1491643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Smart 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5FED26-F9DC-E277-0A8C-61EBF0C2BA7A}"/>
              </a:ext>
            </a:extLst>
          </p:cNvPr>
          <p:cNvSpPr txBox="1"/>
          <p:nvPr/>
        </p:nvSpPr>
        <p:spPr>
          <a:xfrm>
            <a:off x="11024235" y="4639246"/>
            <a:ext cx="3948683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AI boosts product discovery.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5D6483-C9DC-63FB-A5D1-F7796887906D}"/>
              </a:ext>
            </a:extLst>
          </p:cNvPr>
          <p:cNvSpPr txBox="1"/>
          <p:nvPr/>
        </p:nvSpPr>
        <p:spPr>
          <a:xfrm>
            <a:off x="11024235" y="5049392"/>
            <a:ext cx="526206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Lorem ipsum dolor sit amet, consectetur adipiscing elit. Ut et massa mi.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3E8AB68-F1FB-61A6-CC2D-A6EB58F54F71}"/>
              </a:ext>
            </a:extLst>
          </p:cNvPr>
          <p:cNvSpPr/>
          <p:nvPr/>
        </p:nvSpPr>
        <p:spPr>
          <a:xfrm>
            <a:off x="9715500" y="6276975"/>
            <a:ext cx="314325" cy="190500"/>
          </a:xfrm>
          <a:custGeom>
            <a:avLst/>
            <a:gdLst>
              <a:gd name="connsiteX0" fmla="*/ 0 w 314325"/>
              <a:gd name="connsiteY0" fmla="*/ 0 h 190500"/>
              <a:gd name="connsiteX1" fmla="*/ 314325 w 314325"/>
              <a:gd name="connsiteY1" fmla="*/ 0 h 190500"/>
              <a:gd name="connsiteX2" fmla="*/ 314325 w 314325"/>
              <a:gd name="connsiteY2" fmla="*/ 190500 h 190500"/>
              <a:gd name="connsiteX3" fmla="*/ 0 w 314325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5" h="190500">
                <a:moveTo>
                  <a:pt x="0" y="0"/>
                </a:moveTo>
                <a:lnTo>
                  <a:pt x="314325" y="0"/>
                </a:lnTo>
                <a:lnTo>
                  <a:pt x="314325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2C580-340C-5E16-E8CC-A576EF78725E}"/>
              </a:ext>
            </a:extLst>
          </p:cNvPr>
          <p:cNvSpPr txBox="1"/>
          <p:nvPr/>
        </p:nvSpPr>
        <p:spPr>
          <a:xfrm>
            <a:off x="9624060" y="6230492"/>
            <a:ext cx="451256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EAEAEA"/>
                </a:solidFill>
                <a:latin typeface="Plus Jakarta Sans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F7B82A-5183-0523-EE4B-995B15C0BD9E}"/>
              </a:ext>
            </a:extLst>
          </p:cNvPr>
          <p:cNvSpPr txBox="1"/>
          <p:nvPr/>
        </p:nvSpPr>
        <p:spPr>
          <a:xfrm>
            <a:off x="11024235" y="6152864"/>
            <a:ext cx="1875491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Secure Payments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CECECA-0EC7-A27E-C932-C283A08C1424}"/>
              </a:ext>
            </a:extLst>
          </p:cNvPr>
          <p:cNvSpPr txBox="1"/>
          <p:nvPr/>
        </p:nvSpPr>
        <p:spPr>
          <a:xfrm>
            <a:off x="11024235" y="6477571"/>
            <a:ext cx="3571569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Includes fraud protection.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C06FAD-A431-B7B9-35EC-3EB691719CE7}"/>
              </a:ext>
            </a:extLst>
          </p:cNvPr>
          <p:cNvSpPr txBox="1"/>
          <p:nvPr/>
        </p:nvSpPr>
        <p:spPr>
          <a:xfrm>
            <a:off x="11024235" y="6887717"/>
            <a:ext cx="526206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Lorem ipsum dolor sit amet, consectetur adipiscing elit. Ut et massa mi.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17F7B5F-EEC3-7477-CD74-BC870276BBBC}"/>
              </a:ext>
            </a:extLst>
          </p:cNvPr>
          <p:cNvSpPr/>
          <p:nvPr/>
        </p:nvSpPr>
        <p:spPr>
          <a:xfrm>
            <a:off x="9715500" y="8115300"/>
            <a:ext cx="304800" cy="190500"/>
          </a:xfrm>
          <a:custGeom>
            <a:avLst/>
            <a:gdLst>
              <a:gd name="connsiteX0" fmla="*/ 0 w 304800"/>
              <a:gd name="connsiteY0" fmla="*/ 0 h 190500"/>
              <a:gd name="connsiteX1" fmla="*/ 304800 w 304800"/>
              <a:gd name="connsiteY1" fmla="*/ 0 h 190500"/>
              <a:gd name="connsiteX2" fmla="*/ 304800 w 304800"/>
              <a:gd name="connsiteY2" fmla="*/ 190500 h 190500"/>
              <a:gd name="connsiteX3" fmla="*/ 0 w 30480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90500">
                <a:moveTo>
                  <a:pt x="0" y="0"/>
                </a:moveTo>
                <a:lnTo>
                  <a:pt x="304800" y="0"/>
                </a:lnTo>
                <a:lnTo>
                  <a:pt x="3048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8737D1-4405-3805-6DC5-AF1B5751E7C2}"/>
              </a:ext>
            </a:extLst>
          </p:cNvPr>
          <p:cNvSpPr txBox="1"/>
          <p:nvPr/>
        </p:nvSpPr>
        <p:spPr>
          <a:xfrm>
            <a:off x="9624060" y="8068817"/>
            <a:ext cx="45262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F3F3F3"/>
                </a:solidFill>
                <a:latin typeface="Plus Jakarta Sans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BE1D63-0919-F824-F81B-8380B3130A92}"/>
              </a:ext>
            </a:extLst>
          </p:cNvPr>
          <p:cNvSpPr txBox="1"/>
          <p:nvPr/>
        </p:nvSpPr>
        <p:spPr>
          <a:xfrm>
            <a:off x="11024235" y="7991189"/>
            <a:ext cx="2452963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Community Commerce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4E741B-6EFD-999C-C7D5-E8200792D2E1}"/>
              </a:ext>
            </a:extLst>
          </p:cNvPr>
          <p:cNvSpPr txBox="1"/>
          <p:nvPr/>
        </p:nvSpPr>
        <p:spPr>
          <a:xfrm>
            <a:off x="11024235" y="8315896"/>
            <a:ext cx="4624768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Sellers and buyers thrive together.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D90879-F79C-DEB8-AFB7-D52808ABAFFD}"/>
              </a:ext>
            </a:extLst>
          </p:cNvPr>
          <p:cNvSpPr txBox="1"/>
          <p:nvPr/>
        </p:nvSpPr>
        <p:spPr>
          <a:xfrm>
            <a:off x="11024235" y="8726042"/>
            <a:ext cx="526206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Lorem ipsum dolor sit amet, consectetur adipiscing elit. Ut et massa mi.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8A7476-6844-51A1-EB3F-B0BDD820136F}"/>
              </a:ext>
            </a:extLst>
          </p:cNvPr>
          <p:cNvSpPr txBox="1"/>
          <p:nvPr/>
        </p:nvSpPr>
        <p:spPr>
          <a:xfrm>
            <a:off x="1117139" y="4420171"/>
            <a:ext cx="1927897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Smart Search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4692E46-087D-8A54-EE8E-D74881D82F8F}"/>
              </a:ext>
            </a:extLst>
          </p:cNvPr>
          <p:cNvSpPr/>
          <p:nvPr/>
        </p:nvSpPr>
        <p:spPr>
          <a:xfrm>
            <a:off x="781050" y="5029200"/>
            <a:ext cx="2600325" cy="4495800"/>
          </a:xfrm>
          <a:custGeom>
            <a:avLst/>
            <a:gdLst>
              <a:gd name="connsiteX0" fmla="*/ 0 w 2600325"/>
              <a:gd name="connsiteY0" fmla="*/ 0 h 4495800"/>
              <a:gd name="connsiteX1" fmla="*/ 2600325 w 2600325"/>
              <a:gd name="connsiteY1" fmla="*/ 0 h 4495800"/>
              <a:gd name="connsiteX2" fmla="*/ 2600325 w 2600325"/>
              <a:gd name="connsiteY2" fmla="*/ 4495800 h 4495800"/>
              <a:gd name="connsiteX3" fmla="*/ 0 w 2600325"/>
              <a:gd name="connsiteY3" fmla="*/ 4495800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325" h="4495800">
                <a:moveTo>
                  <a:pt x="0" y="0"/>
                </a:moveTo>
                <a:lnTo>
                  <a:pt x="2600325" y="0"/>
                </a:lnTo>
                <a:lnTo>
                  <a:pt x="2600325" y="4495800"/>
                </a:lnTo>
                <a:lnTo>
                  <a:pt x="0" y="44958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E8BD69-0886-C08B-F848-51C675A16468}"/>
              </a:ext>
            </a:extLst>
          </p:cNvPr>
          <p:cNvSpPr txBox="1"/>
          <p:nvPr/>
        </p:nvSpPr>
        <p:spPr>
          <a:xfrm>
            <a:off x="3685412" y="2400871"/>
            <a:ext cx="2439695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Secure Payments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E994712-35F0-24AE-0E91-2B9BED09E0EA}"/>
              </a:ext>
            </a:extLst>
          </p:cNvPr>
          <p:cNvSpPr/>
          <p:nvPr/>
        </p:nvSpPr>
        <p:spPr>
          <a:xfrm>
            <a:off x="3609975" y="3009900"/>
            <a:ext cx="2590800" cy="6515100"/>
          </a:xfrm>
          <a:custGeom>
            <a:avLst/>
            <a:gdLst>
              <a:gd name="connsiteX0" fmla="*/ 0 w 2590800"/>
              <a:gd name="connsiteY0" fmla="*/ 0 h 6515100"/>
              <a:gd name="connsiteX1" fmla="*/ 2590800 w 2590800"/>
              <a:gd name="connsiteY1" fmla="*/ 0 h 6515100"/>
              <a:gd name="connsiteX2" fmla="*/ 2590800 w 2590800"/>
              <a:gd name="connsiteY2" fmla="*/ 6515100 h 6515100"/>
              <a:gd name="connsiteX3" fmla="*/ 0 w 2590800"/>
              <a:gd name="connsiteY3" fmla="*/ 6515100 h 651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0800" h="6515100">
                <a:moveTo>
                  <a:pt x="0" y="0"/>
                </a:moveTo>
                <a:lnTo>
                  <a:pt x="2590800" y="0"/>
                </a:lnTo>
                <a:lnTo>
                  <a:pt x="2590800" y="6515100"/>
                </a:lnTo>
                <a:lnTo>
                  <a:pt x="0" y="65151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B0BF60A-CF17-9F98-7E6D-B2FFAAA97250}"/>
              </a:ext>
            </a:extLst>
          </p:cNvPr>
          <p:cNvSpPr/>
          <p:nvPr/>
        </p:nvSpPr>
        <p:spPr>
          <a:xfrm>
            <a:off x="6429375" y="7277100"/>
            <a:ext cx="2600325" cy="2247900"/>
          </a:xfrm>
          <a:custGeom>
            <a:avLst/>
            <a:gdLst>
              <a:gd name="connsiteX0" fmla="*/ 0 w 2600325"/>
              <a:gd name="connsiteY0" fmla="*/ 0 h 2247900"/>
              <a:gd name="connsiteX1" fmla="*/ 2600325 w 2600325"/>
              <a:gd name="connsiteY1" fmla="*/ 0 h 2247900"/>
              <a:gd name="connsiteX2" fmla="*/ 2600325 w 2600325"/>
              <a:gd name="connsiteY2" fmla="*/ 2247900 h 2247900"/>
              <a:gd name="connsiteX3" fmla="*/ 0 w 2600325"/>
              <a:gd name="connsiteY3" fmla="*/ 2247900 h 224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325" h="2247900">
                <a:moveTo>
                  <a:pt x="0" y="0"/>
                </a:moveTo>
                <a:lnTo>
                  <a:pt x="2600325" y="0"/>
                </a:lnTo>
                <a:lnTo>
                  <a:pt x="2600325" y="2247900"/>
                </a:lnTo>
                <a:lnTo>
                  <a:pt x="0" y="22479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DCCA7BF-C063-7A6A-1BAF-A4524B7C15D5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213245-9BF2-5D5F-72B6-74E3517CBAC7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198A0A-CFC0-E6B2-354C-24DAD127EBE1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BCFAB4-694C-67FE-F7AE-CEC4A27BDDA7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A5ECB0-8599-ABFF-A0DC-F7514829B496}"/>
              </a:ext>
            </a:extLst>
          </p:cNvPr>
          <p:cNvSpPr txBox="1"/>
          <p:nvPr/>
        </p:nvSpPr>
        <p:spPr>
          <a:xfrm>
            <a:off x="6877850" y="6334696"/>
            <a:ext cx="2110854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Community </a:t>
            </a:r>
          </a:p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Commerce</a:t>
            </a:r>
          </a:p>
        </p:txBody>
      </p:sp>
    </p:spTree>
    <p:extLst>
      <p:ext uri="{BB962C8B-B14F-4D97-AF65-F5344CB8AC3E}">
        <p14:creationId xmlns:p14="http://schemas.microsoft.com/office/powerpoint/2010/main" val="291133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F537FC-6B16-EABA-B2BF-1746DB681FE3}"/>
              </a:ext>
            </a:extLst>
          </p:cNvPr>
          <p:cNvSpPr/>
          <p:nvPr/>
        </p:nvSpPr>
        <p:spPr>
          <a:xfrm>
            <a:off x="762000" y="5029200"/>
            <a:ext cx="5438775" cy="4495800"/>
          </a:xfrm>
          <a:custGeom>
            <a:avLst/>
            <a:gdLst>
              <a:gd name="connsiteX0" fmla="*/ 0 w 5438775"/>
              <a:gd name="connsiteY0" fmla="*/ 0 h 4495800"/>
              <a:gd name="connsiteX1" fmla="*/ 5438775 w 5438775"/>
              <a:gd name="connsiteY1" fmla="*/ 0 h 4495800"/>
              <a:gd name="connsiteX2" fmla="*/ 5438775 w 5438775"/>
              <a:gd name="connsiteY2" fmla="*/ 4495800 h 4495800"/>
              <a:gd name="connsiteX3" fmla="*/ 0 w 5438775"/>
              <a:gd name="connsiteY3" fmla="*/ 4495800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8775" h="4495800">
                <a:moveTo>
                  <a:pt x="0" y="0"/>
                </a:moveTo>
                <a:lnTo>
                  <a:pt x="5438775" y="0"/>
                </a:lnTo>
                <a:lnTo>
                  <a:pt x="5438775" y="4495800"/>
                </a:lnTo>
                <a:lnTo>
                  <a:pt x="0" y="4495800"/>
                </a:ln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C7C1231-B45E-762B-ADC1-3C512535AAA7}"/>
              </a:ext>
            </a:extLst>
          </p:cNvPr>
          <p:cNvSpPr/>
          <p:nvPr/>
        </p:nvSpPr>
        <p:spPr>
          <a:xfrm>
            <a:off x="6429375" y="5029200"/>
            <a:ext cx="5438775" cy="4495800"/>
          </a:xfrm>
          <a:custGeom>
            <a:avLst/>
            <a:gdLst>
              <a:gd name="connsiteX0" fmla="*/ 0 w 5438775"/>
              <a:gd name="connsiteY0" fmla="*/ 0 h 4495800"/>
              <a:gd name="connsiteX1" fmla="*/ 5438775 w 5438775"/>
              <a:gd name="connsiteY1" fmla="*/ 0 h 4495800"/>
              <a:gd name="connsiteX2" fmla="*/ 5438775 w 5438775"/>
              <a:gd name="connsiteY2" fmla="*/ 4495800 h 4495800"/>
              <a:gd name="connsiteX3" fmla="*/ 0 w 5438775"/>
              <a:gd name="connsiteY3" fmla="*/ 4495800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8775" h="4495800">
                <a:moveTo>
                  <a:pt x="0" y="0"/>
                </a:moveTo>
                <a:lnTo>
                  <a:pt x="5438775" y="0"/>
                </a:lnTo>
                <a:lnTo>
                  <a:pt x="5438775" y="4495800"/>
                </a:lnTo>
                <a:lnTo>
                  <a:pt x="0" y="4495800"/>
                </a:ln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5255F6-64BE-3AE1-D1CD-A98CCD6764DE}"/>
              </a:ext>
            </a:extLst>
          </p:cNvPr>
          <p:cNvSpPr/>
          <p:nvPr/>
        </p:nvSpPr>
        <p:spPr>
          <a:xfrm>
            <a:off x="12087225" y="5029200"/>
            <a:ext cx="5438775" cy="4495800"/>
          </a:xfrm>
          <a:custGeom>
            <a:avLst/>
            <a:gdLst>
              <a:gd name="connsiteX0" fmla="*/ 0 w 5438775"/>
              <a:gd name="connsiteY0" fmla="*/ 0 h 4495800"/>
              <a:gd name="connsiteX1" fmla="*/ 5438775 w 5438775"/>
              <a:gd name="connsiteY1" fmla="*/ 0 h 4495800"/>
              <a:gd name="connsiteX2" fmla="*/ 5438775 w 5438775"/>
              <a:gd name="connsiteY2" fmla="*/ 4495800 h 4495800"/>
              <a:gd name="connsiteX3" fmla="*/ 0 w 5438775"/>
              <a:gd name="connsiteY3" fmla="*/ 4495800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8775" h="4495800">
                <a:moveTo>
                  <a:pt x="0" y="0"/>
                </a:moveTo>
                <a:lnTo>
                  <a:pt x="5438775" y="0"/>
                </a:lnTo>
                <a:lnTo>
                  <a:pt x="5438775" y="4495800"/>
                </a:lnTo>
                <a:lnTo>
                  <a:pt x="0" y="4495800"/>
                </a:ln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79D8B55-61BE-BA0C-50FD-08F1002D67CA}"/>
              </a:ext>
            </a:extLst>
          </p:cNvPr>
          <p:cNvSpPr/>
          <p:nvPr/>
        </p:nvSpPr>
        <p:spPr>
          <a:xfrm>
            <a:off x="990600" y="6438900"/>
            <a:ext cx="2857500" cy="2857500"/>
          </a:xfrm>
          <a:custGeom>
            <a:avLst/>
            <a:gdLst>
              <a:gd name="connsiteX0" fmla="*/ 2857500 w 2857500"/>
              <a:gd name="connsiteY0" fmla="*/ 1428750 h 2857500"/>
              <a:gd name="connsiteX1" fmla="*/ 1428750 w 2857500"/>
              <a:gd name="connsiteY1" fmla="*/ 2857500 h 2857500"/>
              <a:gd name="connsiteX2" fmla="*/ 0 w 2857500"/>
              <a:gd name="connsiteY2" fmla="*/ 1428750 h 2857500"/>
              <a:gd name="connsiteX3" fmla="*/ 1428750 w 2857500"/>
              <a:gd name="connsiteY3" fmla="*/ 0 h 2857500"/>
              <a:gd name="connsiteX4" fmla="*/ 2857500 w 2857500"/>
              <a:gd name="connsiteY4" fmla="*/ 1428750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0" h="2857500">
                <a:moveTo>
                  <a:pt x="2857500" y="1428750"/>
                </a:moveTo>
                <a:cubicBezTo>
                  <a:pt x="2857500" y="2217827"/>
                  <a:pt x="2217827" y="2857500"/>
                  <a:pt x="1428750" y="2857500"/>
                </a:cubicBezTo>
                <a:cubicBezTo>
                  <a:pt x="639673" y="2857500"/>
                  <a:pt x="0" y="2217827"/>
                  <a:pt x="0" y="1428750"/>
                </a:cubicBezTo>
                <a:cubicBezTo>
                  <a:pt x="0" y="639673"/>
                  <a:pt x="639673" y="0"/>
                  <a:pt x="1428750" y="0"/>
                </a:cubicBezTo>
                <a:cubicBezTo>
                  <a:pt x="2217827" y="0"/>
                  <a:pt x="2857500" y="639673"/>
                  <a:pt x="2857500" y="14287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681C016-3AC7-34BD-4D31-6C9CA26D78E7}"/>
              </a:ext>
            </a:extLst>
          </p:cNvPr>
          <p:cNvSpPr/>
          <p:nvPr/>
        </p:nvSpPr>
        <p:spPr>
          <a:xfrm>
            <a:off x="6657975" y="6438900"/>
            <a:ext cx="2857500" cy="2857500"/>
          </a:xfrm>
          <a:custGeom>
            <a:avLst/>
            <a:gdLst>
              <a:gd name="connsiteX0" fmla="*/ 2857500 w 2857500"/>
              <a:gd name="connsiteY0" fmla="*/ 1428750 h 2857500"/>
              <a:gd name="connsiteX1" fmla="*/ 1428750 w 2857500"/>
              <a:gd name="connsiteY1" fmla="*/ 2857500 h 2857500"/>
              <a:gd name="connsiteX2" fmla="*/ 0 w 2857500"/>
              <a:gd name="connsiteY2" fmla="*/ 1428750 h 2857500"/>
              <a:gd name="connsiteX3" fmla="*/ 1428750 w 2857500"/>
              <a:gd name="connsiteY3" fmla="*/ 0 h 2857500"/>
              <a:gd name="connsiteX4" fmla="*/ 2857500 w 2857500"/>
              <a:gd name="connsiteY4" fmla="*/ 1428750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0" h="2857500">
                <a:moveTo>
                  <a:pt x="2857500" y="1428750"/>
                </a:moveTo>
                <a:cubicBezTo>
                  <a:pt x="2857500" y="2217827"/>
                  <a:pt x="2217827" y="2857500"/>
                  <a:pt x="1428750" y="2857500"/>
                </a:cubicBezTo>
                <a:cubicBezTo>
                  <a:pt x="639673" y="2857500"/>
                  <a:pt x="0" y="2217827"/>
                  <a:pt x="0" y="1428750"/>
                </a:cubicBezTo>
                <a:cubicBezTo>
                  <a:pt x="0" y="639673"/>
                  <a:pt x="639673" y="0"/>
                  <a:pt x="1428750" y="0"/>
                </a:cubicBezTo>
                <a:cubicBezTo>
                  <a:pt x="2217827" y="0"/>
                  <a:pt x="2857500" y="639673"/>
                  <a:pt x="2857500" y="14287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6803CFB-F2D8-F6C1-F409-B98722BA8E29}"/>
              </a:ext>
            </a:extLst>
          </p:cNvPr>
          <p:cNvSpPr/>
          <p:nvPr/>
        </p:nvSpPr>
        <p:spPr>
          <a:xfrm>
            <a:off x="12315825" y="6438900"/>
            <a:ext cx="2857500" cy="2857500"/>
          </a:xfrm>
          <a:custGeom>
            <a:avLst/>
            <a:gdLst>
              <a:gd name="connsiteX0" fmla="*/ 2857500 w 2857500"/>
              <a:gd name="connsiteY0" fmla="*/ 1428750 h 2857500"/>
              <a:gd name="connsiteX1" fmla="*/ 1428750 w 2857500"/>
              <a:gd name="connsiteY1" fmla="*/ 2857500 h 2857500"/>
              <a:gd name="connsiteX2" fmla="*/ 0 w 2857500"/>
              <a:gd name="connsiteY2" fmla="*/ 1428750 h 2857500"/>
              <a:gd name="connsiteX3" fmla="*/ 1428750 w 2857500"/>
              <a:gd name="connsiteY3" fmla="*/ 0 h 2857500"/>
              <a:gd name="connsiteX4" fmla="*/ 2857500 w 2857500"/>
              <a:gd name="connsiteY4" fmla="*/ 1428750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0" h="2857500">
                <a:moveTo>
                  <a:pt x="2857500" y="1428750"/>
                </a:moveTo>
                <a:cubicBezTo>
                  <a:pt x="2857500" y="2217827"/>
                  <a:pt x="2217828" y="2857500"/>
                  <a:pt x="1428750" y="2857500"/>
                </a:cubicBezTo>
                <a:cubicBezTo>
                  <a:pt x="639673" y="2857500"/>
                  <a:pt x="0" y="2217827"/>
                  <a:pt x="0" y="1428750"/>
                </a:cubicBezTo>
                <a:cubicBezTo>
                  <a:pt x="0" y="639673"/>
                  <a:pt x="639673" y="0"/>
                  <a:pt x="1428750" y="0"/>
                </a:cubicBezTo>
                <a:cubicBezTo>
                  <a:pt x="2217828" y="0"/>
                  <a:pt x="2857500" y="639673"/>
                  <a:pt x="2857500" y="14287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" name="Partial Circle 1">
            <a:extLst>
              <a:ext uri="{FF2B5EF4-FFF2-40B4-BE49-F238E27FC236}">
                <a16:creationId xmlns:a16="http://schemas.microsoft.com/office/drawing/2014/main" id="{B02AD0D1-AD41-8F17-E68E-DD2459A80160}"/>
              </a:ext>
            </a:extLst>
          </p:cNvPr>
          <p:cNvSpPr/>
          <p:nvPr/>
        </p:nvSpPr>
        <p:spPr>
          <a:xfrm rot="16200000">
            <a:off x="990581" y="6438900"/>
            <a:ext cx="2857515" cy="2857497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5B307AC3-8B2D-2735-4BD6-4041B70A6882}"/>
              </a:ext>
            </a:extLst>
          </p:cNvPr>
          <p:cNvSpPr/>
          <p:nvPr/>
        </p:nvSpPr>
        <p:spPr>
          <a:xfrm rot="16200000">
            <a:off x="6657975" y="6438900"/>
            <a:ext cx="2857519" cy="2857497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" name="Partial Circle 3">
            <a:extLst>
              <a:ext uri="{FF2B5EF4-FFF2-40B4-BE49-F238E27FC236}">
                <a16:creationId xmlns:a16="http://schemas.microsoft.com/office/drawing/2014/main" id="{5568CB0C-8299-EF8B-1A78-ADA2841B7E55}"/>
              </a:ext>
            </a:extLst>
          </p:cNvPr>
          <p:cNvSpPr/>
          <p:nvPr/>
        </p:nvSpPr>
        <p:spPr>
          <a:xfrm rot="16200000">
            <a:off x="12315825" y="6438899"/>
            <a:ext cx="2857499" cy="2857497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67772-B32C-58A7-0D6A-5561243388CF}"/>
              </a:ext>
            </a:extLst>
          </p:cNvPr>
          <p:cNvSpPr txBox="1"/>
          <p:nvPr/>
        </p:nvSpPr>
        <p:spPr>
          <a:xfrm>
            <a:off x="670560" y="1965769"/>
            <a:ext cx="9851136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Growth backed by real numbers.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CAF58A-38FF-E2C1-A29A-7008A256080C}"/>
              </a:ext>
            </a:extLst>
          </p:cNvPr>
          <p:cNvSpPr txBox="1"/>
          <p:nvPr/>
        </p:nvSpPr>
        <p:spPr>
          <a:xfrm>
            <a:off x="899160" y="4544377"/>
            <a:ext cx="1906143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YoY Sales Increase.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8617ED-C5B6-F017-B7E5-691AEBA27019}"/>
              </a:ext>
            </a:extLst>
          </p:cNvPr>
          <p:cNvSpPr txBox="1"/>
          <p:nvPr/>
        </p:nvSpPr>
        <p:spPr>
          <a:xfrm>
            <a:off x="899160" y="5240274"/>
            <a:ext cx="1802663" cy="78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35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120%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51D1C3-15D8-78C7-F2F2-F42AFBBB9288}"/>
              </a:ext>
            </a:extLst>
          </p:cNvPr>
          <p:cNvSpPr/>
          <p:nvPr/>
        </p:nvSpPr>
        <p:spPr>
          <a:xfrm>
            <a:off x="1343025" y="6791325"/>
            <a:ext cx="2152650" cy="2152650"/>
          </a:xfrm>
          <a:custGeom>
            <a:avLst/>
            <a:gdLst>
              <a:gd name="connsiteX0" fmla="*/ 2152650 w 2152650"/>
              <a:gd name="connsiteY0" fmla="*/ 1076325 h 2152650"/>
              <a:gd name="connsiteX1" fmla="*/ 1076325 w 2152650"/>
              <a:gd name="connsiteY1" fmla="*/ 2152650 h 2152650"/>
              <a:gd name="connsiteX2" fmla="*/ 0 w 2152650"/>
              <a:gd name="connsiteY2" fmla="*/ 1076325 h 2152650"/>
              <a:gd name="connsiteX3" fmla="*/ 1076325 w 2152650"/>
              <a:gd name="connsiteY3" fmla="*/ 0 h 2152650"/>
              <a:gd name="connsiteX4" fmla="*/ 2152650 w 2152650"/>
              <a:gd name="connsiteY4" fmla="*/ 1076325 h 215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2650" h="2152650">
                <a:moveTo>
                  <a:pt x="2152650" y="1076325"/>
                </a:moveTo>
                <a:cubicBezTo>
                  <a:pt x="2152650" y="1670763"/>
                  <a:pt x="1670763" y="2152650"/>
                  <a:pt x="1076325" y="2152650"/>
                </a:cubicBezTo>
                <a:cubicBezTo>
                  <a:pt x="481887" y="2152650"/>
                  <a:pt x="0" y="1670763"/>
                  <a:pt x="0" y="1076325"/>
                </a:cubicBezTo>
                <a:cubicBezTo>
                  <a:pt x="0" y="481887"/>
                  <a:pt x="481887" y="0"/>
                  <a:pt x="1076325" y="0"/>
                </a:cubicBezTo>
                <a:cubicBezTo>
                  <a:pt x="1670763" y="0"/>
                  <a:pt x="2152650" y="481887"/>
                  <a:pt x="2152650" y="1076325"/>
                </a:cubicBez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52210C9-698E-4740-A1EA-2549B2C3141B}"/>
              </a:ext>
            </a:extLst>
          </p:cNvPr>
          <p:cNvSpPr/>
          <p:nvPr/>
        </p:nvSpPr>
        <p:spPr>
          <a:xfrm>
            <a:off x="2190750" y="7613646"/>
            <a:ext cx="482603" cy="483869"/>
          </a:xfrm>
          <a:custGeom>
            <a:avLst/>
            <a:gdLst>
              <a:gd name="connsiteX0" fmla="*/ 126997 w 482603"/>
              <a:gd name="connsiteY0" fmla="*/ 295913 h 483869"/>
              <a:gd name="connsiteX1" fmla="*/ 126997 w 482603"/>
              <a:gd name="connsiteY1" fmla="*/ 101603 h 483869"/>
              <a:gd name="connsiteX2" fmla="*/ 203197 w 482603"/>
              <a:gd name="connsiteY2" fmla="*/ 101603 h 483869"/>
              <a:gd name="connsiteX3" fmla="*/ 203197 w 482603"/>
              <a:gd name="connsiteY3" fmla="*/ 295913 h 483869"/>
              <a:gd name="connsiteX4" fmla="*/ 165097 w 482603"/>
              <a:gd name="connsiteY4" fmla="*/ 260347 h 483869"/>
              <a:gd name="connsiteX5" fmla="*/ 126997 w 482603"/>
              <a:gd name="connsiteY5" fmla="*/ 295913 h 483869"/>
              <a:gd name="connsiteX6" fmla="*/ 254003 w 482603"/>
              <a:gd name="connsiteY6" fmla="*/ 334013 h 483869"/>
              <a:gd name="connsiteX7" fmla="*/ 254003 w 482603"/>
              <a:gd name="connsiteY7" fmla="*/ 0 h 483869"/>
              <a:gd name="connsiteX8" fmla="*/ 330203 w 482603"/>
              <a:gd name="connsiteY8" fmla="*/ 0 h 483869"/>
              <a:gd name="connsiteX9" fmla="*/ 330203 w 482603"/>
              <a:gd name="connsiteY9" fmla="*/ 257813 h 483869"/>
              <a:gd name="connsiteX10" fmla="*/ 254003 w 482603"/>
              <a:gd name="connsiteY10" fmla="*/ 334013 h 483869"/>
              <a:gd name="connsiteX11" fmla="*/ 0 w 482603"/>
              <a:gd name="connsiteY11" fmla="*/ 421643 h 483869"/>
              <a:gd name="connsiteX12" fmla="*/ 0 w 482603"/>
              <a:gd name="connsiteY12" fmla="*/ 203197 h 483869"/>
              <a:gd name="connsiteX13" fmla="*/ 76200 w 482603"/>
              <a:gd name="connsiteY13" fmla="*/ 203197 h 483869"/>
              <a:gd name="connsiteX14" fmla="*/ 76200 w 482603"/>
              <a:gd name="connsiteY14" fmla="*/ 345443 h 483869"/>
              <a:gd name="connsiteX15" fmla="*/ 0 w 482603"/>
              <a:gd name="connsiteY15" fmla="*/ 421643 h 483869"/>
              <a:gd name="connsiteX16" fmla="*/ 0 w 482603"/>
              <a:gd name="connsiteY16" fmla="*/ 483870 h 483869"/>
              <a:gd name="connsiteX17" fmla="*/ 163830 w 482603"/>
              <a:gd name="connsiteY17" fmla="*/ 320040 h 483869"/>
              <a:gd name="connsiteX18" fmla="*/ 254003 w 482603"/>
              <a:gd name="connsiteY18" fmla="*/ 397507 h 483869"/>
              <a:gd name="connsiteX19" fmla="*/ 396240 w 482603"/>
              <a:gd name="connsiteY19" fmla="*/ 255270 h 483869"/>
              <a:gd name="connsiteX20" fmla="*/ 355597 w 482603"/>
              <a:gd name="connsiteY20" fmla="*/ 255270 h 483869"/>
              <a:gd name="connsiteX21" fmla="*/ 355597 w 482603"/>
              <a:gd name="connsiteY21" fmla="*/ 204473 h 483869"/>
              <a:gd name="connsiteX22" fmla="*/ 482603 w 482603"/>
              <a:gd name="connsiteY22" fmla="*/ 204473 h 483869"/>
              <a:gd name="connsiteX23" fmla="*/ 482603 w 482603"/>
              <a:gd name="connsiteY23" fmla="*/ 331470 h 483869"/>
              <a:gd name="connsiteX24" fmla="*/ 431797 w 482603"/>
              <a:gd name="connsiteY24" fmla="*/ 331470 h 483869"/>
              <a:gd name="connsiteX25" fmla="*/ 431797 w 482603"/>
              <a:gd name="connsiteY25" fmla="*/ 290827 h 483869"/>
              <a:gd name="connsiteX26" fmla="*/ 256537 w 482603"/>
              <a:gd name="connsiteY26" fmla="*/ 466087 h 483869"/>
              <a:gd name="connsiteX27" fmla="*/ 166373 w 482603"/>
              <a:gd name="connsiteY27" fmla="*/ 388620 h 483869"/>
              <a:gd name="connsiteX28" fmla="*/ 71123 w 482603"/>
              <a:gd name="connsiteY28" fmla="*/ 483870 h 483869"/>
              <a:gd name="connsiteX29" fmla="*/ 0 w 482603"/>
              <a:gd name="connsiteY29" fmla="*/ 483870 h 48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82603" h="483869">
                <a:moveTo>
                  <a:pt x="126997" y="295913"/>
                </a:moveTo>
                <a:lnTo>
                  <a:pt x="126997" y="101603"/>
                </a:lnTo>
                <a:lnTo>
                  <a:pt x="203197" y="101603"/>
                </a:lnTo>
                <a:lnTo>
                  <a:pt x="203197" y="295913"/>
                </a:lnTo>
                <a:lnTo>
                  <a:pt x="165097" y="260347"/>
                </a:lnTo>
                <a:lnTo>
                  <a:pt x="126997" y="295913"/>
                </a:lnTo>
                <a:close/>
                <a:moveTo>
                  <a:pt x="254003" y="334013"/>
                </a:moveTo>
                <a:lnTo>
                  <a:pt x="254003" y="0"/>
                </a:lnTo>
                <a:lnTo>
                  <a:pt x="330203" y="0"/>
                </a:lnTo>
                <a:lnTo>
                  <a:pt x="330203" y="257813"/>
                </a:lnTo>
                <a:lnTo>
                  <a:pt x="254003" y="334013"/>
                </a:lnTo>
                <a:close/>
                <a:moveTo>
                  <a:pt x="0" y="421643"/>
                </a:moveTo>
                <a:lnTo>
                  <a:pt x="0" y="203197"/>
                </a:lnTo>
                <a:lnTo>
                  <a:pt x="76200" y="203197"/>
                </a:lnTo>
                <a:lnTo>
                  <a:pt x="76200" y="345443"/>
                </a:lnTo>
                <a:lnTo>
                  <a:pt x="0" y="421643"/>
                </a:lnTo>
                <a:close/>
                <a:moveTo>
                  <a:pt x="0" y="483870"/>
                </a:moveTo>
                <a:lnTo>
                  <a:pt x="163830" y="320040"/>
                </a:lnTo>
                <a:lnTo>
                  <a:pt x="254003" y="397507"/>
                </a:lnTo>
                <a:lnTo>
                  <a:pt x="396240" y="255270"/>
                </a:lnTo>
                <a:lnTo>
                  <a:pt x="355597" y="255270"/>
                </a:lnTo>
                <a:lnTo>
                  <a:pt x="355597" y="204473"/>
                </a:lnTo>
                <a:lnTo>
                  <a:pt x="482603" y="204473"/>
                </a:lnTo>
                <a:lnTo>
                  <a:pt x="482603" y="331470"/>
                </a:lnTo>
                <a:lnTo>
                  <a:pt x="431797" y="331470"/>
                </a:lnTo>
                <a:lnTo>
                  <a:pt x="431797" y="290827"/>
                </a:lnTo>
                <a:lnTo>
                  <a:pt x="256537" y="466087"/>
                </a:lnTo>
                <a:lnTo>
                  <a:pt x="166373" y="388620"/>
                </a:lnTo>
                <a:lnTo>
                  <a:pt x="71123" y="483870"/>
                </a:lnTo>
                <a:lnTo>
                  <a:pt x="0" y="48387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02-9B97-8550-75EC-BF78C8FA9D4E}"/>
              </a:ext>
            </a:extLst>
          </p:cNvPr>
          <p:cNvSpPr txBox="1"/>
          <p:nvPr/>
        </p:nvSpPr>
        <p:spPr>
          <a:xfrm>
            <a:off x="6566535" y="4544377"/>
            <a:ext cx="2823019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Retention Rate Improvement.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E313C-0DCE-C9D7-F6F1-3866B07FE487}"/>
              </a:ext>
            </a:extLst>
          </p:cNvPr>
          <p:cNvSpPr txBox="1"/>
          <p:nvPr/>
        </p:nvSpPr>
        <p:spPr>
          <a:xfrm>
            <a:off x="6566535" y="5240274"/>
            <a:ext cx="1611515" cy="78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35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40%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F72A221-2A5C-5C40-2796-2867E2DB08CA}"/>
              </a:ext>
            </a:extLst>
          </p:cNvPr>
          <p:cNvSpPr/>
          <p:nvPr/>
        </p:nvSpPr>
        <p:spPr>
          <a:xfrm>
            <a:off x="7010400" y="6791325"/>
            <a:ext cx="2152650" cy="2152650"/>
          </a:xfrm>
          <a:custGeom>
            <a:avLst/>
            <a:gdLst>
              <a:gd name="connsiteX0" fmla="*/ 2152650 w 2152650"/>
              <a:gd name="connsiteY0" fmla="*/ 1076325 h 2152650"/>
              <a:gd name="connsiteX1" fmla="*/ 1076325 w 2152650"/>
              <a:gd name="connsiteY1" fmla="*/ 2152650 h 2152650"/>
              <a:gd name="connsiteX2" fmla="*/ 0 w 2152650"/>
              <a:gd name="connsiteY2" fmla="*/ 1076325 h 2152650"/>
              <a:gd name="connsiteX3" fmla="*/ 1076325 w 2152650"/>
              <a:gd name="connsiteY3" fmla="*/ 0 h 2152650"/>
              <a:gd name="connsiteX4" fmla="*/ 2152650 w 2152650"/>
              <a:gd name="connsiteY4" fmla="*/ 1076325 h 215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2650" h="2152650">
                <a:moveTo>
                  <a:pt x="2152650" y="1076325"/>
                </a:moveTo>
                <a:cubicBezTo>
                  <a:pt x="2152650" y="1670763"/>
                  <a:pt x="1670763" y="2152650"/>
                  <a:pt x="1076325" y="2152650"/>
                </a:cubicBezTo>
                <a:cubicBezTo>
                  <a:pt x="481887" y="2152650"/>
                  <a:pt x="0" y="1670763"/>
                  <a:pt x="0" y="1076325"/>
                </a:cubicBezTo>
                <a:cubicBezTo>
                  <a:pt x="0" y="481887"/>
                  <a:pt x="481887" y="0"/>
                  <a:pt x="1076325" y="0"/>
                </a:cubicBezTo>
                <a:cubicBezTo>
                  <a:pt x="1670763" y="0"/>
                  <a:pt x="2152650" y="481887"/>
                  <a:pt x="2152650" y="1076325"/>
                </a:cubicBez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12249BF-A0EA-C685-1A7E-CFE75A8A3588}"/>
              </a:ext>
            </a:extLst>
          </p:cNvPr>
          <p:cNvSpPr/>
          <p:nvPr/>
        </p:nvSpPr>
        <p:spPr>
          <a:xfrm>
            <a:off x="7832721" y="7614922"/>
            <a:ext cx="507996" cy="506730"/>
          </a:xfrm>
          <a:custGeom>
            <a:avLst/>
            <a:gdLst>
              <a:gd name="connsiteX0" fmla="*/ 254003 w 507996"/>
              <a:gd name="connsiteY0" fmla="*/ 506730 h 506730"/>
              <a:gd name="connsiteX1" fmla="*/ 154943 w 507996"/>
              <a:gd name="connsiteY1" fmla="*/ 486728 h 506730"/>
              <a:gd name="connsiteX2" fmla="*/ 74295 w 507996"/>
              <a:gd name="connsiteY2" fmla="*/ 432111 h 506730"/>
              <a:gd name="connsiteX3" fmla="*/ 20002 w 507996"/>
              <a:gd name="connsiteY3" fmla="*/ 351149 h 506730"/>
              <a:gd name="connsiteX4" fmla="*/ 0 w 507996"/>
              <a:gd name="connsiteY4" fmla="*/ 252727 h 506730"/>
              <a:gd name="connsiteX5" fmla="*/ 66037 w 507996"/>
              <a:gd name="connsiteY5" fmla="*/ 81277 h 506730"/>
              <a:gd name="connsiteX6" fmla="*/ 228600 w 507996"/>
              <a:gd name="connsiteY6" fmla="*/ 0 h 506730"/>
              <a:gd name="connsiteX7" fmla="*/ 228600 w 507996"/>
              <a:gd name="connsiteY7" fmla="*/ 76200 h 506730"/>
              <a:gd name="connsiteX8" fmla="*/ 119701 w 507996"/>
              <a:gd name="connsiteY8" fmla="*/ 134931 h 506730"/>
              <a:gd name="connsiteX9" fmla="*/ 76200 w 507996"/>
              <a:gd name="connsiteY9" fmla="*/ 252727 h 506730"/>
              <a:gd name="connsiteX10" fmla="*/ 128273 w 507996"/>
              <a:gd name="connsiteY10" fmla="*/ 378457 h 506730"/>
              <a:gd name="connsiteX11" fmla="*/ 254003 w 507996"/>
              <a:gd name="connsiteY11" fmla="*/ 430530 h 506730"/>
              <a:gd name="connsiteX12" fmla="*/ 332422 w 507996"/>
              <a:gd name="connsiteY12" fmla="*/ 412747 h 506730"/>
              <a:gd name="connsiteX13" fmla="*/ 393697 w 507996"/>
              <a:gd name="connsiteY13" fmla="*/ 364484 h 506730"/>
              <a:gd name="connsiteX14" fmla="*/ 459743 w 507996"/>
              <a:gd name="connsiteY14" fmla="*/ 402584 h 506730"/>
              <a:gd name="connsiteX15" fmla="*/ 371475 w 507996"/>
              <a:gd name="connsiteY15" fmla="*/ 478470 h 506730"/>
              <a:gd name="connsiteX16" fmla="*/ 254003 w 507996"/>
              <a:gd name="connsiteY16" fmla="*/ 506730 h 506730"/>
              <a:gd name="connsiteX17" fmla="*/ 228600 w 507996"/>
              <a:gd name="connsiteY17" fmla="*/ 354330 h 506730"/>
              <a:gd name="connsiteX18" fmla="*/ 228600 w 507996"/>
              <a:gd name="connsiteY18" fmla="*/ 278130 h 506730"/>
              <a:gd name="connsiteX19" fmla="*/ 152400 w 507996"/>
              <a:gd name="connsiteY19" fmla="*/ 278130 h 506730"/>
              <a:gd name="connsiteX20" fmla="*/ 152400 w 507996"/>
              <a:gd name="connsiteY20" fmla="*/ 227324 h 506730"/>
              <a:gd name="connsiteX21" fmla="*/ 228600 w 507996"/>
              <a:gd name="connsiteY21" fmla="*/ 227324 h 506730"/>
              <a:gd name="connsiteX22" fmla="*/ 228600 w 507996"/>
              <a:gd name="connsiteY22" fmla="*/ 151124 h 506730"/>
              <a:gd name="connsiteX23" fmla="*/ 279397 w 507996"/>
              <a:gd name="connsiteY23" fmla="*/ 151124 h 506730"/>
              <a:gd name="connsiteX24" fmla="*/ 279397 w 507996"/>
              <a:gd name="connsiteY24" fmla="*/ 227324 h 506730"/>
              <a:gd name="connsiteX25" fmla="*/ 355597 w 507996"/>
              <a:gd name="connsiteY25" fmla="*/ 227324 h 506730"/>
              <a:gd name="connsiteX26" fmla="*/ 355597 w 507996"/>
              <a:gd name="connsiteY26" fmla="*/ 278130 h 506730"/>
              <a:gd name="connsiteX27" fmla="*/ 279397 w 507996"/>
              <a:gd name="connsiteY27" fmla="*/ 278130 h 506730"/>
              <a:gd name="connsiteX28" fmla="*/ 279397 w 507996"/>
              <a:gd name="connsiteY28" fmla="*/ 354330 h 506730"/>
              <a:gd name="connsiteX29" fmla="*/ 228600 w 507996"/>
              <a:gd name="connsiteY29" fmla="*/ 354330 h 506730"/>
              <a:gd name="connsiteX30" fmla="*/ 486413 w 507996"/>
              <a:gd name="connsiteY30" fmla="*/ 355597 h 506730"/>
              <a:gd name="connsiteX31" fmla="*/ 420367 w 507996"/>
              <a:gd name="connsiteY31" fmla="*/ 317497 h 506730"/>
              <a:gd name="connsiteX32" fmla="*/ 428940 w 507996"/>
              <a:gd name="connsiteY32" fmla="*/ 286065 h 506730"/>
              <a:gd name="connsiteX33" fmla="*/ 431797 w 507996"/>
              <a:gd name="connsiteY33" fmla="*/ 252727 h 506730"/>
              <a:gd name="connsiteX34" fmla="*/ 388305 w 507996"/>
              <a:gd name="connsiteY34" fmla="*/ 134931 h 506730"/>
              <a:gd name="connsiteX35" fmla="*/ 279397 w 507996"/>
              <a:gd name="connsiteY35" fmla="*/ 76200 h 506730"/>
              <a:gd name="connsiteX36" fmla="*/ 279397 w 507996"/>
              <a:gd name="connsiteY36" fmla="*/ 0 h 506730"/>
              <a:gd name="connsiteX37" fmla="*/ 441960 w 507996"/>
              <a:gd name="connsiteY37" fmla="*/ 81277 h 506730"/>
              <a:gd name="connsiteX38" fmla="*/ 507997 w 507996"/>
              <a:gd name="connsiteY38" fmla="*/ 252727 h 506730"/>
              <a:gd name="connsiteX39" fmla="*/ 502920 w 507996"/>
              <a:gd name="connsiteY39" fmla="*/ 306705 h 506730"/>
              <a:gd name="connsiteX40" fmla="*/ 486413 w 507996"/>
              <a:gd name="connsiteY40" fmla="*/ 355597 h 50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07996" h="506730">
                <a:moveTo>
                  <a:pt x="254003" y="506730"/>
                </a:moveTo>
                <a:cubicBezTo>
                  <a:pt x="218865" y="506730"/>
                  <a:pt x="185842" y="500063"/>
                  <a:pt x="154943" y="486728"/>
                </a:cubicBezTo>
                <a:cubicBezTo>
                  <a:pt x="124034" y="473393"/>
                  <a:pt x="97155" y="455190"/>
                  <a:pt x="74295" y="432111"/>
                </a:cubicBezTo>
                <a:cubicBezTo>
                  <a:pt x="51435" y="409042"/>
                  <a:pt x="33338" y="382058"/>
                  <a:pt x="20002" y="351149"/>
                </a:cubicBezTo>
                <a:cubicBezTo>
                  <a:pt x="6668" y="320250"/>
                  <a:pt x="0" y="287446"/>
                  <a:pt x="0" y="252727"/>
                </a:cubicBezTo>
                <a:cubicBezTo>
                  <a:pt x="0" y="186261"/>
                  <a:pt x="22012" y="129111"/>
                  <a:pt x="66037" y="81277"/>
                </a:cubicBezTo>
                <a:cubicBezTo>
                  <a:pt x="110071" y="33443"/>
                  <a:pt x="164249" y="6344"/>
                  <a:pt x="228600" y="0"/>
                </a:cubicBezTo>
                <a:lnTo>
                  <a:pt x="228600" y="76200"/>
                </a:lnTo>
                <a:cubicBezTo>
                  <a:pt x="184995" y="82125"/>
                  <a:pt x="148694" y="101708"/>
                  <a:pt x="119701" y="134931"/>
                </a:cubicBezTo>
                <a:cubicBezTo>
                  <a:pt x="90697" y="168164"/>
                  <a:pt x="76200" y="207436"/>
                  <a:pt x="76200" y="252727"/>
                </a:cubicBezTo>
                <a:cubicBezTo>
                  <a:pt x="76200" y="301838"/>
                  <a:pt x="93555" y="343748"/>
                  <a:pt x="128273" y="378457"/>
                </a:cubicBezTo>
                <a:cubicBezTo>
                  <a:pt x="162982" y="413175"/>
                  <a:pt x="204892" y="430530"/>
                  <a:pt x="254003" y="430530"/>
                </a:cubicBezTo>
                <a:cubicBezTo>
                  <a:pt x="281940" y="430530"/>
                  <a:pt x="308077" y="424605"/>
                  <a:pt x="332422" y="412747"/>
                </a:cubicBezTo>
                <a:cubicBezTo>
                  <a:pt x="356768" y="400898"/>
                  <a:pt x="377190" y="384810"/>
                  <a:pt x="393697" y="364484"/>
                </a:cubicBezTo>
                <a:lnTo>
                  <a:pt x="459743" y="402584"/>
                </a:lnTo>
                <a:cubicBezTo>
                  <a:pt x="436883" y="434340"/>
                  <a:pt x="407461" y="459629"/>
                  <a:pt x="371475" y="478470"/>
                </a:cubicBezTo>
                <a:cubicBezTo>
                  <a:pt x="335489" y="497310"/>
                  <a:pt x="296332" y="506730"/>
                  <a:pt x="254003" y="506730"/>
                </a:cubicBezTo>
                <a:close/>
                <a:moveTo>
                  <a:pt x="228600" y="354330"/>
                </a:moveTo>
                <a:lnTo>
                  <a:pt x="228600" y="278130"/>
                </a:lnTo>
                <a:lnTo>
                  <a:pt x="152400" y="278130"/>
                </a:lnTo>
                <a:lnTo>
                  <a:pt x="152400" y="227324"/>
                </a:lnTo>
                <a:lnTo>
                  <a:pt x="228600" y="227324"/>
                </a:lnTo>
                <a:lnTo>
                  <a:pt x="228600" y="151124"/>
                </a:lnTo>
                <a:lnTo>
                  <a:pt x="279397" y="151124"/>
                </a:lnTo>
                <a:lnTo>
                  <a:pt x="279397" y="227324"/>
                </a:lnTo>
                <a:lnTo>
                  <a:pt x="355597" y="227324"/>
                </a:lnTo>
                <a:lnTo>
                  <a:pt x="355597" y="278130"/>
                </a:lnTo>
                <a:lnTo>
                  <a:pt x="279397" y="278130"/>
                </a:lnTo>
                <a:lnTo>
                  <a:pt x="279397" y="354330"/>
                </a:lnTo>
                <a:lnTo>
                  <a:pt x="228600" y="354330"/>
                </a:lnTo>
                <a:close/>
                <a:moveTo>
                  <a:pt x="486413" y="355597"/>
                </a:moveTo>
                <a:lnTo>
                  <a:pt x="420367" y="317497"/>
                </a:lnTo>
                <a:cubicBezTo>
                  <a:pt x="424177" y="307334"/>
                  <a:pt x="427034" y="296856"/>
                  <a:pt x="428940" y="286065"/>
                </a:cubicBezTo>
                <a:cubicBezTo>
                  <a:pt x="430844" y="275273"/>
                  <a:pt x="431797" y="264157"/>
                  <a:pt x="431797" y="252727"/>
                </a:cubicBezTo>
                <a:cubicBezTo>
                  <a:pt x="431797" y="207436"/>
                  <a:pt x="417300" y="168164"/>
                  <a:pt x="388305" y="134931"/>
                </a:cubicBezTo>
                <a:cubicBezTo>
                  <a:pt x="359302" y="101708"/>
                  <a:pt x="323002" y="82125"/>
                  <a:pt x="279397" y="76200"/>
                </a:cubicBezTo>
                <a:lnTo>
                  <a:pt x="279397" y="0"/>
                </a:lnTo>
                <a:cubicBezTo>
                  <a:pt x="343748" y="6344"/>
                  <a:pt x="397936" y="33443"/>
                  <a:pt x="441960" y="81277"/>
                </a:cubicBezTo>
                <a:cubicBezTo>
                  <a:pt x="485984" y="129111"/>
                  <a:pt x="507997" y="186261"/>
                  <a:pt x="507997" y="252727"/>
                </a:cubicBezTo>
                <a:cubicBezTo>
                  <a:pt x="507997" y="271358"/>
                  <a:pt x="506311" y="289350"/>
                  <a:pt x="502920" y="306705"/>
                </a:cubicBezTo>
                <a:cubicBezTo>
                  <a:pt x="499529" y="324060"/>
                  <a:pt x="494033" y="340357"/>
                  <a:pt x="486413" y="355597"/>
                </a:cubicBez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0832A8-2091-E55D-75BD-A5E77570025F}"/>
              </a:ext>
            </a:extLst>
          </p:cNvPr>
          <p:cNvSpPr txBox="1"/>
          <p:nvPr/>
        </p:nvSpPr>
        <p:spPr>
          <a:xfrm>
            <a:off x="12224385" y="4544377"/>
            <a:ext cx="4024502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Conversion Boost with Recommendations.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F4C8A-03AD-8D4A-EF33-9303FAF73723}"/>
              </a:ext>
            </a:extLst>
          </p:cNvPr>
          <p:cNvSpPr txBox="1"/>
          <p:nvPr/>
        </p:nvSpPr>
        <p:spPr>
          <a:xfrm>
            <a:off x="12224385" y="5240274"/>
            <a:ext cx="1587760" cy="78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35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30%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F29354B-5BD7-5C0A-8C02-54E8F41E262C}"/>
              </a:ext>
            </a:extLst>
          </p:cNvPr>
          <p:cNvSpPr/>
          <p:nvPr/>
        </p:nvSpPr>
        <p:spPr>
          <a:xfrm>
            <a:off x="12668250" y="6791325"/>
            <a:ext cx="2152650" cy="2152650"/>
          </a:xfrm>
          <a:custGeom>
            <a:avLst/>
            <a:gdLst>
              <a:gd name="connsiteX0" fmla="*/ 2152650 w 2152650"/>
              <a:gd name="connsiteY0" fmla="*/ 1076325 h 2152650"/>
              <a:gd name="connsiteX1" fmla="*/ 1076325 w 2152650"/>
              <a:gd name="connsiteY1" fmla="*/ 2152650 h 2152650"/>
              <a:gd name="connsiteX2" fmla="*/ 0 w 2152650"/>
              <a:gd name="connsiteY2" fmla="*/ 1076325 h 2152650"/>
              <a:gd name="connsiteX3" fmla="*/ 1076325 w 2152650"/>
              <a:gd name="connsiteY3" fmla="*/ 0 h 2152650"/>
              <a:gd name="connsiteX4" fmla="*/ 2152650 w 2152650"/>
              <a:gd name="connsiteY4" fmla="*/ 1076325 h 215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2650" h="2152650">
                <a:moveTo>
                  <a:pt x="2152650" y="1076325"/>
                </a:moveTo>
                <a:cubicBezTo>
                  <a:pt x="2152650" y="1670763"/>
                  <a:pt x="1670763" y="2152650"/>
                  <a:pt x="1076325" y="2152650"/>
                </a:cubicBezTo>
                <a:cubicBezTo>
                  <a:pt x="481887" y="2152650"/>
                  <a:pt x="0" y="1670763"/>
                  <a:pt x="0" y="1076325"/>
                </a:cubicBezTo>
                <a:cubicBezTo>
                  <a:pt x="0" y="481887"/>
                  <a:pt x="481887" y="0"/>
                  <a:pt x="1076325" y="0"/>
                </a:cubicBezTo>
                <a:cubicBezTo>
                  <a:pt x="1670763" y="0"/>
                  <a:pt x="2152650" y="481887"/>
                  <a:pt x="2152650" y="1076325"/>
                </a:cubicBez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1A297F0-F3B7-4B6F-D40A-A78C6D32D2D6}"/>
              </a:ext>
            </a:extLst>
          </p:cNvPr>
          <p:cNvSpPr/>
          <p:nvPr/>
        </p:nvSpPr>
        <p:spPr>
          <a:xfrm>
            <a:off x="13490542" y="7664453"/>
            <a:ext cx="508098" cy="406403"/>
          </a:xfrm>
          <a:custGeom>
            <a:avLst/>
            <a:gdLst>
              <a:gd name="connsiteX0" fmla="*/ 214694 w 508098"/>
              <a:gd name="connsiteY0" fmla="*/ 292103 h 406403"/>
              <a:gd name="connsiteX1" fmla="*/ 254032 w 508098"/>
              <a:gd name="connsiteY1" fmla="*/ 307020 h 406403"/>
              <a:gd name="connsiteX2" fmla="*/ 289560 w 508098"/>
              <a:gd name="connsiteY2" fmla="*/ 289560 h 406403"/>
              <a:gd name="connsiteX3" fmla="*/ 431864 w 508098"/>
              <a:gd name="connsiteY3" fmla="*/ 76200 h 406403"/>
              <a:gd name="connsiteX4" fmla="*/ 218504 w 508098"/>
              <a:gd name="connsiteY4" fmla="*/ 218437 h 406403"/>
              <a:gd name="connsiteX5" fmla="*/ 200406 w 508098"/>
              <a:gd name="connsiteY5" fmla="*/ 253365 h 406403"/>
              <a:gd name="connsiteX6" fmla="*/ 214694 w 508098"/>
              <a:gd name="connsiteY6" fmla="*/ 292103 h 406403"/>
              <a:gd name="connsiteX7" fmla="*/ 254032 w 508098"/>
              <a:gd name="connsiteY7" fmla="*/ 0 h 406403"/>
              <a:gd name="connsiteX8" fmla="*/ 326136 w 508098"/>
              <a:gd name="connsiteY8" fmla="*/ 10478 h 406403"/>
              <a:gd name="connsiteX9" fmla="*/ 391192 w 508098"/>
              <a:gd name="connsiteY9" fmla="*/ 41910 h 406403"/>
              <a:gd name="connsiteX10" fmla="*/ 342900 w 508098"/>
              <a:gd name="connsiteY10" fmla="*/ 72390 h 406403"/>
              <a:gd name="connsiteX11" fmla="*/ 299467 w 508098"/>
              <a:gd name="connsiteY11" fmla="*/ 56198 h 406403"/>
              <a:gd name="connsiteX12" fmla="*/ 254032 w 508098"/>
              <a:gd name="connsiteY12" fmla="*/ 50797 h 406403"/>
              <a:gd name="connsiteX13" fmla="*/ 110205 w 508098"/>
              <a:gd name="connsiteY13" fmla="*/ 110176 h 406403"/>
              <a:gd name="connsiteX14" fmla="*/ 50864 w 508098"/>
              <a:gd name="connsiteY14" fmla="*/ 254003 h 406403"/>
              <a:gd name="connsiteX15" fmla="*/ 58103 w 508098"/>
              <a:gd name="connsiteY15" fmla="*/ 306705 h 406403"/>
              <a:gd name="connsiteX16" fmla="*/ 78772 w 508098"/>
              <a:gd name="connsiteY16" fmla="*/ 355597 h 406403"/>
              <a:gd name="connsiteX17" fmla="*/ 429292 w 508098"/>
              <a:gd name="connsiteY17" fmla="*/ 355597 h 406403"/>
              <a:gd name="connsiteX18" fmla="*/ 450533 w 508098"/>
              <a:gd name="connsiteY18" fmla="*/ 305438 h 406403"/>
              <a:gd name="connsiteX19" fmla="*/ 457200 w 508098"/>
              <a:gd name="connsiteY19" fmla="*/ 251460 h 406403"/>
              <a:gd name="connsiteX20" fmla="*/ 451867 w 508098"/>
              <a:gd name="connsiteY20" fmla="*/ 207007 h 406403"/>
              <a:gd name="connsiteX21" fmla="*/ 435673 w 508098"/>
              <a:gd name="connsiteY21" fmla="*/ 165097 h 406403"/>
              <a:gd name="connsiteX22" fmla="*/ 466154 w 508098"/>
              <a:gd name="connsiteY22" fmla="*/ 116843 h 406403"/>
              <a:gd name="connsiteX23" fmla="*/ 496253 w 508098"/>
              <a:gd name="connsiteY23" fmla="*/ 180337 h 406403"/>
              <a:gd name="connsiteX24" fmla="*/ 508064 w 508098"/>
              <a:gd name="connsiteY24" fmla="*/ 250193 h 406403"/>
              <a:gd name="connsiteX25" fmla="*/ 499778 w 508098"/>
              <a:gd name="connsiteY25" fmla="*/ 319402 h 406403"/>
              <a:gd name="connsiteX26" fmla="*/ 473773 w 508098"/>
              <a:gd name="connsiteY26" fmla="*/ 382267 h 406403"/>
              <a:gd name="connsiteX27" fmla="*/ 454723 w 508098"/>
              <a:gd name="connsiteY27" fmla="*/ 400050 h 406403"/>
              <a:gd name="connsiteX28" fmla="*/ 429292 w 508098"/>
              <a:gd name="connsiteY28" fmla="*/ 406403 h 406403"/>
              <a:gd name="connsiteX29" fmla="*/ 78772 w 508098"/>
              <a:gd name="connsiteY29" fmla="*/ 406403 h 406403"/>
              <a:gd name="connsiteX30" fmla="*/ 53341 w 508098"/>
              <a:gd name="connsiteY30" fmla="*/ 400050 h 406403"/>
              <a:gd name="connsiteX31" fmla="*/ 34291 w 508098"/>
              <a:gd name="connsiteY31" fmla="*/ 382267 h 406403"/>
              <a:gd name="connsiteX32" fmla="*/ 8954 w 508098"/>
              <a:gd name="connsiteY32" fmla="*/ 321631 h 406403"/>
              <a:gd name="connsiteX33" fmla="*/ 0 w 508098"/>
              <a:gd name="connsiteY33" fmla="*/ 254003 h 406403"/>
              <a:gd name="connsiteX34" fmla="*/ 20003 w 508098"/>
              <a:gd name="connsiteY34" fmla="*/ 155257 h 406403"/>
              <a:gd name="connsiteX35" fmla="*/ 74677 w 508098"/>
              <a:gd name="connsiteY35" fmla="*/ 74609 h 406403"/>
              <a:gd name="connsiteX36" fmla="*/ 155639 w 508098"/>
              <a:gd name="connsiteY36" fmla="*/ 20003 h 406403"/>
              <a:gd name="connsiteX37" fmla="*/ 254032 w 508098"/>
              <a:gd name="connsiteY37" fmla="*/ 0 h 406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08098" h="406403">
                <a:moveTo>
                  <a:pt x="214694" y="292103"/>
                </a:moveTo>
                <a:cubicBezTo>
                  <a:pt x="224791" y="302257"/>
                  <a:pt x="237935" y="307238"/>
                  <a:pt x="254032" y="307020"/>
                </a:cubicBezTo>
                <a:cubicBezTo>
                  <a:pt x="270129" y="306810"/>
                  <a:pt x="281941" y="300990"/>
                  <a:pt x="289560" y="289560"/>
                </a:cubicBezTo>
                <a:lnTo>
                  <a:pt x="431864" y="76200"/>
                </a:lnTo>
                <a:lnTo>
                  <a:pt x="218504" y="218437"/>
                </a:lnTo>
                <a:cubicBezTo>
                  <a:pt x="207073" y="226057"/>
                  <a:pt x="200978" y="237706"/>
                  <a:pt x="200406" y="253365"/>
                </a:cubicBezTo>
                <a:cubicBezTo>
                  <a:pt x="199740" y="269024"/>
                  <a:pt x="204503" y="281940"/>
                  <a:pt x="214694" y="292103"/>
                </a:cubicBezTo>
                <a:close/>
                <a:moveTo>
                  <a:pt x="254032" y="0"/>
                </a:moveTo>
                <a:cubicBezTo>
                  <a:pt x="278988" y="0"/>
                  <a:pt x="302991" y="3496"/>
                  <a:pt x="326136" y="10478"/>
                </a:cubicBezTo>
                <a:cubicBezTo>
                  <a:pt x="349187" y="17459"/>
                  <a:pt x="370904" y="27937"/>
                  <a:pt x="391192" y="41910"/>
                </a:cubicBezTo>
                <a:lnTo>
                  <a:pt x="342900" y="72390"/>
                </a:lnTo>
                <a:cubicBezTo>
                  <a:pt x="328994" y="65189"/>
                  <a:pt x="314420" y="59798"/>
                  <a:pt x="299467" y="56198"/>
                </a:cubicBezTo>
                <a:cubicBezTo>
                  <a:pt x="284416" y="52597"/>
                  <a:pt x="269272" y="50797"/>
                  <a:pt x="254032" y="50797"/>
                </a:cubicBezTo>
                <a:cubicBezTo>
                  <a:pt x="197739" y="50797"/>
                  <a:pt x="149829" y="70590"/>
                  <a:pt x="110205" y="110176"/>
                </a:cubicBezTo>
                <a:cubicBezTo>
                  <a:pt x="70581" y="149752"/>
                  <a:pt x="50864" y="197701"/>
                  <a:pt x="50864" y="254003"/>
                </a:cubicBezTo>
                <a:cubicBezTo>
                  <a:pt x="50864" y="271777"/>
                  <a:pt x="53246" y="289350"/>
                  <a:pt x="58103" y="306705"/>
                </a:cubicBezTo>
                <a:cubicBezTo>
                  <a:pt x="62960" y="324060"/>
                  <a:pt x="69914" y="340357"/>
                  <a:pt x="78772" y="355597"/>
                </a:cubicBezTo>
                <a:lnTo>
                  <a:pt x="429292" y="355597"/>
                </a:lnTo>
                <a:cubicBezTo>
                  <a:pt x="439008" y="339509"/>
                  <a:pt x="446152" y="322793"/>
                  <a:pt x="450533" y="305438"/>
                </a:cubicBezTo>
                <a:cubicBezTo>
                  <a:pt x="455009" y="288074"/>
                  <a:pt x="457200" y="270091"/>
                  <a:pt x="457200" y="251460"/>
                </a:cubicBezTo>
                <a:cubicBezTo>
                  <a:pt x="457200" y="236220"/>
                  <a:pt x="455391" y="221399"/>
                  <a:pt x="451867" y="207007"/>
                </a:cubicBezTo>
                <a:cubicBezTo>
                  <a:pt x="448247" y="192614"/>
                  <a:pt x="442817" y="178651"/>
                  <a:pt x="435673" y="165097"/>
                </a:cubicBezTo>
                <a:lnTo>
                  <a:pt x="466154" y="116843"/>
                </a:lnTo>
                <a:cubicBezTo>
                  <a:pt x="478822" y="136741"/>
                  <a:pt x="488919" y="157905"/>
                  <a:pt x="496253" y="180337"/>
                </a:cubicBezTo>
                <a:cubicBezTo>
                  <a:pt x="503682" y="202778"/>
                  <a:pt x="507588" y="226057"/>
                  <a:pt x="508064" y="250193"/>
                </a:cubicBezTo>
                <a:cubicBezTo>
                  <a:pt x="508445" y="274320"/>
                  <a:pt x="505683" y="297389"/>
                  <a:pt x="499778" y="319402"/>
                </a:cubicBezTo>
                <a:cubicBezTo>
                  <a:pt x="493872" y="341414"/>
                  <a:pt x="485204" y="362369"/>
                  <a:pt x="473773" y="382267"/>
                </a:cubicBezTo>
                <a:cubicBezTo>
                  <a:pt x="469106" y="389887"/>
                  <a:pt x="462725" y="395821"/>
                  <a:pt x="454723" y="400050"/>
                </a:cubicBezTo>
                <a:cubicBezTo>
                  <a:pt x="446627" y="404279"/>
                  <a:pt x="438150" y="406403"/>
                  <a:pt x="429292" y="406403"/>
                </a:cubicBezTo>
                <a:lnTo>
                  <a:pt x="78772" y="406403"/>
                </a:lnTo>
                <a:cubicBezTo>
                  <a:pt x="69914" y="406403"/>
                  <a:pt x="61437" y="404279"/>
                  <a:pt x="53341" y="400050"/>
                </a:cubicBezTo>
                <a:cubicBezTo>
                  <a:pt x="45339" y="395821"/>
                  <a:pt x="38958" y="389887"/>
                  <a:pt x="34291" y="382267"/>
                </a:cubicBezTo>
                <a:cubicBezTo>
                  <a:pt x="23337" y="363217"/>
                  <a:pt x="14860" y="343005"/>
                  <a:pt x="8954" y="321631"/>
                </a:cubicBezTo>
                <a:cubicBezTo>
                  <a:pt x="2953" y="300247"/>
                  <a:pt x="0" y="277711"/>
                  <a:pt x="0" y="254003"/>
                </a:cubicBezTo>
                <a:cubicBezTo>
                  <a:pt x="0" y="218866"/>
                  <a:pt x="6668" y="185947"/>
                  <a:pt x="20003" y="155257"/>
                </a:cubicBezTo>
                <a:cubicBezTo>
                  <a:pt x="33338" y="124568"/>
                  <a:pt x="51531" y="97688"/>
                  <a:pt x="74677" y="74609"/>
                </a:cubicBezTo>
                <a:cubicBezTo>
                  <a:pt x="97727" y="51540"/>
                  <a:pt x="124683" y="33338"/>
                  <a:pt x="155639" y="20003"/>
                </a:cubicBezTo>
                <a:cubicBezTo>
                  <a:pt x="186500" y="6668"/>
                  <a:pt x="219361" y="0"/>
                  <a:pt x="254032" y="0"/>
                </a:cubicBez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6C7D2AE-8619-CAF8-75EC-36509C201F2A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07E5F4-2BCF-044A-D0A6-4A60FBC31C58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42F45A-DB5A-805A-8D71-D9E5E991529E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E2E1D4-4ACC-48A8-D08C-E50F16499C98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13AA3F-11DC-7605-BF4A-ABF02CECA6EE}"/>
              </a:ext>
            </a:extLst>
          </p:cNvPr>
          <p:cNvSpPr txBox="1"/>
          <p:nvPr/>
        </p:nvSpPr>
        <p:spPr>
          <a:xfrm>
            <a:off x="10567035" y="2258377"/>
            <a:ext cx="3169539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Visualize data using clean bar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chart or line graph.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93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211DE17-C365-8AAF-4237-ABAAE6D19177}"/>
              </a:ext>
            </a:extLst>
          </p:cNvPr>
          <p:cNvSpPr/>
          <p:nvPr/>
        </p:nvSpPr>
        <p:spPr>
          <a:xfrm>
            <a:off x="5886450" y="762000"/>
            <a:ext cx="5972175" cy="4276725"/>
          </a:xfrm>
          <a:custGeom>
            <a:avLst/>
            <a:gdLst>
              <a:gd name="connsiteX0" fmla="*/ 0 w 5972175"/>
              <a:gd name="connsiteY0" fmla="*/ 0 h 4276725"/>
              <a:gd name="connsiteX1" fmla="*/ 5972175 w 5972175"/>
              <a:gd name="connsiteY1" fmla="*/ 0 h 4276725"/>
              <a:gd name="connsiteX2" fmla="*/ 5972175 w 5972175"/>
              <a:gd name="connsiteY2" fmla="*/ 4276725 h 4276725"/>
              <a:gd name="connsiteX3" fmla="*/ 0 w 5972175"/>
              <a:gd name="connsiteY3" fmla="*/ 4276725 h 427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2175" h="4276725">
                <a:moveTo>
                  <a:pt x="0" y="0"/>
                </a:moveTo>
                <a:lnTo>
                  <a:pt x="5972175" y="0"/>
                </a:lnTo>
                <a:lnTo>
                  <a:pt x="5972175" y="4276725"/>
                </a:lnTo>
                <a:lnTo>
                  <a:pt x="0" y="4276725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2654F45-349A-010B-F1F9-4E9703278419}"/>
              </a:ext>
            </a:extLst>
          </p:cNvPr>
          <p:cNvSpPr/>
          <p:nvPr/>
        </p:nvSpPr>
        <p:spPr>
          <a:xfrm>
            <a:off x="5886450" y="5267325"/>
            <a:ext cx="5972175" cy="4276725"/>
          </a:xfrm>
          <a:custGeom>
            <a:avLst/>
            <a:gdLst>
              <a:gd name="connsiteX0" fmla="*/ 0 w 5972175"/>
              <a:gd name="connsiteY0" fmla="*/ 0 h 4276725"/>
              <a:gd name="connsiteX1" fmla="*/ 5972175 w 5972175"/>
              <a:gd name="connsiteY1" fmla="*/ 0 h 4276725"/>
              <a:gd name="connsiteX2" fmla="*/ 5972175 w 5972175"/>
              <a:gd name="connsiteY2" fmla="*/ 4276725 h 4276725"/>
              <a:gd name="connsiteX3" fmla="*/ 0 w 5972175"/>
              <a:gd name="connsiteY3" fmla="*/ 4276725 h 427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2175" h="4276725">
                <a:moveTo>
                  <a:pt x="0" y="0"/>
                </a:moveTo>
                <a:lnTo>
                  <a:pt x="5972175" y="0"/>
                </a:lnTo>
                <a:lnTo>
                  <a:pt x="5972175" y="4276725"/>
                </a:lnTo>
                <a:lnTo>
                  <a:pt x="0" y="4276725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2159A6D-9392-3222-D964-EB3D8F77E28E}"/>
              </a:ext>
            </a:extLst>
          </p:cNvPr>
          <p:cNvSpPr/>
          <p:nvPr/>
        </p:nvSpPr>
        <p:spPr>
          <a:xfrm>
            <a:off x="12087225" y="762000"/>
            <a:ext cx="5972175" cy="4276725"/>
          </a:xfrm>
          <a:custGeom>
            <a:avLst/>
            <a:gdLst>
              <a:gd name="connsiteX0" fmla="*/ 0 w 5972175"/>
              <a:gd name="connsiteY0" fmla="*/ 0 h 4276725"/>
              <a:gd name="connsiteX1" fmla="*/ 5972175 w 5972175"/>
              <a:gd name="connsiteY1" fmla="*/ 0 h 4276725"/>
              <a:gd name="connsiteX2" fmla="*/ 5972175 w 5972175"/>
              <a:gd name="connsiteY2" fmla="*/ 4276725 h 4276725"/>
              <a:gd name="connsiteX3" fmla="*/ 0 w 5972175"/>
              <a:gd name="connsiteY3" fmla="*/ 4276725 h 427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2175" h="4276725">
                <a:moveTo>
                  <a:pt x="0" y="0"/>
                </a:moveTo>
                <a:lnTo>
                  <a:pt x="5972175" y="0"/>
                </a:lnTo>
                <a:lnTo>
                  <a:pt x="5972175" y="4276725"/>
                </a:lnTo>
                <a:lnTo>
                  <a:pt x="0" y="4276725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599F786-78DE-5A97-4EEF-087DE43BF1FB}"/>
              </a:ext>
            </a:extLst>
          </p:cNvPr>
          <p:cNvSpPr/>
          <p:nvPr/>
        </p:nvSpPr>
        <p:spPr>
          <a:xfrm>
            <a:off x="12087225" y="5267325"/>
            <a:ext cx="5972175" cy="4276725"/>
          </a:xfrm>
          <a:custGeom>
            <a:avLst/>
            <a:gdLst>
              <a:gd name="connsiteX0" fmla="*/ 0 w 5972175"/>
              <a:gd name="connsiteY0" fmla="*/ 0 h 4276725"/>
              <a:gd name="connsiteX1" fmla="*/ 5972175 w 5972175"/>
              <a:gd name="connsiteY1" fmla="*/ 0 h 4276725"/>
              <a:gd name="connsiteX2" fmla="*/ 5972175 w 5972175"/>
              <a:gd name="connsiteY2" fmla="*/ 4276725 h 4276725"/>
              <a:gd name="connsiteX3" fmla="*/ 0 w 5972175"/>
              <a:gd name="connsiteY3" fmla="*/ 4276725 h 427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2175" h="4276725">
                <a:moveTo>
                  <a:pt x="0" y="0"/>
                </a:moveTo>
                <a:lnTo>
                  <a:pt x="5972175" y="0"/>
                </a:lnTo>
                <a:lnTo>
                  <a:pt x="5972175" y="4276725"/>
                </a:lnTo>
                <a:lnTo>
                  <a:pt x="0" y="4276725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D52A8019-A12E-A497-6667-51380AB790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E0B0A809-1706-1261-6F70-F04CC22E2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2B3BCB76-69BB-EC4F-D7EC-0EBECF9310E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96AD84C3-ECF3-C5D1-11CC-18E74BEAF23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AE9FBC-5683-304C-F5FC-A9348D0BC83B}"/>
              </a:ext>
            </a:extLst>
          </p:cNvPr>
          <p:cNvSpPr/>
          <p:nvPr/>
        </p:nvSpPr>
        <p:spPr>
          <a:xfrm>
            <a:off x="762000" y="5324475"/>
            <a:ext cx="2695575" cy="400050"/>
          </a:xfrm>
          <a:custGeom>
            <a:avLst/>
            <a:gdLst>
              <a:gd name="connsiteX0" fmla="*/ 0 w 2695575"/>
              <a:gd name="connsiteY0" fmla="*/ 0 h 400050"/>
              <a:gd name="connsiteX1" fmla="*/ 2695575 w 2695575"/>
              <a:gd name="connsiteY1" fmla="*/ 0 h 400050"/>
              <a:gd name="connsiteX2" fmla="*/ 2695575 w 2695575"/>
              <a:gd name="connsiteY2" fmla="*/ 400050 h 400050"/>
              <a:gd name="connsiteX3" fmla="*/ 0 w 2695575"/>
              <a:gd name="connsiteY3" fmla="*/ 40005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5575" h="400050">
                <a:moveTo>
                  <a:pt x="0" y="0"/>
                </a:moveTo>
                <a:lnTo>
                  <a:pt x="2695575" y="0"/>
                </a:lnTo>
                <a:lnTo>
                  <a:pt x="2695575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AABA3-D91E-97D4-7BF3-0A6925F2E63E}"/>
              </a:ext>
            </a:extLst>
          </p:cNvPr>
          <p:cNvSpPr txBox="1"/>
          <p:nvPr/>
        </p:nvSpPr>
        <p:spPr>
          <a:xfrm>
            <a:off x="670560" y="5277421"/>
            <a:ext cx="2875483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Highlight main issues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8C270B-C95D-59A5-02EF-6CF71F5CC470}"/>
              </a:ext>
            </a:extLst>
          </p:cNvPr>
          <p:cNvSpPr txBox="1"/>
          <p:nvPr/>
        </p:nvSpPr>
        <p:spPr>
          <a:xfrm>
            <a:off x="670560" y="6318694"/>
            <a:ext cx="4007510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A look inside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BB92F5-695D-2260-FFA7-E0D15520E74E}"/>
              </a:ext>
            </a:extLst>
          </p:cNvPr>
          <p:cNvSpPr txBox="1"/>
          <p:nvPr/>
        </p:nvSpPr>
        <p:spPr>
          <a:xfrm>
            <a:off x="670560" y="7090219"/>
            <a:ext cx="3741115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our journey.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BCD7F82-F0C7-A3A2-5CBA-79685BD58288}"/>
              </a:ext>
            </a:extLst>
          </p:cNvPr>
          <p:cNvSpPr/>
          <p:nvPr/>
        </p:nvSpPr>
        <p:spPr>
          <a:xfrm>
            <a:off x="6115050" y="990600"/>
            <a:ext cx="476250" cy="457200"/>
          </a:xfrm>
          <a:custGeom>
            <a:avLst/>
            <a:gdLst>
              <a:gd name="connsiteX0" fmla="*/ 0 w 476250"/>
              <a:gd name="connsiteY0" fmla="*/ 0 h 457200"/>
              <a:gd name="connsiteX1" fmla="*/ 476250 w 476250"/>
              <a:gd name="connsiteY1" fmla="*/ 0 h 457200"/>
              <a:gd name="connsiteX2" fmla="*/ 476250 w 476250"/>
              <a:gd name="connsiteY2" fmla="*/ 457200 h 457200"/>
              <a:gd name="connsiteX3" fmla="*/ 0 w 476250"/>
              <a:gd name="connsiteY3" fmla="*/ 457200 h 457200"/>
              <a:gd name="connsiteX4" fmla="*/ 0 w 476250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" h="457200">
                <a:moveTo>
                  <a:pt x="0" y="0"/>
                </a:moveTo>
                <a:lnTo>
                  <a:pt x="476250" y="0"/>
                </a:lnTo>
                <a:lnTo>
                  <a:pt x="4762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5A98145-2F81-9B0E-ACB4-6F942AED1715}"/>
              </a:ext>
            </a:extLst>
          </p:cNvPr>
          <p:cNvSpPr/>
          <p:nvPr/>
        </p:nvSpPr>
        <p:spPr>
          <a:xfrm>
            <a:off x="6222996" y="1097279"/>
            <a:ext cx="264156" cy="243840"/>
          </a:xfrm>
          <a:custGeom>
            <a:avLst/>
            <a:gdLst>
              <a:gd name="connsiteX0" fmla="*/ 23308 w 264156"/>
              <a:gd name="connsiteY0" fmla="*/ 0 h 243840"/>
              <a:gd name="connsiteX1" fmla="*/ 0 w 264156"/>
              <a:gd name="connsiteY1" fmla="*/ 0 h 243840"/>
              <a:gd name="connsiteX2" fmla="*/ 0 w 264156"/>
              <a:gd name="connsiteY2" fmla="*/ 243840 h 243840"/>
              <a:gd name="connsiteX3" fmla="*/ 147618 w 264156"/>
              <a:gd name="connsiteY3" fmla="*/ 243840 h 243840"/>
              <a:gd name="connsiteX4" fmla="*/ 23308 w 264156"/>
              <a:gd name="connsiteY4" fmla="*/ 0 h 243840"/>
              <a:gd name="connsiteX5" fmla="*/ 108775 w 264156"/>
              <a:gd name="connsiteY5" fmla="*/ 0 h 243840"/>
              <a:gd name="connsiteX6" fmla="*/ 233086 w 264156"/>
              <a:gd name="connsiteY6" fmla="*/ 243840 h 243840"/>
              <a:gd name="connsiteX7" fmla="*/ 264157 w 264156"/>
              <a:gd name="connsiteY7" fmla="*/ 243840 h 243840"/>
              <a:gd name="connsiteX8" fmla="*/ 264157 w 264156"/>
              <a:gd name="connsiteY8" fmla="*/ 0 h 243840"/>
              <a:gd name="connsiteX9" fmla="*/ 108775 w 264156"/>
              <a:gd name="connsiteY9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4156" h="243840">
                <a:moveTo>
                  <a:pt x="23308" y="0"/>
                </a:moveTo>
                <a:lnTo>
                  <a:pt x="0" y="0"/>
                </a:lnTo>
                <a:lnTo>
                  <a:pt x="0" y="243840"/>
                </a:lnTo>
                <a:lnTo>
                  <a:pt x="147618" y="243840"/>
                </a:lnTo>
                <a:lnTo>
                  <a:pt x="23308" y="0"/>
                </a:lnTo>
                <a:close/>
                <a:moveTo>
                  <a:pt x="108775" y="0"/>
                </a:moveTo>
                <a:lnTo>
                  <a:pt x="233086" y="243840"/>
                </a:lnTo>
                <a:lnTo>
                  <a:pt x="264157" y="243840"/>
                </a:lnTo>
                <a:lnTo>
                  <a:pt x="264157" y="0"/>
                </a:lnTo>
                <a:lnTo>
                  <a:pt x="108775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18469F-5F8F-ACF0-CE12-41B2AB50FFB4}"/>
              </a:ext>
            </a:extLst>
          </p:cNvPr>
          <p:cNvSpPr txBox="1"/>
          <p:nvPr/>
        </p:nvSpPr>
        <p:spPr>
          <a:xfrm>
            <a:off x="6023610" y="4153471"/>
            <a:ext cx="2566911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Market saturation.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A87571-5F00-6A38-95C7-B3A7A6105DF2}"/>
              </a:ext>
            </a:extLst>
          </p:cNvPr>
          <p:cNvSpPr txBox="1"/>
          <p:nvPr/>
        </p:nvSpPr>
        <p:spPr>
          <a:xfrm>
            <a:off x="6023610" y="4525327"/>
            <a:ext cx="5180457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Lorem ipsum dolor sit amet, consectetur adipiscing elit. 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D19555D-32E8-8DD1-9C13-19DA457C15AA}"/>
              </a:ext>
            </a:extLst>
          </p:cNvPr>
          <p:cNvSpPr/>
          <p:nvPr/>
        </p:nvSpPr>
        <p:spPr>
          <a:xfrm>
            <a:off x="11344275" y="1085850"/>
            <a:ext cx="285750" cy="190500"/>
          </a:xfrm>
          <a:custGeom>
            <a:avLst/>
            <a:gdLst>
              <a:gd name="connsiteX0" fmla="*/ 0 w 285750"/>
              <a:gd name="connsiteY0" fmla="*/ 0 h 190500"/>
              <a:gd name="connsiteX1" fmla="*/ 285750 w 285750"/>
              <a:gd name="connsiteY1" fmla="*/ 0 h 190500"/>
              <a:gd name="connsiteX2" fmla="*/ 285750 w 285750"/>
              <a:gd name="connsiteY2" fmla="*/ 190500 h 190500"/>
              <a:gd name="connsiteX3" fmla="*/ 0 w 28575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90500">
                <a:moveTo>
                  <a:pt x="0" y="0"/>
                </a:moveTo>
                <a:lnTo>
                  <a:pt x="285750" y="0"/>
                </a:lnTo>
                <a:lnTo>
                  <a:pt x="28575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4317DB-EB54-B302-5E24-8EFA2DB45C70}"/>
              </a:ext>
            </a:extLst>
          </p:cNvPr>
          <p:cNvSpPr txBox="1"/>
          <p:nvPr/>
        </p:nvSpPr>
        <p:spPr>
          <a:xfrm>
            <a:off x="11281410" y="1022604"/>
            <a:ext cx="445541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471E940-E6D2-5B13-9575-CABE15BC2C66}"/>
              </a:ext>
            </a:extLst>
          </p:cNvPr>
          <p:cNvSpPr/>
          <p:nvPr/>
        </p:nvSpPr>
        <p:spPr>
          <a:xfrm>
            <a:off x="6115050" y="5495925"/>
            <a:ext cx="476250" cy="457200"/>
          </a:xfrm>
          <a:custGeom>
            <a:avLst/>
            <a:gdLst>
              <a:gd name="connsiteX0" fmla="*/ 0 w 476250"/>
              <a:gd name="connsiteY0" fmla="*/ 0 h 457200"/>
              <a:gd name="connsiteX1" fmla="*/ 476250 w 476250"/>
              <a:gd name="connsiteY1" fmla="*/ 0 h 457200"/>
              <a:gd name="connsiteX2" fmla="*/ 476250 w 476250"/>
              <a:gd name="connsiteY2" fmla="*/ 457200 h 457200"/>
              <a:gd name="connsiteX3" fmla="*/ 0 w 476250"/>
              <a:gd name="connsiteY3" fmla="*/ 457200 h 457200"/>
              <a:gd name="connsiteX4" fmla="*/ 0 w 476250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" h="457200">
                <a:moveTo>
                  <a:pt x="0" y="0"/>
                </a:moveTo>
                <a:lnTo>
                  <a:pt x="476250" y="0"/>
                </a:lnTo>
                <a:lnTo>
                  <a:pt x="4762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9300E58-E368-94C6-6841-7FA5A0D11E1A}"/>
              </a:ext>
            </a:extLst>
          </p:cNvPr>
          <p:cNvSpPr/>
          <p:nvPr/>
        </p:nvSpPr>
        <p:spPr>
          <a:xfrm>
            <a:off x="6222996" y="5602605"/>
            <a:ext cx="264156" cy="243839"/>
          </a:xfrm>
          <a:custGeom>
            <a:avLst/>
            <a:gdLst>
              <a:gd name="connsiteX0" fmla="*/ 23308 w 264156"/>
              <a:gd name="connsiteY0" fmla="*/ 0 h 243839"/>
              <a:gd name="connsiteX1" fmla="*/ 0 w 264156"/>
              <a:gd name="connsiteY1" fmla="*/ 0 h 243839"/>
              <a:gd name="connsiteX2" fmla="*/ 0 w 264156"/>
              <a:gd name="connsiteY2" fmla="*/ 243840 h 243839"/>
              <a:gd name="connsiteX3" fmla="*/ 147618 w 264156"/>
              <a:gd name="connsiteY3" fmla="*/ 243840 h 243839"/>
              <a:gd name="connsiteX4" fmla="*/ 23308 w 264156"/>
              <a:gd name="connsiteY4" fmla="*/ 0 h 243839"/>
              <a:gd name="connsiteX5" fmla="*/ 108775 w 264156"/>
              <a:gd name="connsiteY5" fmla="*/ 0 h 243839"/>
              <a:gd name="connsiteX6" fmla="*/ 233086 w 264156"/>
              <a:gd name="connsiteY6" fmla="*/ 243840 h 243839"/>
              <a:gd name="connsiteX7" fmla="*/ 264157 w 264156"/>
              <a:gd name="connsiteY7" fmla="*/ 243840 h 243839"/>
              <a:gd name="connsiteX8" fmla="*/ 264157 w 264156"/>
              <a:gd name="connsiteY8" fmla="*/ 0 h 243839"/>
              <a:gd name="connsiteX9" fmla="*/ 108775 w 264156"/>
              <a:gd name="connsiteY9" fmla="*/ 0 h 24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4156" h="243839">
                <a:moveTo>
                  <a:pt x="23308" y="0"/>
                </a:moveTo>
                <a:lnTo>
                  <a:pt x="0" y="0"/>
                </a:lnTo>
                <a:lnTo>
                  <a:pt x="0" y="243840"/>
                </a:lnTo>
                <a:lnTo>
                  <a:pt x="147618" y="243840"/>
                </a:lnTo>
                <a:lnTo>
                  <a:pt x="23308" y="0"/>
                </a:lnTo>
                <a:close/>
                <a:moveTo>
                  <a:pt x="108775" y="0"/>
                </a:moveTo>
                <a:lnTo>
                  <a:pt x="233086" y="243840"/>
                </a:lnTo>
                <a:lnTo>
                  <a:pt x="264157" y="243840"/>
                </a:lnTo>
                <a:lnTo>
                  <a:pt x="264157" y="0"/>
                </a:lnTo>
                <a:lnTo>
                  <a:pt x="108775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300515-875B-6C2E-6AAC-E76B12AABBCC}"/>
              </a:ext>
            </a:extLst>
          </p:cNvPr>
          <p:cNvSpPr txBox="1"/>
          <p:nvPr/>
        </p:nvSpPr>
        <p:spPr>
          <a:xfrm>
            <a:off x="6023610" y="8658796"/>
            <a:ext cx="2586113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User trust barriers.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AA00CB-BBDE-D27C-4998-2E97E1FD109D}"/>
              </a:ext>
            </a:extLst>
          </p:cNvPr>
          <p:cNvSpPr txBox="1"/>
          <p:nvPr/>
        </p:nvSpPr>
        <p:spPr>
          <a:xfrm>
            <a:off x="6023610" y="9030652"/>
            <a:ext cx="5180457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Lorem ipsum dolor sit amet, consectetur adipiscing elit.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9B203D1-99F9-2B64-EAB5-388307D5DD98}"/>
              </a:ext>
            </a:extLst>
          </p:cNvPr>
          <p:cNvSpPr/>
          <p:nvPr/>
        </p:nvSpPr>
        <p:spPr>
          <a:xfrm>
            <a:off x="11344275" y="5591175"/>
            <a:ext cx="285750" cy="190500"/>
          </a:xfrm>
          <a:custGeom>
            <a:avLst/>
            <a:gdLst>
              <a:gd name="connsiteX0" fmla="*/ 0 w 285750"/>
              <a:gd name="connsiteY0" fmla="*/ 0 h 190500"/>
              <a:gd name="connsiteX1" fmla="*/ 285750 w 285750"/>
              <a:gd name="connsiteY1" fmla="*/ 0 h 190500"/>
              <a:gd name="connsiteX2" fmla="*/ 285750 w 285750"/>
              <a:gd name="connsiteY2" fmla="*/ 190500 h 190500"/>
              <a:gd name="connsiteX3" fmla="*/ 0 w 28575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90500">
                <a:moveTo>
                  <a:pt x="0" y="0"/>
                </a:moveTo>
                <a:lnTo>
                  <a:pt x="285750" y="0"/>
                </a:lnTo>
                <a:lnTo>
                  <a:pt x="28575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85B4B1-1BBD-8C17-A06A-D4BC647EDCA3}"/>
              </a:ext>
            </a:extLst>
          </p:cNvPr>
          <p:cNvSpPr txBox="1"/>
          <p:nvPr/>
        </p:nvSpPr>
        <p:spPr>
          <a:xfrm>
            <a:off x="11233785" y="5527928"/>
            <a:ext cx="486346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B5807D8-0141-82A7-35B8-A88BC104373F}"/>
              </a:ext>
            </a:extLst>
          </p:cNvPr>
          <p:cNvSpPr/>
          <p:nvPr/>
        </p:nvSpPr>
        <p:spPr>
          <a:xfrm>
            <a:off x="12315825" y="990600"/>
            <a:ext cx="476250" cy="457200"/>
          </a:xfrm>
          <a:custGeom>
            <a:avLst/>
            <a:gdLst>
              <a:gd name="connsiteX0" fmla="*/ 0 w 476250"/>
              <a:gd name="connsiteY0" fmla="*/ 0 h 457200"/>
              <a:gd name="connsiteX1" fmla="*/ 476250 w 476250"/>
              <a:gd name="connsiteY1" fmla="*/ 0 h 457200"/>
              <a:gd name="connsiteX2" fmla="*/ 476250 w 476250"/>
              <a:gd name="connsiteY2" fmla="*/ 457200 h 457200"/>
              <a:gd name="connsiteX3" fmla="*/ 0 w 476250"/>
              <a:gd name="connsiteY3" fmla="*/ 457200 h 457200"/>
              <a:gd name="connsiteX4" fmla="*/ 0 w 476250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" h="457200">
                <a:moveTo>
                  <a:pt x="0" y="0"/>
                </a:moveTo>
                <a:lnTo>
                  <a:pt x="476250" y="0"/>
                </a:lnTo>
                <a:lnTo>
                  <a:pt x="4762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46AFDD3-CCC3-DC63-FCF7-CD69F6385D30}"/>
              </a:ext>
            </a:extLst>
          </p:cNvPr>
          <p:cNvSpPr/>
          <p:nvPr/>
        </p:nvSpPr>
        <p:spPr>
          <a:xfrm>
            <a:off x="12423742" y="1097279"/>
            <a:ext cx="264223" cy="243840"/>
          </a:xfrm>
          <a:custGeom>
            <a:avLst/>
            <a:gdLst>
              <a:gd name="connsiteX0" fmla="*/ 23337 w 264223"/>
              <a:gd name="connsiteY0" fmla="*/ 0 h 243840"/>
              <a:gd name="connsiteX1" fmla="*/ 0 w 264223"/>
              <a:gd name="connsiteY1" fmla="*/ 0 h 243840"/>
              <a:gd name="connsiteX2" fmla="*/ 0 w 264223"/>
              <a:gd name="connsiteY2" fmla="*/ 243840 h 243840"/>
              <a:gd name="connsiteX3" fmla="*/ 147638 w 264223"/>
              <a:gd name="connsiteY3" fmla="*/ 243840 h 243840"/>
              <a:gd name="connsiteX4" fmla="*/ 23337 w 264223"/>
              <a:gd name="connsiteY4" fmla="*/ 0 h 243840"/>
              <a:gd name="connsiteX5" fmla="*/ 108776 w 264223"/>
              <a:gd name="connsiteY5" fmla="*/ 0 h 243840"/>
              <a:gd name="connsiteX6" fmla="*/ 233078 w 264223"/>
              <a:gd name="connsiteY6" fmla="*/ 243840 h 243840"/>
              <a:gd name="connsiteX7" fmla="*/ 264223 w 264223"/>
              <a:gd name="connsiteY7" fmla="*/ 243840 h 243840"/>
              <a:gd name="connsiteX8" fmla="*/ 264223 w 264223"/>
              <a:gd name="connsiteY8" fmla="*/ 0 h 243840"/>
              <a:gd name="connsiteX9" fmla="*/ 108776 w 264223"/>
              <a:gd name="connsiteY9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4223" h="243840">
                <a:moveTo>
                  <a:pt x="23337" y="0"/>
                </a:moveTo>
                <a:lnTo>
                  <a:pt x="0" y="0"/>
                </a:lnTo>
                <a:lnTo>
                  <a:pt x="0" y="243840"/>
                </a:lnTo>
                <a:lnTo>
                  <a:pt x="147638" y="243840"/>
                </a:lnTo>
                <a:lnTo>
                  <a:pt x="23337" y="0"/>
                </a:lnTo>
                <a:close/>
                <a:moveTo>
                  <a:pt x="108776" y="0"/>
                </a:moveTo>
                <a:lnTo>
                  <a:pt x="233078" y="243840"/>
                </a:lnTo>
                <a:lnTo>
                  <a:pt x="264223" y="243840"/>
                </a:lnTo>
                <a:lnTo>
                  <a:pt x="264223" y="0"/>
                </a:lnTo>
                <a:lnTo>
                  <a:pt x="108776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2B1522-F6E2-C502-15BF-28BAEAE6B2CB}"/>
              </a:ext>
            </a:extLst>
          </p:cNvPr>
          <p:cNvSpPr txBox="1"/>
          <p:nvPr/>
        </p:nvSpPr>
        <p:spPr>
          <a:xfrm>
            <a:off x="12224385" y="4153471"/>
            <a:ext cx="3034436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Logistics inefficiency.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DB696E-6642-A742-B1E8-534469AA298D}"/>
              </a:ext>
            </a:extLst>
          </p:cNvPr>
          <p:cNvSpPr txBox="1"/>
          <p:nvPr/>
        </p:nvSpPr>
        <p:spPr>
          <a:xfrm>
            <a:off x="12224385" y="4525327"/>
            <a:ext cx="5180457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Lorem ipsum dolor sit amet, consectetur adipiscing elit. 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5E2D213-0613-0067-02D6-42043A92E446}"/>
              </a:ext>
            </a:extLst>
          </p:cNvPr>
          <p:cNvSpPr/>
          <p:nvPr/>
        </p:nvSpPr>
        <p:spPr>
          <a:xfrm>
            <a:off x="17545050" y="1085850"/>
            <a:ext cx="285750" cy="190500"/>
          </a:xfrm>
          <a:custGeom>
            <a:avLst/>
            <a:gdLst>
              <a:gd name="connsiteX0" fmla="*/ 0 w 285750"/>
              <a:gd name="connsiteY0" fmla="*/ 0 h 190500"/>
              <a:gd name="connsiteX1" fmla="*/ 285750 w 285750"/>
              <a:gd name="connsiteY1" fmla="*/ 0 h 190500"/>
              <a:gd name="connsiteX2" fmla="*/ 285750 w 285750"/>
              <a:gd name="connsiteY2" fmla="*/ 190500 h 190500"/>
              <a:gd name="connsiteX3" fmla="*/ 0 w 28575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90500">
                <a:moveTo>
                  <a:pt x="0" y="0"/>
                </a:moveTo>
                <a:lnTo>
                  <a:pt x="285750" y="0"/>
                </a:lnTo>
                <a:lnTo>
                  <a:pt x="28575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F480D7-6706-51FE-7CE0-FD9DBE3A50B5}"/>
              </a:ext>
            </a:extLst>
          </p:cNvPr>
          <p:cNvSpPr txBox="1"/>
          <p:nvPr/>
        </p:nvSpPr>
        <p:spPr>
          <a:xfrm>
            <a:off x="17434560" y="1022604"/>
            <a:ext cx="484803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11463EA-1206-A2C0-19F9-7880478C2120}"/>
              </a:ext>
            </a:extLst>
          </p:cNvPr>
          <p:cNvSpPr/>
          <p:nvPr/>
        </p:nvSpPr>
        <p:spPr>
          <a:xfrm>
            <a:off x="12315825" y="5495925"/>
            <a:ext cx="476250" cy="457200"/>
          </a:xfrm>
          <a:custGeom>
            <a:avLst/>
            <a:gdLst>
              <a:gd name="connsiteX0" fmla="*/ 0 w 476250"/>
              <a:gd name="connsiteY0" fmla="*/ 0 h 457200"/>
              <a:gd name="connsiteX1" fmla="*/ 476250 w 476250"/>
              <a:gd name="connsiteY1" fmla="*/ 0 h 457200"/>
              <a:gd name="connsiteX2" fmla="*/ 476250 w 476250"/>
              <a:gd name="connsiteY2" fmla="*/ 457200 h 457200"/>
              <a:gd name="connsiteX3" fmla="*/ 0 w 476250"/>
              <a:gd name="connsiteY3" fmla="*/ 457200 h 457200"/>
              <a:gd name="connsiteX4" fmla="*/ 0 w 476250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" h="457200">
                <a:moveTo>
                  <a:pt x="0" y="0"/>
                </a:moveTo>
                <a:lnTo>
                  <a:pt x="476250" y="0"/>
                </a:lnTo>
                <a:lnTo>
                  <a:pt x="4762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714ABE1-7DDA-6CCA-827D-580E8BA107DC}"/>
              </a:ext>
            </a:extLst>
          </p:cNvPr>
          <p:cNvSpPr/>
          <p:nvPr/>
        </p:nvSpPr>
        <p:spPr>
          <a:xfrm>
            <a:off x="12423742" y="5602605"/>
            <a:ext cx="264223" cy="243839"/>
          </a:xfrm>
          <a:custGeom>
            <a:avLst/>
            <a:gdLst>
              <a:gd name="connsiteX0" fmla="*/ 23337 w 264223"/>
              <a:gd name="connsiteY0" fmla="*/ 0 h 243839"/>
              <a:gd name="connsiteX1" fmla="*/ 0 w 264223"/>
              <a:gd name="connsiteY1" fmla="*/ 0 h 243839"/>
              <a:gd name="connsiteX2" fmla="*/ 0 w 264223"/>
              <a:gd name="connsiteY2" fmla="*/ 243840 h 243839"/>
              <a:gd name="connsiteX3" fmla="*/ 147638 w 264223"/>
              <a:gd name="connsiteY3" fmla="*/ 243840 h 243839"/>
              <a:gd name="connsiteX4" fmla="*/ 23337 w 264223"/>
              <a:gd name="connsiteY4" fmla="*/ 0 h 243839"/>
              <a:gd name="connsiteX5" fmla="*/ 108776 w 264223"/>
              <a:gd name="connsiteY5" fmla="*/ 0 h 243839"/>
              <a:gd name="connsiteX6" fmla="*/ 233078 w 264223"/>
              <a:gd name="connsiteY6" fmla="*/ 243840 h 243839"/>
              <a:gd name="connsiteX7" fmla="*/ 264223 w 264223"/>
              <a:gd name="connsiteY7" fmla="*/ 243840 h 243839"/>
              <a:gd name="connsiteX8" fmla="*/ 264223 w 264223"/>
              <a:gd name="connsiteY8" fmla="*/ 0 h 243839"/>
              <a:gd name="connsiteX9" fmla="*/ 108776 w 264223"/>
              <a:gd name="connsiteY9" fmla="*/ 0 h 24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4223" h="243839">
                <a:moveTo>
                  <a:pt x="23337" y="0"/>
                </a:moveTo>
                <a:lnTo>
                  <a:pt x="0" y="0"/>
                </a:lnTo>
                <a:lnTo>
                  <a:pt x="0" y="243840"/>
                </a:lnTo>
                <a:lnTo>
                  <a:pt x="147638" y="243840"/>
                </a:lnTo>
                <a:lnTo>
                  <a:pt x="23337" y="0"/>
                </a:lnTo>
                <a:close/>
                <a:moveTo>
                  <a:pt x="108776" y="0"/>
                </a:moveTo>
                <a:lnTo>
                  <a:pt x="233078" y="243840"/>
                </a:lnTo>
                <a:lnTo>
                  <a:pt x="264223" y="243840"/>
                </a:lnTo>
                <a:lnTo>
                  <a:pt x="264223" y="0"/>
                </a:lnTo>
                <a:lnTo>
                  <a:pt x="108776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7E2DF2-8A24-9540-D5F2-F846E881D4EC}"/>
              </a:ext>
            </a:extLst>
          </p:cNvPr>
          <p:cNvSpPr txBox="1"/>
          <p:nvPr/>
        </p:nvSpPr>
        <p:spPr>
          <a:xfrm>
            <a:off x="12224385" y="8658796"/>
            <a:ext cx="2027644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High ad costs.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D34475-3383-4F2D-BBF3-9CC2A1635D30}"/>
              </a:ext>
            </a:extLst>
          </p:cNvPr>
          <p:cNvSpPr txBox="1"/>
          <p:nvPr/>
        </p:nvSpPr>
        <p:spPr>
          <a:xfrm>
            <a:off x="12224385" y="9030652"/>
            <a:ext cx="5180457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Lorem ipsum dolor sit amet, consectetur adipiscing elit. 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2BBDEED-97F1-DF9D-B4AA-CC7CD2D4F7EE}"/>
              </a:ext>
            </a:extLst>
          </p:cNvPr>
          <p:cNvSpPr/>
          <p:nvPr/>
        </p:nvSpPr>
        <p:spPr>
          <a:xfrm>
            <a:off x="17545050" y="5591175"/>
            <a:ext cx="285750" cy="190500"/>
          </a:xfrm>
          <a:custGeom>
            <a:avLst/>
            <a:gdLst>
              <a:gd name="connsiteX0" fmla="*/ 0 w 285750"/>
              <a:gd name="connsiteY0" fmla="*/ 0 h 190500"/>
              <a:gd name="connsiteX1" fmla="*/ 285750 w 285750"/>
              <a:gd name="connsiteY1" fmla="*/ 0 h 190500"/>
              <a:gd name="connsiteX2" fmla="*/ 285750 w 285750"/>
              <a:gd name="connsiteY2" fmla="*/ 190500 h 190500"/>
              <a:gd name="connsiteX3" fmla="*/ 0 w 28575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90500">
                <a:moveTo>
                  <a:pt x="0" y="0"/>
                </a:moveTo>
                <a:lnTo>
                  <a:pt x="285750" y="0"/>
                </a:lnTo>
                <a:lnTo>
                  <a:pt x="28575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65A744-E157-76D8-ECBE-80CF7107E684}"/>
              </a:ext>
            </a:extLst>
          </p:cNvPr>
          <p:cNvSpPr txBox="1"/>
          <p:nvPr/>
        </p:nvSpPr>
        <p:spPr>
          <a:xfrm>
            <a:off x="17434560" y="5527928"/>
            <a:ext cx="489947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/04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F695E85-3206-72BD-F184-0D18AC387B40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FAD6B3-59A5-6C3C-C60F-01F89E2FCC08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885862-0EB6-9986-8E85-8C15A26550C8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BC75CF-1FEC-62CA-7D59-8422DEA6A64B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927FD5-A995-A065-F43E-2174A306FF50}"/>
              </a:ext>
            </a:extLst>
          </p:cNvPr>
          <p:cNvSpPr txBox="1"/>
          <p:nvPr/>
        </p:nvSpPr>
        <p:spPr>
          <a:xfrm>
            <a:off x="670560" y="8563927"/>
            <a:ext cx="4526851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Explain how each challenge shaped product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innovation.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592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8FC996-88A8-D49B-3A9D-1DA7D279BDF8}"/>
              </a:ext>
            </a:extLst>
          </p:cNvPr>
          <p:cNvSpPr txBox="1"/>
          <p:nvPr/>
        </p:nvSpPr>
        <p:spPr>
          <a:xfrm>
            <a:off x="9395460" y="1841944"/>
            <a:ext cx="5999683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Proposed Solutions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E01B9-29F7-A929-7DFA-4CC10BEF7860}"/>
              </a:ext>
            </a:extLst>
          </p:cNvPr>
          <p:cNvSpPr txBox="1"/>
          <p:nvPr/>
        </p:nvSpPr>
        <p:spPr>
          <a:xfrm>
            <a:off x="9395460" y="2839402"/>
            <a:ext cx="3443286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Turning problems into opportunities.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C32F35A-8086-19CA-BDCF-AE8D01032EC9}"/>
              </a:ext>
            </a:extLst>
          </p:cNvPr>
          <p:cNvSpPr/>
          <p:nvPr/>
        </p:nvSpPr>
        <p:spPr>
          <a:xfrm>
            <a:off x="228600" y="990600"/>
            <a:ext cx="8801100" cy="9067800"/>
          </a:xfrm>
          <a:custGeom>
            <a:avLst/>
            <a:gdLst>
              <a:gd name="connsiteX0" fmla="*/ 0 w 8801100"/>
              <a:gd name="connsiteY0" fmla="*/ 0 h 9067800"/>
              <a:gd name="connsiteX1" fmla="*/ 8801100 w 8801100"/>
              <a:gd name="connsiteY1" fmla="*/ 0 h 9067800"/>
              <a:gd name="connsiteX2" fmla="*/ 8801100 w 8801100"/>
              <a:gd name="connsiteY2" fmla="*/ 9067800 h 9067800"/>
              <a:gd name="connsiteX3" fmla="*/ 0 w 8801100"/>
              <a:gd name="connsiteY3" fmla="*/ 9067800 h 906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01100" h="9067800">
                <a:moveTo>
                  <a:pt x="0" y="0"/>
                </a:moveTo>
                <a:lnTo>
                  <a:pt x="8801100" y="0"/>
                </a:lnTo>
                <a:lnTo>
                  <a:pt x="8801100" y="9067800"/>
                </a:lnTo>
                <a:lnTo>
                  <a:pt x="0" y="906780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A7E43F0-81E4-127F-B1D0-6A1029CF2298}"/>
              </a:ext>
            </a:extLst>
          </p:cNvPr>
          <p:cNvSpPr/>
          <p:nvPr/>
        </p:nvSpPr>
        <p:spPr>
          <a:xfrm>
            <a:off x="685800" y="2705100"/>
            <a:ext cx="285750" cy="190500"/>
          </a:xfrm>
          <a:custGeom>
            <a:avLst/>
            <a:gdLst>
              <a:gd name="connsiteX0" fmla="*/ 0 w 285750"/>
              <a:gd name="connsiteY0" fmla="*/ 0 h 190500"/>
              <a:gd name="connsiteX1" fmla="*/ 285750 w 285750"/>
              <a:gd name="connsiteY1" fmla="*/ 0 h 190500"/>
              <a:gd name="connsiteX2" fmla="*/ 285750 w 285750"/>
              <a:gd name="connsiteY2" fmla="*/ 190500 h 190500"/>
              <a:gd name="connsiteX3" fmla="*/ 0 w 28575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90500">
                <a:moveTo>
                  <a:pt x="0" y="0"/>
                </a:moveTo>
                <a:lnTo>
                  <a:pt x="285750" y="0"/>
                </a:lnTo>
                <a:lnTo>
                  <a:pt x="28575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B2458-114E-213A-6EE9-D92DDB210A94}"/>
              </a:ext>
            </a:extLst>
          </p:cNvPr>
          <p:cNvSpPr txBox="1"/>
          <p:nvPr/>
        </p:nvSpPr>
        <p:spPr>
          <a:xfrm>
            <a:off x="594360" y="2658618"/>
            <a:ext cx="416356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F3F84-30BA-FC60-A2C1-03AFBD3554F3}"/>
              </a:ext>
            </a:extLst>
          </p:cNvPr>
          <p:cNvSpPr txBox="1"/>
          <p:nvPr/>
        </p:nvSpPr>
        <p:spPr>
          <a:xfrm>
            <a:off x="1994535" y="2581846"/>
            <a:ext cx="5750776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Use AI-driven marketing to reduce ad cost.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09A837D-5F06-8FA4-0CE8-C7A9D0AA6510}"/>
              </a:ext>
            </a:extLst>
          </p:cNvPr>
          <p:cNvSpPr/>
          <p:nvPr/>
        </p:nvSpPr>
        <p:spPr>
          <a:xfrm>
            <a:off x="685800" y="4600575"/>
            <a:ext cx="314325" cy="190500"/>
          </a:xfrm>
          <a:custGeom>
            <a:avLst/>
            <a:gdLst>
              <a:gd name="connsiteX0" fmla="*/ 0 w 314325"/>
              <a:gd name="connsiteY0" fmla="*/ 0 h 190500"/>
              <a:gd name="connsiteX1" fmla="*/ 314325 w 314325"/>
              <a:gd name="connsiteY1" fmla="*/ 0 h 190500"/>
              <a:gd name="connsiteX2" fmla="*/ 314325 w 314325"/>
              <a:gd name="connsiteY2" fmla="*/ 190500 h 190500"/>
              <a:gd name="connsiteX3" fmla="*/ 0 w 314325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5" h="190500">
                <a:moveTo>
                  <a:pt x="0" y="0"/>
                </a:moveTo>
                <a:lnTo>
                  <a:pt x="314325" y="0"/>
                </a:lnTo>
                <a:lnTo>
                  <a:pt x="314325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20EAE-0666-5E76-9D1A-3A0EC9DE96C2}"/>
              </a:ext>
            </a:extLst>
          </p:cNvPr>
          <p:cNvSpPr txBox="1"/>
          <p:nvPr/>
        </p:nvSpPr>
        <p:spPr>
          <a:xfrm>
            <a:off x="594360" y="4554093"/>
            <a:ext cx="451256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78D054-564C-951E-EC2C-61995E3617E5}"/>
              </a:ext>
            </a:extLst>
          </p:cNvPr>
          <p:cNvSpPr txBox="1"/>
          <p:nvPr/>
        </p:nvSpPr>
        <p:spPr>
          <a:xfrm>
            <a:off x="1994535" y="4477321"/>
            <a:ext cx="3636911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Partner with local couriers.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A5B578E-217B-0E91-59C1-813D5B74337E}"/>
              </a:ext>
            </a:extLst>
          </p:cNvPr>
          <p:cNvSpPr/>
          <p:nvPr/>
        </p:nvSpPr>
        <p:spPr>
          <a:xfrm>
            <a:off x="685800" y="6496050"/>
            <a:ext cx="304800" cy="190500"/>
          </a:xfrm>
          <a:custGeom>
            <a:avLst/>
            <a:gdLst>
              <a:gd name="connsiteX0" fmla="*/ 0 w 304800"/>
              <a:gd name="connsiteY0" fmla="*/ 0 h 190500"/>
              <a:gd name="connsiteX1" fmla="*/ 304800 w 304800"/>
              <a:gd name="connsiteY1" fmla="*/ 0 h 190500"/>
              <a:gd name="connsiteX2" fmla="*/ 304800 w 304800"/>
              <a:gd name="connsiteY2" fmla="*/ 190500 h 190500"/>
              <a:gd name="connsiteX3" fmla="*/ 0 w 30480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90500">
                <a:moveTo>
                  <a:pt x="0" y="0"/>
                </a:moveTo>
                <a:lnTo>
                  <a:pt x="304800" y="0"/>
                </a:lnTo>
                <a:lnTo>
                  <a:pt x="3048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57F492-6CB8-1CF4-BD60-46576A06881D}"/>
              </a:ext>
            </a:extLst>
          </p:cNvPr>
          <p:cNvSpPr txBox="1"/>
          <p:nvPr/>
        </p:nvSpPr>
        <p:spPr>
          <a:xfrm>
            <a:off x="594360" y="6449567"/>
            <a:ext cx="45262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C0DCF8-0EFE-14EC-DBA4-1CB801E0D848}"/>
              </a:ext>
            </a:extLst>
          </p:cNvPr>
          <p:cNvSpPr txBox="1"/>
          <p:nvPr/>
        </p:nvSpPr>
        <p:spPr>
          <a:xfrm>
            <a:off x="1994535" y="6372796"/>
            <a:ext cx="3913479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 Introduce user trust badges.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1EE2A8B-02C4-A8CC-D2C6-EFF39D8B0F3D}"/>
              </a:ext>
            </a:extLst>
          </p:cNvPr>
          <p:cNvSpPr/>
          <p:nvPr/>
        </p:nvSpPr>
        <p:spPr>
          <a:xfrm>
            <a:off x="685800" y="8391525"/>
            <a:ext cx="304800" cy="190500"/>
          </a:xfrm>
          <a:custGeom>
            <a:avLst/>
            <a:gdLst>
              <a:gd name="connsiteX0" fmla="*/ 0 w 304800"/>
              <a:gd name="connsiteY0" fmla="*/ 0 h 190500"/>
              <a:gd name="connsiteX1" fmla="*/ 304800 w 304800"/>
              <a:gd name="connsiteY1" fmla="*/ 0 h 190500"/>
              <a:gd name="connsiteX2" fmla="*/ 304800 w 304800"/>
              <a:gd name="connsiteY2" fmla="*/ 190500 h 190500"/>
              <a:gd name="connsiteX3" fmla="*/ 0 w 30480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90500">
                <a:moveTo>
                  <a:pt x="0" y="0"/>
                </a:moveTo>
                <a:lnTo>
                  <a:pt x="304800" y="0"/>
                </a:lnTo>
                <a:lnTo>
                  <a:pt x="3048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F58C1-824F-FBB5-0A56-31A7D7D7A73A}"/>
              </a:ext>
            </a:extLst>
          </p:cNvPr>
          <p:cNvSpPr txBox="1"/>
          <p:nvPr/>
        </p:nvSpPr>
        <p:spPr>
          <a:xfrm>
            <a:off x="594360" y="8345042"/>
            <a:ext cx="455828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97C27D-01EF-FB14-C629-668D36EA0003}"/>
              </a:ext>
            </a:extLst>
          </p:cNvPr>
          <p:cNvSpPr txBox="1"/>
          <p:nvPr/>
        </p:nvSpPr>
        <p:spPr>
          <a:xfrm>
            <a:off x="1994535" y="8268271"/>
            <a:ext cx="4825593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Simplify onboarding for new sellers.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2A91E23-E831-7A27-2A8F-F2CEB43B665E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3888CA-46F8-6811-990C-C43E7D149F11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BC7126-BAD4-5042-9702-7AA74F654175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6B5060-39D9-F300-3913-F78E800FDD14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2E3A15-F72B-40E5-95C4-782194A6FEE5}"/>
              </a:ext>
            </a:extLst>
          </p:cNvPr>
          <p:cNvSpPr txBox="1"/>
          <p:nvPr/>
        </p:nvSpPr>
        <p:spPr>
          <a:xfrm>
            <a:off x="1994535" y="8678417"/>
            <a:ext cx="6689217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hendrerit urna. Pellentesque sit amet sapien fringilla, mattis ligula consectetur, ultrices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mauris. Maecenas vitae mattis tellus. Nullam quis imperdiet augue.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FA9BA3-5354-554E-6B5E-10280BD88275}"/>
              </a:ext>
            </a:extLst>
          </p:cNvPr>
          <p:cNvSpPr txBox="1"/>
          <p:nvPr/>
        </p:nvSpPr>
        <p:spPr>
          <a:xfrm>
            <a:off x="1994535" y="6782942"/>
            <a:ext cx="6689217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hendrerit urna. Pellentesque sit amet sapien fringilla, mattis ligula consectetur, ultrices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mauris. Maecenas vitae mattis tellus. Nullam quis imperdiet augue.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2EEA56-84C3-5A3D-05C5-77254E913C92}"/>
              </a:ext>
            </a:extLst>
          </p:cNvPr>
          <p:cNvSpPr txBox="1"/>
          <p:nvPr/>
        </p:nvSpPr>
        <p:spPr>
          <a:xfrm>
            <a:off x="1994535" y="4887467"/>
            <a:ext cx="6689217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hendrerit urna. Pellentesque sit amet sapien fringilla, mattis ligula consectetur, ultrices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mauris. Maecenas vitae mattis tellus. Nullam quis imperdiet augue.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5C8221-43D0-0326-99B6-218187F7B010}"/>
              </a:ext>
            </a:extLst>
          </p:cNvPr>
          <p:cNvSpPr txBox="1"/>
          <p:nvPr/>
        </p:nvSpPr>
        <p:spPr>
          <a:xfrm>
            <a:off x="1994535" y="2991993"/>
            <a:ext cx="6689217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Lorem ipsum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dolor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sit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amet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,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consectetur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adipiscing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elit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. Ut et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massa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mi.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Aliquam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in </a:t>
            </a:r>
          </a:p>
          <a:p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hendrerit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urna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.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Pellentesque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sit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amet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sapien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fringilla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,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mattis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ligula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consectetur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,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ultrices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</a:p>
          <a:p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mauris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. Maecenas vitae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mattis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tellus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.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Nullam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quis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imperdiet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 </a:t>
            </a:r>
            <a:r>
              <a:rPr lang="en-ID" sz="1200" dirty="0" err="1">
                <a:solidFill>
                  <a:srgbClr val="2E2E2E"/>
                </a:solidFill>
                <a:latin typeface="Plus Jakarta Sans" pitchFamily="2" charset="0"/>
              </a:rPr>
              <a:t>augue</a:t>
            </a:r>
            <a:r>
              <a:rPr lang="en-ID" sz="1200" dirty="0">
                <a:solidFill>
                  <a:srgbClr val="2E2E2E"/>
                </a:solidFill>
                <a:latin typeface="Plus Jakarta Sans" pitchFamily="2" charset="0"/>
              </a:rPr>
              <a:t>.</a:t>
            </a: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6A43FF25-1495-2123-4279-25BBA19282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1966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0B97188-C288-FB03-AD3B-0369B7461923}"/>
              </a:ext>
            </a:extLst>
          </p:cNvPr>
          <p:cNvSpPr/>
          <p:nvPr/>
        </p:nvSpPr>
        <p:spPr>
          <a:xfrm>
            <a:off x="1285875" y="3171825"/>
            <a:ext cx="5962650" cy="390525"/>
          </a:xfrm>
          <a:custGeom>
            <a:avLst/>
            <a:gdLst>
              <a:gd name="connsiteX0" fmla="*/ 0 w 5962650"/>
              <a:gd name="connsiteY0" fmla="*/ 0 h 390525"/>
              <a:gd name="connsiteX1" fmla="*/ 5962650 w 5962650"/>
              <a:gd name="connsiteY1" fmla="*/ 0 h 390525"/>
              <a:gd name="connsiteX2" fmla="*/ 5962650 w 5962650"/>
              <a:gd name="connsiteY2" fmla="*/ 390525 h 390525"/>
              <a:gd name="connsiteX3" fmla="*/ 0 w 5962650"/>
              <a:gd name="connsiteY3" fmla="*/ 390525 h 390525"/>
              <a:gd name="connsiteX4" fmla="*/ 0 w 5962650"/>
              <a:gd name="connsiteY4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2650" h="390525">
                <a:moveTo>
                  <a:pt x="0" y="0"/>
                </a:moveTo>
                <a:lnTo>
                  <a:pt x="5962650" y="0"/>
                </a:lnTo>
                <a:lnTo>
                  <a:pt x="5962650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5E45FF5-0484-82C6-5414-A78660A8E0FE}"/>
              </a:ext>
            </a:extLst>
          </p:cNvPr>
          <p:cNvSpPr/>
          <p:nvPr/>
        </p:nvSpPr>
        <p:spPr>
          <a:xfrm>
            <a:off x="1285875" y="3667125"/>
            <a:ext cx="5448300" cy="390525"/>
          </a:xfrm>
          <a:custGeom>
            <a:avLst/>
            <a:gdLst>
              <a:gd name="connsiteX0" fmla="*/ 0 w 5448300"/>
              <a:gd name="connsiteY0" fmla="*/ 0 h 390525"/>
              <a:gd name="connsiteX1" fmla="*/ 5448300 w 5448300"/>
              <a:gd name="connsiteY1" fmla="*/ 0 h 390525"/>
              <a:gd name="connsiteX2" fmla="*/ 5448300 w 5448300"/>
              <a:gd name="connsiteY2" fmla="*/ 390525 h 390525"/>
              <a:gd name="connsiteX3" fmla="*/ 0 w 5448300"/>
              <a:gd name="connsiteY3" fmla="*/ 390525 h 390525"/>
              <a:gd name="connsiteX4" fmla="*/ 0 w 5448300"/>
              <a:gd name="connsiteY4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300" h="390525">
                <a:moveTo>
                  <a:pt x="0" y="0"/>
                </a:moveTo>
                <a:lnTo>
                  <a:pt x="5448300" y="0"/>
                </a:lnTo>
                <a:lnTo>
                  <a:pt x="5448300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EF556-D9EC-7BB5-0736-65316E4C2D53}"/>
              </a:ext>
            </a:extLst>
          </p:cNvPr>
          <p:cNvSpPr txBox="1"/>
          <p:nvPr/>
        </p:nvSpPr>
        <p:spPr>
          <a:xfrm>
            <a:off x="670560" y="2391727"/>
            <a:ext cx="2748914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Real success from real users.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E5CC63-6C45-B17C-A350-54304C5BE4A2}"/>
              </a:ext>
            </a:extLst>
          </p:cNvPr>
          <p:cNvSpPr txBox="1"/>
          <p:nvPr/>
        </p:nvSpPr>
        <p:spPr>
          <a:xfrm>
            <a:off x="670560" y="2970656"/>
            <a:ext cx="524255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F338B7-F3DB-C132-51B4-DD288EC47DB6}"/>
              </a:ext>
            </a:extLst>
          </p:cNvPr>
          <p:cNvSpPr txBox="1"/>
          <p:nvPr/>
        </p:nvSpPr>
        <p:spPr>
          <a:xfrm>
            <a:off x="670560" y="6059900"/>
            <a:ext cx="962787" cy="367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Lina K.,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0DAC3-63F0-9715-3803-C634FB18A9B8}"/>
              </a:ext>
            </a:extLst>
          </p:cNvPr>
          <p:cNvSpPr txBox="1"/>
          <p:nvPr/>
        </p:nvSpPr>
        <p:spPr>
          <a:xfrm>
            <a:off x="1489710" y="6077902"/>
            <a:ext cx="1802130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– Online Merchant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55ABA1F-0F65-735E-F3E1-BDE8C263F970}"/>
              </a:ext>
            </a:extLst>
          </p:cNvPr>
          <p:cNvSpPr/>
          <p:nvPr/>
        </p:nvSpPr>
        <p:spPr>
          <a:xfrm>
            <a:off x="4781550" y="7505700"/>
            <a:ext cx="5667375" cy="2781300"/>
          </a:xfrm>
          <a:custGeom>
            <a:avLst/>
            <a:gdLst>
              <a:gd name="connsiteX0" fmla="*/ 0 w 5667375"/>
              <a:gd name="connsiteY0" fmla="*/ 0 h 2781300"/>
              <a:gd name="connsiteX1" fmla="*/ 5667375 w 5667375"/>
              <a:gd name="connsiteY1" fmla="*/ 0 h 2781300"/>
              <a:gd name="connsiteX2" fmla="*/ 5667375 w 5667375"/>
              <a:gd name="connsiteY2" fmla="*/ 2781300 h 2781300"/>
              <a:gd name="connsiteX3" fmla="*/ 0 w 56673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7375" h="2781300">
                <a:moveTo>
                  <a:pt x="0" y="0"/>
                </a:moveTo>
                <a:lnTo>
                  <a:pt x="5667375" y="0"/>
                </a:lnTo>
                <a:lnTo>
                  <a:pt x="5667375" y="2781300"/>
                </a:lnTo>
                <a:lnTo>
                  <a:pt x="0" y="27813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E7CB16C-B22D-DE64-11A9-35EB9CE6F88D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7083A8-9450-8398-0B23-A93E83549985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AA3BB7-C61B-524D-5F22-9551ADE4BE03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4F0CB8-632F-CFFB-171A-2A6E4ED6A0C3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BA68DB-F5E7-4BFE-CBA8-1F9C0EB087A1}"/>
              </a:ext>
            </a:extLst>
          </p:cNvPr>
          <p:cNvSpPr txBox="1"/>
          <p:nvPr/>
        </p:nvSpPr>
        <p:spPr>
          <a:xfrm>
            <a:off x="1242060" y="4458462"/>
            <a:ext cx="8231428" cy="120032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b="1">
                <a:solidFill>
                  <a:srgbClr val="2E2E2E"/>
                </a:solidFill>
                <a:latin typeface="Plus Jakarta Sans" pitchFamily="2" charset="0"/>
              </a:rPr>
              <a:t>We've tripled our monthly orders, all thanks to its cutting-edge smart </a:t>
            </a:r>
          </a:p>
          <a:p>
            <a:r>
              <a:rPr lang="en-US" b="1">
                <a:solidFill>
                  <a:srgbClr val="2E2E2E"/>
                </a:solidFill>
                <a:latin typeface="Plus Jakarta Sans" pitchFamily="2" charset="0"/>
              </a:rPr>
              <a:t>analytics. The insights we gain help us make informed decisions, </a:t>
            </a:r>
          </a:p>
          <a:p>
            <a:r>
              <a:rPr lang="en-US" b="1">
                <a:solidFill>
                  <a:srgbClr val="2E2E2E"/>
                </a:solidFill>
                <a:latin typeface="Plus Jakarta Sans" pitchFamily="2" charset="0"/>
              </a:rPr>
              <a:t>streamline our inventory, and truly grasp our customers' preferences, </a:t>
            </a:r>
          </a:p>
          <a:p>
            <a:r>
              <a:rPr lang="en-US" b="1">
                <a:solidFill>
                  <a:srgbClr val="2E2E2E"/>
                </a:solidFill>
                <a:latin typeface="Plus Jakarta Sans" pitchFamily="2" charset="0"/>
              </a:rPr>
              <a:t>resulting in remarkable sales growth!</a:t>
            </a:r>
            <a:endParaRPr lang="en-ID" b="1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550F42-BB0F-AAF1-620A-13FBCA7FE12A}"/>
              </a:ext>
            </a:extLst>
          </p:cNvPr>
          <p:cNvSpPr txBox="1"/>
          <p:nvPr/>
        </p:nvSpPr>
        <p:spPr>
          <a:xfrm>
            <a:off x="1242060" y="3088576"/>
            <a:ext cx="6032259" cy="96949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850" b="1">
                <a:solidFill>
                  <a:srgbClr val="1A1A1A"/>
                </a:solidFill>
                <a:latin typeface="Plus Jakarta Sans" pitchFamily="2" charset="0"/>
              </a:rPr>
              <a:t>Thanks to NEXORA, our store's </a:t>
            </a:r>
          </a:p>
          <a:p>
            <a:r>
              <a:rPr lang="en-US" sz="2850" b="1">
                <a:solidFill>
                  <a:srgbClr val="1A1A1A"/>
                </a:solidFill>
                <a:latin typeface="Plus Jakarta Sans" pitchFamily="2" charset="0"/>
              </a:rPr>
              <a:t>performance has skyrocketed! </a:t>
            </a:r>
            <a:endParaRPr lang="en-ID" sz="2850" b="1">
              <a:solidFill>
                <a:srgbClr val="1A1A1A"/>
              </a:solidFill>
              <a:latin typeface="Plus Jakarta Sans" pitchFamily="2" charset="0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165110B-9996-AAB0-7010-EAFE80FEB8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2969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C376F4-85AA-B896-5538-D83B37909820}"/>
              </a:ext>
            </a:extLst>
          </p:cNvPr>
          <p:cNvSpPr/>
          <p:nvPr/>
        </p:nvSpPr>
        <p:spPr>
          <a:xfrm>
            <a:off x="10677525" y="228600"/>
            <a:ext cx="7381875" cy="9848850"/>
          </a:xfrm>
          <a:custGeom>
            <a:avLst/>
            <a:gdLst>
              <a:gd name="connsiteX0" fmla="*/ 0 w 7381875"/>
              <a:gd name="connsiteY0" fmla="*/ 0 h 9848850"/>
              <a:gd name="connsiteX1" fmla="*/ 7381875 w 7381875"/>
              <a:gd name="connsiteY1" fmla="*/ 0 h 9848850"/>
              <a:gd name="connsiteX2" fmla="*/ 7381875 w 7381875"/>
              <a:gd name="connsiteY2" fmla="*/ 9848850 h 9848850"/>
              <a:gd name="connsiteX3" fmla="*/ 0 w 7381875"/>
              <a:gd name="connsiteY3" fmla="*/ 9848850 h 984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1875" h="9848850">
                <a:moveTo>
                  <a:pt x="0" y="0"/>
                </a:moveTo>
                <a:lnTo>
                  <a:pt x="7381875" y="0"/>
                </a:lnTo>
                <a:lnTo>
                  <a:pt x="7381875" y="9848850"/>
                </a:lnTo>
                <a:lnTo>
                  <a:pt x="0" y="984885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56549-8CF3-57F0-49DE-6E3579CB4A9A}"/>
              </a:ext>
            </a:extLst>
          </p:cNvPr>
          <p:cNvSpPr txBox="1"/>
          <p:nvPr/>
        </p:nvSpPr>
        <p:spPr>
          <a:xfrm>
            <a:off x="11043285" y="3439477"/>
            <a:ext cx="2886455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The people behind innovation.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800FF6-11BB-6A90-C501-E47F40D7A823}"/>
              </a:ext>
            </a:extLst>
          </p:cNvPr>
          <p:cNvSpPr txBox="1"/>
          <p:nvPr/>
        </p:nvSpPr>
        <p:spPr>
          <a:xfrm>
            <a:off x="689610" y="1334071"/>
            <a:ext cx="3286467" cy="427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Showcase performance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5735F19-6C18-A9B8-14F0-11B1A896AFB6}"/>
              </a:ext>
            </a:extLst>
          </p:cNvPr>
          <p:cNvSpPr/>
          <p:nvPr/>
        </p:nvSpPr>
        <p:spPr>
          <a:xfrm>
            <a:off x="19240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83E38AD-1305-05BF-7CF2-DBF5D1D8D5F7}"/>
              </a:ext>
            </a:extLst>
          </p:cNvPr>
          <p:cNvSpPr/>
          <p:nvPr/>
        </p:nvSpPr>
        <p:spPr>
          <a:xfrm>
            <a:off x="24955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45ADC90-E123-684E-90D5-C9B1CA0362FE}"/>
              </a:ext>
            </a:extLst>
          </p:cNvPr>
          <p:cNvSpPr/>
          <p:nvPr/>
        </p:nvSpPr>
        <p:spPr>
          <a:xfrm>
            <a:off x="30670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3D044-6C9E-D13B-7C2B-9F6DB3588492}"/>
              </a:ext>
            </a:extLst>
          </p:cNvPr>
          <p:cNvSpPr/>
          <p:nvPr/>
        </p:nvSpPr>
        <p:spPr>
          <a:xfrm>
            <a:off x="36385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B10434E-BB1B-6146-03E3-8C42C3FEC7EB}"/>
              </a:ext>
            </a:extLst>
          </p:cNvPr>
          <p:cNvSpPr/>
          <p:nvPr/>
        </p:nvSpPr>
        <p:spPr>
          <a:xfrm>
            <a:off x="42100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0497CD-F6E3-91D2-DC54-FB0F69B5F863}"/>
              </a:ext>
            </a:extLst>
          </p:cNvPr>
          <p:cNvSpPr/>
          <p:nvPr/>
        </p:nvSpPr>
        <p:spPr>
          <a:xfrm>
            <a:off x="47815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B68BD1-1EB6-23EE-8491-6DF0B93F5154}"/>
              </a:ext>
            </a:extLst>
          </p:cNvPr>
          <p:cNvSpPr/>
          <p:nvPr/>
        </p:nvSpPr>
        <p:spPr>
          <a:xfrm>
            <a:off x="53530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F1821F-DA7D-F1B2-EB18-6A9B64AC404F}"/>
              </a:ext>
            </a:extLst>
          </p:cNvPr>
          <p:cNvSpPr/>
          <p:nvPr/>
        </p:nvSpPr>
        <p:spPr>
          <a:xfrm>
            <a:off x="59245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8A1185-AD5D-C76C-A2B4-F272C25DED91}"/>
              </a:ext>
            </a:extLst>
          </p:cNvPr>
          <p:cNvSpPr/>
          <p:nvPr/>
        </p:nvSpPr>
        <p:spPr>
          <a:xfrm>
            <a:off x="7810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744C6FD-C6AB-C930-B8F6-B2613EBB5DCB}"/>
              </a:ext>
            </a:extLst>
          </p:cNvPr>
          <p:cNvSpPr/>
          <p:nvPr/>
        </p:nvSpPr>
        <p:spPr>
          <a:xfrm>
            <a:off x="13525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2282C5-EAA9-4EA2-7573-9A51B7CA64D3}"/>
              </a:ext>
            </a:extLst>
          </p:cNvPr>
          <p:cNvSpPr/>
          <p:nvPr/>
        </p:nvSpPr>
        <p:spPr>
          <a:xfrm>
            <a:off x="19240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E1E0167-42CA-1DF4-C3A9-CBE270E953A1}"/>
              </a:ext>
            </a:extLst>
          </p:cNvPr>
          <p:cNvSpPr/>
          <p:nvPr/>
        </p:nvSpPr>
        <p:spPr>
          <a:xfrm>
            <a:off x="24955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E62B6A3-16D2-FE7A-1E82-03903C822076}"/>
              </a:ext>
            </a:extLst>
          </p:cNvPr>
          <p:cNvSpPr/>
          <p:nvPr/>
        </p:nvSpPr>
        <p:spPr>
          <a:xfrm>
            <a:off x="30670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5DA5823-E742-4A69-5B2A-352ED39944A2}"/>
              </a:ext>
            </a:extLst>
          </p:cNvPr>
          <p:cNvSpPr/>
          <p:nvPr/>
        </p:nvSpPr>
        <p:spPr>
          <a:xfrm>
            <a:off x="36385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4B40675-1F3F-47EE-1BFB-FC92FCB6A874}"/>
              </a:ext>
            </a:extLst>
          </p:cNvPr>
          <p:cNvSpPr/>
          <p:nvPr/>
        </p:nvSpPr>
        <p:spPr>
          <a:xfrm>
            <a:off x="42100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57D82E1-4F96-1A7C-CC45-4AFAFCCEBFD3}"/>
              </a:ext>
            </a:extLst>
          </p:cNvPr>
          <p:cNvSpPr/>
          <p:nvPr/>
        </p:nvSpPr>
        <p:spPr>
          <a:xfrm>
            <a:off x="47815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4AB6706-395F-389D-7010-F09FEE02FCDB}"/>
              </a:ext>
            </a:extLst>
          </p:cNvPr>
          <p:cNvSpPr/>
          <p:nvPr/>
        </p:nvSpPr>
        <p:spPr>
          <a:xfrm>
            <a:off x="53530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DC3244E-D18B-3904-E175-BB43BEA23ADF}"/>
              </a:ext>
            </a:extLst>
          </p:cNvPr>
          <p:cNvSpPr/>
          <p:nvPr/>
        </p:nvSpPr>
        <p:spPr>
          <a:xfrm>
            <a:off x="5924550" y="2743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F710DBE-C336-DE47-1928-CBE0B632DE4D}"/>
              </a:ext>
            </a:extLst>
          </p:cNvPr>
          <p:cNvSpPr/>
          <p:nvPr/>
        </p:nvSpPr>
        <p:spPr>
          <a:xfrm>
            <a:off x="7810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22E629D-DA9D-611C-2B7E-EC98B7E7A0CB}"/>
              </a:ext>
            </a:extLst>
          </p:cNvPr>
          <p:cNvSpPr/>
          <p:nvPr/>
        </p:nvSpPr>
        <p:spPr>
          <a:xfrm>
            <a:off x="13525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02C991C-C741-85B0-3D76-41093142A302}"/>
              </a:ext>
            </a:extLst>
          </p:cNvPr>
          <p:cNvSpPr/>
          <p:nvPr/>
        </p:nvSpPr>
        <p:spPr>
          <a:xfrm>
            <a:off x="19240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D4F4735-36CB-06BA-24D9-2C2A5757C7A8}"/>
              </a:ext>
            </a:extLst>
          </p:cNvPr>
          <p:cNvSpPr/>
          <p:nvPr/>
        </p:nvSpPr>
        <p:spPr>
          <a:xfrm>
            <a:off x="24955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D967992-CF05-7FF8-2F89-7DC0B9CE8D71}"/>
              </a:ext>
            </a:extLst>
          </p:cNvPr>
          <p:cNvSpPr/>
          <p:nvPr/>
        </p:nvSpPr>
        <p:spPr>
          <a:xfrm>
            <a:off x="30670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0A21C91-488C-5B54-37F4-1AF9D5A04E70}"/>
              </a:ext>
            </a:extLst>
          </p:cNvPr>
          <p:cNvSpPr/>
          <p:nvPr/>
        </p:nvSpPr>
        <p:spPr>
          <a:xfrm>
            <a:off x="36385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86AAADC-EE8A-4386-B9DB-BC5D771E1CD4}"/>
              </a:ext>
            </a:extLst>
          </p:cNvPr>
          <p:cNvSpPr/>
          <p:nvPr/>
        </p:nvSpPr>
        <p:spPr>
          <a:xfrm>
            <a:off x="42100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47611A8-B6F6-3847-1262-BB04C5BF95C7}"/>
              </a:ext>
            </a:extLst>
          </p:cNvPr>
          <p:cNvSpPr/>
          <p:nvPr/>
        </p:nvSpPr>
        <p:spPr>
          <a:xfrm>
            <a:off x="47815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078D937-CE38-03D9-014A-9876E09B7790}"/>
              </a:ext>
            </a:extLst>
          </p:cNvPr>
          <p:cNvSpPr/>
          <p:nvPr/>
        </p:nvSpPr>
        <p:spPr>
          <a:xfrm>
            <a:off x="53530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60EDC23-7624-D822-6242-FEE92DFDD577}"/>
              </a:ext>
            </a:extLst>
          </p:cNvPr>
          <p:cNvSpPr/>
          <p:nvPr/>
        </p:nvSpPr>
        <p:spPr>
          <a:xfrm>
            <a:off x="5924550" y="3314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4ADFE34-FB95-5C8D-92C2-E98E448B6B27}"/>
              </a:ext>
            </a:extLst>
          </p:cNvPr>
          <p:cNvSpPr/>
          <p:nvPr/>
        </p:nvSpPr>
        <p:spPr>
          <a:xfrm>
            <a:off x="7810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562F14E-EC07-6A1F-A3A5-9F93C747609D}"/>
              </a:ext>
            </a:extLst>
          </p:cNvPr>
          <p:cNvSpPr/>
          <p:nvPr/>
        </p:nvSpPr>
        <p:spPr>
          <a:xfrm>
            <a:off x="13525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30C756A-76E0-3868-ECD4-1DB1219D415D}"/>
              </a:ext>
            </a:extLst>
          </p:cNvPr>
          <p:cNvSpPr/>
          <p:nvPr/>
        </p:nvSpPr>
        <p:spPr>
          <a:xfrm>
            <a:off x="19240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13026A2-E3FA-8576-C59A-9C0457BA5C54}"/>
              </a:ext>
            </a:extLst>
          </p:cNvPr>
          <p:cNvSpPr/>
          <p:nvPr/>
        </p:nvSpPr>
        <p:spPr>
          <a:xfrm>
            <a:off x="24955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A1CF157-9159-4EF7-9A24-879027013B12}"/>
              </a:ext>
            </a:extLst>
          </p:cNvPr>
          <p:cNvSpPr/>
          <p:nvPr/>
        </p:nvSpPr>
        <p:spPr>
          <a:xfrm>
            <a:off x="30670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6253294-9333-F067-3BBA-CE3A4188A352}"/>
              </a:ext>
            </a:extLst>
          </p:cNvPr>
          <p:cNvSpPr/>
          <p:nvPr/>
        </p:nvSpPr>
        <p:spPr>
          <a:xfrm>
            <a:off x="36385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D5A5084-A319-F60F-186E-E32BA1DB6609}"/>
              </a:ext>
            </a:extLst>
          </p:cNvPr>
          <p:cNvSpPr/>
          <p:nvPr/>
        </p:nvSpPr>
        <p:spPr>
          <a:xfrm>
            <a:off x="42100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273E395-6B54-9317-1F57-9183C9294AEE}"/>
              </a:ext>
            </a:extLst>
          </p:cNvPr>
          <p:cNvSpPr/>
          <p:nvPr/>
        </p:nvSpPr>
        <p:spPr>
          <a:xfrm>
            <a:off x="47815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BA863E6-8306-A80E-CBB8-6540190AB58B}"/>
              </a:ext>
            </a:extLst>
          </p:cNvPr>
          <p:cNvSpPr/>
          <p:nvPr/>
        </p:nvSpPr>
        <p:spPr>
          <a:xfrm>
            <a:off x="53530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B8EF1AB-0A3E-CBDD-68E3-0DE7F818FD78}"/>
              </a:ext>
            </a:extLst>
          </p:cNvPr>
          <p:cNvSpPr/>
          <p:nvPr/>
        </p:nvSpPr>
        <p:spPr>
          <a:xfrm>
            <a:off x="5924550" y="3886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0D898CF-D01F-274B-D5A8-899531E6A289}"/>
              </a:ext>
            </a:extLst>
          </p:cNvPr>
          <p:cNvSpPr/>
          <p:nvPr/>
        </p:nvSpPr>
        <p:spPr>
          <a:xfrm>
            <a:off x="7810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2F28DFC7-71A4-D3F3-BD06-BDE369575EE9}"/>
              </a:ext>
            </a:extLst>
          </p:cNvPr>
          <p:cNvSpPr/>
          <p:nvPr/>
        </p:nvSpPr>
        <p:spPr>
          <a:xfrm>
            <a:off x="1352550" y="2171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AB59107-6676-9C9F-71A6-E4BDB0C524D6}"/>
              </a:ext>
            </a:extLst>
          </p:cNvPr>
          <p:cNvSpPr/>
          <p:nvPr/>
        </p:nvSpPr>
        <p:spPr>
          <a:xfrm>
            <a:off x="6838950" y="3362325"/>
            <a:ext cx="285750" cy="190500"/>
          </a:xfrm>
          <a:custGeom>
            <a:avLst/>
            <a:gdLst>
              <a:gd name="connsiteX0" fmla="*/ 0 w 285750"/>
              <a:gd name="connsiteY0" fmla="*/ 0 h 190500"/>
              <a:gd name="connsiteX1" fmla="*/ 285750 w 285750"/>
              <a:gd name="connsiteY1" fmla="*/ 0 h 190500"/>
              <a:gd name="connsiteX2" fmla="*/ 285750 w 285750"/>
              <a:gd name="connsiteY2" fmla="*/ 190500 h 190500"/>
              <a:gd name="connsiteX3" fmla="*/ 0 w 28575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90500">
                <a:moveTo>
                  <a:pt x="0" y="0"/>
                </a:moveTo>
                <a:lnTo>
                  <a:pt x="285750" y="0"/>
                </a:lnTo>
                <a:lnTo>
                  <a:pt x="28575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D0ABAD-37F2-E134-281C-1B735E14B304}"/>
              </a:ext>
            </a:extLst>
          </p:cNvPr>
          <p:cNvSpPr txBox="1"/>
          <p:nvPr/>
        </p:nvSpPr>
        <p:spPr>
          <a:xfrm>
            <a:off x="6747510" y="3315843"/>
            <a:ext cx="416357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27CF56-F9DE-78AF-4A03-68C4067CDC50}"/>
              </a:ext>
            </a:extLst>
          </p:cNvPr>
          <p:cNvSpPr txBox="1"/>
          <p:nvPr/>
        </p:nvSpPr>
        <p:spPr>
          <a:xfrm>
            <a:off x="6747510" y="3696271"/>
            <a:ext cx="1909229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GMV +200%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EF2DBF-ABEB-4937-E13D-365A8249AAF8}"/>
              </a:ext>
            </a:extLst>
          </p:cNvPr>
          <p:cNvSpPr txBox="1"/>
          <p:nvPr/>
        </p:nvSpPr>
        <p:spPr>
          <a:xfrm>
            <a:off x="6747510" y="4106418"/>
            <a:ext cx="1098042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in 12 months.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0CD53F33-CBFA-8C87-AE73-A8B7169EBAED}"/>
              </a:ext>
            </a:extLst>
          </p:cNvPr>
          <p:cNvSpPr/>
          <p:nvPr/>
        </p:nvSpPr>
        <p:spPr>
          <a:xfrm>
            <a:off x="19240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EA74FF5-085E-771A-8926-5B18F7E0022F}"/>
              </a:ext>
            </a:extLst>
          </p:cNvPr>
          <p:cNvSpPr/>
          <p:nvPr/>
        </p:nvSpPr>
        <p:spPr>
          <a:xfrm>
            <a:off x="24955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FF16E7D-0E73-FB72-B276-75374EF310DE}"/>
              </a:ext>
            </a:extLst>
          </p:cNvPr>
          <p:cNvSpPr/>
          <p:nvPr/>
        </p:nvSpPr>
        <p:spPr>
          <a:xfrm>
            <a:off x="30670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538E410-E050-6A63-CCA1-A53BEB8F0A7C}"/>
              </a:ext>
            </a:extLst>
          </p:cNvPr>
          <p:cNvSpPr/>
          <p:nvPr/>
        </p:nvSpPr>
        <p:spPr>
          <a:xfrm>
            <a:off x="36385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2BABB574-8D8B-A1F8-DF13-BC9FC1215D10}"/>
              </a:ext>
            </a:extLst>
          </p:cNvPr>
          <p:cNvSpPr/>
          <p:nvPr/>
        </p:nvSpPr>
        <p:spPr>
          <a:xfrm>
            <a:off x="42100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643D69F-D792-9624-D03B-2EC2BFFE4B32}"/>
              </a:ext>
            </a:extLst>
          </p:cNvPr>
          <p:cNvSpPr/>
          <p:nvPr/>
        </p:nvSpPr>
        <p:spPr>
          <a:xfrm>
            <a:off x="47815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FD8D21ED-6498-B758-1BB8-3F32521EDB40}"/>
              </a:ext>
            </a:extLst>
          </p:cNvPr>
          <p:cNvSpPr/>
          <p:nvPr/>
        </p:nvSpPr>
        <p:spPr>
          <a:xfrm>
            <a:off x="53530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00F6213D-B1CC-5CB9-E102-FC0A99381D1B}"/>
              </a:ext>
            </a:extLst>
          </p:cNvPr>
          <p:cNvSpPr/>
          <p:nvPr/>
        </p:nvSpPr>
        <p:spPr>
          <a:xfrm>
            <a:off x="59245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B0289292-BB12-18BA-1814-DE71613D5DC1}"/>
              </a:ext>
            </a:extLst>
          </p:cNvPr>
          <p:cNvSpPr/>
          <p:nvPr/>
        </p:nvSpPr>
        <p:spPr>
          <a:xfrm>
            <a:off x="7810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6EFD4261-F75D-16C7-2A50-98BBD10240D4}"/>
              </a:ext>
            </a:extLst>
          </p:cNvPr>
          <p:cNvSpPr/>
          <p:nvPr/>
        </p:nvSpPr>
        <p:spPr>
          <a:xfrm>
            <a:off x="13525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1B6FA111-26D6-DBAB-1B9C-33F5E3E7DBCB}"/>
              </a:ext>
            </a:extLst>
          </p:cNvPr>
          <p:cNvSpPr/>
          <p:nvPr/>
        </p:nvSpPr>
        <p:spPr>
          <a:xfrm>
            <a:off x="19240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874CD12-6101-67F3-DE0A-DADB4D7282BC}"/>
              </a:ext>
            </a:extLst>
          </p:cNvPr>
          <p:cNvSpPr/>
          <p:nvPr/>
        </p:nvSpPr>
        <p:spPr>
          <a:xfrm>
            <a:off x="24955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B77C387-9BEE-6D1C-E5B6-1BDC37C1925D}"/>
              </a:ext>
            </a:extLst>
          </p:cNvPr>
          <p:cNvSpPr/>
          <p:nvPr/>
        </p:nvSpPr>
        <p:spPr>
          <a:xfrm>
            <a:off x="30670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300075D-C68A-D821-3390-3BFEDD166D61}"/>
              </a:ext>
            </a:extLst>
          </p:cNvPr>
          <p:cNvSpPr/>
          <p:nvPr/>
        </p:nvSpPr>
        <p:spPr>
          <a:xfrm>
            <a:off x="36385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95097D0-C4A8-833A-9DFB-19BD96A2F71D}"/>
              </a:ext>
            </a:extLst>
          </p:cNvPr>
          <p:cNvSpPr/>
          <p:nvPr/>
        </p:nvSpPr>
        <p:spPr>
          <a:xfrm>
            <a:off x="42100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826B6166-C141-B6B3-0579-18D0A6B08A86}"/>
              </a:ext>
            </a:extLst>
          </p:cNvPr>
          <p:cNvSpPr/>
          <p:nvPr/>
        </p:nvSpPr>
        <p:spPr>
          <a:xfrm>
            <a:off x="47815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0C36B85-5723-F7EA-DF10-C757E5D79678}"/>
              </a:ext>
            </a:extLst>
          </p:cNvPr>
          <p:cNvSpPr/>
          <p:nvPr/>
        </p:nvSpPr>
        <p:spPr>
          <a:xfrm>
            <a:off x="53530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614454CF-362B-7966-741E-82C8FB94F1D1}"/>
              </a:ext>
            </a:extLst>
          </p:cNvPr>
          <p:cNvSpPr/>
          <p:nvPr/>
        </p:nvSpPr>
        <p:spPr>
          <a:xfrm>
            <a:off x="5924550" y="5029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26B0385A-F101-EAF1-FA0C-9ABEA455DAEC}"/>
              </a:ext>
            </a:extLst>
          </p:cNvPr>
          <p:cNvSpPr/>
          <p:nvPr/>
        </p:nvSpPr>
        <p:spPr>
          <a:xfrm>
            <a:off x="7810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B4ADB2B8-DCB9-321C-1647-CF8D33B2E032}"/>
              </a:ext>
            </a:extLst>
          </p:cNvPr>
          <p:cNvSpPr/>
          <p:nvPr/>
        </p:nvSpPr>
        <p:spPr>
          <a:xfrm>
            <a:off x="13525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FD59E8AD-E73A-EF78-D30D-2B06C8EEB502}"/>
              </a:ext>
            </a:extLst>
          </p:cNvPr>
          <p:cNvSpPr/>
          <p:nvPr/>
        </p:nvSpPr>
        <p:spPr>
          <a:xfrm>
            <a:off x="19240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5786DBAB-92E9-273E-A8B9-821CDACEBDA3}"/>
              </a:ext>
            </a:extLst>
          </p:cNvPr>
          <p:cNvSpPr/>
          <p:nvPr/>
        </p:nvSpPr>
        <p:spPr>
          <a:xfrm>
            <a:off x="24955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C4AD281-E14C-A90C-8B5E-132D186D91B7}"/>
              </a:ext>
            </a:extLst>
          </p:cNvPr>
          <p:cNvSpPr/>
          <p:nvPr/>
        </p:nvSpPr>
        <p:spPr>
          <a:xfrm>
            <a:off x="30670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DA36EB21-246F-BAF2-8622-0CD0B9287F4F}"/>
              </a:ext>
            </a:extLst>
          </p:cNvPr>
          <p:cNvSpPr/>
          <p:nvPr/>
        </p:nvSpPr>
        <p:spPr>
          <a:xfrm>
            <a:off x="36385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30CEE2B-9AA9-DF2F-CDF0-D895B6B2FDFE}"/>
              </a:ext>
            </a:extLst>
          </p:cNvPr>
          <p:cNvSpPr/>
          <p:nvPr/>
        </p:nvSpPr>
        <p:spPr>
          <a:xfrm>
            <a:off x="42100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9337F4E0-977D-D972-E478-5D7A28305B5F}"/>
              </a:ext>
            </a:extLst>
          </p:cNvPr>
          <p:cNvSpPr/>
          <p:nvPr/>
        </p:nvSpPr>
        <p:spPr>
          <a:xfrm>
            <a:off x="47815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0DBEACB9-95ED-4A68-31A6-792460DE2B57}"/>
              </a:ext>
            </a:extLst>
          </p:cNvPr>
          <p:cNvSpPr/>
          <p:nvPr/>
        </p:nvSpPr>
        <p:spPr>
          <a:xfrm>
            <a:off x="53530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35A2F008-85AD-70FE-3DE0-F358FA97987B}"/>
              </a:ext>
            </a:extLst>
          </p:cNvPr>
          <p:cNvSpPr/>
          <p:nvPr/>
        </p:nvSpPr>
        <p:spPr>
          <a:xfrm>
            <a:off x="5924550" y="5600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478462B-C6D8-8D5F-736B-301C9DB2080D}"/>
              </a:ext>
            </a:extLst>
          </p:cNvPr>
          <p:cNvSpPr/>
          <p:nvPr/>
        </p:nvSpPr>
        <p:spPr>
          <a:xfrm>
            <a:off x="7810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158E9186-573E-2ECC-4F8C-24F03B25554C}"/>
              </a:ext>
            </a:extLst>
          </p:cNvPr>
          <p:cNvSpPr/>
          <p:nvPr/>
        </p:nvSpPr>
        <p:spPr>
          <a:xfrm>
            <a:off x="13525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420CD8B1-A845-21BC-7ED7-ADE727BF127B}"/>
              </a:ext>
            </a:extLst>
          </p:cNvPr>
          <p:cNvSpPr/>
          <p:nvPr/>
        </p:nvSpPr>
        <p:spPr>
          <a:xfrm>
            <a:off x="19240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3BB7E087-C9EC-9587-E1A1-7F116BC05F98}"/>
              </a:ext>
            </a:extLst>
          </p:cNvPr>
          <p:cNvSpPr/>
          <p:nvPr/>
        </p:nvSpPr>
        <p:spPr>
          <a:xfrm>
            <a:off x="24955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F58F873-D20F-8B15-AFE1-74312F0A6483}"/>
              </a:ext>
            </a:extLst>
          </p:cNvPr>
          <p:cNvSpPr/>
          <p:nvPr/>
        </p:nvSpPr>
        <p:spPr>
          <a:xfrm>
            <a:off x="30670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825000E8-B89E-B319-750D-2580C01A86E4}"/>
              </a:ext>
            </a:extLst>
          </p:cNvPr>
          <p:cNvSpPr/>
          <p:nvPr/>
        </p:nvSpPr>
        <p:spPr>
          <a:xfrm>
            <a:off x="36385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AA075A64-CA2D-66A6-2A4F-033D9F537616}"/>
              </a:ext>
            </a:extLst>
          </p:cNvPr>
          <p:cNvSpPr/>
          <p:nvPr/>
        </p:nvSpPr>
        <p:spPr>
          <a:xfrm>
            <a:off x="42100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7AB6606-BFF0-F677-0629-BE8683189DD7}"/>
              </a:ext>
            </a:extLst>
          </p:cNvPr>
          <p:cNvSpPr/>
          <p:nvPr/>
        </p:nvSpPr>
        <p:spPr>
          <a:xfrm>
            <a:off x="47815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F197E61F-8C6F-1C89-7777-92A5CC9802E2}"/>
              </a:ext>
            </a:extLst>
          </p:cNvPr>
          <p:cNvSpPr/>
          <p:nvPr/>
        </p:nvSpPr>
        <p:spPr>
          <a:xfrm>
            <a:off x="53530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AB41CDA4-1F27-FF22-C45E-8585BE329608}"/>
              </a:ext>
            </a:extLst>
          </p:cNvPr>
          <p:cNvSpPr/>
          <p:nvPr/>
        </p:nvSpPr>
        <p:spPr>
          <a:xfrm>
            <a:off x="5924550" y="6172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0428E1E0-7BDD-130B-51BD-8998DDB5272C}"/>
              </a:ext>
            </a:extLst>
          </p:cNvPr>
          <p:cNvSpPr/>
          <p:nvPr/>
        </p:nvSpPr>
        <p:spPr>
          <a:xfrm>
            <a:off x="7810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53A1BEE3-D21A-D2ED-440A-EA7A46504D68}"/>
              </a:ext>
            </a:extLst>
          </p:cNvPr>
          <p:cNvSpPr/>
          <p:nvPr/>
        </p:nvSpPr>
        <p:spPr>
          <a:xfrm>
            <a:off x="1352550" y="4457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76277FCC-45A1-265C-BCC2-87BE2B9D65C0}"/>
              </a:ext>
            </a:extLst>
          </p:cNvPr>
          <p:cNvSpPr/>
          <p:nvPr/>
        </p:nvSpPr>
        <p:spPr>
          <a:xfrm>
            <a:off x="6838950" y="5648325"/>
            <a:ext cx="314325" cy="190500"/>
          </a:xfrm>
          <a:custGeom>
            <a:avLst/>
            <a:gdLst>
              <a:gd name="connsiteX0" fmla="*/ 0 w 314325"/>
              <a:gd name="connsiteY0" fmla="*/ 0 h 190500"/>
              <a:gd name="connsiteX1" fmla="*/ 314325 w 314325"/>
              <a:gd name="connsiteY1" fmla="*/ 0 h 190500"/>
              <a:gd name="connsiteX2" fmla="*/ 314325 w 314325"/>
              <a:gd name="connsiteY2" fmla="*/ 190500 h 190500"/>
              <a:gd name="connsiteX3" fmla="*/ 0 w 314325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5" h="190500">
                <a:moveTo>
                  <a:pt x="0" y="0"/>
                </a:moveTo>
                <a:lnTo>
                  <a:pt x="314325" y="0"/>
                </a:lnTo>
                <a:lnTo>
                  <a:pt x="314325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E0B9D48-EA94-9E5A-6A2C-D566AAB2FCA6}"/>
              </a:ext>
            </a:extLst>
          </p:cNvPr>
          <p:cNvSpPr txBox="1"/>
          <p:nvPr/>
        </p:nvSpPr>
        <p:spPr>
          <a:xfrm>
            <a:off x="6747510" y="5601842"/>
            <a:ext cx="451256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F3F3F3"/>
                </a:solidFill>
                <a:latin typeface="Plus Jakarta Sans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9BD1441-329A-37E5-D2B9-4BE058AAB86F}"/>
              </a:ext>
            </a:extLst>
          </p:cNvPr>
          <p:cNvSpPr txBox="1"/>
          <p:nvPr/>
        </p:nvSpPr>
        <p:spPr>
          <a:xfrm>
            <a:off x="6747510" y="5982271"/>
            <a:ext cx="2046846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Increase 95%.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50D751-5B3D-9625-DB1B-ECA72C79E6E4}"/>
              </a:ext>
            </a:extLst>
          </p:cNvPr>
          <p:cNvSpPr txBox="1"/>
          <p:nvPr/>
        </p:nvSpPr>
        <p:spPr>
          <a:xfrm>
            <a:off x="6747510" y="6392417"/>
            <a:ext cx="1491843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Seller satisfaction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97092F73-EDC5-DCCE-C721-41816F67A209}"/>
              </a:ext>
            </a:extLst>
          </p:cNvPr>
          <p:cNvSpPr/>
          <p:nvPr/>
        </p:nvSpPr>
        <p:spPr>
          <a:xfrm>
            <a:off x="7810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2029F4A1-0AC5-B494-2FCE-094FBCB16E0B}"/>
              </a:ext>
            </a:extLst>
          </p:cNvPr>
          <p:cNvSpPr/>
          <p:nvPr/>
        </p:nvSpPr>
        <p:spPr>
          <a:xfrm>
            <a:off x="13525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1CC45CA5-F869-42A2-31AA-F841A15CAF38}"/>
              </a:ext>
            </a:extLst>
          </p:cNvPr>
          <p:cNvSpPr/>
          <p:nvPr/>
        </p:nvSpPr>
        <p:spPr>
          <a:xfrm>
            <a:off x="19240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E036BDF4-509F-B2A6-97EA-14EEC877924B}"/>
              </a:ext>
            </a:extLst>
          </p:cNvPr>
          <p:cNvSpPr/>
          <p:nvPr/>
        </p:nvSpPr>
        <p:spPr>
          <a:xfrm>
            <a:off x="24955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E22DFD2E-31F8-6425-7457-0F2D3B9756EF}"/>
              </a:ext>
            </a:extLst>
          </p:cNvPr>
          <p:cNvSpPr/>
          <p:nvPr/>
        </p:nvSpPr>
        <p:spPr>
          <a:xfrm>
            <a:off x="30670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5AAF908C-0F3F-1B7C-DDF0-AC656372F1E4}"/>
              </a:ext>
            </a:extLst>
          </p:cNvPr>
          <p:cNvSpPr/>
          <p:nvPr/>
        </p:nvSpPr>
        <p:spPr>
          <a:xfrm>
            <a:off x="36385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17EECCFA-7FB5-43D8-F39D-4AAC28D2D8DB}"/>
              </a:ext>
            </a:extLst>
          </p:cNvPr>
          <p:cNvSpPr/>
          <p:nvPr/>
        </p:nvSpPr>
        <p:spPr>
          <a:xfrm>
            <a:off x="42100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66C685F3-C818-6173-609B-7803DAF9B790}"/>
              </a:ext>
            </a:extLst>
          </p:cNvPr>
          <p:cNvSpPr/>
          <p:nvPr/>
        </p:nvSpPr>
        <p:spPr>
          <a:xfrm>
            <a:off x="47815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5FAE3603-F178-F1A7-4A01-05830E7370A7}"/>
              </a:ext>
            </a:extLst>
          </p:cNvPr>
          <p:cNvSpPr/>
          <p:nvPr/>
        </p:nvSpPr>
        <p:spPr>
          <a:xfrm>
            <a:off x="53530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3A09A8B6-2D75-7B5D-2094-C92FFFE3958F}"/>
              </a:ext>
            </a:extLst>
          </p:cNvPr>
          <p:cNvSpPr/>
          <p:nvPr/>
        </p:nvSpPr>
        <p:spPr>
          <a:xfrm>
            <a:off x="5924550" y="6743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DF21D1C-323E-F18A-85FD-DB29A430E550}"/>
              </a:ext>
            </a:extLst>
          </p:cNvPr>
          <p:cNvSpPr/>
          <p:nvPr/>
        </p:nvSpPr>
        <p:spPr>
          <a:xfrm>
            <a:off x="7810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0FC86D0F-3F6C-2E0B-EC07-526DF8B04100}"/>
              </a:ext>
            </a:extLst>
          </p:cNvPr>
          <p:cNvSpPr/>
          <p:nvPr/>
        </p:nvSpPr>
        <p:spPr>
          <a:xfrm>
            <a:off x="13525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0138B273-ED79-F3D8-04DC-1669CCB3189B}"/>
              </a:ext>
            </a:extLst>
          </p:cNvPr>
          <p:cNvSpPr/>
          <p:nvPr/>
        </p:nvSpPr>
        <p:spPr>
          <a:xfrm>
            <a:off x="19240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20447657-9BC0-5BB6-DB08-C538C3D75CC5}"/>
              </a:ext>
            </a:extLst>
          </p:cNvPr>
          <p:cNvSpPr/>
          <p:nvPr/>
        </p:nvSpPr>
        <p:spPr>
          <a:xfrm>
            <a:off x="24955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5D5E392F-B6D7-0AAD-E1B7-ADEA1035323C}"/>
              </a:ext>
            </a:extLst>
          </p:cNvPr>
          <p:cNvSpPr/>
          <p:nvPr/>
        </p:nvSpPr>
        <p:spPr>
          <a:xfrm>
            <a:off x="30670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714BE09-9729-2248-C82A-99EEF1638BBA}"/>
              </a:ext>
            </a:extLst>
          </p:cNvPr>
          <p:cNvSpPr/>
          <p:nvPr/>
        </p:nvSpPr>
        <p:spPr>
          <a:xfrm>
            <a:off x="36385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120AE53C-AD06-AF69-1DEA-A7E266458C22}"/>
              </a:ext>
            </a:extLst>
          </p:cNvPr>
          <p:cNvSpPr/>
          <p:nvPr/>
        </p:nvSpPr>
        <p:spPr>
          <a:xfrm>
            <a:off x="42100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25B3AD8B-5000-037E-A250-EBE72498B4DB}"/>
              </a:ext>
            </a:extLst>
          </p:cNvPr>
          <p:cNvSpPr/>
          <p:nvPr/>
        </p:nvSpPr>
        <p:spPr>
          <a:xfrm>
            <a:off x="47815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8C2155B3-B645-08DE-4131-2141758524A2}"/>
              </a:ext>
            </a:extLst>
          </p:cNvPr>
          <p:cNvSpPr/>
          <p:nvPr/>
        </p:nvSpPr>
        <p:spPr>
          <a:xfrm>
            <a:off x="53530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F1CBA875-1FFC-FA9F-8AA5-9E2BCDBF8768}"/>
              </a:ext>
            </a:extLst>
          </p:cNvPr>
          <p:cNvSpPr/>
          <p:nvPr/>
        </p:nvSpPr>
        <p:spPr>
          <a:xfrm>
            <a:off x="5924550" y="7315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0E44C347-DEA5-9A18-8FB1-6A55C3895CA5}"/>
              </a:ext>
            </a:extLst>
          </p:cNvPr>
          <p:cNvSpPr/>
          <p:nvPr/>
        </p:nvSpPr>
        <p:spPr>
          <a:xfrm>
            <a:off x="7810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B14B6381-B575-8034-6F8F-500FEA1FC63D}"/>
              </a:ext>
            </a:extLst>
          </p:cNvPr>
          <p:cNvSpPr/>
          <p:nvPr/>
        </p:nvSpPr>
        <p:spPr>
          <a:xfrm>
            <a:off x="13525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B0DB6144-A329-EEA6-B123-08105D5A7B45}"/>
              </a:ext>
            </a:extLst>
          </p:cNvPr>
          <p:cNvSpPr/>
          <p:nvPr/>
        </p:nvSpPr>
        <p:spPr>
          <a:xfrm>
            <a:off x="19240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EFAA9386-82BF-E611-495C-B60675E1CBD7}"/>
              </a:ext>
            </a:extLst>
          </p:cNvPr>
          <p:cNvSpPr/>
          <p:nvPr/>
        </p:nvSpPr>
        <p:spPr>
          <a:xfrm>
            <a:off x="24955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4CA2869D-02C3-C3FB-3FAD-2F83DFCD5D8D}"/>
              </a:ext>
            </a:extLst>
          </p:cNvPr>
          <p:cNvSpPr/>
          <p:nvPr/>
        </p:nvSpPr>
        <p:spPr>
          <a:xfrm>
            <a:off x="30670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A3BA150E-7D80-1685-65CC-484A618FA09D}"/>
              </a:ext>
            </a:extLst>
          </p:cNvPr>
          <p:cNvSpPr/>
          <p:nvPr/>
        </p:nvSpPr>
        <p:spPr>
          <a:xfrm>
            <a:off x="36385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5D6842A1-EC34-377F-7456-822F4D2DE5EA}"/>
              </a:ext>
            </a:extLst>
          </p:cNvPr>
          <p:cNvSpPr/>
          <p:nvPr/>
        </p:nvSpPr>
        <p:spPr>
          <a:xfrm>
            <a:off x="42100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ACFDCF76-3487-D00B-37F0-3E4C19310F93}"/>
              </a:ext>
            </a:extLst>
          </p:cNvPr>
          <p:cNvSpPr/>
          <p:nvPr/>
        </p:nvSpPr>
        <p:spPr>
          <a:xfrm>
            <a:off x="47815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E05545B1-FFBB-63D9-16A8-5411FFD41698}"/>
              </a:ext>
            </a:extLst>
          </p:cNvPr>
          <p:cNvSpPr/>
          <p:nvPr/>
        </p:nvSpPr>
        <p:spPr>
          <a:xfrm>
            <a:off x="53530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207B8653-0C6E-21D5-CF55-7FA3B568CFF9}"/>
              </a:ext>
            </a:extLst>
          </p:cNvPr>
          <p:cNvSpPr/>
          <p:nvPr/>
        </p:nvSpPr>
        <p:spPr>
          <a:xfrm>
            <a:off x="5924550" y="78867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4AC91E8B-C21B-EC36-DA0E-8AAFB372DAD3}"/>
              </a:ext>
            </a:extLst>
          </p:cNvPr>
          <p:cNvSpPr/>
          <p:nvPr/>
        </p:nvSpPr>
        <p:spPr>
          <a:xfrm>
            <a:off x="7810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173CA30A-D39F-B3F0-111F-C00E62A94BF1}"/>
              </a:ext>
            </a:extLst>
          </p:cNvPr>
          <p:cNvSpPr/>
          <p:nvPr/>
        </p:nvSpPr>
        <p:spPr>
          <a:xfrm>
            <a:off x="13525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F9C3677B-01B9-D7D3-560A-73B6F0FF6AD9}"/>
              </a:ext>
            </a:extLst>
          </p:cNvPr>
          <p:cNvSpPr/>
          <p:nvPr/>
        </p:nvSpPr>
        <p:spPr>
          <a:xfrm>
            <a:off x="19240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082AF82F-7900-C315-B36C-6B53B579D80C}"/>
              </a:ext>
            </a:extLst>
          </p:cNvPr>
          <p:cNvSpPr/>
          <p:nvPr/>
        </p:nvSpPr>
        <p:spPr>
          <a:xfrm>
            <a:off x="24955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B986F80B-8AD3-8F79-F152-793DA13CDC4A}"/>
              </a:ext>
            </a:extLst>
          </p:cNvPr>
          <p:cNvSpPr/>
          <p:nvPr/>
        </p:nvSpPr>
        <p:spPr>
          <a:xfrm>
            <a:off x="30670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2278978C-3DCE-11F7-7783-03223C5BE074}"/>
              </a:ext>
            </a:extLst>
          </p:cNvPr>
          <p:cNvSpPr/>
          <p:nvPr/>
        </p:nvSpPr>
        <p:spPr>
          <a:xfrm>
            <a:off x="36385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3C14160A-C4A0-71F4-A628-D76706BEAF07}"/>
              </a:ext>
            </a:extLst>
          </p:cNvPr>
          <p:cNvSpPr/>
          <p:nvPr/>
        </p:nvSpPr>
        <p:spPr>
          <a:xfrm>
            <a:off x="42100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B4C5AF66-A0E1-7FCE-DA51-FE80A7C8FEB5}"/>
              </a:ext>
            </a:extLst>
          </p:cNvPr>
          <p:cNvSpPr/>
          <p:nvPr/>
        </p:nvSpPr>
        <p:spPr>
          <a:xfrm>
            <a:off x="47815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4A57ED86-E757-E932-3459-77A6097BBD2E}"/>
              </a:ext>
            </a:extLst>
          </p:cNvPr>
          <p:cNvSpPr/>
          <p:nvPr/>
        </p:nvSpPr>
        <p:spPr>
          <a:xfrm>
            <a:off x="53530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AAC71F53-1AB7-6FB6-F0C0-F45B57F6F858}"/>
              </a:ext>
            </a:extLst>
          </p:cNvPr>
          <p:cNvSpPr/>
          <p:nvPr/>
        </p:nvSpPr>
        <p:spPr>
          <a:xfrm>
            <a:off x="5924550" y="8458200"/>
            <a:ext cx="457200" cy="457200"/>
          </a:xfrm>
          <a:custGeom>
            <a:avLst/>
            <a:gdLst>
              <a:gd name="connsiteX0" fmla="*/ 0 w 457200"/>
              <a:gd name="connsiteY0" fmla="*/ 0 h 457200"/>
              <a:gd name="connsiteX1" fmla="*/ 457200 w 457200"/>
              <a:gd name="connsiteY1" fmla="*/ 0 h 457200"/>
              <a:gd name="connsiteX2" fmla="*/ 457200 w 457200"/>
              <a:gd name="connsiteY2" fmla="*/ 457200 h 457200"/>
              <a:gd name="connsiteX3" fmla="*/ 0 w 4572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B28C0CEE-37E7-7E13-04D4-A19BBF68114D}"/>
              </a:ext>
            </a:extLst>
          </p:cNvPr>
          <p:cNvSpPr/>
          <p:nvPr/>
        </p:nvSpPr>
        <p:spPr>
          <a:xfrm>
            <a:off x="6838950" y="7934325"/>
            <a:ext cx="304800" cy="190500"/>
          </a:xfrm>
          <a:custGeom>
            <a:avLst/>
            <a:gdLst>
              <a:gd name="connsiteX0" fmla="*/ 0 w 304800"/>
              <a:gd name="connsiteY0" fmla="*/ 0 h 190500"/>
              <a:gd name="connsiteX1" fmla="*/ 304800 w 304800"/>
              <a:gd name="connsiteY1" fmla="*/ 0 h 190500"/>
              <a:gd name="connsiteX2" fmla="*/ 304800 w 304800"/>
              <a:gd name="connsiteY2" fmla="*/ 190500 h 190500"/>
              <a:gd name="connsiteX3" fmla="*/ 0 w 30480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90500">
                <a:moveTo>
                  <a:pt x="0" y="0"/>
                </a:moveTo>
                <a:lnTo>
                  <a:pt x="304800" y="0"/>
                </a:lnTo>
                <a:lnTo>
                  <a:pt x="3048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4FABA3D-384D-8CD7-0971-5DF3134CD824}"/>
              </a:ext>
            </a:extLst>
          </p:cNvPr>
          <p:cNvSpPr txBox="1"/>
          <p:nvPr/>
        </p:nvSpPr>
        <p:spPr>
          <a:xfrm>
            <a:off x="6747510" y="7887842"/>
            <a:ext cx="452628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F3F3F3"/>
                </a:solidFill>
                <a:latin typeface="Plus Jakarta Sans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3E387B1-7CA8-CF31-5F2F-DF2F03BC8BDC}"/>
              </a:ext>
            </a:extLst>
          </p:cNvPr>
          <p:cNvSpPr txBox="1"/>
          <p:nvPr/>
        </p:nvSpPr>
        <p:spPr>
          <a:xfrm>
            <a:off x="6747510" y="8268271"/>
            <a:ext cx="2547175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+80% Transaction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137962E-FF8D-15D1-00F5-417471748FAB}"/>
              </a:ext>
            </a:extLst>
          </p:cNvPr>
          <p:cNvSpPr txBox="1"/>
          <p:nvPr/>
        </p:nvSpPr>
        <p:spPr>
          <a:xfrm>
            <a:off x="6747510" y="8678417"/>
            <a:ext cx="1407413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Daily transaction </a:t>
            </a:r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9C7FD6E6-5114-5908-3BF4-A7A54FEE4DB5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3154EEC-C29C-F478-D4CE-D61880C81A66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1967205-ABEE-E193-FB45-CBB03A920EB6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01E6FCB-9E53-09CC-3C8B-65B63EB8F327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991B40D-DEF4-DF17-4245-D98C76B51BB9}"/>
              </a:ext>
            </a:extLst>
          </p:cNvPr>
          <p:cNvSpPr txBox="1"/>
          <p:nvPr/>
        </p:nvSpPr>
        <p:spPr>
          <a:xfrm>
            <a:off x="14910436" y="6335267"/>
            <a:ext cx="3106749" cy="83099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2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  <a:endParaRPr lang="nb-NO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nb-NO" sz="1200">
                <a:solidFill>
                  <a:srgbClr val="2E2E2E"/>
                </a:solidFill>
                <a:latin typeface="Plus Jakarta Sans" pitchFamily="2" charset="0"/>
              </a:rPr>
              <a:t>consectetur adipiscing elit. Ut et </a:t>
            </a:r>
            <a:endParaRPr lang="sv-SE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massa mi. Aliquam in hendrerit urna. </a:t>
            </a: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Pellentesque sit amet sapien.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3DAB0C7-F961-FF63-1906-C53CC9E49718}"/>
              </a:ext>
            </a:extLst>
          </p:cNvPr>
          <p:cNvSpPr txBox="1"/>
          <p:nvPr/>
        </p:nvSpPr>
        <p:spPr>
          <a:xfrm>
            <a:off x="11043285" y="1860994"/>
            <a:ext cx="5790361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Our impact in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measurable form.</a:t>
            </a:r>
          </a:p>
        </p:txBody>
      </p:sp>
      <p:sp>
        <p:nvSpPr>
          <p:cNvPr id="160" name="Picture Placeholder 159">
            <a:extLst>
              <a:ext uri="{FF2B5EF4-FFF2-40B4-BE49-F238E27FC236}">
                <a16:creationId xmlns:a16="http://schemas.microsoft.com/office/drawing/2014/main" id="{B1EAD96E-DBAD-382D-1886-C3BC509C5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3579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98B869-E299-2106-EF3F-58C8B343EC30}"/>
              </a:ext>
            </a:extLst>
          </p:cNvPr>
          <p:cNvSpPr txBox="1"/>
          <p:nvPr/>
        </p:nvSpPr>
        <p:spPr>
          <a:xfrm>
            <a:off x="670560" y="1118044"/>
            <a:ext cx="2992526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Our 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7CC46-C949-C21A-7396-E45ECE9D49D2}"/>
              </a:ext>
            </a:extLst>
          </p:cNvPr>
          <p:cNvSpPr txBox="1"/>
          <p:nvPr/>
        </p:nvSpPr>
        <p:spPr>
          <a:xfrm>
            <a:off x="670560" y="1925002"/>
            <a:ext cx="2886456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The people behind innovation.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A89EE5-07DB-BE17-9281-99B5574C74D5}"/>
              </a:ext>
            </a:extLst>
          </p:cNvPr>
          <p:cNvSpPr/>
          <p:nvPr/>
        </p:nvSpPr>
        <p:spPr>
          <a:xfrm>
            <a:off x="762000" y="5505450"/>
            <a:ext cx="1057275" cy="257175"/>
          </a:xfrm>
          <a:custGeom>
            <a:avLst/>
            <a:gdLst>
              <a:gd name="connsiteX0" fmla="*/ 0 w 1057275"/>
              <a:gd name="connsiteY0" fmla="*/ 0 h 257175"/>
              <a:gd name="connsiteX1" fmla="*/ 1057275 w 1057275"/>
              <a:gd name="connsiteY1" fmla="*/ 0 h 257175"/>
              <a:gd name="connsiteX2" fmla="*/ 1057275 w 1057275"/>
              <a:gd name="connsiteY2" fmla="*/ 257175 h 257175"/>
              <a:gd name="connsiteX3" fmla="*/ 0 w 1057275"/>
              <a:gd name="connsiteY3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257175">
                <a:moveTo>
                  <a:pt x="0" y="0"/>
                </a:moveTo>
                <a:lnTo>
                  <a:pt x="1057275" y="0"/>
                </a:lnTo>
                <a:lnTo>
                  <a:pt x="1057275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59FBDF-1933-948F-E31B-DE8A34F41977}"/>
              </a:ext>
            </a:extLst>
          </p:cNvPr>
          <p:cNvSpPr txBox="1"/>
          <p:nvPr/>
        </p:nvSpPr>
        <p:spPr>
          <a:xfrm>
            <a:off x="670560" y="5438489"/>
            <a:ext cx="1237811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Aisha Khan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57B0-8B64-1030-B184-5A0C3FCDF55D}"/>
              </a:ext>
            </a:extLst>
          </p:cNvPr>
          <p:cNvSpPr txBox="1"/>
          <p:nvPr/>
        </p:nvSpPr>
        <p:spPr>
          <a:xfrm>
            <a:off x="1765935" y="5439727"/>
            <a:ext cx="1885949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– Product Manager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71EE4-103D-2E20-E9B0-A2504F3FC083}"/>
              </a:ext>
            </a:extLst>
          </p:cNvPr>
          <p:cNvSpPr txBox="1"/>
          <p:nvPr/>
        </p:nvSpPr>
        <p:spPr>
          <a:xfrm>
            <a:off x="670560" y="5801867"/>
            <a:ext cx="2719730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Driving product vision and strategy.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9BF68D0-A85C-C5B2-164F-DEBA20A72E2F}"/>
              </a:ext>
            </a:extLst>
          </p:cNvPr>
          <p:cNvSpPr/>
          <p:nvPr/>
        </p:nvSpPr>
        <p:spPr>
          <a:xfrm>
            <a:off x="5010150" y="5505450"/>
            <a:ext cx="1057275" cy="257175"/>
          </a:xfrm>
          <a:custGeom>
            <a:avLst/>
            <a:gdLst>
              <a:gd name="connsiteX0" fmla="*/ 0 w 1057275"/>
              <a:gd name="connsiteY0" fmla="*/ 0 h 257175"/>
              <a:gd name="connsiteX1" fmla="*/ 1057275 w 1057275"/>
              <a:gd name="connsiteY1" fmla="*/ 0 h 257175"/>
              <a:gd name="connsiteX2" fmla="*/ 1057275 w 1057275"/>
              <a:gd name="connsiteY2" fmla="*/ 257175 h 257175"/>
              <a:gd name="connsiteX3" fmla="*/ 0 w 1057275"/>
              <a:gd name="connsiteY3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257175">
                <a:moveTo>
                  <a:pt x="0" y="0"/>
                </a:moveTo>
                <a:lnTo>
                  <a:pt x="1057275" y="0"/>
                </a:lnTo>
                <a:lnTo>
                  <a:pt x="1057275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CB0EA1-62DD-7218-9112-C2B8C4E35833}"/>
              </a:ext>
            </a:extLst>
          </p:cNvPr>
          <p:cNvSpPr txBox="1"/>
          <p:nvPr/>
        </p:nvSpPr>
        <p:spPr>
          <a:xfrm>
            <a:off x="4918710" y="5438489"/>
            <a:ext cx="1234011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Maya Patel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67631-D2C0-73CA-5AEA-621FA03ADBE8}"/>
              </a:ext>
            </a:extLst>
          </p:cNvPr>
          <p:cNvSpPr txBox="1"/>
          <p:nvPr/>
        </p:nvSpPr>
        <p:spPr>
          <a:xfrm>
            <a:off x="6014085" y="5439727"/>
            <a:ext cx="1895665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– Graphic Designer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161F1-FDB2-A561-D6F5-FFCD6647152A}"/>
              </a:ext>
            </a:extLst>
          </p:cNvPr>
          <p:cNvSpPr txBox="1"/>
          <p:nvPr/>
        </p:nvSpPr>
        <p:spPr>
          <a:xfrm>
            <a:off x="4918710" y="5801867"/>
            <a:ext cx="2774289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Creating stunning visuals for brands.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E04F002-B903-D8EA-034E-CD1B45D01297}"/>
              </a:ext>
            </a:extLst>
          </p:cNvPr>
          <p:cNvSpPr/>
          <p:nvPr/>
        </p:nvSpPr>
        <p:spPr>
          <a:xfrm>
            <a:off x="9258300" y="5505450"/>
            <a:ext cx="1114425" cy="257175"/>
          </a:xfrm>
          <a:custGeom>
            <a:avLst/>
            <a:gdLst>
              <a:gd name="connsiteX0" fmla="*/ 0 w 1114425"/>
              <a:gd name="connsiteY0" fmla="*/ 0 h 257175"/>
              <a:gd name="connsiteX1" fmla="*/ 1114425 w 1114425"/>
              <a:gd name="connsiteY1" fmla="*/ 0 h 257175"/>
              <a:gd name="connsiteX2" fmla="*/ 1114425 w 1114425"/>
              <a:gd name="connsiteY2" fmla="*/ 257175 h 257175"/>
              <a:gd name="connsiteX3" fmla="*/ 0 w 1114425"/>
              <a:gd name="connsiteY3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257175">
                <a:moveTo>
                  <a:pt x="0" y="0"/>
                </a:moveTo>
                <a:lnTo>
                  <a:pt x="1114425" y="0"/>
                </a:lnTo>
                <a:lnTo>
                  <a:pt x="1114425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DBFC05-CB6B-C553-4F38-DAD7812CFD58}"/>
              </a:ext>
            </a:extLst>
          </p:cNvPr>
          <p:cNvSpPr txBox="1"/>
          <p:nvPr/>
        </p:nvSpPr>
        <p:spPr>
          <a:xfrm>
            <a:off x="9166860" y="5438489"/>
            <a:ext cx="1296419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Clara Smith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A13D62-8CB2-2445-01A4-39934BB14C88}"/>
              </a:ext>
            </a:extLst>
          </p:cNvPr>
          <p:cNvSpPr txBox="1"/>
          <p:nvPr/>
        </p:nvSpPr>
        <p:spPr>
          <a:xfrm>
            <a:off x="10319385" y="5439727"/>
            <a:ext cx="2003297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– Content Strategist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5200C3-426B-A4F0-62B2-C749C756E62B}"/>
              </a:ext>
            </a:extLst>
          </p:cNvPr>
          <p:cNvSpPr txBox="1"/>
          <p:nvPr/>
        </p:nvSpPr>
        <p:spPr>
          <a:xfrm>
            <a:off x="9166860" y="5801867"/>
            <a:ext cx="3238500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Developing compelling content narratives.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7C60020-E92A-6D7B-5D50-8C1FBFD4021C}"/>
              </a:ext>
            </a:extLst>
          </p:cNvPr>
          <p:cNvSpPr/>
          <p:nvPr/>
        </p:nvSpPr>
        <p:spPr>
          <a:xfrm>
            <a:off x="762000" y="8991600"/>
            <a:ext cx="1019175" cy="257175"/>
          </a:xfrm>
          <a:custGeom>
            <a:avLst/>
            <a:gdLst>
              <a:gd name="connsiteX0" fmla="*/ 0 w 1019175"/>
              <a:gd name="connsiteY0" fmla="*/ 0 h 257175"/>
              <a:gd name="connsiteX1" fmla="*/ 1019175 w 1019175"/>
              <a:gd name="connsiteY1" fmla="*/ 0 h 257175"/>
              <a:gd name="connsiteX2" fmla="*/ 1019175 w 1019175"/>
              <a:gd name="connsiteY2" fmla="*/ 257175 h 257175"/>
              <a:gd name="connsiteX3" fmla="*/ 0 w 1019175"/>
              <a:gd name="connsiteY3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9175" h="257175">
                <a:moveTo>
                  <a:pt x="0" y="0"/>
                </a:moveTo>
                <a:lnTo>
                  <a:pt x="1019175" y="0"/>
                </a:lnTo>
                <a:lnTo>
                  <a:pt x="1019175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EB367F-88E4-F597-2913-84DE63EFA052}"/>
              </a:ext>
            </a:extLst>
          </p:cNvPr>
          <p:cNvSpPr txBox="1"/>
          <p:nvPr/>
        </p:nvSpPr>
        <p:spPr>
          <a:xfrm>
            <a:off x="670560" y="8924639"/>
            <a:ext cx="1192806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Liam Chen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EF5BB1-5448-2F46-70D0-D59099C38200}"/>
              </a:ext>
            </a:extLst>
          </p:cNvPr>
          <p:cNvSpPr txBox="1"/>
          <p:nvPr/>
        </p:nvSpPr>
        <p:spPr>
          <a:xfrm>
            <a:off x="1727835" y="8925877"/>
            <a:ext cx="2129980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– Frontend Developer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1E05D0-46C3-FADE-6CDF-437576E67C51}"/>
              </a:ext>
            </a:extLst>
          </p:cNvPr>
          <p:cNvSpPr txBox="1"/>
          <p:nvPr/>
        </p:nvSpPr>
        <p:spPr>
          <a:xfrm>
            <a:off x="670560" y="9288017"/>
            <a:ext cx="2910535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Crafting responsive web applications.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6096EB-7A4E-2B81-0E37-74182041DC23}"/>
              </a:ext>
            </a:extLst>
          </p:cNvPr>
          <p:cNvSpPr/>
          <p:nvPr/>
        </p:nvSpPr>
        <p:spPr>
          <a:xfrm>
            <a:off x="5010150" y="8991600"/>
            <a:ext cx="1314450" cy="257175"/>
          </a:xfrm>
          <a:custGeom>
            <a:avLst/>
            <a:gdLst>
              <a:gd name="connsiteX0" fmla="*/ 0 w 1314450"/>
              <a:gd name="connsiteY0" fmla="*/ 0 h 257175"/>
              <a:gd name="connsiteX1" fmla="*/ 1314450 w 1314450"/>
              <a:gd name="connsiteY1" fmla="*/ 0 h 257175"/>
              <a:gd name="connsiteX2" fmla="*/ 1314450 w 1314450"/>
              <a:gd name="connsiteY2" fmla="*/ 257175 h 257175"/>
              <a:gd name="connsiteX3" fmla="*/ 0 w 1314450"/>
              <a:gd name="connsiteY3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0" h="257175">
                <a:moveTo>
                  <a:pt x="0" y="0"/>
                </a:moveTo>
                <a:lnTo>
                  <a:pt x="1314450" y="0"/>
                </a:lnTo>
                <a:lnTo>
                  <a:pt x="131445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A31534-B948-3B01-B1DF-8A070B490C4D}"/>
              </a:ext>
            </a:extLst>
          </p:cNvPr>
          <p:cNvSpPr txBox="1"/>
          <p:nvPr/>
        </p:nvSpPr>
        <p:spPr>
          <a:xfrm>
            <a:off x="4918710" y="8924639"/>
            <a:ext cx="1488443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Rajesh Verma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0980CD-410F-C4C3-9677-FA1A4ED7AC7E}"/>
              </a:ext>
            </a:extLst>
          </p:cNvPr>
          <p:cNvSpPr txBox="1"/>
          <p:nvPr/>
        </p:nvSpPr>
        <p:spPr>
          <a:xfrm>
            <a:off x="6271260" y="8925877"/>
            <a:ext cx="1442275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– Data Analyst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3056A9-16EC-B807-63D2-3F372B79B8D3}"/>
              </a:ext>
            </a:extLst>
          </p:cNvPr>
          <p:cNvSpPr txBox="1"/>
          <p:nvPr/>
        </p:nvSpPr>
        <p:spPr>
          <a:xfrm>
            <a:off x="4918710" y="9288017"/>
            <a:ext cx="3217774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Transforming data into actionable insights.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792E209-F195-DBBD-D163-D864571299D0}"/>
              </a:ext>
            </a:extLst>
          </p:cNvPr>
          <p:cNvSpPr/>
          <p:nvPr/>
        </p:nvSpPr>
        <p:spPr>
          <a:xfrm>
            <a:off x="9258300" y="8991600"/>
            <a:ext cx="1228725" cy="257175"/>
          </a:xfrm>
          <a:custGeom>
            <a:avLst/>
            <a:gdLst>
              <a:gd name="connsiteX0" fmla="*/ 0 w 1228725"/>
              <a:gd name="connsiteY0" fmla="*/ 0 h 257175"/>
              <a:gd name="connsiteX1" fmla="*/ 1228725 w 1228725"/>
              <a:gd name="connsiteY1" fmla="*/ 0 h 257175"/>
              <a:gd name="connsiteX2" fmla="*/ 1228725 w 1228725"/>
              <a:gd name="connsiteY2" fmla="*/ 257175 h 257175"/>
              <a:gd name="connsiteX3" fmla="*/ 0 w 1228725"/>
              <a:gd name="connsiteY3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725" h="257175">
                <a:moveTo>
                  <a:pt x="0" y="0"/>
                </a:moveTo>
                <a:lnTo>
                  <a:pt x="1228725" y="0"/>
                </a:lnTo>
                <a:lnTo>
                  <a:pt x="1228725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4FE193-80A6-90C5-CCA3-3F4611FDA0B9}"/>
              </a:ext>
            </a:extLst>
          </p:cNvPr>
          <p:cNvSpPr txBox="1"/>
          <p:nvPr/>
        </p:nvSpPr>
        <p:spPr>
          <a:xfrm>
            <a:off x="9166860" y="8924639"/>
            <a:ext cx="1410033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Ethan Brown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F44BD8-817A-4B14-68AA-A58177916EC5}"/>
              </a:ext>
            </a:extLst>
          </p:cNvPr>
          <p:cNvSpPr txBox="1"/>
          <p:nvPr/>
        </p:nvSpPr>
        <p:spPr>
          <a:xfrm>
            <a:off x="10433685" y="8925877"/>
            <a:ext cx="2153221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– Marketing Specialist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12690B-8EA5-5744-3D93-C03AC151A3D5}"/>
              </a:ext>
            </a:extLst>
          </p:cNvPr>
          <p:cNvSpPr txBox="1"/>
          <p:nvPr/>
        </p:nvSpPr>
        <p:spPr>
          <a:xfrm>
            <a:off x="9166860" y="9288017"/>
            <a:ext cx="3569969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Executing campaigns that engage and convert.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5CE97AB-90FE-4EAB-EC80-85E528ED6057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0415D8-B239-FE9B-631A-BA8170DAD6EB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F8B88F-DA6E-1B25-458B-4E73D045F6F4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30E79D-42B8-DCBC-AA4D-16ED24F7DE6C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7AB6BB-3467-3EFA-A118-0F33FBDB4460}"/>
              </a:ext>
            </a:extLst>
          </p:cNvPr>
          <p:cNvSpPr txBox="1"/>
          <p:nvPr/>
        </p:nvSpPr>
        <p:spPr>
          <a:xfrm>
            <a:off x="14834236" y="6220967"/>
            <a:ext cx="3106749" cy="175432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2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  <a:endParaRPr lang="nb-NO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nb-NO" sz="1200">
                <a:solidFill>
                  <a:srgbClr val="2E2E2E"/>
                </a:solidFill>
                <a:latin typeface="Plus Jakarta Sans" pitchFamily="2" charset="0"/>
              </a:rPr>
              <a:t>consectetur adipiscing elit. Ut et </a:t>
            </a:r>
            <a:endParaRPr lang="sv-SE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massa mi. Aliquam in hendrerit urna. </a:t>
            </a: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Pellentesque sit amet sapien </a:t>
            </a: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fringilla, mattis ligula consectetur, </a:t>
            </a: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ultrices mauris. Maecenas vitae </a:t>
            </a:r>
            <a:endParaRPr lang="fr-FR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fr-FR" sz="1200">
                <a:solidFill>
                  <a:srgbClr val="2E2E2E"/>
                </a:solidFill>
                <a:latin typeface="Plus Jakarta Sans" pitchFamily="2" charset="0"/>
              </a:rPr>
              <a:t>mattis tellus. Nullam quis imperdiet </a:t>
            </a:r>
          </a:p>
          <a:p>
            <a:r>
              <a:rPr lang="fr-FR" sz="1200">
                <a:solidFill>
                  <a:srgbClr val="2E2E2E"/>
                </a:solidFill>
                <a:latin typeface="Plus Jakarta Sans" pitchFamily="2" charset="0"/>
              </a:rPr>
              <a:t>augue. Vestibulum auctor ornare </a:t>
            </a:r>
            <a:endParaRPr lang="it-IT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it-IT" sz="1200">
                <a:solidFill>
                  <a:srgbClr val="2E2E2E"/>
                </a:solidFill>
                <a:latin typeface="Plus Jakarta Sans" pitchFamily="2" charset="0"/>
              </a:rPr>
              <a:t>leo, non suscipit magna interdum. 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10344BA0-E292-1D21-F3D2-ECA444DFC9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AF8DC89D-BD1B-B07F-36CA-76E279F441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5B300A40-5EE2-CA60-500A-DAC85CC0CC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873142A7-E6ED-20E6-D0FB-A5D2722172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0B5EB1E-8008-B74F-7495-AD197E6409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1" name="Picture Placeholder 70">
            <a:extLst>
              <a:ext uri="{FF2B5EF4-FFF2-40B4-BE49-F238E27FC236}">
                <a16:creationId xmlns:a16="http://schemas.microsoft.com/office/drawing/2014/main" id="{5DACE088-65CE-14AA-1F59-02CE62E76BA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294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6C81DD5-8708-1BB6-CBD9-AEC6D5E95665}"/>
              </a:ext>
            </a:extLst>
          </p:cNvPr>
          <p:cNvSpPr/>
          <p:nvPr/>
        </p:nvSpPr>
        <p:spPr>
          <a:xfrm>
            <a:off x="762000" y="4133850"/>
            <a:ext cx="1943100" cy="400050"/>
          </a:xfrm>
          <a:custGeom>
            <a:avLst/>
            <a:gdLst>
              <a:gd name="connsiteX0" fmla="*/ 0 w 1943100"/>
              <a:gd name="connsiteY0" fmla="*/ 0 h 400050"/>
              <a:gd name="connsiteX1" fmla="*/ 1943100 w 1943100"/>
              <a:gd name="connsiteY1" fmla="*/ 0 h 400050"/>
              <a:gd name="connsiteX2" fmla="*/ 1943100 w 1943100"/>
              <a:gd name="connsiteY2" fmla="*/ 400050 h 400050"/>
              <a:gd name="connsiteX3" fmla="*/ 0 w 1943100"/>
              <a:gd name="connsiteY3" fmla="*/ 40005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3100" h="400050">
                <a:moveTo>
                  <a:pt x="0" y="0"/>
                </a:moveTo>
                <a:lnTo>
                  <a:pt x="1943100" y="0"/>
                </a:lnTo>
                <a:lnTo>
                  <a:pt x="19431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75163-D45C-6BFE-E9DA-3785315B0BA5}"/>
              </a:ext>
            </a:extLst>
          </p:cNvPr>
          <p:cNvSpPr txBox="1"/>
          <p:nvPr/>
        </p:nvSpPr>
        <p:spPr>
          <a:xfrm>
            <a:off x="670560" y="4163377"/>
            <a:ext cx="2129218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From ideas to impact.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2E01B76-B0DA-4FF5-35C7-7A6D8979C6F1}"/>
              </a:ext>
            </a:extLst>
          </p:cNvPr>
          <p:cNvSpPr/>
          <p:nvPr/>
        </p:nvSpPr>
        <p:spPr>
          <a:xfrm>
            <a:off x="16335375" y="748665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CD9E361-756E-FD21-6382-A3D758F87FC2}"/>
              </a:ext>
            </a:extLst>
          </p:cNvPr>
          <p:cNvSpPr/>
          <p:nvPr/>
        </p:nvSpPr>
        <p:spPr>
          <a:xfrm>
            <a:off x="16605217" y="7753350"/>
            <a:ext cx="660464" cy="609600"/>
          </a:xfrm>
          <a:custGeom>
            <a:avLst/>
            <a:gdLst>
              <a:gd name="connsiteX0" fmla="*/ 58293 w 660464"/>
              <a:gd name="connsiteY0" fmla="*/ 0 h 609600"/>
              <a:gd name="connsiteX1" fmla="*/ 0 w 660464"/>
              <a:gd name="connsiteY1" fmla="*/ 0 h 609600"/>
              <a:gd name="connsiteX2" fmla="*/ 0 w 660464"/>
              <a:gd name="connsiteY2" fmla="*/ 609600 h 609600"/>
              <a:gd name="connsiteX3" fmla="*/ 369094 w 660464"/>
              <a:gd name="connsiteY3" fmla="*/ 609600 h 609600"/>
              <a:gd name="connsiteX4" fmla="*/ 58293 w 660464"/>
              <a:gd name="connsiteY4" fmla="*/ 0 h 609600"/>
              <a:gd name="connsiteX5" fmla="*/ 271939 w 660464"/>
              <a:gd name="connsiteY5" fmla="*/ 0 h 609600"/>
              <a:gd name="connsiteX6" fmla="*/ 582740 w 660464"/>
              <a:gd name="connsiteY6" fmla="*/ 609600 h 609600"/>
              <a:gd name="connsiteX7" fmla="*/ 660464 w 660464"/>
              <a:gd name="connsiteY7" fmla="*/ 609600 h 609600"/>
              <a:gd name="connsiteX8" fmla="*/ 660464 w 660464"/>
              <a:gd name="connsiteY8" fmla="*/ 0 h 609600"/>
              <a:gd name="connsiteX9" fmla="*/ 271939 w 660464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64" h="609600">
                <a:moveTo>
                  <a:pt x="58293" y="0"/>
                </a:moveTo>
                <a:lnTo>
                  <a:pt x="0" y="0"/>
                </a:lnTo>
                <a:lnTo>
                  <a:pt x="0" y="609600"/>
                </a:lnTo>
                <a:lnTo>
                  <a:pt x="369094" y="609600"/>
                </a:lnTo>
                <a:lnTo>
                  <a:pt x="58293" y="0"/>
                </a:lnTo>
                <a:close/>
                <a:moveTo>
                  <a:pt x="271939" y="0"/>
                </a:moveTo>
                <a:lnTo>
                  <a:pt x="582740" y="609600"/>
                </a:lnTo>
                <a:lnTo>
                  <a:pt x="660464" y="609600"/>
                </a:lnTo>
                <a:lnTo>
                  <a:pt x="660464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5FE0C04-BB09-E66B-67CF-23389389BBD6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639F48-1BA5-15BF-1AB5-D5E1D5EF7940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3C8314-9362-9418-EACC-E2A57955CF0E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DA4244-CFC4-C5CD-5856-9E3835E234CF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84B0A-F857-39D9-E71F-D4A692AD4A9E}"/>
              </a:ext>
            </a:extLst>
          </p:cNvPr>
          <p:cNvSpPr txBox="1"/>
          <p:nvPr/>
        </p:nvSpPr>
        <p:spPr>
          <a:xfrm>
            <a:off x="670560" y="7354252"/>
            <a:ext cx="4230242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Include product mockups, event photos,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and user-generated content.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A0C76A-B5A3-78EF-6E91-E3E81F5FA721}"/>
              </a:ext>
            </a:extLst>
          </p:cNvPr>
          <p:cNvSpPr txBox="1"/>
          <p:nvPr/>
        </p:nvSpPr>
        <p:spPr>
          <a:xfrm>
            <a:off x="670560" y="5109019"/>
            <a:ext cx="4367555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A look inside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our journey.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47B61FF-CFAD-31CC-091D-F90DFE1C87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9211BCC-AA98-F21F-AC52-2FFC0B2249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BD69AFF-01E9-6508-119F-9E45D9FAFF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3152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AA02E8-0DE1-F2AF-9A3C-CCDDF6B3059B}"/>
              </a:ext>
            </a:extLst>
          </p:cNvPr>
          <p:cNvSpPr/>
          <p:nvPr/>
        </p:nvSpPr>
        <p:spPr>
          <a:xfrm>
            <a:off x="7610475" y="0"/>
            <a:ext cx="5667375" cy="10287000"/>
          </a:xfrm>
          <a:custGeom>
            <a:avLst/>
            <a:gdLst>
              <a:gd name="connsiteX0" fmla="*/ 0 w 5667375"/>
              <a:gd name="connsiteY0" fmla="*/ 0 h 10287000"/>
              <a:gd name="connsiteX1" fmla="*/ 5667375 w 5667375"/>
              <a:gd name="connsiteY1" fmla="*/ 0 h 10287000"/>
              <a:gd name="connsiteX2" fmla="*/ 5667375 w 5667375"/>
              <a:gd name="connsiteY2" fmla="*/ 10287000 h 10287000"/>
              <a:gd name="connsiteX3" fmla="*/ 0 w 5667375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7375" h="10287000">
                <a:moveTo>
                  <a:pt x="0" y="0"/>
                </a:moveTo>
                <a:lnTo>
                  <a:pt x="5667375" y="0"/>
                </a:lnTo>
                <a:lnTo>
                  <a:pt x="5667375" y="10287000"/>
                </a:lnTo>
                <a:lnTo>
                  <a:pt x="0" y="10287000"/>
                </a:lnTo>
                <a:close/>
              </a:path>
            </a:pathLst>
          </a:custGeom>
          <a:gradFill>
            <a:gsLst>
              <a:gs pos="0">
                <a:srgbClr val="000000">
                  <a:alpha val="24706"/>
                </a:srgbClr>
              </a:gs>
              <a:gs pos="50000">
                <a:srgbClr val="000000">
                  <a:alpha val="12157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F5D9FA-3C31-CC9A-2CC1-55C03634F9F7}"/>
              </a:ext>
            </a:extLst>
          </p:cNvPr>
          <p:cNvSpPr/>
          <p:nvPr/>
        </p:nvSpPr>
        <p:spPr>
          <a:xfrm>
            <a:off x="8143875" y="861060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343AFE8-F621-4810-1842-935D402B795B}"/>
              </a:ext>
            </a:extLst>
          </p:cNvPr>
          <p:cNvSpPr/>
          <p:nvPr/>
        </p:nvSpPr>
        <p:spPr>
          <a:xfrm>
            <a:off x="8413756" y="8877300"/>
            <a:ext cx="660396" cy="609600"/>
          </a:xfrm>
          <a:custGeom>
            <a:avLst/>
            <a:gdLst>
              <a:gd name="connsiteX0" fmla="*/ 58274 w 660396"/>
              <a:gd name="connsiteY0" fmla="*/ 0 h 609600"/>
              <a:gd name="connsiteX1" fmla="*/ 0 w 660396"/>
              <a:gd name="connsiteY1" fmla="*/ 0 h 609600"/>
              <a:gd name="connsiteX2" fmla="*/ 0 w 660396"/>
              <a:gd name="connsiteY2" fmla="*/ 609600 h 609600"/>
              <a:gd name="connsiteX3" fmla="*/ 369046 w 660396"/>
              <a:gd name="connsiteY3" fmla="*/ 609600 h 609600"/>
              <a:gd name="connsiteX4" fmla="*/ 58274 w 660396"/>
              <a:gd name="connsiteY4" fmla="*/ 0 h 609600"/>
              <a:gd name="connsiteX5" fmla="*/ 271929 w 660396"/>
              <a:gd name="connsiteY5" fmla="*/ 0 h 609600"/>
              <a:gd name="connsiteX6" fmla="*/ 582702 w 660396"/>
              <a:gd name="connsiteY6" fmla="*/ 609600 h 609600"/>
              <a:gd name="connsiteX7" fmla="*/ 660397 w 660396"/>
              <a:gd name="connsiteY7" fmla="*/ 609600 h 609600"/>
              <a:gd name="connsiteX8" fmla="*/ 660397 w 660396"/>
              <a:gd name="connsiteY8" fmla="*/ 0 h 609600"/>
              <a:gd name="connsiteX9" fmla="*/ 271929 w 66039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39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46" y="609600"/>
                </a:lnTo>
                <a:lnTo>
                  <a:pt x="58274" y="0"/>
                </a:lnTo>
                <a:close/>
                <a:moveTo>
                  <a:pt x="271929" y="0"/>
                </a:moveTo>
                <a:lnTo>
                  <a:pt x="582702" y="609600"/>
                </a:lnTo>
                <a:lnTo>
                  <a:pt x="660397" y="609600"/>
                </a:lnTo>
                <a:lnTo>
                  <a:pt x="660397" y="0"/>
                </a:lnTo>
                <a:lnTo>
                  <a:pt x="27192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34FBAAC-D6C8-8C39-F1E3-072822989325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170982-AFF9-59FB-1841-8EFE319A3A7A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7C57AD-0031-41B2-886A-D3DF23F8DA9F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9CB81D-27D8-B9E0-6CEF-AA9ED1DE4DD6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1CD5F1-1ABD-11A4-BF07-ED97DB27911D}"/>
              </a:ext>
            </a:extLst>
          </p:cNvPr>
          <p:cNvSpPr txBox="1"/>
          <p:nvPr/>
        </p:nvSpPr>
        <p:spPr>
          <a:xfrm>
            <a:off x="670560" y="6335077"/>
            <a:ext cx="5951028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Summarize insights and invite collaboration: “Join NEXORA in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shaping the smarter commerce era.” Add contact call-to-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action.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1CAFB1-96E8-4CA8-E54B-7623F1BCBD86}"/>
              </a:ext>
            </a:extLst>
          </p:cNvPr>
          <p:cNvSpPr txBox="1"/>
          <p:nvPr/>
        </p:nvSpPr>
        <p:spPr>
          <a:xfrm>
            <a:off x="670560" y="4089844"/>
            <a:ext cx="5486780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Let’s redefine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online shopping.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2CCF433-8FF9-7031-4A58-72B92B1216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168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88FF2D-FA21-DCCF-5BBF-C48FD8AB3B2B}"/>
              </a:ext>
            </a:extLst>
          </p:cNvPr>
          <p:cNvSpPr/>
          <p:nvPr/>
        </p:nvSpPr>
        <p:spPr>
          <a:xfrm>
            <a:off x="228600" y="4133850"/>
            <a:ext cx="17830800" cy="2552700"/>
          </a:xfrm>
          <a:custGeom>
            <a:avLst/>
            <a:gdLst>
              <a:gd name="connsiteX0" fmla="*/ 0 w 17830800"/>
              <a:gd name="connsiteY0" fmla="*/ 0 h 2552700"/>
              <a:gd name="connsiteX1" fmla="*/ 17830800 w 17830800"/>
              <a:gd name="connsiteY1" fmla="*/ 0 h 2552700"/>
              <a:gd name="connsiteX2" fmla="*/ 17830800 w 17830800"/>
              <a:gd name="connsiteY2" fmla="*/ 2552700 h 2552700"/>
              <a:gd name="connsiteX3" fmla="*/ 0 w 17830800"/>
              <a:gd name="connsiteY3" fmla="*/ 2552700 h 255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00" h="2552700">
                <a:moveTo>
                  <a:pt x="0" y="0"/>
                </a:moveTo>
                <a:lnTo>
                  <a:pt x="17830800" y="0"/>
                </a:lnTo>
                <a:lnTo>
                  <a:pt x="17830800" y="2552700"/>
                </a:lnTo>
                <a:lnTo>
                  <a:pt x="0" y="2552700"/>
                </a:lnTo>
                <a:close/>
              </a:path>
            </a:pathLst>
          </a:custGeom>
          <a:gradFill>
            <a:gsLst>
              <a:gs pos="0">
                <a:srgbClr val="000000">
                  <a:alpha val="49804"/>
                </a:srgbClr>
              </a:gs>
              <a:gs pos="50000">
                <a:srgbClr val="000000">
                  <a:alpha val="24706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EDEA3-ED8A-FC28-EB7C-E6E07BD51CB4}"/>
              </a:ext>
            </a:extLst>
          </p:cNvPr>
          <p:cNvSpPr txBox="1"/>
          <p:nvPr/>
        </p:nvSpPr>
        <p:spPr>
          <a:xfrm>
            <a:off x="441960" y="7459217"/>
            <a:ext cx="1983943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Shop Smart. Live Digital.”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FB454-84F7-FAE7-9B05-3544726F725D}"/>
              </a:ext>
            </a:extLst>
          </p:cNvPr>
          <p:cNvSpPr txBox="1"/>
          <p:nvPr/>
        </p:nvSpPr>
        <p:spPr>
          <a:xfrm>
            <a:off x="441960" y="7747444"/>
            <a:ext cx="5107838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/>
                <a:cs typeface="Plus Jakarta Sans"/>
                <a:sym typeface="Plus Jakarta Sans"/>
                <a:rtl val="0"/>
              </a:rPr>
              <a:t>Closing Remarks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BA59D74-2094-6F5E-3F18-0759183BC33B}"/>
              </a:ext>
            </a:extLst>
          </p:cNvPr>
          <p:cNvSpPr/>
          <p:nvPr/>
        </p:nvSpPr>
        <p:spPr>
          <a:xfrm>
            <a:off x="12318967" y="7505700"/>
            <a:ext cx="5435632" cy="9525"/>
          </a:xfrm>
          <a:custGeom>
            <a:avLst/>
            <a:gdLst>
              <a:gd name="connsiteX0" fmla="*/ 0 w 5435632"/>
              <a:gd name="connsiteY0" fmla="*/ 0 h 9525"/>
              <a:gd name="connsiteX1" fmla="*/ 5435632 w 5435632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35632" h="9525">
                <a:moveTo>
                  <a:pt x="0" y="0"/>
                </a:moveTo>
                <a:lnTo>
                  <a:pt x="5435632" y="0"/>
                </a:lnTo>
              </a:path>
            </a:pathLst>
          </a:custGeom>
          <a:noFill/>
          <a:ln w="9525" cap="flat">
            <a:solidFill>
              <a:srgbClr val="000000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33B1EE-EB36-D353-055F-3E5FF6B7B0E7}"/>
              </a:ext>
            </a:extLst>
          </p:cNvPr>
          <p:cNvSpPr txBox="1"/>
          <p:nvPr/>
        </p:nvSpPr>
        <p:spPr>
          <a:xfrm>
            <a:off x="12227527" y="7700514"/>
            <a:ext cx="784403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Website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3552F-143D-1CEB-B0C3-C3C804DEDFA7}"/>
              </a:ext>
            </a:extLst>
          </p:cNvPr>
          <p:cNvSpPr txBox="1"/>
          <p:nvPr/>
        </p:nvSpPr>
        <p:spPr>
          <a:xfrm>
            <a:off x="15715869" y="7658509"/>
            <a:ext cx="2138781" cy="367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www.nexora.com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21D7858-4593-E6A2-6280-3CAF7AB6CAFD}"/>
              </a:ext>
            </a:extLst>
          </p:cNvPr>
          <p:cNvSpPr/>
          <p:nvPr/>
        </p:nvSpPr>
        <p:spPr>
          <a:xfrm>
            <a:off x="12318967" y="8178803"/>
            <a:ext cx="5435632" cy="9525"/>
          </a:xfrm>
          <a:custGeom>
            <a:avLst/>
            <a:gdLst>
              <a:gd name="connsiteX0" fmla="*/ 0 w 5435632"/>
              <a:gd name="connsiteY0" fmla="*/ 0 h 9525"/>
              <a:gd name="connsiteX1" fmla="*/ 5435632 w 5435632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35632" h="9525">
                <a:moveTo>
                  <a:pt x="0" y="0"/>
                </a:moveTo>
                <a:lnTo>
                  <a:pt x="5435632" y="0"/>
                </a:lnTo>
              </a:path>
            </a:pathLst>
          </a:custGeom>
          <a:noFill/>
          <a:ln w="9525" cap="flat">
            <a:solidFill>
              <a:srgbClr val="000000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93CCCD-0C8A-F143-E232-A66BE7AD090F}"/>
              </a:ext>
            </a:extLst>
          </p:cNvPr>
          <p:cNvSpPr txBox="1"/>
          <p:nvPr/>
        </p:nvSpPr>
        <p:spPr>
          <a:xfrm>
            <a:off x="12227527" y="8373617"/>
            <a:ext cx="636423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E-Mail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A1EAF7-3F9F-FA23-CAF1-05F974AA147B}"/>
              </a:ext>
            </a:extLst>
          </p:cNvPr>
          <p:cNvSpPr txBox="1"/>
          <p:nvPr/>
        </p:nvSpPr>
        <p:spPr>
          <a:xfrm>
            <a:off x="15100553" y="8331612"/>
            <a:ext cx="2745181" cy="367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hello.help@nexora.com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161D396-C705-E7FD-1341-2B3DBDD1A68E}"/>
              </a:ext>
            </a:extLst>
          </p:cNvPr>
          <p:cNvSpPr/>
          <p:nvPr/>
        </p:nvSpPr>
        <p:spPr>
          <a:xfrm>
            <a:off x="12318967" y="8851896"/>
            <a:ext cx="5435632" cy="9525"/>
          </a:xfrm>
          <a:custGeom>
            <a:avLst/>
            <a:gdLst>
              <a:gd name="connsiteX0" fmla="*/ 0 w 5435632"/>
              <a:gd name="connsiteY0" fmla="*/ 0 h 9525"/>
              <a:gd name="connsiteX1" fmla="*/ 5435632 w 5435632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35632" h="9525">
                <a:moveTo>
                  <a:pt x="0" y="0"/>
                </a:moveTo>
                <a:lnTo>
                  <a:pt x="5435632" y="0"/>
                </a:lnTo>
              </a:path>
            </a:pathLst>
          </a:custGeom>
          <a:noFill/>
          <a:ln w="9525" cap="flat">
            <a:solidFill>
              <a:srgbClr val="000000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091443-6F02-F573-6344-C7A7B67CE521}"/>
              </a:ext>
            </a:extLst>
          </p:cNvPr>
          <p:cNvSpPr txBox="1"/>
          <p:nvPr/>
        </p:nvSpPr>
        <p:spPr>
          <a:xfrm>
            <a:off x="12227527" y="9046720"/>
            <a:ext cx="942441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Telephone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ABDA99-D112-75FC-BDBE-EFBDE24EF0C4}"/>
              </a:ext>
            </a:extLst>
          </p:cNvPr>
          <p:cNvSpPr txBox="1"/>
          <p:nvPr/>
        </p:nvSpPr>
        <p:spPr>
          <a:xfrm>
            <a:off x="15370397" y="9004715"/>
            <a:ext cx="2449430" cy="367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+999 808-1234-1234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6425B17-1E11-5CFA-90C4-B194C81B8991}"/>
              </a:ext>
            </a:extLst>
          </p:cNvPr>
          <p:cNvSpPr/>
          <p:nvPr/>
        </p:nvSpPr>
        <p:spPr>
          <a:xfrm>
            <a:off x="12318967" y="9525000"/>
            <a:ext cx="5435632" cy="9525"/>
          </a:xfrm>
          <a:custGeom>
            <a:avLst/>
            <a:gdLst>
              <a:gd name="connsiteX0" fmla="*/ 0 w 5435632"/>
              <a:gd name="connsiteY0" fmla="*/ 0 h 9525"/>
              <a:gd name="connsiteX1" fmla="*/ 5435632 w 5435632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35632" h="9525">
                <a:moveTo>
                  <a:pt x="0" y="0"/>
                </a:moveTo>
                <a:lnTo>
                  <a:pt x="5435632" y="0"/>
                </a:lnTo>
              </a:path>
            </a:pathLst>
          </a:custGeom>
          <a:noFill/>
          <a:ln w="9525" cap="flat">
            <a:solidFill>
              <a:srgbClr val="000000">
                <a:alpha val="2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3C003FE-34DD-64C8-1FB0-8A7495CE3C2D}"/>
              </a:ext>
            </a:extLst>
          </p:cNvPr>
          <p:cNvSpPr/>
          <p:nvPr/>
        </p:nvSpPr>
        <p:spPr>
          <a:xfrm>
            <a:off x="457200" y="5972175"/>
            <a:ext cx="457200" cy="457200"/>
          </a:xfrm>
          <a:custGeom>
            <a:avLst/>
            <a:gdLst>
              <a:gd name="connsiteX0" fmla="*/ 457200 w 457200"/>
              <a:gd name="connsiteY0" fmla="*/ 228600 h 457200"/>
              <a:gd name="connsiteX1" fmla="*/ 228600 w 457200"/>
              <a:gd name="connsiteY1" fmla="*/ 457200 h 457200"/>
              <a:gd name="connsiteX2" fmla="*/ 0 w 457200"/>
              <a:gd name="connsiteY2" fmla="*/ 228600 h 457200"/>
              <a:gd name="connsiteX3" fmla="*/ 228600 w 457200"/>
              <a:gd name="connsiteY3" fmla="*/ 0 h 457200"/>
              <a:gd name="connsiteX4" fmla="*/ 457200 w 457200"/>
              <a:gd name="connsiteY4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354852"/>
                  <a:pt x="354852" y="457200"/>
                  <a:pt x="228600" y="457200"/>
                </a:cubicBezTo>
                <a:cubicBezTo>
                  <a:pt x="102348" y="457200"/>
                  <a:pt x="0" y="354852"/>
                  <a:pt x="0" y="228600"/>
                </a:cubicBezTo>
                <a:cubicBezTo>
                  <a:pt x="0" y="102348"/>
                  <a:pt x="102348" y="0"/>
                  <a:pt x="228600" y="0"/>
                </a:cubicBezTo>
                <a:cubicBezTo>
                  <a:pt x="354852" y="0"/>
                  <a:pt x="457200" y="102348"/>
                  <a:pt x="457200" y="228600"/>
                </a:cubicBez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B7A40DD-26E5-01DF-C2B5-AB736571A2B0}"/>
              </a:ext>
            </a:extLst>
          </p:cNvPr>
          <p:cNvSpPr/>
          <p:nvPr/>
        </p:nvSpPr>
        <p:spPr>
          <a:xfrm>
            <a:off x="574160" y="6099771"/>
            <a:ext cx="223284" cy="202015"/>
          </a:xfrm>
          <a:custGeom>
            <a:avLst/>
            <a:gdLst>
              <a:gd name="connsiteX0" fmla="*/ 19701 w 223284"/>
              <a:gd name="connsiteY0" fmla="*/ 0 h 202015"/>
              <a:gd name="connsiteX1" fmla="*/ 0 w 223284"/>
              <a:gd name="connsiteY1" fmla="*/ 0 h 202015"/>
              <a:gd name="connsiteX2" fmla="*/ 0 w 223284"/>
              <a:gd name="connsiteY2" fmla="*/ 202016 h 202015"/>
              <a:gd name="connsiteX3" fmla="*/ 124777 w 223284"/>
              <a:gd name="connsiteY3" fmla="*/ 202016 h 202015"/>
              <a:gd name="connsiteX4" fmla="*/ 19701 w 223284"/>
              <a:gd name="connsiteY4" fmla="*/ 0 h 202015"/>
              <a:gd name="connsiteX5" fmla="*/ 91940 w 223284"/>
              <a:gd name="connsiteY5" fmla="*/ 0 h 202015"/>
              <a:gd name="connsiteX6" fmla="*/ 197015 w 223284"/>
              <a:gd name="connsiteY6" fmla="*/ 202016 h 202015"/>
              <a:gd name="connsiteX7" fmla="*/ 223284 w 223284"/>
              <a:gd name="connsiteY7" fmla="*/ 202016 h 202015"/>
              <a:gd name="connsiteX8" fmla="*/ 223284 w 223284"/>
              <a:gd name="connsiteY8" fmla="*/ 0 h 202015"/>
              <a:gd name="connsiteX9" fmla="*/ 91940 w 223284"/>
              <a:gd name="connsiteY9" fmla="*/ 0 h 20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3284" h="202015">
                <a:moveTo>
                  <a:pt x="19701" y="0"/>
                </a:moveTo>
                <a:lnTo>
                  <a:pt x="0" y="0"/>
                </a:lnTo>
                <a:lnTo>
                  <a:pt x="0" y="202016"/>
                </a:lnTo>
                <a:lnTo>
                  <a:pt x="124777" y="202016"/>
                </a:lnTo>
                <a:lnTo>
                  <a:pt x="19701" y="0"/>
                </a:lnTo>
                <a:close/>
                <a:moveTo>
                  <a:pt x="91940" y="0"/>
                </a:moveTo>
                <a:lnTo>
                  <a:pt x="197015" y="202016"/>
                </a:lnTo>
                <a:lnTo>
                  <a:pt x="223284" y="202016"/>
                </a:lnTo>
                <a:lnTo>
                  <a:pt x="223284" y="0"/>
                </a:lnTo>
                <a:lnTo>
                  <a:pt x="91940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68A09-DA8F-32B3-9905-C81265BC5DFF}"/>
              </a:ext>
            </a:extLst>
          </p:cNvPr>
          <p:cNvSpPr txBox="1"/>
          <p:nvPr/>
        </p:nvSpPr>
        <p:spPr>
          <a:xfrm>
            <a:off x="1051560" y="5897117"/>
            <a:ext cx="1143914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EAEAEA"/>
                </a:solidFill>
                <a:latin typeface="Plus Jakarta Sans"/>
                <a:cs typeface="Plus Jakarta Sans"/>
                <a:sym typeface="Plus Jakarta Sans"/>
                <a:rtl val="0"/>
              </a:rPr>
              <a:t>Presented by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9E141D-1F0D-239C-60AF-8AA3F8330785}"/>
              </a:ext>
            </a:extLst>
          </p:cNvPr>
          <p:cNvSpPr txBox="1"/>
          <p:nvPr/>
        </p:nvSpPr>
        <p:spPr>
          <a:xfrm>
            <a:off x="1051560" y="6125337"/>
            <a:ext cx="1561338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F3F3F3"/>
                </a:solidFill>
                <a:latin typeface="Plus Jakarta Sans"/>
                <a:cs typeface="Plus Jakarta Sans"/>
                <a:sym typeface="Plus Jakarta Sans"/>
                <a:rtl val="0"/>
              </a:rPr>
              <a:t>James Smith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BDBE99C-D1F3-F12B-56C9-250D5E22D13E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F4305-4FBB-A0C5-82AF-79FDDBCC05BC}"/>
              </a:ext>
            </a:extLst>
          </p:cNvPr>
          <p:cNvSpPr txBox="1"/>
          <p:nvPr/>
        </p:nvSpPr>
        <p:spPr>
          <a:xfrm>
            <a:off x="803910" y="248626"/>
            <a:ext cx="1147114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68E959-165D-6F50-5211-60F225EE9EB4}"/>
              </a:ext>
            </a:extLst>
          </p:cNvPr>
          <p:cNvSpPr txBox="1"/>
          <p:nvPr/>
        </p:nvSpPr>
        <p:spPr>
          <a:xfrm>
            <a:off x="1813560" y="296632"/>
            <a:ext cx="197815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A317A7-3711-DA42-F555-58AE145DA0CD}"/>
              </a:ext>
            </a:extLst>
          </p:cNvPr>
          <p:cNvSpPr txBox="1"/>
          <p:nvPr/>
        </p:nvSpPr>
        <p:spPr>
          <a:xfrm>
            <a:off x="17472660" y="284630"/>
            <a:ext cx="371989" cy="307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2D62E5-9078-8665-F138-673AE70BF6C6}"/>
              </a:ext>
            </a:extLst>
          </p:cNvPr>
          <p:cNvSpPr txBox="1"/>
          <p:nvPr/>
        </p:nvSpPr>
        <p:spPr>
          <a:xfrm>
            <a:off x="6334753" y="8907017"/>
            <a:ext cx="5869001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Envision Nexora as the future of e-commerce, seamlessly merging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convenience and cutting-edge technology to revolutionize your shopping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experience. Nexora: shop faster, safer, and smarter.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7DBE6CB0-0B6F-3912-7842-6849DDC359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0613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9885A7E-DD5E-DA93-6FDB-BB92F466A69A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717E1-69B2-15D8-B978-C548DC9B5986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06798-6759-7787-A898-BFC98D06313C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37105F-547C-9BEF-34C2-EC8148D5A044}"/>
              </a:ext>
            </a:extLst>
          </p:cNvPr>
          <p:cNvSpPr/>
          <p:nvPr/>
        </p:nvSpPr>
        <p:spPr>
          <a:xfrm>
            <a:off x="228600" y="7734300"/>
            <a:ext cx="9029700" cy="2324100"/>
          </a:xfrm>
          <a:custGeom>
            <a:avLst/>
            <a:gdLst>
              <a:gd name="connsiteX0" fmla="*/ 8801100 w 9029700"/>
              <a:gd name="connsiteY0" fmla="*/ 0 h 2324100"/>
              <a:gd name="connsiteX1" fmla="*/ 9029700 w 9029700"/>
              <a:gd name="connsiteY1" fmla="*/ 0 h 2324100"/>
              <a:gd name="connsiteX2" fmla="*/ 9029700 w 9029700"/>
              <a:gd name="connsiteY2" fmla="*/ 2324100 h 2324100"/>
              <a:gd name="connsiteX3" fmla="*/ 8801100 w 9029700"/>
              <a:gd name="connsiteY3" fmla="*/ 2324100 h 2324100"/>
              <a:gd name="connsiteX4" fmla="*/ 228600 w 9029700"/>
              <a:gd name="connsiteY4" fmla="*/ 2324100 h 2324100"/>
              <a:gd name="connsiteX5" fmla="*/ 0 w 9029700"/>
              <a:gd name="connsiteY5" fmla="*/ 2324100 h 2324100"/>
              <a:gd name="connsiteX6" fmla="*/ 0 w 9029700"/>
              <a:gd name="connsiteY6" fmla="*/ 0 h 2324100"/>
              <a:gd name="connsiteX7" fmla="*/ 228600 w 9029700"/>
              <a:gd name="connsiteY7" fmla="*/ 0 h 232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29700" h="2324100">
                <a:moveTo>
                  <a:pt x="8801100" y="0"/>
                </a:moveTo>
                <a:cubicBezTo>
                  <a:pt x="8927352" y="0"/>
                  <a:pt x="9029700" y="0"/>
                  <a:pt x="9029700" y="0"/>
                </a:cubicBezTo>
                <a:lnTo>
                  <a:pt x="9029700" y="2324100"/>
                </a:lnTo>
                <a:cubicBezTo>
                  <a:pt x="9029700" y="2324100"/>
                  <a:pt x="8927352" y="2324100"/>
                  <a:pt x="8801100" y="2324100"/>
                </a:cubicBezTo>
                <a:lnTo>
                  <a:pt x="228600" y="2324100"/>
                </a:lnTo>
                <a:cubicBezTo>
                  <a:pt x="102348" y="2324100"/>
                  <a:pt x="0" y="2324100"/>
                  <a:pt x="0" y="2324100"/>
                </a:cubicBezTo>
                <a:lnTo>
                  <a:pt x="0" y="0"/>
                </a:lnTo>
                <a:cubicBezTo>
                  <a:pt x="0" y="0"/>
                  <a:pt x="102348" y="0"/>
                  <a:pt x="228600" y="0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11765"/>
                </a:srgbClr>
              </a:gs>
              <a:gs pos="50000">
                <a:srgbClr val="000000">
                  <a:alpha val="5882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A5D705E-E39E-4319-5C29-404BF2964A35}"/>
              </a:ext>
            </a:extLst>
          </p:cNvPr>
          <p:cNvSpPr/>
          <p:nvPr/>
        </p:nvSpPr>
        <p:spPr>
          <a:xfrm>
            <a:off x="533400" y="8934450"/>
            <a:ext cx="819150" cy="819150"/>
          </a:xfrm>
          <a:custGeom>
            <a:avLst/>
            <a:gdLst>
              <a:gd name="connsiteX0" fmla="*/ 819150 w 819150"/>
              <a:gd name="connsiteY0" fmla="*/ 409575 h 819150"/>
              <a:gd name="connsiteX1" fmla="*/ 409575 w 819150"/>
              <a:gd name="connsiteY1" fmla="*/ 819150 h 819150"/>
              <a:gd name="connsiteX2" fmla="*/ 0 w 819150"/>
              <a:gd name="connsiteY2" fmla="*/ 409575 h 819150"/>
              <a:gd name="connsiteX3" fmla="*/ 409575 w 819150"/>
              <a:gd name="connsiteY3" fmla="*/ 0 h 819150"/>
              <a:gd name="connsiteX4" fmla="*/ 819150 w 819150"/>
              <a:gd name="connsiteY4" fmla="*/ 409575 h 8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150" h="819150">
                <a:moveTo>
                  <a:pt x="819150" y="409575"/>
                </a:moveTo>
                <a:cubicBezTo>
                  <a:pt x="819150" y="635777"/>
                  <a:pt x="635777" y="819150"/>
                  <a:pt x="409575" y="819150"/>
                </a:cubicBezTo>
                <a:cubicBezTo>
                  <a:pt x="183373" y="819150"/>
                  <a:pt x="0" y="635777"/>
                  <a:pt x="0" y="409575"/>
                </a:cubicBezTo>
                <a:cubicBezTo>
                  <a:pt x="0" y="183373"/>
                  <a:pt x="183373" y="0"/>
                  <a:pt x="409575" y="0"/>
                </a:cubicBezTo>
                <a:cubicBezTo>
                  <a:pt x="635777" y="0"/>
                  <a:pt x="819150" y="183373"/>
                  <a:pt x="819150" y="409575"/>
                </a:cubicBez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8A1D143-C641-4E4E-DFB2-731C001CC9EA}"/>
              </a:ext>
            </a:extLst>
          </p:cNvPr>
          <p:cNvSpPr/>
          <p:nvPr/>
        </p:nvSpPr>
        <p:spPr>
          <a:xfrm>
            <a:off x="742950" y="9163050"/>
            <a:ext cx="400050" cy="361950"/>
          </a:xfrm>
          <a:custGeom>
            <a:avLst/>
            <a:gdLst>
              <a:gd name="connsiteX0" fmla="*/ 35299 w 400050"/>
              <a:gd name="connsiteY0" fmla="*/ 0 h 361950"/>
              <a:gd name="connsiteX1" fmla="*/ 0 w 400050"/>
              <a:gd name="connsiteY1" fmla="*/ 0 h 361950"/>
              <a:gd name="connsiteX2" fmla="*/ 0 w 400050"/>
              <a:gd name="connsiteY2" fmla="*/ 361950 h 361950"/>
              <a:gd name="connsiteX3" fmla="*/ 223561 w 400050"/>
              <a:gd name="connsiteY3" fmla="*/ 361950 h 361950"/>
              <a:gd name="connsiteX4" fmla="*/ 35299 w 400050"/>
              <a:gd name="connsiteY4" fmla="*/ 0 h 361950"/>
              <a:gd name="connsiteX5" fmla="*/ 164726 w 400050"/>
              <a:gd name="connsiteY5" fmla="*/ 0 h 361950"/>
              <a:gd name="connsiteX6" fmla="*/ 352987 w 400050"/>
              <a:gd name="connsiteY6" fmla="*/ 361950 h 361950"/>
              <a:gd name="connsiteX7" fmla="*/ 400050 w 400050"/>
              <a:gd name="connsiteY7" fmla="*/ 361950 h 361950"/>
              <a:gd name="connsiteX8" fmla="*/ 400050 w 400050"/>
              <a:gd name="connsiteY8" fmla="*/ 0 h 361950"/>
              <a:gd name="connsiteX9" fmla="*/ 164726 w 400050"/>
              <a:gd name="connsiteY9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0050" h="361950">
                <a:moveTo>
                  <a:pt x="35299" y="0"/>
                </a:moveTo>
                <a:lnTo>
                  <a:pt x="0" y="0"/>
                </a:lnTo>
                <a:lnTo>
                  <a:pt x="0" y="361950"/>
                </a:lnTo>
                <a:lnTo>
                  <a:pt x="223561" y="361950"/>
                </a:lnTo>
                <a:lnTo>
                  <a:pt x="35299" y="0"/>
                </a:lnTo>
                <a:close/>
                <a:moveTo>
                  <a:pt x="164726" y="0"/>
                </a:moveTo>
                <a:lnTo>
                  <a:pt x="352987" y="361950"/>
                </a:lnTo>
                <a:lnTo>
                  <a:pt x="400050" y="361950"/>
                </a:lnTo>
                <a:lnTo>
                  <a:pt x="400050" y="0"/>
                </a:lnTo>
                <a:lnTo>
                  <a:pt x="164726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C1D30-ADA2-A9E0-368E-D5C0E1AE8D91}"/>
              </a:ext>
            </a:extLst>
          </p:cNvPr>
          <p:cNvSpPr txBox="1"/>
          <p:nvPr/>
        </p:nvSpPr>
        <p:spPr>
          <a:xfrm>
            <a:off x="1489710" y="9040367"/>
            <a:ext cx="1157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Presented by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D79D83-7A0F-6040-4853-FC2FE7D59648}"/>
              </a:ext>
            </a:extLst>
          </p:cNvPr>
          <p:cNvSpPr txBox="1"/>
          <p:nvPr/>
        </p:nvSpPr>
        <p:spPr>
          <a:xfrm>
            <a:off x="1489710" y="9268567"/>
            <a:ext cx="1561338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James Smith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5716ACD-55C3-244F-C063-90F23CDCE318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585FF-F479-8F48-C41C-CA6F1D31D2F9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C4FDE6C-4BD1-9302-543D-2CDB982BFC85}"/>
              </a:ext>
            </a:extLst>
          </p:cNvPr>
          <p:cNvSpPr/>
          <p:nvPr/>
        </p:nvSpPr>
        <p:spPr>
          <a:xfrm>
            <a:off x="533400" y="5029200"/>
            <a:ext cx="8496300" cy="9525"/>
          </a:xfrm>
          <a:custGeom>
            <a:avLst/>
            <a:gdLst>
              <a:gd name="connsiteX0" fmla="*/ 0 w 8496300"/>
              <a:gd name="connsiteY0" fmla="*/ 0 h 9525"/>
              <a:gd name="connsiteX1" fmla="*/ 8496300 w 84963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96300" h="9525">
                <a:moveTo>
                  <a:pt x="0" y="0"/>
                </a:moveTo>
                <a:lnTo>
                  <a:pt x="849630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AFE5858-4699-88A8-EB6D-A06056D2149D}"/>
              </a:ext>
            </a:extLst>
          </p:cNvPr>
          <p:cNvSpPr/>
          <p:nvPr/>
        </p:nvSpPr>
        <p:spPr>
          <a:xfrm>
            <a:off x="533400" y="51435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2E7B7B7-2F65-06FB-4500-01A1D2FD63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F9B9FD-6131-3B0E-C0AD-7E3DDD5CA15E}"/>
              </a:ext>
            </a:extLst>
          </p:cNvPr>
          <p:cNvSpPr txBox="1"/>
          <p:nvPr/>
        </p:nvSpPr>
        <p:spPr>
          <a:xfrm>
            <a:off x="441960" y="1612010"/>
            <a:ext cx="8972054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The Future of Smart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Online Shopping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2882F4-D715-DADE-FC50-9E9DC33D22D2}"/>
              </a:ext>
            </a:extLst>
          </p:cNvPr>
          <p:cNvSpPr txBox="1"/>
          <p:nvPr/>
        </p:nvSpPr>
        <p:spPr>
          <a:xfrm>
            <a:off x="4690110" y="5258942"/>
            <a:ext cx="4802352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Introduce the brand’s vision as a next-gen e-commerce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platform that bridges convenience and technology.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NEXORA empowers users to shop faster, safer, and smarter.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F77700-F806-C56C-00B4-1C43710EDB8A}"/>
              </a:ext>
            </a:extLst>
          </p:cNvPr>
          <p:cNvSpPr txBox="1"/>
          <p:nvPr/>
        </p:nvSpPr>
        <p:spPr>
          <a:xfrm>
            <a:off x="1861185" y="5210746"/>
            <a:ext cx="2207666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2E2E2E"/>
                </a:solidFill>
                <a:latin typeface="Plus Jakarta Sans" pitchFamily="2" charset="0"/>
              </a:rPr>
              <a:t>Welcome to  </a:t>
            </a:r>
          </a:p>
          <a:p>
            <a:r>
              <a:rPr lang="en-ID" sz="2100" b="1">
                <a:solidFill>
                  <a:srgbClr val="2E2E2E"/>
                </a:solidFill>
                <a:latin typeface="Plus Jakarta Sans" pitchFamily="2" charset="0"/>
              </a:rPr>
              <a:t>NEXORA</a:t>
            </a:r>
          </a:p>
        </p:txBody>
      </p:sp>
    </p:spTree>
    <p:extLst>
      <p:ext uri="{BB962C8B-B14F-4D97-AF65-F5344CB8AC3E}">
        <p14:creationId xmlns:p14="http://schemas.microsoft.com/office/powerpoint/2010/main" val="3819277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D1DA41F-03EF-A274-C78F-914726451BCC}"/>
              </a:ext>
            </a:extLst>
          </p:cNvPr>
          <p:cNvSpPr/>
          <p:nvPr/>
        </p:nvSpPr>
        <p:spPr>
          <a:xfrm>
            <a:off x="11134725" y="230505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B1F4D11-0468-AE08-497E-ADB45044B239}"/>
              </a:ext>
            </a:extLst>
          </p:cNvPr>
          <p:cNvSpPr/>
          <p:nvPr/>
        </p:nvSpPr>
        <p:spPr>
          <a:xfrm>
            <a:off x="11404567" y="2571750"/>
            <a:ext cx="660464" cy="609600"/>
          </a:xfrm>
          <a:custGeom>
            <a:avLst/>
            <a:gdLst>
              <a:gd name="connsiteX0" fmla="*/ 58293 w 660464"/>
              <a:gd name="connsiteY0" fmla="*/ 0 h 609600"/>
              <a:gd name="connsiteX1" fmla="*/ 0 w 660464"/>
              <a:gd name="connsiteY1" fmla="*/ 0 h 609600"/>
              <a:gd name="connsiteX2" fmla="*/ 0 w 660464"/>
              <a:gd name="connsiteY2" fmla="*/ 609600 h 609600"/>
              <a:gd name="connsiteX3" fmla="*/ 369094 w 660464"/>
              <a:gd name="connsiteY3" fmla="*/ 609600 h 609600"/>
              <a:gd name="connsiteX4" fmla="*/ 58293 w 660464"/>
              <a:gd name="connsiteY4" fmla="*/ 0 h 609600"/>
              <a:gd name="connsiteX5" fmla="*/ 271939 w 660464"/>
              <a:gd name="connsiteY5" fmla="*/ 0 h 609600"/>
              <a:gd name="connsiteX6" fmla="*/ 582740 w 660464"/>
              <a:gd name="connsiteY6" fmla="*/ 609600 h 609600"/>
              <a:gd name="connsiteX7" fmla="*/ 660464 w 660464"/>
              <a:gd name="connsiteY7" fmla="*/ 609600 h 609600"/>
              <a:gd name="connsiteX8" fmla="*/ 660464 w 660464"/>
              <a:gd name="connsiteY8" fmla="*/ 0 h 609600"/>
              <a:gd name="connsiteX9" fmla="*/ 271939 w 660464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64" h="609600">
                <a:moveTo>
                  <a:pt x="58293" y="0"/>
                </a:moveTo>
                <a:lnTo>
                  <a:pt x="0" y="0"/>
                </a:lnTo>
                <a:lnTo>
                  <a:pt x="0" y="609600"/>
                </a:lnTo>
                <a:lnTo>
                  <a:pt x="369094" y="609600"/>
                </a:lnTo>
                <a:lnTo>
                  <a:pt x="58293" y="0"/>
                </a:lnTo>
                <a:close/>
                <a:moveTo>
                  <a:pt x="271939" y="0"/>
                </a:moveTo>
                <a:lnTo>
                  <a:pt x="582740" y="609600"/>
                </a:lnTo>
                <a:lnTo>
                  <a:pt x="660464" y="609600"/>
                </a:lnTo>
                <a:lnTo>
                  <a:pt x="660464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FBF6CA-5DE9-0E33-210C-7745198F97DD}"/>
              </a:ext>
            </a:extLst>
          </p:cNvPr>
          <p:cNvSpPr txBox="1"/>
          <p:nvPr/>
        </p:nvSpPr>
        <p:spPr>
          <a:xfrm>
            <a:off x="11043285" y="6525387"/>
            <a:ext cx="3741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Digital commerce for everyone.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30DB7A9-7461-E122-E8D0-2A7777BC41E1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E45343-8F86-3563-F738-FF179A1609F7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519303-2989-2C5C-9D1B-6C43CF9B7D89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F3E252-90A6-3985-F6E7-AA751E6052BD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D270E-4799-B6A0-FB83-161948804C4A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D23E1AA-47E8-1AF4-9BE2-3780DE5BD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7E1875-F9B6-6268-FA9A-0A58022CC714}"/>
              </a:ext>
            </a:extLst>
          </p:cNvPr>
          <p:cNvSpPr txBox="1"/>
          <p:nvPr/>
        </p:nvSpPr>
        <p:spPr>
          <a:xfrm>
            <a:off x="11043285" y="7271003"/>
            <a:ext cx="4659267" cy="71558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Explain that NEXORA aims to make online shopping </a:t>
            </a:r>
          </a:p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seamless and personalized, blending user-centric </a:t>
            </a:r>
          </a:p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design with AI-driven recommendations.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D645F9-889D-6ABF-411E-FC0E148D2C87}"/>
              </a:ext>
            </a:extLst>
          </p:cNvPr>
          <p:cNvSpPr txBox="1"/>
          <p:nvPr/>
        </p:nvSpPr>
        <p:spPr>
          <a:xfrm>
            <a:off x="11043285" y="3859911"/>
            <a:ext cx="6195060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Introduction 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to Our Vision</a:t>
            </a:r>
          </a:p>
        </p:txBody>
      </p:sp>
    </p:spTree>
    <p:extLst>
      <p:ext uri="{BB962C8B-B14F-4D97-AF65-F5344CB8AC3E}">
        <p14:creationId xmlns:p14="http://schemas.microsoft.com/office/powerpoint/2010/main" val="2043730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22834A-693A-73A4-C02B-DCCA3585F178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D04F1-FB7C-9B5B-F865-96960E25B31A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5E158-D5BB-9452-7790-66B6DEE33969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3D4866-F122-200E-67AD-57918D47E74D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C610A-60DE-C984-BF2A-D628A1A460D6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502AF1-3369-E2A9-A44A-3BCED272E70D}"/>
              </a:ext>
            </a:extLst>
          </p:cNvPr>
          <p:cNvSpPr/>
          <p:nvPr/>
        </p:nvSpPr>
        <p:spPr>
          <a:xfrm>
            <a:off x="533400" y="762000"/>
            <a:ext cx="6848475" cy="9525"/>
          </a:xfrm>
          <a:custGeom>
            <a:avLst/>
            <a:gdLst>
              <a:gd name="connsiteX0" fmla="*/ 0 w 6848475"/>
              <a:gd name="connsiteY0" fmla="*/ 0 h 9525"/>
              <a:gd name="connsiteX1" fmla="*/ 6848475 w 684847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48475" h="9525">
                <a:moveTo>
                  <a:pt x="0" y="0"/>
                </a:moveTo>
                <a:lnTo>
                  <a:pt x="6848475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D978FA5-6BFA-21F6-55A3-DF2ADC982491}"/>
              </a:ext>
            </a:extLst>
          </p:cNvPr>
          <p:cNvSpPr/>
          <p:nvPr/>
        </p:nvSpPr>
        <p:spPr>
          <a:xfrm>
            <a:off x="7000875" y="8763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1DE6882-EADE-9935-7DFE-3676E7D813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F19739-BE40-9480-65CA-659B10B2A80E}"/>
              </a:ext>
            </a:extLst>
          </p:cNvPr>
          <p:cNvSpPr txBox="1"/>
          <p:nvPr/>
        </p:nvSpPr>
        <p:spPr>
          <a:xfrm>
            <a:off x="13415011" y="1610677"/>
            <a:ext cx="4482844" cy="216982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The surge in mobile usage, coupled with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evolving post-pandemic trends, is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dramatically reshaping the retail landscape.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E-commerce has transitioned from being a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luxury option to an integral part of daily life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for consumers. As people increasingly rely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on their smartphones for shopping, retailers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are adapting their strategies to meet this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demand.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792EC6-0DBC-6217-F1E1-8D1FCF3F8216}"/>
              </a:ext>
            </a:extLst>
          </p:cNvPr>
          <p:cNvSpPr txBox="1"/>
          <p:nvPr/>
        </p:nvSpPr>
        <p:spPr>
          <a:xfrm>
            <a:off x="13434061" y="6107810"/>
            <a:ext cx="3556520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Digital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Market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AFBD1F-77A3-5127-7352-B9E68DEF83BC}"/>
              </a:ext>
            </a:extLst>
          </p:cNvPr>
          <p:cNvSpPr txBox="1"/>
          <p:nvPr/>
        </p:nvSpPr>
        <p:spPr>
          <a:xfrm>
            <a:off x="950099" y="4983860"/>
            <a:ext cx="7039811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Understanding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Today’s </a:t>
            </a:r>
          </a:p>
        </p:txBody>
      </p:sp>
    </p:spTree>
    <p:extLst>
      <p:ext uri="{BB962C8B-B14F-4D97-AF65-F5344CB8AC3E}">
        <p14:creationId xmlns:p14="http://schemas.microsoft.com/office/powerpoint/2010/main" val="2417400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F066971-AC2C-0DDA-9E04-FC4271E476CE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B6DFD-CAC8-91CE-AEAA-3D664720493E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A9D67-B5C0-FC10-8A22-FFEC7C51ED5B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8461C1-4811-1298-3AB4-5D571D671985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5D084F-8466-3E99-FF7C-D91EEA804ACC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E242A8A-4119-16A1-B279-C1CCBF106B05}"/>
              </a:ext>
            </a:extLst>
          </p:cNvPr>
          <p:cNvSpPr/>
          <p:nvPr/>
        </p:nvSpPr>
        <p:spPr>
          <a:xfrm>
            <a:off x="6696075" y="762000"/>
            <a:ext cx="10829925" cy="9525"/>
          </a:xfrm>
          <a:custGeom>
            <a:avLst/>
            <a:gdLst>
              <a:gd name="connsiteX0" fmla="*/ 0 w 10829925"/>
              <a:gd name="connsiteY0" fmla="*/ 0 h 9525"/>
              <a:gd name="connsiteX1" fmla="*/ 10829925 w 108299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29925" h="9525">
                <a:moveTo>
                  <a:pt x="0" y="0"/>
                </a:moveTo>
                <a:lnTo>
                  <a:pt x="10829925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51DDBF7-9228-4023-8B52-ABB09375F04F}"/>
              </a:ext>
            </a:extLst>
          </p:cNvPr>
          <p:cNvSpPr/>
          <p:nvPr/>
        </p:nvSpPr>
        <p:spPr>
          <a:xfrm>
            <a:off x="17145000" y="8763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772C03-2823-02F2-0577-727AE2D80318}"/>
              </a:ext>
            </a:extLst>
          </p:cNvPr>
          <p:cNvSpPr txBox="1"/>
          <p:nvPr/>
        </p:nvSpPr>
        <p:spPr>
          <a:xfrm>
            <a:off x="6833235" y="1070419"/>
            <a:ext cx="6704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Purpose &amp; 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3DC15A-11C5-14AD-83B5-0678EB6F7772}"/>
              </a:ext>
            </a:extLst>
          </p:cNvPr>
          <p:cNvSpPr txBox="1"/>
          <p:nvPr/>
        </p:nvSpPr>
        <p:spPr>
          <a:xfrm>
            <a:off x="13519785" y="1601152"/>
            <a:ext cx="35413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Our mission to simplify e-commerce.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0A5E095-5F96-B56F-5A95-FAE04D4077E6}"/>
              </a:ext>
            </a:extLst>
          </p:cNvPr>
          <p:cNvSpPr/>
          <p:nvPr/>
        </p:nvSpPr>
        <p:spPr>
          <a:xfrm>
            <a:off x="6924675" y="3219450"/>
            <a:ext cx="793746" cy="762000"/>
          </a:xfrm>
          <a:custGeom>
            <a:avLst/>
            <a:gdLst>
              <a:gd name="connsiteX0" fmla="*/ 0 w 793746"/>
              <a:gd name="connsiteY0" fmla="*/ 0 h 762000"/>
              <a:gd name="connsiteX1" fmla="*/ 793747 w 793746"/>
              <a:gd name="connsiteY1" fmla="*/ 0 h 762000"/>
              <a:gd name="connsiteX2" fmla="*/ 793747 w 793746"/>
              <a:gd name="connsiteY2" fmla="*/ 762000 h 762000"/>
              <a:gd name="connsiteX3" fmla="*/ 0 w 793746"/>
              <a:gd name="connsiteY3" fmla="*/ 762000 h 762000"/>
              <a:gd name="connsiteX4" fmla="*/ 0 w 793746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746" h="762000">
                <a:moveTo>
                  <a:pt x="0" y="0"/>
                </a:moveTo>
                <a:lnTo>
                  <a:pt x="793747" y="0"/>
                </a:lnTo>
                <a:lnTo>
                  <a:pt x="793747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A9515-FAC5-B816-3A59-FA50A291CA86}"/>
              </a:ext>
            </a:extLst>
          </p:cNvPr>
          <p:cNvSpPr txBox="1"/>
          <p:nvPr/>
        </p:nvSpPr>
        <p:spPr>
          <a:xfrm>
            <a:off x="6833235" y="4391596"/>
            <a:ext cx="449033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Improve UX with personalization.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E9FCD60-72BC-3F67-A71E-57CF8B8834AD}"/>
              </a:ext>
            </a:extLst>
          </p:cNvPr>
          <p:cNvSpPr/>
          <p:nvPr/>
        </p:nvSpPr>
        <p:spPr>
          <a:xfrm>
            <a:off x="12453937" y="3219450"/>
            <a:ext cx="793717" cy="762000"/>
          </a:xfrm>
          <a:custGeom>
            <a:avLst/>
            <a:gdLst>
              <a:gd name="connsiteX0" fmla="*/ 0 w 793717"/>
              <a:gd name="connsiteY0" fmla="*/ 0 h 762000"/>
              <a:gd name="connsiteX1" fmla="*/ 793718 w 793717"/>
              <a:gd name="connsiteY1" fmla="*/ 0 h 762000"/>
              <a:gd name="connsiteX2" fmla="*/ 793718 w 793717"/>
              <a:gd name="connsiteY2" fmla="*/ 762000 h 762000"/>
              <a:gd name="connsiteX3" fmla="*/ 0 w 793717"/>
              <a:gd name="connsiteY3" fmla="*/ 762000 h 762000"/>
              <a:gd name="connsiteX4" fmla="*/ 0 w 793717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717" h="762000">
                <a:moveTo>
                  <a:pt x="0" y="0"/>
                </a:moveTo>
                <a:lnTo>
                  <a:pt x="793718" y="0"/>
                </a:lnTo>
                <a:lnTo>
                  <a:pt x="79371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E86B79-9D05-E5D7-9112-D36795DD91C3}"/>
              </a:ext>
            </a:extLst>
          </p:cNvPr>
          <p:cNvSpPr txBox="1"/>
          <p:nvPr/>
        </p:nvSpPr>
        <p:spPr>
          <a:xfrm>
            <a:off x="12362497" y="4391596"/>
            <a:ext cx="38507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Reduce transaction friction.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248AF7-21BF-4061-2513-C0158B147A78}"/>
              </a:ext>
            </a:extLst>
          </p:cNvPr>
          <p:cNvSpPr/>
          <p:nvPr/>
        </p:nvSpPr>
        <p:spPr>
          <a:xfrm>
            <a:off x="6924675" y="7038975"/>
            <a:ext cx="793746" cy="762000"/>
          </a:xfrm>
          <a:custGeom>
            <a:avLst/>
            <a:gdLst>
              <a:gd name="connsiteX0" fmla="*/ 0 w 793746"/>
              <a:gd name="connsiteY0" fmla="*/ 0 h 762000"/>
              <a:gd name="connsiteX1" fmla="*/ 793747 w 793746"/>
              <a:gd name="connsiteY1" fmla="*/ 0 h 762000"/>
              <a:gd name="connsiteX2" fmla="*/ 793747 w 793746"/>
              <a:gd name="connsiteY2" fmla="*/ 762000 h 762000"/>
              <a:gd name="connsiteX3" fmla="*/ 0 w 793746"/>
              <a:gd name="connsiteY3" fmla="*/ 762000 h 762000"/>
              <a:gd name="connsiteX4" fmla="*/ 0 w 793746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746" h="762000">
                <a:moveTo>
                  <a:pt x="0" y="0"/>
                </a:moveTo>
                <a:lnTo>
                  <a:pt x="793747" y="0"/>
                </a:lnTo>
                <a:lnTo>
                  <a:pt x="793747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68B815-E3A7-FBE4-71C5-C1449CE3C7E9}"/>
              </a:ext>
            </a:extLst>
          </p:cNvPr>
          <p:cNvSpPr txBox="1"/>
          <p:nvPr/>
        </p:nvSpPr>
        <p:spPr>
          <a:xfrm>
            <a:off x="6833235" y="8211121"/>
            <a:ext cx="4640236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Expand marketplace accessibility.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C45A996-A96B-4D3D-AC5C-1DE995EA6366}"/>
              </a:ext>
            </a:extLst>
          </p:cNvPr>
          <p:cNvSpPr/>
          <p:nvPr/>
        </p:nvSpPr>
        <p:spPr>
          <a:xfrm>
            <a:off x="12453937" y="7038975"/>
            <a:ext cx="793717" cy="762000"/>
          </a:xfrm>
          <a:custGeom>
            <a:avLst/>
            <a:gdLst>
              <a:gd name="connsiteX0" fmla="*/ 0 w 793717"/>
              <a:gd name="connsiteY0" fmla="*/ 0 h 762000"/>
              <a:gd name="connsiteX1" fmla="*/ 793718 w 793717"/>
              <a:gd name="connsiteY1" fmla="*/ 0 h 762000"/>
              <a:gd name="connsiteX2" fmla="*/ 793718 w 793717"/>
              <a:gd name="connsiteY2" fmla="*/ 762000 h 762000"/>
              <a:gd name="connsiteX3" fmla="*/ 0 w 793717"/>
              <a:gd name="connsiteY3" fmla="*/ 762000 h 762000"/>
              <a:gd name="connsiteX4" fmla="*/ 0 w 793717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717" h="762000">
                <a:moveTo>
                  <a:pt x="0" y="0"/>
                </a:moveTo>
                <a:lnTo>
                  <a:pt x="793718" y="0"/>
                </a:lnTo>
                <a:lnTo>
                  <a:pt x="79371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BB2BF0-F174-31F0-D796-5A98B62062D4}"/>
              </a:ext>
            </a:extLst>
          </p:cNvPr>
          <p:cNvSpPr txBox="1"/>
          <p:nvPr/>
        </p:nvSpPr>
        <p:spPr>
          <a:xfrm>
            <a:off x="12362497" y="8211121"/>
            <a:ext cx="32800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Build strong seller trust.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E6BB58B4-7906-60AE-2C43-F5EBDDF318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DC15FB-8E61-2FAB-FB8D-C053D1544530}"/>
              </a:ext>
            </a:extLst>
          </p:cNvPr>
          <p:cNvSpPr txBox="1"/>
          <p:nvPr/>
        </p:nvSpPr>
        <p:spPr>
          <a:xfrm>
            <a:off x="12362497" y="8773477"/>
            <a:ext cx="5175313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</a:t>
            </a:r>
            <a:endParaRPr lang="sv-SE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elit. Ut et massa mi. Aliquam in hendrerit urna.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D21175-BF79-5E4C-8F5C-93AFE905161E}"/>
              </a:ext>
            </a:extLst>
          </p:cNvPr>
          <p:cNvSpPr txBox="1"/>
          <p:nvPr/>
        </p:nvSpPr>
        <p:spPr>
          <a:xfrm>
            <a:off x="6833235" y="8773477"/>
            <a:ext cx="5175313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</a:t>
            </a:r>
            <a:endParaRPr lang="sv-SE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elit. Ut et massa mi. Aliquam in hendrerit urna.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6A0EE5-DCF9-2A2A-E482-DD6E7000C2E5}"/>
              </a:ext>
            </a:extLst>
          </p:cNvPr>
          <p:cNvSpPr txBox="1"/>
          <p:nvPr/>
        </p:nvSpPr>
        <p:spPr>
          <a:xfrm>
            <a:off x="12362497" y="4953952"/>
            <a:ext cx="5175313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</a:t>
            </a:r>
            <a:endParaRPr lang="sv-SE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elit. Ut et massa mi. Aliquam in hendrerit urna.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EC0156-1332-0470-150C-31AED90C57A0}"/>
              </a:ext>
            </a:extLst>
          </p:cNvPr>
          <p:cNvSpPr txBox="1"/>
          <p:nvPr/>
        </p:nvSpPr>
        <p:spPr>
          <a:xfrm>
            <a:off x="6833235" y="4953952"/>
            <a:ext cx="5175313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</a:t>
            </a:r>
            <a:endParaRPr lang="sv-SE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elit. Ut et massa mi. Aliquam in hendrerit urna.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559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B56556A-6397-3A0C-946B-F6704746410C}"/>
              </a:ext>
            </a:extLst>
          </p:cNvPr>
          <p:cNvSpPr/>
          <p:nvPr/>
        </p:nvSpPr>
        <p:spPr>
          <a:xfrm>
            <a:off x="6429375" y="533400"/>
            <a:ext cx="9525" cy="9220200"/>
          </a:xfrm>
          <a:custGeom>
            <a:avLst/>
            <a:gdLst>
              <a:gd name="connsiteX0" fmla="*/ 0 w 9525"/>
              <a:gd name="connsiteY0" fmla="*/ 9220200 h 9220200"/>
              <a:gd name="connsiteX1" fmla="*/ 0 w 9525"/>
              <a:gd name="connsiteY1" fmla="*/ 0 h 922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9220200">
                <a:moveTo>
                  <a:pt x="0" y="92202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58FCDC9-E2BC-A9A5-1E57-9385D1ECB128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72089-E613-EC63-1A0D-EE790D77DB53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C619D-41F0-FBDC-5E3F-194E0239C6E0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E5188E1-0D20-C527-7245-D2396FD86A69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48372-2A5D-B2A2-769B-500AFC9D81F9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07450E-0BA3-D7A0-329B-6DEB75E4BFD0}"/>
              </a:ext>
            </a:extLst>
          </p:cNvPr>
          <p:cNvSpPr txBox="1"/>
          <p:nvPr/>
        </p:nvSpPr>
        <p:spPr>
          <a:xfrm>
            <a:off x="5109990" y="1173860"/>
            <a:ext cx="1182605" cy="5955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2022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5B89BF-02AB-F4D1-AA31-DA15B17D5BE7}"/>
              </a:ext>
            </a:extLst>
          </p:cNvPr>
          <p:cNvSpPr/>
          <p:nvPr/>
        </p:nvSpPr>
        <p:spPr>
          <a:xfrm>
            <a:off x="6657975" y="1219200"/>
            <a:ext cx="381000" cy="381000"/>
          </a:xfrm>
          <a:custGeom>
            <a:avLst/>
            <a:gdLst>
              <a:gd name="connsiteX0" fmla="*/ 381000 w 381000"/>
              <a:gd name="connsiteY0" fmla="*/ 0 h 381000"/>
              <a:gd name="connsiteX1" fmla="*/ 0 w 381000"/>
              <a:gd name="connsiteY1" fmla="*/ 0 h 381000"/>
              <a:gd name="connsiteX2" fmla="*/ 0 w 381000"/>
              <a:gd name="connsiteY2" fmla="*/ 381000 h 381000"/>
              <a:gd name="connsiteX3" fmla="*/ 38100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381000" y="0"/>
                </a:moveTo>
                <a:lnTo>
                  <a:pt x="0" y="0"/>
                </a:lnTo>
                <a:lnTo>
                  <a:pt x="0" y="381000"/>
                </a:lnTo>
                <a:lnTo>
                  <a:pt x="38100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CD6A69-B4B7-6E81-FB96-F611C4A55AE0}"/>
              </a:ext>
            </a:extLst>
          </p:cNvPr>
          <p:cNvSpPr txBox="1"/>
          <p:nvPr/>
        </p:nvSpPr>
        <p:spPr>
          <a:xfrm>
            <a:off x="7404735" y="1172146"/>
            <a:ext cx="32800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Concept &amp; MVP launch.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30FA2C-3AA0-5E26-49F5-E3750517F0E6}"/>
              </a:ext>
            </a:extLst>
          </p:cNvPr>
          <p:cNvSpPr txBox="1"/>
          <p:nvPr/>
        </p:nvSpPr>
        <p:spPr>
          <a:xfrm>
            <a:off x="5104132" y="2729607"/>
            <a:ext cx="1188205" cy="5955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2023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B4B6F09-3ED2-E542-4463-E35AAD27FFF9}"/>
              </a:ext>
            </a:extLst>
          </p:cNvPr>
          <p:cNvSpPr/>
          <p:nvPr/>
        </p:nvSpPr>
        <p:spPr>
          <a:xfrm>
            <a:off x="6657975" y="2774946"/>
            <a:ext cx="381000" cy="381000"/>
          </a:xfrm>
          <a:custGeom>
            <a:avLst/>
            <a:gdLst>
              <a:gd name="connsiteX0" fmla="*/ 381000 w 381000"/>
              <a:gd name="connsiteY0" fmla="*/ 0 h 381000"/>
              <a:gd name="connsiteX1" fmla="*/ 0 w 381000"/>
              <a:gd name="connsiteY1" fmla="*/ 0 h 381000"/>
              <a:gd name="connsiteX2" fmla="*/ 0 w 381000"/>
              <a:gd name="connsiteY2" fmla="*/ 381000 h 381000"/>
              <a:gd name="connsiteX3" fmla="*/ 38100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381000" y="0"/>
                </a:moveTo>
                <a:lnTo>
                  <a:pt x="0" y="0"/>
                </a:lnTo>
                <a:lnTo>
                  <a:pt x="0" y="381000"/>
                </a:lnTo>
                <a:lnTo>
                  <a:pt x="38100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2EB102-0F65-393A-6C7D-BF3661FE0B37}"/>
              </a:ext>
            </a:extLst>
          </p:cNvPr>
          <p:cNvSpPr txBox="1"/>
          <p:nvPr/>
        </p:nvSpPr>
        <p:spPr>
          <a:xfrm>
            <a:off x="7404735" y="2727893"/>
            <a:ext cx="247535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50K Active users.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F43C19-276D-C037-1C59-3DA9FB44DBCC}"/>
              </a:ext>
            </a:extLst>
          </p:cNvPr>
          <p:cNvSpPr txBox="1"/>
          <p:nvPr/>
        </p:nvSpPr>
        <p:spPr>
          <a:xfrm>
            <a:off x="5090846" y="4285364"/>
            <a:ext cx="121539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2024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F2D2382-1556-3311-5EF7-B5DD47B8B264}"/>
              </a:ext>
            </a:extLst>
          </p:cNvPr>
          <p:cNvSpPr/>
          <p:nvPr/>
        </p:nvSpPr>
        <p:spPr>
          <a:xfrm>
            <a:off x="6657975" y="4330703"/>
            <a:ext cx="381000" cy="381000"/>
          </a:xfrm>
          <a:custGeom>
            <a:avLst/>
            <a:gdLst>
              <a:gd name="connsiteX0" fmla="*/ 381000 w 381000"/>
              <a:gd name="connsiteY0" fmla="*/ 0 h 381000"/>
              <a:gd name="connsiteX1" fmla="*/ 0 w 381000"/>
              <a:gd name="connsiteY1" fmla="*/ 0 h 381000"/>
              <a:gd name="connsiteX2" fmla="*/ 0 w 381000"/>
              <a:gd name="connsiteY2" fmla="*/ 381000 h 381000"/>
              <a:gd name="connsiteX3" fmla="*/ 38100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381000" y="0"/>
                </a:moveTo>
                <a:lnTo>
                  <a:pt x="0" y="0"/>
                </a:lnTo>
                <a:lnTo>
                  <a:pt x="0" y="381000"/>
                </a:lnTo>
                <a:lnTo>
                  <a:pt x="38100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7F09A1-3C76-D1BF-5410-DEB0ED5AA28B}"/>
              </a:ext>
            </a:extLst>
          </p:cNvPr>
          <p:cNvSpPr txBox="1"/>
          <p:nvPr/>
        </p:nvSpPr>
        <p:spPr>
          <a:xfrm>
            <a:off x="5102570" y="8079485"/>
            <a:ext cx="1189806" cy="5955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2025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EC3A159-D587-5C14-D78E-47F1310A03D2}"/>
              </a:ext>
            </a:extLst>
          </p:cNvPr>
          <p:cNvSpPr/>
          <p:nvPr/>
        </p:nvSpPr>
        <p:spPr>
          <a:xfrm>
            <a:off x="6657975" y="8124825"/>
            <a:ext cx="381000" cy="381000"/>
          </a:xfrm>
          <a:custGeom>
            <a:avLst/>
            <a:gdLst>
              <a:gd name="connsiteX0" fmla="*/ 381000 w 381000"/>
              <a:gd name="connsiteY0" fmla="*/ 0 h 381000"/>
              <a:gd name="connsiteX1" fmla="*/ 0 w 381000"/>
              <a:gd name="connsiteY1" fmla="*/ 0 h 381000"/>
              <a:gd name="connsiteX2" fmla="*/ 0 w 381000"/>
              <a:gd name="connsiteY2" fmla="*/ 381000 h 381000"/>
              <a:gd name="connsiteX3" fmla="*/ 38100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381000" y="0"/>
                </a:moveTo>
                <a:lnTo>
                  <a:pt x="0" y="0"/>
                </a:lnTo>
                <a:lnTo>
                  <a:pt x="0" y="381000"/>
                </a:lnTo>
                <a:lnTo>
                  <a:pt x="38100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186B62-9DD2-FBA2-F3CF-CE8F0609111C}"/>
              </a:ext>
            </a:extLst>
          </p:cNvPr>
          <p:cNvSpPr txBox="1"/>
          <p:nvPr/>
        </p:nvSpPr>
        <p:spPr>
          <a:xfrm>
            <a:off x="7404735" y="8077771"/>
            <a:ext cx="397256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Expansion to Southeast Asia.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7AB6F164-778C-0A39-93B2-80E4871768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65337A-AA03-3C58-1D4B-E38FC5EEA0EA}"/>
              </a:ext>
            </a:extLst>
          </p:cNvPr>
          <p:cNvSpPr txBox="1"/>
          <p:nvPr/>
        </p:nvSpPr>
        <p:spPr>
          <a:xfrm>
            <a:off x="7404735" y="8509253"/>
            <a:ext cx="8341840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hendrerit urna. </a:t>
            </a:r>
          </a:p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Pellentesque sit amet sapien fringilla, mattis ligula consectetur, ultrices mauris.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1A2269-49BB-D62D-8D63-A83ECABE5CFD}"/>
              </a:ext>
            </a:extLst>
          </p:cNvPr>
          <p:cNvSpPr txBox="1"/>
          <p:nvPr/>
        </p:nvSpPr>
        <p:spPr>
          <a:xfrm>
            <a:off x="7404735" y="5048507"/>
            <a:ext cx="4617605" cy="71558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</a:t>
            </a:r>
            <a:endParaRPr lang="sv-SE" sz="135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adipiscing elit. Ut et massa mi. Aliquam in hendrerit </a:t>
            </a: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urna. Pellentesque sit amet sapien fringilla.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B9E298-E6E6-E20B-FD44-03C1E925ACC1}"/>
              </a:ext>
            </a:extLst>
          </p:cNvPr>
          <p:cNvSpPr txBox="1"/>
          <p:nvPr/>
        </p:nvSpPr>
        <p:spPr>
          <a:xfrm>
            <a:off x="7404735" y="4283649"/>
            <a:ext cx="3559568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2E2E2E"/>
                </a:solidFill>
                <a:latin typeface="Plus Jakarta Sans" pitchFamily="2" charset="0"/>
              </a:rPr>
              <a:t>AI integration for smart </a:t>
            </a:r>
          </a:p>
          <a:p>
            <a:r>
              <a:rPr lang="en-ID" sz="2100" b="1">
                <a:solidFill>
                  <a:srgbClr val="2E2E2E"/>
                </a:solidFill>
                <a:latin typeface="Plus Jakarta Sans" pitchFamily="2" charset="0"/>
              </a:rPr>
              <a:t>shopping.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4153D3-CC99-5775-DEB3-4592A28AB785}"/>
              </a:ext>
            </a:extLst>
          </p:cNvPr>
          <p:cNvSpPr txBox="1"/>
          <p:nvPr/>
        </p:nvSpPr>
        <p:spPr>
          <a:xfrm>
            <a:off x="7404735" y="3159375"/>
            <a:ext cx="8341840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hendrerit urna. </a:t>
            </a:r>
          </a:p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Pellentesque sit amet sapien fringilla, mattis ligula consectetur, ultrices mauris.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A63BAF-0797-E6E7-7991-9548F0853ED6}"/>
              </a:ext>
            </a:extLst>
          </p:cNvPr>
          <p:cNvSpPr txBox="1"/>
          <p:nvPr/>
        </p:nvSpPr>
        <p:spPr>
          <a:xfrm>
            <a:off x="7404735" y="1603629"/>
            <a:ext cx="8341840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hendrerit urna. </a:t>
            </a:r>
          </a:p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Pellentesque sit amet sapien fringilla, mattis ligula consectetur, ultrices mauris.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A33373-021D-48B1-1406-84E0A44CA09B}"/>
              </a:ext>
            </a:extLst>
          </p:cNvPr>
          <p:cNvSpPr txBox="1"/>
          <p:nvPr/>
        </p:nvSpPr>
        <p:spPr>
          <a:xfrm>
            <a:off x="670560" y="5232844"/>
            <a:ext cx="4039590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Timeline of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Our Growth</a:t>
            </a:r>
          </a:p>
        </p:txBody>
      </p:sp>
    </p:spTree>
    <p:extLst>
      <p:ext uri="{BB962C8B-B14F-4D97-AF65-F5344CB8AC3E}">
        <p14:creationId xmlns:p14="http://schemas.microsoft.com/office/powerpoint/2010/main" val="1318906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88AE471-66DD-A67E-BB5A-BBDF094378EB}"/>
              </a:ext>
            </a:extLst>
          </p:cNvPr>
          <p:cNvSpPr/>
          <p:nvPr/>
        </p:nvSpPr>
        <p:spPr>
          <a:xfrm>
            <a:off x="228600" y="990600"/>
            <a:ext cx="8801100" cy="9067800"/>
          </a:xfrm>
          <a:custGeom>
            <a:avLst/>
            <a:gdLst>
              <a:gd name="connsiteX0" fmla="*/ 0 w 8801100"/>
              <a:gd name="connsiteY0" fmla="*/ 0 h 9067800"/>
              <a:gd name="connsiteX1" fmla="*/ 8801100 w 8801100"/>
              <a:gd name="connsiteY1" fmla="*/ 0 h 9067800"/>
              <a:gd name="connsiteX2" fmla="*/ 8801100 w 8801100"/>
              <a:gd name="connsiteY2" fmla="*/ 9067800 h 9067800"/>
              <a:gd name="connsiteX3" fmla="*/ 0 w 8801100"/>
              <a:gd name="connsiteY3" fmla="*/ 9067800 h 906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01100" h="9067800">
                <a:moveTo>
                  <a:pt x="0" y="0"/>
                </a:moveTo>
                <a:lnTo>
                  <a:pt x="8801100" y="0"/>
                </a:lnTo>
                <a:lnTo>
                  <a:pt x="8801100" y="9067800"/>
                </a:lnTo>
                <a:lnTo>
                  <a:pt x="0" y="9067800"/>
                </a:ln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C24E2AF-06A0-77E4-A632-7903545F49B9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7FD7F-48D7-F66F-D7D8-F5F7C3595C37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FFB499-63A5-2CB4-3F2F-E6A210FD9DCA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E7ACAAB-BA7E-AB15-CA9F-1FE6C362687B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ABD636-103D-FFDD-3C02-C06975EFA06E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77B7E2-5B60-165F-34DA-875B94F05745}"/>
              </a:ext>
            </a:extLst>
          </p:cNvPr>
          <p:cNvSpPr txBox="1"/>
          <p:nvPr/>
        </p:nvSpPr>
        <p:spPr>
          <a:xfrm>
            <a:off x="670560" y="1612010"/>
            <a:ext cx="6284093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Key Concepts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55994-EA72-7F3F-BDCA-A7EF065A36B1}"/>
              </a:ext>
            </a:extLst>
          </p:cNvPr>
          <p:cNvSpPr txBox="1"/>
          <p:nvPr/>
        </p:nvSpPr>
        <p:spPr>
          <a:xfrm>
            <a:off x="670560" y="2944177"/>
            <a:ext cx="2927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Innovation drives our strategy.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8E7CC1-951B-29D4-6A4D-B3DCC9DED5E7}"/>
              </a:ext>
            </a:extLst>
          </p:cNvPr>
          <p:cNvSpPr txBox="1"/>
          <p:nvPr/>
        </p:nvSpPr>
        <p:spPr>
          <a:xfrm>
            <a:off x="1127760" y="4315968"/>
            <a:ext cx="416356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34CE8E4-372E-1F49-79F9-E07281C38276}"/>
              </a:ext>
            </a:extLst>
          </p:cNvPr>
          <p:cNvSpPr/>
          <p:nvPr/>
        </p:nvSpPr>
        <p:spPr>
          <a:xfrm>
            <a:off x="2009775" y="436245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17B41F-8E8C-CBCA-E2CC-8A6DDC77B5F0}"/>
              </a:ext>
            </a:extLst>
          </p:cNvPr>
          <p:cNvSpPr txBox="1"/>
          <p:nvPr/>
        </p:nvSpPr>
        <p:spPr>
          <a:xfrm>
            <a:off x="2527935" y="4314539"/>
            <a:ext cx="1491643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Smart Search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EF82B2-DED3-6C7E-9756-61E4F4602216}"/>
              </a:ext>
            </a:extLst>
          </p:cNvPr>
          <p:cNvSpPr txBox="1"/>
          <p:nvPr/>
        </p:nvSpPr>
        <p:spPr>
          <a:xfrm>
            <a:off x="2527935" y="4639246"/>
            <a:ext cx="39950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AI boosts product discovery.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A78140-4539-0E2D-E3D4-4F8EEB3B4FB7}"/>
              </a:ext>
            </a:extLst>
          </p:cNvPr>
          <p:cNvSpPr txBox="1"/>
          <p:nvPr/>
        </p:nvSpPr>
        <p:spPr>
          <a:xfrm>
            <a:off x="2527935" y="5049392"/>
            <a:ext cx="526206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Lorem ipsum dolor sit amet, consectetur adipiscing elit. Ut et massa mi.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B36E6-1139-D0BA-075F-0BEF327D09A8}"/>
              </a:ext>
            </a:extLst>
          </p:cNvPr>
          <p:cNvSpPr txBox="1"/>
          <p:nvPr/>
        </p:nvSpPr>
        <p:spPr>
          <a:xfrm>
            <a:off x="1127760" y="6154292"/>
            <a:ext cx="451256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A3174B1-BC28-6CD2-54B7-BA25044FFBDB}"/>
              </a:ext>
            </a:extLst>
          </p:cNvPr>
          <p:cNvSpPr/>
          <p:nvPr/>
        </p:nvSpPr>
        <p:spPr>
          <a:xfrm>
            <a:off x="2009775" y="6200775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7EF4D0-AB3D-4BD0-F0FE-7ED6E49D0EA1}"/>
              </a:ext>
            </a:extLst>
          </p:cNvPr>
          <p:cNvSpPr txBox="1"/>
          <p:nvPr/>
        </p:nvSpPr>
        <p:spPr>
          <a:xfrm>
            <a:off x="2527935" y="6152864"/>
            <a:ext cx="1901483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Secure Payments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9C888D-B15A-D05C-1904-788E41106DBC}"/>
              </a:ext>
            </a:extLst>
          </p:cNvPr>
          <p:cNvSpPr txBox="1"/>
          <p:nvPr/>
        </p:nvSpPr>
        <p:spPr>
          <a:xfrm>
            <a:off x="2527935" y="6477571"/>
            <a:ext cx="36134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Includes fraud protection.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2A8A8-A788-1960-8A4E-4A988FD921C4}"/>
              </a:ext>
            </a:extLst>
          </p:cNvPr>
          <p:cNvSpPr txBox="1"/>
          <p:nvPr/>
        </p:nvSpPr>
        <p:spPr>
          <a:xfrm>
            <a:off x="2527935" y="6887717"/>
            <a:ext cx="526206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Lorem ipsum dolor sit amet, consectetur adipiscing elit. Ut et massa mi.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3B3CFB-327B-5351-BAAC-9A8AF325C0AD}"/>
              </a:ext>
            </a:extLst>
          </p:cNvPr>
          <p:cNvSpPr txBox="1"/>
          <p:nvPr/>
        </p:nvSpPr>
        <p:spPr>
          <a:xfrm>
            <a:off x="1127760" y="7992617"/>
            <a:ext cx="452628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B3870BA-3E98-31D0-CCD2-D9D3FB177BDB}"/>
              </a:ext>
            </a:extLst>
          </p:cNvPr>
          <p:cNvSpPr/>
          <p:nvPr/>
        </p:nvSpPr>
        <p:spPr>
          <a:xfrm>
            <a:off x="2009775" y="80391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A1CE23-E4E0-37F6-2B50-8256C8A430E8}"/>
              </a:ext>
            </a:extLst>
          </p:cNvPr>
          <p:cNvSpPr txBox="1"/>
          <p:nvPr/>
        </p:nvSpPr>
        <p:spPr>
          <a:xfrm>
            <a:off x="2527935" y="7991189"/>
            <a:ext cx="248016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Community Commerce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9D9FB1-4CAF-3170-C66A-EC717FF3135C}"/>
              </a:ext>
            </a:extLst>
          </p:cNvPr>
          <p:cNvSpPr txBox="1"/>
          <p:nvPr/>
        </p:nvSpPr>
        <p:spPr>
          <a:xfrm>
            <a:off x="2527935" y="8315896"/>
            <a:ext cx="46794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Sellers and buyers thrive together.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EBA842-4F69-E890-8E21-28408CBE9E20}"/>
              </a:ext>
            </a:extLst>
          </p:cNvPr>
          <p:cNvSpPr txBox="1"/>
          <p:nvPr/>
        </p:nvSpPr>
        <p:spPr>
          <a:xfrm>
            <a:off x="2527935" y="8726042"/>
            <a:ext cx="526206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Lorem ipsum dolor sit amet, consectetur adipiscing elit. Ut et massa mi.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ED09394-E653-083E-53B9-B177E85E51CA}"/>
              </a:ext>
            </a:extLst>
          </p:cNvPr>
          <p:cNvSpPr/>
          <p:nvPr/>
        </p:nvSpPr>
        <p:spPr>
          <a:xfrm>
            <a:off x="9258300" y="1009650"/>
            <a:ext cx="8267700" cy="8267700"/>
          </a:xfrm>
          <a:custGeom>
            <a:avLst/>
            <a:gdLst>
              <a:gd name="connsiteX0" fmla="*/ 8267700 w 8267700"/>
              <a:gd name="connsiteY0" fmla="*/ 4133850 h 8267700"/>
              <a:gd name="connsiteX1" fmla="*/ 4133850 w 8267700"/>
              <a:gd name="connsiteY1" fmla="*/ 8267700 h 8267700"/>
              <a:gd name="connsiteX2" fmla="*/ 0 w 8267700"/>
              <a:gd name="connsiteY2" fmla="*/ 4133850 h 8267700"/>
              <a:gd name="connsiteX3" fmla="*/ 4133850 w 8267700"/>
              <a:gd name="connsiteY3" fmla="*/ 0 h 8267700"/>
              <a:gd name="connsiteX4" fmla="*/ 8267700 w 8267700"/>
              <a:gd name="connsiteY4" fmla="*/ 4133850 h 826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67700" h="8267700">
                <a:moveTo>
                  <a:pt x="8267700" y="4133850"/>
                </a:moveTo>
                <a:cubicBezTo>
                  <a:pt x="8267700" y="6416913"/>
                  <a:pt x="6416912" y="8267700"/>
                  <a:pt x="4133850" y="8267700"/>
                </a:cubicBezTo>
                <a:cubicBezTo>
                  <a:pt x="1850788" y="8267700"/>
                  <a:pt x="0" y="6416913"/>
                  <a:pt x="0" y="4133850"/>
                </a:cubicBezTo>
                <a:cubicBezTo>
                  <a:pt x="0" y="1850788"/>
                  <a:pt x="1850788" y="0"/>
                  <a:pt x="4133850" y="0"/>
                </a:cubicBezTo>
                <a:cubicBezTo>
                  <a:pt x="6416912" y="0"/>
                  <a:pt x="8267700" y="1850788"/>
                  <a:pt x="8267700" y="4133850"/>
                </a:cubicBez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C519DF1-BB0B-BB52-B33C-266542A82E4F}"/>
              </a:ext>
            </a:extLst>
          </p:cNvPr>
          <p:cNvSpPr/>
          <p:nvPr/>
        </p:nvSpPr>
        <p:spPr>
          <a:xfrm>
            <a:off x="10372725" y="3238500"/>
            <a:ext cx="6038850" cy="6038850"/>
          </a:xfrm>
          <a:custGeom>
            <a:avLst/>
            <a:gdLst>
              <a:gd name="connsiteX0" fmla="*/ 6038850 w 6038850"/>
              <a:gd name="connsiteY0" fmla="*/ 3019425 h 6038850"/>
              <a:gd name="connsiteX1" fmla="*/ 3019425 w 6038850"/>
              <a:gd name="connsiteY1" fmla="*/ 6038850 h 6038850"/>
              <a:gd name="connsiteX2" fmla="*/ 0 w 6038850"/>
              <a:gd name="connsiteY2" fmla="*/ 3019425 h 6038850"/>
              <a:gd name="connsiteX3" fmla="*/ 3019425 w 6038850"/>
              <a:gd name="connsiteY3" fmla="*/ 0 h 6038850"/>
              <a:gd name="connsiteX4" fmla="*/ 6038850 w 6038850"/>
              <a:gd name="connsiteY4" fmla="*/ 3019425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8850" h="6038850">
                <a:moveTo>
                  <a:pt x="6038850" y="3019425"/>
                </a:moveTo>
                <a:cubicBezTo>
                  <a:pt x="6038850" y="4687008"/>
                  <a:pt x="4687007" y="6038850"/>
                  <a:pt x="3019425" y="6038850"/>
                </a:cubicBezTo>
                <a:cubicBezTo>
                  <a:pt x="1351843" y="6038850"/>
                  <a:pt x="0" y="4687008"/>
                  <a:pt x="0" y="3019425"/>
                </a:cubicBezTo>
                <a:cubicBezTo>
                  <a:pt x="0" y="1351843"/>
                  <a:pt x="1351843" y="0"/>
                  <a:pt x="3019425" y="0"/>
                </a:cubicBezTo>
                <a:cubicBezTo>
                  <a:pt x="4687007" y="0"/>
                  <a:pt x="6038850" y="1351843"/>
                  <a:pt x="6038850" y="3019425"/>
                </a:cubicBez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E84F358-46FA-978F-A8B7-11D997AB2B0A}"/>
              </a:ext>
            </a:extLst>
          </p:cNvPr>
          <p:cNvSpPr/>
          <p:nvPr/>
        </p:nvSpPr>
        <p:spPr>
          <a:xfrm>
            <a:off x="11506200" y="5505450"/>
            <a:ext cx="3771900" cy="3771900"/>
          </a:xfrm>
          <a:custGeom>
            <a:avLst/>
            <a:gdLst>
              <a:gd name="connsiteX0" fmla="*/ 3771900 w 3771900"/>
              <a:gd name="connsiteY0" fmla="*/ 1885950 h 3771900"/>
              <a:gd name="connsiteX1" fmla="*/ 1885950 w 3771900"/>
              <a:gd name="connsiteY1" fmla="*/ 3771900 h 3771900"/>
              <a:gd name="connsiteX2" fmla="*/ 0 w 3771900"/>
              <a:gd name="connsiteY2" fmla="*/ 1885950 h 3771900"/>
              <a:gd name="connsiteX3" fmla="*/ 1885950 w 3771900"/>
              <a:gd name="connsiteY3" fmla="*/ 0 h 3771900"/>
              <a:gd name="connsiteX4" fmla="*/ 3771900 w 3771900"/>
              <a:gd name="connsiteY4" fmla="*/ 1885950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900" h="3771900">
                <a:moveTo>
                  <a:pt x="3771900" y="1885950"/>
                </a:moveTo>
                <a:cubicBezTo>
                  <a:pt x="3771900" y="2927531"/>
                  <a:pt x="2927532" y="3771900"/>
                  <a:pt x="1885950" y="3771900"/>
                </a:cubicBezTo>
                <a:cubicBezTo>
                  <a:pt x="844368" y="3771900"/>
                  <a:pt x="0" y="2927531"/>
                  <a:pt x="0" y="1885950"/>
                </a:cubicBezTo>
                <a:cubicBezTo>
                  <a:pt x="0" y="844369"/>
                  <a:pt x="844368" y="0"/>
                  <a:pt x="1885950" y="0"/>
                </a:cubicBezTo>
                <a:cubicBezTo>
                  <a:pt x="2927532" y="0"/>
                  <a:pt x="3771900" y="844369"/>
                  <a:pt x="3771900" y="1885950"/>
                </a:cubicBez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881778-B83E-77F3-70F3-214E9D951A85}"/>
              </a:ext>
            </a:extLst>
          </p:cNvPr>
          <p:cNvSpPr txBox="1"/>
          <p:nvPr/>
        </p:nvSpPr>
        <p:spPr>
          <a:xfrm>
            <a:off x="12121229" y="1888426"/>
            <a:ext cx="2551118" cy="547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850" b="1" spc="0" baseline="0">
                <a:ln/>
                <a:solidFill>
                  <a:srgbClr val="F3F3F3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Smart Search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854653-1D47-936B-34BA-3C147BE1CD17}"/>
              </a:ext>
            </a:extLst>
          </p:cNvPr>
          <p:cNvSpPr txBox="1"/>
          <p:nvPr/>
        </p:nvSpPr>
        <p:spPr>
          <a:xfrm>
            <a:off x="12425171" y="4002976"/>
            <a:ext cx="2294039" cy="96949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850" b="1">
                <a:solidFill>
                  <a:srgbClr val="F3F3F3"/>
                </a:solidFill>
                <a:latin typeface="Plus Jakarta Sans" pitchFamily="2" charset="0"/>
              </a:rPr>
              <a:t>Secure </a:t>
            </a:r>
          </a:p>
          <a:p>
            <a:r>
              <a:rPr lang="en-ID" sz="2850" b="1">
                <a:solidFill>
                  <a:srgbClr val="F3F3F3"/>
                </a:solidFill>
                <a:latin typeface="Plus Jakarta Sans" pitchFamily="2" charset="0"/>
              </a:rPr>
              <a:t>Payments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900CFE-947C-4935-D1D3-79D6E68D6D31}"/>
              </a:ext>
            </a:extLst>
          </p:cNvPr>
          <p:cNvSpPr txBox="1"/>
          <p:nvPr/>
        </p:nvSpPr>
        <p:spPr>
          <a:xfrm>
            <a:off x="12273725" y="6889051"/>
            <a:ext cx="2670828" cy="96949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850" b="1">
                <a:solidFill>
                  <a:srgbClr val="F3F3F3"/>
                </a:solidFill>
                <a:latin typeface="Plus Jakarta Sans" pitchFamily="2" charset="0"/>
              </a:rPr>
              <a:t>Community </a:t>
            </a:r>
          </a:p>
          <a:p>
            <a:r>
              <a:rPr lang="en-ID" sz="2850" b="1">
                <a:solidFill>
                  <a:srgbClr val="F3F3F3"/>
                </a:solidFill>
                <a:latin typeface="Plus Jakarta Sans" pitchFamily="2" charset="0"/>
              </a:rPr>
              <a:t>Commerce</a:t>
            </a:r>
          </a:p>
        </p:txBody>
      </p:sp>
    </p:spTree>
    <p:extLst>
      <p:ext uri="{BB962C8B-B14F-4D97-AF65-F5344CB8AC3E}">
        <p14:creationId xmlns:p14="http://schemas.microsoft.com/office/powerpoint/2010/main" val="264305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CE5363-9886-A4AE-A8FD-16A5E2C9E423}"/>
              </a:ext>
            </a:extLst>
          </p:cNvPr>
          <p:cNvSpPr txBox="1"/>
          <p:nvPr/>
        </p:nvSpPr>
        <p:spPr>
          <a:xfrm>
            <a:off x="670560" y="1307210"/>
            <a:ext cx="659988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Growth backed by real numbers.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FD9AC-73AE-A785-99FC-4911705F8B80}"/>
              </a:ext>
            </a:extLst>
          </p:cNvPr>
          <p:cNvSpPr txBox="1"/>
          <p:nvPr/>
        </p:nvSpPr>
        <p:spPr>
          <a:xfrm>
            <a:off x="670560" y="2039302"/>
            <a:ext cx="45191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Visualize data using clean bar chart or line graph.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DB0432E-7457-2E0F-EA8D-6DD49CC174F4}"/>
              </a:ext>
            </a:extLst>
          </p:cNvPr>
          <p:cNvSpPr/>
          <p:nvPr/>
        </p:nvSpPr>
        <p:spPr>
          <a:xfrm>
            <a:off x="1009650" y="7553325"/>
            <a:ext cx="952500" cy="952500"/>
          </a:xfrm>
          <a:custGeom>
            <a:avLst/>
            <a:gdLst>
              <a:gd name="connsiteX0" fmla="*/ 952500 w 952500"/>
              <a:gd name="connsiteY0" fmla="*/ 476250 h 952500"/>
              <a:gd name="connsiteX1" fmla="*/ 476250 w 952500"/>
              <a:gd name="connsiteY1" fmla="*/ 952500 h 952500"/>
              <a:gd name="connsiteX2" fmla="*/ 0 w 952500"/>
              <a:gd name="connsiteY2" fmla="*/ 476250 h 952500"/>
              <a:gd name="connsiteX3" fmla="*/ 476250 w 952500"/>
              <a:gd name="connsiteY3" fmla="*/ 0 h 952500"/>
              <a:gd name="connsiteX4" fmla="*/ 952500 w 952500"/>
              <a:gd name="connsiteY4" fmla="*/ 47625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0" h="952500">
                <a:moveTo>
                  <a:pt x="952500" y="476250"/>
                </a:moveTo>
                <a:cubicBezTo>
                  <a:pt x="952500" y="739276"/>
                  <a:pt x="739276" y="952500"/>
                  <a:pt x="476250" y="952500"/>
                </a:cubicBezTo>
                <a:cubicBezTo>
                  <a:pt x="213224" y="952500"/>
                  <a:pt x="0" y="739276"/>
                  <a:pt x="0" y="476250"/>
                </a:cubicBezTo>
                <a:cubicBezTo>
                  <a:pt x="0" y="213224"/>
                  <a:pt x="213224" y="0"/>
                  <a:pt x="476250" y="0"/>
                </a:cubicBezTo>
                <a:cubicBezTo>
                  <a:pt x="739276" y="0"/>
                  <a:pt x="952500" y="213224"/>
                  <a:pt x="952500" y="4762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Partial Circle 16">
            <a:extLst>
              <a:ext uri="{FF2B5EF4-FFF2-40B4-BE49-F238E27FC236}">
                <a16:creationId xmlns:a16="http://schemas.microsoft.com/office/drawing/2014/main" id="{DB1208FA-9DC9-D3C1-2269-11748981BE0E}"/>
              </a:ext>
            </a:extLst>
          </p:cNvPr>
          <p:cNvSpPr/>
          <p:nvPr/>
        </p:nvSpPr>
        <p:spPr>
          <a:xfrm rot="16200000">
            <a:off x="1009649" y="7553325"/>
            <a:ext cx="952500" cy="952499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9467D49-7C65-FCA9-6046-148E13B8F718}"/>
              </a:ext>
            </a:extLst>
          </p:cNvPr>
          <p:cNvSpPr/>
          <p:nvPr/>
        </p:nvSpPr>
        <p:spPr>
          <a:xfrm>
            <a:off x="1127134" y="7670799"/>
            <a:ext cx="717550" cy="717550"/>
          </a:xfrm>
          <a:custGeom>
            <a:avLst/>
            <a:gdLst>
              <a:gd name="connsiteX0" fmla="*/ 717551 w 717550"/>
              <a:gd name="connsiteY0" fmla="*/ 358775 h 717550"/>
              <a:gd name="connsiteX1" fmla="*/ 358775 w 717550"/>
              <a:gd name="connsiteY1" fmla="*/ 717551 h 717550"/>
              <a:gd name="connsiteX2" fmla="*/ 0 w 717550"/>
              <a:gd name="connsiteY2" fmla="*/ 358775 h 717550"/>
              <a:gd name="connsiteX3" fmla="*/ 358775 w 717550"/>
              <a:gd name="connsiteY3" fmla="*/ 0 h 717550"/>
              <a:gd name="connsiteX4" fmla="*/ 717551 w 717550"/>
              <a:gd name="connsiteY4" fmla="*/ 358775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550" h="717550">
                <a:moveTo>
                  <a:pt x="717551" y="358775"/>
                </a:moveTo>
                <a:cubicBezTo>
                  <a:pt x="717551" y="556921"/>
                  <a:pt x="556921" y="717551"/>
                  <a:pt x="358775" y="717551"/>
                </a:cubicBezTo>
                <a:cubicBezTo>
                  <a:pt x="160629" y="717551"/>
                  <a:pt x="0" y="556921"/>
                  <a:pt x="0" y="358775"/>
                </a:cubicBezTo>
                <a:cubicBezTo>
                  <a:pt x="0" y="160629"/>
                  <a:pt x="160629" y="0"/>
                  <a:pt x="358775" y="0"/>
                </a:cubicBezTo>
                <a:cubicBezTo>
                  <a:pt x="556921" y="0"/>
                  <a:pt x="717551" y="160629"/>
                  <a:pt x="717551" y="358775"/>
                </a:cubicBez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C3827B-6D8E-0C94-498C-AE1FF3D7E04D}"/>
              </a:ext>
            </a:extLst>
          </p:cNvPr>
          <p:cNvSpPr txBox="1"/>
          <p:nvPr/>
        </p:nvSpPr>
        <p:spPr>
          <a:xfrm>
            <a:off x="918210" y="9203474"/>
            <a:ext cx="136928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120%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E3A09F3-06E8-EABF-B82B-154336D2D177}"/>
              </a:ext>
            </a:extLst>
          </p:cNvPr>
          <p:cNvSpPr/>
          <p:nvPr/>
        </p:nvSpPr>
        <p:spPr>
          <a:xfrm>
            <a:off x="3362325" y="7553325"/>
            <a:ext cx="952500" cy="952500"/>
          </a:xfrm>
          <a:custGeom>
            <a:avLst/>
            <a:gdLst>
              <a:gd name="connsiteX0" fmla="*/ 952500 w 952500"/>
              <a:gd name="connsiteY0" fmla="*/ 476250 h 952500"/>
              <a:gd name="connsiteX1" fmla="*/ 476250 w 952500"/>
              <a:gd name="connsiteY1" fmla="*/ 952500 h 952500"/>
              <a:gd name="connsiteX2" fmla="*/ 0 w 952500"/>
              <a:gd name="connsiteY2" fmla="*/ 476250 h 952500"/>
              <a:gd name="connsiteX3" fmla="*/ 476250 w 952500"/>
              <a:gd name="connsiteY3" fmla="*/ 0 h 952500"/>
              <a:gd name="connsiteX4" fmla="*/ 952500 w 952500"/>
              <a:gd name="connsiteY4" fmla="*/ 47625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0" h="952500">
                <a:moveTo>
                  <a:pt x="952500" y="476250"/>
                </a:moveTo>
                <a:cubicBezTo>
                  <a:pt x="952500" y="739276"/>
                  <a:pt x="739276" y="952500"/>
                  <a:pt x="476250" y="952500"/>
                </a:cubicBezTo>
                <a:cubicBezTo>
                  <a:pt x="213224" y="952500"/>
                  <a:pt x="0" y="739276"/>
                  <a:pt x="0" y="476250"/>
                </a:cubicBezTo>
                <a:cubicBezTo>
                  <a:pt x="0" y="213224"/>
                  <a:pt x="213224" y="0"/>
                  <a:pt x="476250" y="0"/>
                </a:cubicBezTo>
                <a:cubicBezTo>
                  <a:pt x="739276" y="0"/>
                  <a:pt x="952500" y="213224"/>
                  <a:pt x="952500" y="4762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Partial Circle 22">
            <a:extLst>
              <a:ext uri="{FF2B5EF4-FFF2-40B4-BE49-F238E27FC236}">
                <a16:creationId xmlns:a16="http://schemas.microsoft.com/office/drawing/2014/main" id="{8D3E0F19-D867-6B63-EA38-9EA0C90AB1F0}"/>
              </a:ext>
            </a:extLst>
          </p:cNvPr>
          <p:cNvSpPr/>
          <p:nvPr/>
        </p:nvSpPr>
        <p:spPr>
          <a:xfrm rot="16200000">
            <a:off x="3362324" y="7553325"/>
            <a:ext cx="952503" cy="950174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E41218F-D16F-118E-A78B-941D5A824D41}"/>
              </a:ext>
            </a:extLst>
          </p:cNvPr>
          <p:cNvSpPr/>
          <p:nvPr/>
        </p:nvSpPr>
        <p:spPr>
          <a:xfrm>
            <a:off x="3479809" y="7670799"/>
            <a:ext cx="717550" cy="717550"/>
          </a:xfrm>
          <a:custGeom>
            <a:avLst/>
            <a:gdLst>
              <a:gd name="connsiteX0" fmla="*/ 717551 w 717550"/>
              <a:gd name="connsiteY0" fmla="*/ 358775 h 717550"/>
              <a:gd name="connsiteX1" fmla="*/ 358775 w 717550"/>
              <a:gd name="connsiteY1" fmla="*/ 717551 h 717550"/>
              <a:gd name="connsiteX2" fmla="*/ 0 w 717550"/>
              <a:gd name="connsiteY2" fmla="*/ 358775 h 717550"/>
              <a:gd name="connsiteX3" fmla="*/ 358775 w 717550"/>
              <a:gd name="connsiteY3" fmla="*/ 0 h 717550"/>
              <a:gd name="connsiteX4" fmla="*/ 717551 w 717550"/>
              <a:gd name="connsiteY4" fmla="*/ 358775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550" h="717550">
                <a:moveTo>
                  <a:pt x="717551" y="358775"/>
                </a:moveTo>
                <a:cubicBezTo>
                  <a:pt x="717551" y="556921"/>
                  <a:pt x="556921" y="717551"/>
                  <a:pt x="358775" y="717551"/>
                </a:cubicBezTo>
                <a:cubicBezTo>
                  <a:pt x="160629" y="717551"/>
                  <a:pt x="0" y="556921"/>
                  <a:pt x="0" y="358775"/>
                </a:cubicBezTo>
                <a:cubicBezTo>
                  <a:pt x="0" y="160629"/>
                  <a:pt x="160629" y="0"/>
                  <a:pt x="358775" y="0"/>
                </a:cubicBezTo>
                <a:cubicBezTo>
                  <a:pt x="556921" y="0"/>
                  <a:pt x="717551" y="160629"/>
                  <a:pt x="717551" y="358775"/>
                </a:cubicBez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9E8FD8-C794-9DBB-5DC7-EB880EA769E0}"/>
              </a:ext>
            </a:extLst>
          </p:cNvPr>
          <p:cNvSpPr txBox="1"/>
          <p:nvPr/>
        </p:nvSpPr>
        <p:spPr>
          <a:xfrm>
            <a:off x="3270885" y="9203474"/>
            <a:ext cx="122982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40%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C50416C-AE25-4215-13EA-B63D17653163}"/>
              </a:ext>
            </a:extLst>
          </p:cNvPr>
          <p:cNvSpPr/>
          <p:nvPr/>
        </p:nvSpPr>
        <p:spPr>
          <a:xfrm>
            <a:off x="5715000" y="7553325"/>
            <a:ext cx="952500" cy="952500"/>
          </a:xfrm>
          <a:custGeom>
            <a:avLst/>
            <a:gdLst>
              <a:gd name="connsiteX0" fmla="*/ 952500 w 952500"/>
              <a:gd name="connsiteY0" fmla="*/ 476250 h 952500"/>
              <a:gd name="connsiteX1" fmla="*/ 476250 w 952500"/>
              <a:gd name="connsiteY1" fmla="*/ 952500 h 952500"/>
              <a:gd name="connsiteX2" fmla="*/ 0 w 952500"/>
              <a:gd name="connsiteY2" fmla="*/ 476250 h 952500"/>
              <a:gd name="connsiteX3" fmla="*/ 476250 w 952500"/>
              <a:gd name="connsiteY3" fmla="*/ 0 h 952500"/>
              <a:gd name="connsiteX4" fmla="*/ 952500 w 952500"/>
              <a:gd name="connsiteY4" fmla="*/ 47625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0" h="952500">
                <a:moveTo>
                  <a:pt x="952500" y="476250"/>
                </a:moveTo>
                <a:cubicBezTo>
                  <a:pt x="952500" y="739276"/>
                  <a:pt x="739276" y="952500"/>
                  <a:pt x="476250" y="952500"/>
                </a:cubicBezTo>
                <a:cubicBezTo>
                  <a:pt x="213224" y="952500"/>
                  <a:pt x="0" y="739276"/>
                  <a:pt x="0" y="476250"/>
                </a:cubicBezTo>
                <a:cubicBezTo>
                  <a:pt x="0" y="213224"/>
                  <a:pt x="213224" y="0"/>
                  <a:pt x="476250" y="0"/>
                </a:cubicBezTo>
                <a:cubicBezTo>
                  <a:pt x="739276" y="0"/>
                  <a:pt x="952500" y="213224"/>
                  <a:pt x="952500" y="4762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Partial Circle 28">
            <a:extLst>
              <a:ext uri="{FF2B5EF4-FFF2-40B4-BE49-F238E27FC236}">
                <a16:creationId xmlns:a16="http://schemas.microsoft.com/office/drawing/2014/main" id="{37E52856-1584-F188-62DD-302A1F923329}"/>
              </a:ext>
            </a:extLst>
          </p:cNvPr>
          <p:cNvSpPr/>
          <p:nvPr/>
        </p:nvSpPr>
        <p:spPr>
          <a:xfrm rot="16200000">
            <a:off x="5714996" y="7553324"/>
            <a:ext cx="952503" cy="950173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994A8FF-109F-102C-1559-A9681A602EC7}"/>
              </a:ext>
            </a:extLst>
          </p:cNvPr>
          <p:cNvSpPr/>
          <p:nvPr/>
        </p:nvSpPr>
        <p:spPr>
          <a:xfrm>
            <a:off x="5832474" y="7670799"/>
            <a:ext cx="717550" cy="717550"/>
          </a:xfrm>
          <a:custGeom>
            <a:avLst/>
            <a:gdLst>
              <a:gd name="connsiteX0" fmla="*/ 717551 w 717550"/>
              <a:gd name="connsiteY0" fmla="*/ 358775 h 717550"/>
              <a:gd name="connsiteX1" fmla="*/ 358775 w 717550"/>
              <a:gd name="connsiteY1" fmla="*/ 717551 h 717550"/>
              <a:gd name="connsiteX2" fmla="*/ 0 w 717550"/>
              <a:gd name="connsiteY2" fmla="*/ 358775 h 717550"/>
              <a:gd name="connsiteX3" fmla="*/ 358775 w 717550"/>
              <a:gd name="connsiteY3" fmla="*/ 0 h 717550"/>
              <a:gd name="connsiteX4" fmla="*/ 717551 w 717550"/>
              <a:gd name="connsiteY4" fmla="*/ 358775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550" h="717550">
                <a:moveTo>
                  <a:pt x="717551" y="358775"/>
                </a:moveTo>
                <a:cubicBezTo>
                  <a:pt x="717551" y="556921"/>
                  <a:pt x="556921" y="717551"/>
                  <a:pt x="358775" y="717551"/>
                </a:cubicBezTo>
                <a:cubicBezTo>
                  <a:pt x="160629" y="717551"/>
                  <a:pt x="0" y="556921"/>
                  <a:pt x="0" y="358775"/>
                </a:cubicBezTo>
                <a:cubicBezTo>
                  <a:pt x="0" y="160629"/>
                  <a:pt x="160629" y="0"/>
                  <a:pt x="358775" y="0"/>
                </a:cubicBezTo>
                <a:cubicBezTo>
                  <a:pt x="556921" y="0"/>
                  <a:pt x="717551" y="160629"/>
                  <a:pt x="717551" y="358775"/>
                </a:cubicBez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4E09A4-03C0-1476-2BDC-A8463691E3D1}"/>
              </a:ext>
            </a:extLst>
          </p:cNvPr>
          <p:cNvSpPr txBox="1"/>
          <p:nvPr/>
        </p:nvSpPr>
        <p:spPr>
          <a:xfrm>
            <a:off x="5623560" y="9203474"/>
            <a:ext cx="121219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30% 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F8C57AF-6053-9BA9-19BF-D82DF730F001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3935F0-E4E8-E77B-F087-5AC2588F24E3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C56E1A-BB41-E23B-C940-56239A44F217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F848711-073B-4D17-EA76-2D12FE803F2F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FBD4F2-CECE-D6C1-A6EB-39C44C922836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7D3BBBE-9092-8F09-29BF-A772C04F26D8}"/>
              </a:ext>
            </a:extLst>
          </p:cNvPr>
          <p:cNvSpPr/>
          <p:nvPr/>
        </p:nvSpPr>
        <p:spPr>
          <a:xfrm>
            <a:off x="762000" y="4133850"/>
            <a:ext cx="6848475" cy="9525"/>
          </a:xfrm>
          <a:custGeom>
            <a:avLst/>
            <a:gdLst>
              <a:gd name="connsiteX0" fmla="*/ 0 w 6848475"/>
              <a:gd name="connsiteY0" fmla="*/ 0 h 9525"/>
              <a:gd name="connsiteX1" fmla="*/ 6848475 w 684847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48475" h="9525">
                <a:moveTo>
                  <a:pt x="0" y="0"/>
                </a:moveTo>
                <a:lnTo>
                  <a:pt x="6848475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9A885B3-54D5-64DA-FDE4-1FC40069D816}"/>
              </a:ext>
            </a:extLst>
          </p:cNvPr>
          <p:cNvSpPr/>
          <p:nvPr/>
        </p:nvSpPr>
        <p:spPr>
          <a:xfrm>
            <a:off x="7229475" y="424815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77817CC5-F8E8-006E-01A9-174D155B2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29435A8A-2D09-32D8-A7CE-275D86A00B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ACDD53-7F0D-E6CB-1667-B20F92568EB2}"/>
              </a:ext>
            </a:extLst>
          </p:cNvPr>
          <p:cNvSpPr txBox="1"/>
          <p:nvPr/>
        </p:nvSpPr>
        <p:spPr>
          <a:xfrm>
            <a:off x="5623560" y="8687752"/>
            <a:ext cx="2191702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Conversion Boost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Recommendation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7DACA7-E496-046F-95EA-289B0DB8D8BD}"/>
              </a:ext>
            </a:extLst>
          </p:cNvPr>
          <p:cNvSpPr txBox="1"/>
          <p:nvPr/>
        </p:nvSpPr>
        <p:spPr>
          <a:xfrm>
            <a:off x="3270885" y="8687752"/>
            <a:ext cx="1905571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Retention Rate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Improvement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D3D1C8-FAB7-1BB8-900F-A2C534FDA09B}"/>
              </a:ext>
            </a:extLst>
          </p:cNvPr>
          <p:cNvSpPr txBox="1"/>
          <p:nvPr/>
        </p:nvSpPr>
        <p:spPr>
          <a:xfrm>
            <a:off x="918210" y="8687752"/>
            <a:ext cx="1436750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YoY Sales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Increase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E911B6-3D3C-D03E-210E-4B1D10B60AB6}"/>
              </a:ext>
            </a:extLst>
          </p:cNvPr>
          <p:cNvSpPr txBox="1"/>
          <p:nvPr/>
        </p:nvSpPr>
        <p:spPr>
          <a:xfrm>
            <a:off x="7728585" y="1305877"/>
            <a:ext cx="10177080" cy="147732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1A1A1A"/>
                </a:solidFill>
                <a:latin typeface="Plus Jakarta Sans" pitchFamily="2" charset="0"/>
              </a:rPr>
              <a:t>Lorem ipsum dolor sit amet, consectetur adipiscing elit. Ut et massa mi. Aliquam in hendrerit urna. </a:t>
            </a:r>
          </a:p>
          <a:p>
            <a:r>
              <a:rPr lang="en-ID" sz="1500">
                <a:solidFill>
                  <a:srgbClr val="1A1A1A"/>
                </a:solidFill>
                <a:latin typeface="Plus Jakarta Sans" pitchFamily="2" charset="0"/>
              </a:rPr>
              <a:t>Pellentesque sit amet sapien fringilla, mattis ligula consectetur, ultrices mauris. Maecenas vitae mattis tellus. </a:t>
            </a:r>
          </a:p>
          <a:p>
            <a:r>
              <a:rPr lang="en-ID" sz="1500">
                <a:solidFill>
                  <a:srgbClr val="1A1A1A"/>
                </a:solidFill>
                <a:latin typeface="Plus Jakarta Sans" pitchFamily="2" charset="0"/>
              </a:rPr>
              <a:t>Nullam quis imperdiet augue. Vestibulum auctor ornare leo, non suscipit magna interdum eu. Curabitur </a:t>
            </a:r>
          </a:p>
          <a:p>
            <a:r>
              <a:rPr lang="en-ID" sz="1500">
                <a:solidFill>
                  <a:srgbClr val="1A1A1A"/>
                </a:solidFill>
                <a:latin typeface="Plus Jakarta Sans" pitchFamily="2" charset="0"/>
              </a:rPr>
              <a:t>pellentesque nibh nibh, at maximus ante fermentum sit amet. Pellentesque commodo lacus at sodales </a:t>
            </a:r>
          </a:p>
          <a:p>
            <a:r>
              <a:rPr lang="en-ID" sz="1500">
                <a:solidFill>
                  <a:srgbClr val="1A1A1A"/>
                </a:solidFill>
                <a:latin typeface="Plus Jakarta Sans" pitchFamily="2" charset="0"/>
              </a:rPr>
              <a:t>sodales. Quisque sagittis orci ut diam condimentum, vel euismod erat placerat. In iaculis arcu eros, eget </a:t>
            </a:r>
          </a:p>
          <a:p>
            <a:r>
              <a:rPr lang="en-ID" sz="1500">
                <a:solidFill>
                  <a:srgbClr val="1A1A1A"/>
                </a:solidFill>
                <a:latin typeface="Plus Jakarta Sans" pitchFamily="2" charset="0"/>
              </a:rPr>
              <a:t>tempus orci facilisis id.</a:t>
            </a:r>
          </a:p>
        </p:txBody>
      </p:sp>
    </p:spTree>
    <p:extLst>
      <p:ext uri="{BB962C8B-B14F-4D97-AF65-F5344CB8AC3E}">
        <p14:creationId xmlns:p14="http://schemas.microsoft.com/office/powerpoint/2010/main" val="3388884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7DF4CB6-BA18-79B8-B95D-1F883EADF713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6A4EC-450F-89FC-4D23-E65EBB09AB44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7C8DD-8373-9B38-B48F-AB741D96F9EC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E898996-90D6-3850-1662-348E6E35F2DF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4BD65-E3D4-3433-C0C4-468333F6AFE4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26D86B-EDB3-5C65-555A-FEA9A147EC5B}"/>
              </a:ext>
            </a:extLst>
          </p:cNvPr>
          <p:cNvSpPr txBox="1"/>
          <p:nvPr/>
        </p:nvSpPr>
        <p:spPr>
          <a:xfrm>
            <a:off x="670560" y="1631060"/>
            <a:ext cx="10795749" cy="1195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A look inside our journey.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C00487-0A14-F5C6-B72A-59A74969DB9D}"/>
              </a:ext>
            </a:extLst>
          </p:cNvPr>
          <p:cNvSpPr txBox="1"/>
          <p:nvPr/>
        </p:nvSpPr>
        <p:spPr>
          <a:xfrm>
            <a:off x="3499485" y="7627715"/>
            <a:ext cx="25987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Market saturation.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8FE203-8991-E28E-D6E5-F4BFC19935EB}"/>
              </a:ext>
            </a:extLst>
          </p:cNvPr>
          <p:cNvSpPr txBox="1"/>
          <p:nvPr/>
        </p:nvSpPr>
        <p:spPr>
          <a:xfrm>
            <a:off x="7040403" y="7627715"/>
            <a:ext cx="307327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Logistics inefficiency.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675016-67DA-7338-3AAD-C31B7FD1B068}"/>
              </a:ext>
            </a:extLst>
          </p:cNvPr>
          <p:cNvSpPr txBox="1"/>
          <p:nvPr/>
        </p:nvSpPr>
        <p:spPr>
          <a:xfrm>
            <a:off x="10581322" y="7627715"/>
            <a:ext cx="26116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User trust barriers.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4C3071-F711-5D7A-5311-4860738D8F5C}"/>
              </a:ext>
            </a:extLst>
          </p:cNvPr>
          <p:cNvSpPr txBox="1"/>
          <p:nvPr/>
        </p:nvSpPr>
        <p:spPr>
          <a:xfrm>
            <a:off x="14122241" y="7627715"/>
            <a:ext cx="2027644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High ad costs.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65783C8-8297-5C00-F15A-659E514C239F}"/>
              </a:ext>
            </a:extLst>
          </p:cNvPr>
          <p:cNvSpPr/>
          <p:nvPr/>
        </p:nvSpPr>
        <p:spPr>
          <a:xfrm>
            <a:off x="781050" y="3009900"/>
            <a:ext cx="16744950" cy="9525"/>
          </a:xfrm>
          <a:custGeom>
            <a:avLst/>
            <a:gdLst>
              <a:gd name="connsiteX0" fmla="*/ 0 w 16744950"/>
              <a:gd name="connsiteY0" fmla="*/ 0 h 9525"/>
              <a:gd name="connsiteX1" fmla="*/ 16744950 w 16744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744950" h="9525">
                <a:moveTo>
                  <a:pt x="0" y="0"/>
                </a:moveTo>
                <a:lnTo>
                  <a:pt x="1674495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44E86AF-4BC9-9E11-1FE5-47E43FA45206}"/>
              </a:ext>
            </a:extLst>
          </p:cNvPr>
          <p:cNvSpPr/>
          <p:nvPr/>
        </p:nvSpPr>
        <p:spPr>
          <a:xfrm>
            <a:off x="17145000" y="31242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2B861CA3-0603-0B3B-635B-315F391D9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54864A4-68D8-5299-3F72-60A9A3B061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69A32F15-8797-88D3-7BD4-72B5ABCCCC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A4B0A401-42FE-E5BC-5AA5-B8351126AB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2EB641-F1E0-A35D-C44E-81318BB0272A}"/>
              </a:ext>
            </a:extLst>
          </p:cNvPr>
          <p:cNvSpPr txBox="1"/>
          <p:nvPr/>
        </p:nvSpPr>
        <p:spPr>
          <a:xfrm>
            <a:off x="670560" y="4086796"/>
            <a:ext cx="2435694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Highlight main </a:t>
            </a:r>
          </a:p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issues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552F55-7519-D41C-C5F9-F9210967AB7A}"/>
              </a:ext>
            </a:extLst>
          </p:cNvPr>
          <p:cNvSpPr txBox="1"/>
          <p:nvPr/>
        </p:nvSpPr>
        <p:spPr>
          <a:xfrm>
            <a:off x="670560" y="3382327"/>
            <a:ext cx="3035045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Explain how each challenge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shaped product innovation.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CD64E5-3835-4859-B3C7-3F1FFA3BD483}"/>
              </a:ext>
            </a:extLst>
          </p:cNvPr>
          <p:cNvSpPr txBox="1"/>
          <p:nvPr/>
        </p:nvSpPr>
        <p:spPr>
          <a:xfrm>
            <a:off x="14122240" y="7999571"/>
            <a:ext cx="3058667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consectetur adipiscing elit. 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D2A4AA-E8CD-D9E9-AB18-BE4338C7F68F}"/>
              </a:ext>
            </a:extLst>
          </p:cNvPr>
          <p:cNvSpPr txBox="1"/>
          <p:nvPr/>
        </p:nvSpPr>
        <p:spPr>
          <a:xfrm>
            <a:off x="10581322" y="7999571"/>
            <a:ext cx="3058667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consectetur adipiscing elit. 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BD65EF-18CF-0E87-05DA-BD78EF1248F8}"/>
              </a:ext>
            </a:extLst>
          </p:cNvPr>
          <p:cNvSpPr txBox="1"/>
          <p:nvPr/>
        </p:nvSpPr>
        <p:spPr>
          <a:xfrm>
            <a:off x="7040403" y="7999571"/>
            <a:ext cx="3058667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consectetur adipiscing elit. 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BA1BBC-B819-CD77-E6D9-6EFA2C8561A3}"/>
              </a:ext>
            </a:extLst>
          </p:cNvPr>
          <p:cNvSpPr txBox="1"/>
          <p:nvPr/>
        </p:nvSpPr>
        <p:spPr>
          <a:xfrm>
            <a:off x="3499485" y="7999571"/>
            <a:ext cx="3058667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consectetur adipiscing elit. 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295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F6F717-D8FD-0588-33F4-F97FCF038C7F}"/>
              </a:ext>
            </a:extLst>
          </p:cNvPr>
          <p:cNvSpPr/>
          <p:nvPr/>
        </p:nvSpPr>
        <p:spPr>
          <a:xfrm>
            <a:off x="7839075" y="228600"/>
            <a:ext cx="10220325" cy="9829800"/>
          </a:xfrm>
          <a:custGeom>
            <a:avLst/>
            <a:gdLst>
              <a:gd name="connsiteX0" fmla="*/ 0 w 10220325"/>
              <a:gd name="connsiteY0" fmla="*/ 0 h 9829800"/>
              <a:gd name="connsiteX1" fmla="*/ 10220325 w 10220325"/>
              <a:gd name="connsiteY1" fmla="*/ 0 h 9829800"/>
              <a:gd name="connsiteX2" fmla="*/ 10220325 w 10220325"/>
              <a:gd name="connsiteY2" fmla="*/ 9829800 h 9829800"/>
              <a:gd name="connsiteX3" fmla="*/ 0 w 10220325"/>
              <a:gd name="connsiteY3" fmla="*/ 9829800 h 982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20325" h="9829800">
                <a:moveTo>
                  <a:pt x="0" y="0"/>
                </a:moveTo>
                <a:lnTo>
                  <a:pt x="10220325" y="0"/>
                </a:lnTo>
                <a:lnTo>
                  <a:pt x="10220325" y="9829800"/>
                </a:lnTo>
                <a:lnTo>
                  <a:pt x="0" y="982980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932E0-A875-E5F3-ACCF-BCD9E4D7F95B}"/>
              </a:ext>
            </a:extLst>
          </p:cNvPr>
          <p:cNvSpPr txBox="1"/>
          <p:nvPr/>
        </p:nvSpPr>
        <p:spPr>
          <a:xfrm>
            <a:off x="670560" y="1613344"/>
            <a:ext cx="5999683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Proposed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BA35D-7025-A402-A553-7B4686B86702}"/>
              </a:ext>
            </a:extLst>
          </p:cNvPr>
          <p:cNvSpPr txBox="1"/>
          <p:nvPr/>
        </p:nvSpPr>
        <p:spPr>
          <a:xfrm>
            <a:off x="670560" y="2420302"/>
            <a:ext cx="349005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Turning problems into opportunities.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8E2853-9BED-B131-4253-78D900DCCD25}"/>
              </a:ext>
            </a:extLst>
          </p:cNvPr>
          <p:cNvSpPr/>
          <p:nvPr/>
        </p:nvSpPr>
        <p:spPr>
          <a:xfrm>
            <a:off x="9715500" y="1219200"/>
            <a:ext cx="7353300" cy="9525"/>
          </a:xfrm>
          <a:custGeom>
            <a:avLst/>
            <a:gdLst>
              <a:gd name="connsiteX0" fmla="*/ 0 w 7353300"/>
              <a:gd name="connsiteY0" fmla="*/ 0 h 9525"/>
              <a:gd name="connsiteX1" fmla="*/ 7353300 w 73533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353300" h="9525">
                <a:moveTo>
                  <a:pt x="0" y="0"/>
                </a:moveTo>
                <a:lnTo>
                  <a:pt x="735330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9453F-5C9E-5407-BE36-F96B689DFC83}"/>
              </a:ext>
            </a:extLst>
          </p:cNvPr>
          <p:cNvSpPr txBox="1"/>
          <p:nvPr/>
        </p:nvSpPr>
        <p:spPr>
          <a:xfrm>
            <a:off x="9624060" y="1401317"/>
            <a:ext cx="416356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51B229A-9D5B-1778-2F08-06064F17DF22}"/>
              </a:ext>
            </a:extLst>
          </p:cNvPr>
          <p:cNvSpPr/>
          <p:nvPr/>
        </p:nvSpPr>
        <p:spPr>
          <a:xfrm>
            <a:off x="10506075" y="14478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6BA381-DD24-11D7-6C32-6A4309F418E0}"/>
              </a:ext>
            </a:extLst>
          </p:cNvPr>
          <p:cNvSpPr txBox="1"/>
          <p:nvPr/>
        </p:nvSpPr>
        <p:spPr>
          <a:xfrm>
            <a:off x="11024235" y="1400746"/>
            <a:ext cx="58176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Use AI-driven marketing to reduce ad cost.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A75AC8E-21F0-8ABC-8D9E-0766BE18DC52}"/>
              </a:ext>
            </a:extLst>
          </p:cNvPr>
          <p:cNvSpPr/>
          <p:nvPr/>
        </p:nvSpPr>
        <p:spPr>
          <a:xfrm>
            <a:off x="9715500" y="3432171"/>
            <a:ext cx="7353300" cy="9525"/>
          </a:xfrm>
          <a:custGeom>
            <a:avLst/>
            <a:gdLst>
              <a:gd name="connsiteX0" fmla="*/ 0 w 7353300"/>
              <a:gd name="connsiteY0" fmla="*/ 0 h 9525"/>
              <a:gd name="connsiteX1" fmla="*/ 7353300 w 73533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353300" h="9525">
                <a:moveTo>
                  <a:pt x="0" y="0"/>
                </a:moveTo>
                <a:lnTo>
                  <a:pt x="735330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C19E4F-60AF-1004-25C7-FE8D5F42001F}"/>
              </a:ext>
            </a:extLst>
          </p:cNvPr>
          <p:cNvSpPr txBox="1"/>
          <p:nvPr/>
        </p:nvSpPr>
        <p:spPr>
          <a:xfrm>
            <a:off x="9624060" y="3614289"/>
            <a:ext cx="451256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A47E5E-E4A3-0A96-DFCB-E5629BA84776}"/>
              </a:ext>
            </a:extLst>
          </p:cNvPr>
          <p:cNvSpPr/>
          <p:nvPr/>
        </p:nvSpPr>
        <p:spPr>
          <a:xfrm>
            <a:off x="10506075" y="3660771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81DB86-F557-1589-4DCB-CA8DEF4384B3}"/>
              </a:ext>
            </a:extLst>
          </p:cNvPr>
          <p:cNvSpPr txBox="1"/>
          <p:nvPr/>
        </p:nvSpPr>
        <p:spPr>
          <a:xfrm>
            <a:off x="11024235" y="3613718"/>
            <a:ext cx="36776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Partner with local couriers.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AC72D8-245A-0882-37BD-21B4014E5B25}"/>
              </a:ext>
            </a:extLst>
          </p:cNvPr>
          <p:cNvSpPr/>
          <p:nvPr/>
        </p:nvSpPr>
        <p:spPr>
          <a:xfrm>
            <a:off x="9715500" y="5645153"/>
            <a:ext cx="7353300" cy="9525"/>
          </a:xfrm>
          <a:custGeom>
            <a:avLst/>
            <a:gdLst>
              <a:gd name="connsiteX0" fmla="*/ 0 w 7353300"/>
              <a:gd name="connsiteY0" fmla="*/ 0 h 9525"/>
              <a:gd name="connsiteX1" fmla="*/ 7353300 w 73533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353300" h="9525">
                <a:moveTo>
                  <a:pt x="0" y="0"/>
                </a:moveTo>
                <a:lnTo>
                  <a:pt x="735330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4F97C1-8909-C110-E03E-DEF6E5D4E65E}"/>
              </a:ext>
            </a:extLst>
          </p:cNvPr>
          <p:cNvSpPr txBox="1"/>
          <p:nvPr/>
        </p:nvSpPr>
        <p:spPr>
          <a:xfrm>
            <a:off x="9624060" y="5827270"/>
            <a:ext cx="45262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FE27F3F-F365-E415-09D8-7AFB2B23B094}"/>
              </a:ext>
            </a:extLst>
          </p:cNvPr>
          <p:cNvSpPr/>
          <p:nvPr/>
        </p:nvSpPr>
        <p:spPr>
          <a:xfrm>
            <a:off x="10506075" y="5873753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1EF8AC-AD7D-28D6-C9F7-B6A9053B2F89}"/>
              </a:ext>
            </a:extLst>
          </p:cNvPr>
          <p:cNvSpPr txBox="1"/>
          <p:nvPr/>
        </p:nvSpPr>
        <p:spPr>
          <a:xfrm>
            <a:off x="11024235" y="5826699"/>
            <a:ext cx="39549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 Introduce user trust badges.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F832921-837F-9DC6-5CDC-6FD0C203A558}"/>
              </a:ext>
            </a:extLst>
          </p:cNvPr>
          <p:cNvSpPr/>
          <p:nvPr/>
        </p:nvSpPr>
        <p:spPr>
          <a:xfrm>
            <a:off x="9715500" y="7858125"/>
            <a:ext cx="7353300" cy="9525"/>
          </a:xfrm>
          <a:custGeom>
            <a:avLst/>
            <a:gdLst>
              <a:gd name="connsiteX0" fmla="*/ 0 w 7353300"/>
              <a:gd name="connsiteY0" fmla="*/ 0 h 9525"/>
              <a:gd name="connsiteX1" fmla="*/ 7353300 w 73533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353300" h="9525">
                <a:moveTo>
                  <a:pt x="0" y="0"/>
                </a:moveTo>
                <a:lnTo>
                  <a:pt x="735330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4CB41F-CEDB-5621-1AAF-88175D17A2CF}"/>
              </a:ext>
            </a:extLst>
          </p:cNvPr>
          <p:cNvSpPr txBox="1"/>
          <p:nvPr/>
        </p:nvSpPr>
        <p:spPr>
          <a:xfrm>
            <a:off x="9624060" y="8040242"/>
            <a:ext cx="455828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/04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965EC30-9662-0CA7-62FD-8CCC14DDD534}"/>
              </a:ext>
            </a:extLst>
          </p:cNvPr>
          <p:cNvSpPr/>
          <p:nvPr/>
        </p:nvSpPr>
        <p:spPr>
          <a:xfrm>
            <a:off x="10506075" y="8086725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48CCBA-D819-2FFE-4E33-8CC65BC25433}"/>
              </a:ext>
            </a:extLst>
          </p:cNvPr>
          <p:cNvSpPr txBox="1"/>
          <p:nvPr/>
        </p:nvSpPr>
        <p:spPr>
          <a:xfrm>
            <a:off x="11024235" y="8039671"/>
            <a:ext cx="487825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Simplify onboarding for new sellers.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EA4CAE1-76FD-BF5F-DB5E-757D13C8562D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440881-3D78-4378-4102-BE5756EBC9F9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D068FC-BB99-72B6-47F0-01C0CC605FF5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C467410-878C-AB2A-1F1C-B76FE3EBA7FB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78D025-26FE-2AFF-47A2-304F7B7C3839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5A867E44-8238-5A14-D727-BFE96F5D3D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038D91-AA3F-07B2-3599-5F9A8ABA173E}"/>
              </a:ext>
            </a:extLst>
          </p:cNvPr>
          <p:cNvSpPr txBox="1"/>
          <p:nvPr/>
        </p:nvSpPr>
        <p:spPr>
          <a:xfrm>
            <a:off x="11024235" y="8449817"/>
            <a:ext cx="6405753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hendrerit urna. Pellentesque sit amet sapien fringilla, mattis ligula consectetur,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ultrices mauris. Maecenas vitae mattis tellus. Nullam quis imperdiet augue.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1F19CA-AB06-F797-4275-4ED3DBEE845B}"/>
              </a:ext>
            </a:extLst>
          </p:cNvPr>
          <p:cNvSpPr txBox="1"/>
          <p:nvPr/>
        </p:nvSpPr>
        <p:spPr>
          <a:xfrm>
            <a:off x="11024235" y="6236845"/>
            <a:ext cx="6405753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hendrerit urna. Pellentesque sit amet sapien fringilla, mattis ligula consectetur,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ultrices mauris. Maecenas vitae mattis tellus. Nullam quis imperdiet augue.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715D60-9128-7916-1217-C0B5B6C93C50}"/>
              </a:ext>
            </a:extLst>
          </p:cNvPr>
          <p:cNvSpPr txBox="1"/>
          <p:nvPr/>
        </p:nvSpPr>
        <p:spPr>
          <a:xfrm>
            <a:off x="11024235" y="4023864"/>
            <a:ext cx="6405753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hendrerit urna. Pellentesque sit amet sapien fringilla, mattis ligula consectetur,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ultrices mauris. Maecenas vitae mattis tellus. Nullam quis imperdiet augue.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1BAA5A-CDD4-D824-AFD6-577961869725}"/>
              </a:ext>
            </a:extLst>
          </p:cNvPr>
          <p:cNvSpPr txBox="1"/>
          <p:nvPr/>
        </p:nvSpPr>
        <p:spPr>
          <a:xfrm>
            <a:off x="11024235" y="1810892"/>
            <a:ext cx="6405753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hendrerit urna. Pellentesque sit amet sapien fringilla, mattis ligula consectetur,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ultrices mauris. Maecenas vitae mattis tellus. Nullam quis imperdiet augue.</a:t>
            </a:r>
          </a:p>
        </p:txBody>
      </p:sp>
    </p:spTree>
    <p:extLst>
      <p:ext uri="{BB962C8B-B14F-4D97-AF65-F5344CB8AC3E}">
        <p14:creationId xmlns:p14="http://schemas.microsoft.com/office/powerpoint/2010/main" val="3810757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EAFC76-D1E0-D2D0-6C74-2C5B964BBB87}"/>
              </a:ext>
            </a:extLst>
          </p:cNvPr>
          <p:cNvSpPr txBox="1"/>
          <p:nvPr/>
        </p:nvSpPr>
        <p:spPr>
          <a:xfrm>
            <a:off x="899160" y="3970781"/>
            <a:ext cx="524255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83039F-4EA9-93A1-4080-E84C77B44616}"/>
              </a:ext>
            </a:extLst>
          </p:cNvPr>
          <p:cNvSpPr txBox="1"/>
          <p:nvPr/>
        </p:nvSpPr>
        <p:spPr>
          <a:xfrm>
            <a:off x="899160" y="8098250"/>
            <a:ext cx="973343" cy="357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Lina K.,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0A6B5-DD8C-2A05-0C11-FDE7DB190000}"/>
              </a:ext>
            </a:extLst>
          </p:cNvPr>
          <p:cNvSpPr txBox="1"/>
          <p:nvPr/>
        </p:nvSpPr>
        <p:spPr>
          <a:xfrm>
            <a:off x="1718310" y="8116252"/>
            <a:ext cx="1802130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Online Merchant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A355AE-378F-06CC-2FB5-55BAF75B6D81}"/>
              </a:ext>
            </a:extLst>
          </p:cNvPr>
          <p:cNvSpPr txBox="1"/>
          <p:nvPr/>
        </p:nvSpPr>
        <p:spPr>
          <a:xfrm>
            <a:off x="670560" y="1613344"/>
            <a:ext cx="8762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Real success from real users.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E777FA-CEAA-AA7E-5D55-7A51CAB7D26F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31D3F3-9D7E-A223-C1DD-604DA709B737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00B707-69EF-1AD6-7A84-62D84B921307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C05734-0DA2-4522-7886-50449209822E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479A71-9668-EE04-36EF-4E5ADE092957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F8AC18C-B870-9456-089E-F56BC8B4ACC0}"/>
              </a:ext>
            </a:extLst>
          </p:cNvPr>
          <p:cNvSpPr/>
          <p:nvPr/>
        </p:nvSpPr>
        <p:spPr>
          <a:xfrm>
            <a:off x="781050" y="2781300"/>
            <a:ext cx="11077575" cy="9525"/>
          </a:xfrm>
          <a:custGeom>
            <a:avLst/>
            <a:gdLst>
              <a:gd name="connsiteX0" fmla="*/ 0 w 11077575"/>
              <a:gd name="connsiteY0" fmla="*/ 0 h 9525"/>
              <a:gd name="connsiteX1" fmla="*/ 11077575 w 1107757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077575" h="9525">
                <a:moveTo>
                  <a:pt x="0" y="0"/>
                </a:moveTo>
                <a:lnTo>
                  <a:pt x="11077575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DB6708A-DA79-A080-B483-BDC0C2014347}"/>
              </a:ext>
            </a:extLst>
          </p:cNvPr>
          <p:cNvSpPr/>
          <p:nvPr/>
        </p:nvSpPr>
        <p:spPr>
          <a:xfrm>
            <a:off x="11477625" y="2895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FCD96F6-B830-D50E-BDE4-F212BDFBFE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106E9A-E49F-2BC2-1613-1E1E67557A7D}"/>
              </a:ext>
            </a:extLst>
          </p:cNvPr>
          <p:cNvSpPr txBox="1"/>
          <p:nvPr/>
        </p:nvSpPr>
        <p:spPr>
          <a:xfrm>
            <a:off x="12005310" y="2734818"/>
            <a:ext cx="5934379" cy="101566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Aliquam in hendrerit urna. Pellentesque sit amet sapien fringilla, mattis ligula </a:t>
            </a:r>
            <a:endParaRPr lang="fr-FR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fr-FR" sz="1200">
                <a:solidFill>
                  <a:srgbClr val="2E2E2E"/>
                </a:solidFill>
                <a:latin typeface="Plus Jakarta Sans" pitchFamily="2" charset="0"/>
              </a:rPr>
              <a:t>consectetur, ultrices mauris. Maecenas vitae mattis tellus. Nullam quis </a:t>
            </a:r>
            <a:endParaRPr lang="it-IT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it-IT" sz="1200">
                <a:solidFill>
                  <a:srgbClr val="2E2E2E"/>
                </a:solidFill>
                <a:latin typeface="Plus Jakarta Sans" pitchFamily="2" charset="0"/>
              </a:rPr>
              <a:t>imperdiet augue. Vestibulum auctor ornare leo, non suscipit magna </a:t>
            </a:r>
          </a:p>
          <a:p>
            <a:r>
              <a:rPr lang="it-IT" sz="1200">
                <a:solidFill>
                  <a:srgbClr val="2E2E2E"/>
                </a:solidFill>
                <a:latin typeface="Plus Jakarta Sans" pitchFamily="2" charset="0"/>
              </a:rPr>
              <a:t>interdum. 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78F109-7EF5-C0F0-341B-B218378146F8}"/>
              </a:ext>
            </a:extLst>
          </p:cNvPr>
          <p:cNvSpPr txBox="1"/>
          <p:nvPr/>
        </p:nvSpPr>
        <p:spPr>
          <a:xfrm>
            <a:off x="899160" y="6677977"/>
            <a:ext cx="5483161" cy="124649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We've tripled our monthly orders, all thanks to its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cutting-edge smart analytics. The insights we gain help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us make informed decisions, streamline our inventory,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and truly grasp our customers' preferences, resulting in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remarkable sales growth!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9F2B88-8181-52D0-87EA-0172F4D48E90}"/>
              </a:ext>
            </a:extLst>
          </p:cNvPr>
          <p:cNvSpPr txBox="1"/>
          <p:nvPr/>
        </p:nvSpPr>
        <p:spPr>
          <a:xfrm>
            <a:off x="899160" y="4850701"/>
            <a:ext cx="4885600" cy="140807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850" b="1">
                <a:solidFill>
                  <a:srgbClr val="1A1A1A"/>
                </a:solidFill>
                <a:latin typeface="Plus Jakarta Sans" pitchFamily="2" charset="0"/>
              </a:rPr>
              <a:t>Thanks to NEXORA, our </a:t>
            </a:r>
          </a:p>
          <a:p>
            <a:r>
              <a:rPr lang="en-ID" sz="2850" b="1">
                <a:solidFill>
                  <a:srgbClr val="1A1A1A"/>
                </a:solidFill>
                <a:latin typeface="Plus Jakarta Sans" pitchFamily="2" charset="0"/>
              </a:rPr>
              <a:t>store's performance has </a:t>
            </a:r>
          </a:p>
          <a:p>
            <a:r>
              <a:rPr lang="en-ID" sz="2850" b="1">
                <a:solidFill>
                  <a:srgbClr val="1A1A1A"/>
                </a:solidFill>
                <a:latin typeface="Plus Jakarta Sans" pitchFamily="2" charset="0"/>
              </a:rPr>
              <a:t>skyrocketed! </a:t>
            </a:r>
          </a:p>
        </p:txBody>
      </p:sp>
    </p:spTree>
    <p:extLst>
      <p:ext uri="{BB962C8B-B14F-4D97-AF65-F5344CB8AC3E}">
        <p14:creationId xmlns:p14="http://schemas.microsoft.com/office/powerpoint/2010/main" val="2766385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96B073-CBCC-C661-875B-82B7F6091426}"/>
              </a:ext>
            </a:extLst>
          </p:cNvPr>
          <p:cNvSpPr/>
          <p:nvPr/>
        </p:nvSpPr>
        <p:spPr>
          <a:xfrm>
            <a:off x="228600" y="4133850"/>
            <a:ext cx="17830800" cy="5619750"/>
          </a:xfrm>
          <a:custGeom>
            <a:avLst/>
            <a:gdLst>
              <a:gd name="connsiteX0" fmla="*/ 0 w 17830800"/>
              <a:gd name="connsiteY0" fmla="*/ 0 h 5619750"/>
              <a:gd name="connsiteX1" fmla="*/ 17830800 w 17830800"/>
              <a:gd name="connsiteY1" fmla="*/ 0 h 5619750"/>
              <a:gd name="connsiteX2" fmla="*/ 17830800 w 17830800"/>
              <a:gd name="connsiteY2" fmla="*/ 5619750 h 5619750"/>
              <a:gd name="connsiteX3" fmla="*/ 0 w 17830800"/>
              <a:gd name="connsiteY3" fmla="*/ 5619750 h 561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00" h="5619750">
                <a:moveTo>
                  <a:pt x="0" y="0"/>
                </a:moveTo>
                <a:lnTo>
                  <a:pt x="17830800" y="0"/>
                </a:lnTo>
                <a:lnTo>
                  <a:pt x="17830800" y="5619750"/>
                </a:lnTo>
                <a:lnTo>
                  <a:pt x="0" y="561975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DD154C2-28B7-BBF3-E222-2E67A9691FAE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52071-DBF5-3D99-0386-491FAB3364E3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FB719F-96C5-8AE5-C76B-A1703B880963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8EB7B3-0025-73F9-601F-B4605EE28DFD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53ABA-5655-6CF9-B6B9-978129441175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5970CB-E359-9D74-45C6-9B55795702F5}"/>
              </a:ext>
            </a:extLst>
          </p:cNvPr>
          <p:cNvSpPr txBox="1"/>
          <p:nvPr/>
        </p:nvSpPr>
        <p:spPr>
          <a:xfrm>
            <a:off x="670560" y="3420427"/>
            <a:ext cx="29225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The people behind innovation.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7DA823-30F9-FF19-E262-018CC852D2F3}"/>
              </a:ext>
            </a:extLst>
          </p:cNvPr>
          <p:cNvSpPr txBox="1"/>
          <p:nvPr/>
        </p:nvSpPr>
        <p:spPr>
          <a:xfrm>
            <a:off x="670560" y="4315396"/>
            <a:ext cx="332975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Showcase performance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A31AFB1-92F5-BBAE-252F-BD19046A631D}"/>
              </a:ext>
            </a:extLst>
          </p:cNvPr>
          <p:cNvSpPr/>
          <p:nvPr/>
        </p:nvSpPr>
        <p:spPr>
          <a:xfrm>
            <a:off x="762000" y="4924425"/>
            <a:ext cx="2828925" cy="9525"/>
          </a:xfrm>
          <a:custGeom>
            <a:avLst/>
            <a:gdLst>
              <a:gd name="connsiteX0" fmla="*/ 0 w 2828925"/>
              <a:gd name="connsiteY0" fmla="*/ 0 h 9525"/>
              <a:gd name="connsiteX1" fmla="*/ 2828925 w 28289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28925" h="9525">
                <a:moveTo>
                  <a:pt x="0" y="0"/>
                </a:moveTo>
                <a:lnTo>
                  <a:pt x="2828925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87754C-A80B-B98D-61A8-8C0094DEF5EF}"/>
              </a:ext>
            </a:extLst>
          </p:cNvPr>
          <p:cNvSpPr txBox="1"/>
          <p:nvPr/>
        </p:nvSpPr>
        <p:spPr>
          <a:xfrm>
            <a:off x="670560" y="4992242"/>
            <a:ext cx="416356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63A4D32-3E3D-8723-68A0-0419369D6BDC}"/>
              </a:ext>
            </a:extLst>
          </p:cNvPr>
          <p:cNvSpPr/>
          <p:nvPr/>
        </p:nvSpPr>
        <p:spPr>
          <a:xfrm>
            <a:off x="3209925" y="5038725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054F84-D531-4CCA-2A24-F05FB64158A1}"/>
              </a:ext>
            </a:extLst>
          </p:cNvPr>
          <p:cNvSpPr txBox="1"/>
          <p:nvPr/>
        </p:nvSpPr>
        <p:spPr>
          <a:xfrm>
            <a:off x="670560" y="5486971"/>
            <a:ext cx="19287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GMV +200%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EBE9A7-20B3-8AF6-D3B9-5365C08640C8}"/>
              </a:ext>
            </a:extLst>
          </p:cNvPr>
          <p:cNvSpPr txBox="1"/>
          <p:nvPr/>
        </p:nvSpPr>
        <p:spPr>
          <a:xfrm>
            <a:off x="670560" y="5897117"/>
            <a:ext cx="109804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in 12 months.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3BA5CAE-B1F0-D6B0-5474-27D823D5DDF7}"/>
              </a:ext>
            </a:extLst>
          </p:cNvPr>
          <p:cNvSpPr/>
          <p:nvPr/>
        </p:nvSpPr>
        <p:spPr>
          <a:xfrm>
            <a:off x="4048125" y="4924425"/>
            <a:ext cx="13363575" cy="1209675"/>
          </a:xfrm>
          <a:custGeom>
            <a:avLst/>
            <a:gdLst>
              <a:gd name="connsiteX0" fmla="*/ 0 w 13363575"/>
              <a:gd name="connsiteY0" fmla="*/ 0 h 1209675"/>
              <a:gd name="connsiteX1" fmla="*/ 13363575 w 13363575"/>
              <a:gd name="connsiteY1" fmla="*/ 0 h 1209675"/>
              <a:gd name="connsiteX2" fmla="*/ 13363575 w 13363575"/>
              <a:gd name="connsiteY2" fmla="*/ 1209675 h 1209675"/>
              <a:gd name="connsiteX3" fmla="*/ 0 w 13363575"/>
              <a:gd name="connsiteY3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63575" h="1209675">
                <a:moveTo>
                  <a:pt x="0" y="0"/>
                </a:moveTo>
                <a:lnTo>
                  <a:pt x="13363575" y="0"/>
                </a:lnTo>
                <a:lnTo>
                  <a:pt x="13363575" y="1209675"/>
                </a:lnTo>
                <a:lnTo>
                  <a:pt x="0" y="1209675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FF156DB-054B-9D14-5500-AFE94588AA9B}"/>
              </a:ext>
            </a:extLst>
          </p:cNvPr>
          <p:cNvSpPr/>
          <p:nvPr/>
        </p:nvSpPr>
        <p:spPr>
          <a:xfrm>
            <a:off x="17411700" y="4924425"/>
            <a:ext cx="114300" cy="1209675"/>
          </a:xfrm>
          <a:custGeom>
            <a:avLst/>
            <a:gdLst>
              <a:gd name="connsiteX0" fmla="*/ 0 w 114300"/>
              <a:gd name="connsiteY0" fmla="*/ 0 h 1209675"/>
              <a:gd name="connsiteX1" fmla="*/ 114300 w 114300"/>
              <a:gd name="connsiteY1" fmla="*/ 0 h 1209675"/>
              <a:gd name="connsiteX2" fmla="*/ 114300 w 114300"/>
              <a:gd name="connsiteY2" fmla="*/ 1209675 h 1209675"/>
              <a:gd name="connsiteX3" fmla="*/ 0 w 114300"/>
              <a:gd name="connsiteY3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" h="1209675">
                <a:moveTo>
                  <a:pt x="0" y="0"/>
                </a:moveTo>
                <a:lnTo>
                  <a:pt x="114300" y="0"/>
                </a:lnTo>
                <a:lnTo>
                  <a:pt x="114300" y="1209675"/>
                </a:lnTo>
                <a:lnTo>
                  <a:pt x="0" y="1209675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817675C-E68F-0587-9DFD-8757E78FBFCE}"/>
              </a:ext>
            </a:extLst>
          </p:cNvPr>
          <p:cNvSpPr/>
          <p:nvPr/>
        </p:nvSpPr>
        <p:spPr>
          <a:xfrm>
            <a:off x="762000" y="6505575"/>
            <a:ext cx="2828925" cy="9525"/>
          </a:xfrm>
          <a:custGeom>
            <a:avLst/>
            <a:gdLst>
              <a:gd name="connsiteX0" fmla="*/ 0 w 2828925"/>
              <a:gd name="connsiteY0" fmla="*/ 0 h 9525"/>
              <a:gd name="connsiteX1" fmla="*/ 2828925 w 28289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28925" h="9525">
                <a:moveTo>
                  <a:pt x="0" y="0"/>
                </a:moveTo>
                <a:lnTo>
                  <a:pt x="2828925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0350E9-C3EE-183A-3D56-CD63789C1FD5}"/>
              </a:ext>
            </a:extLst>
          </p:cNvPr>
          <p:cNvSpPr txBox="1"/>
          <p:nvPr/>
        </p:nvSpPr>
        <p:spPr>
          <a:xfrm>
            <a:off x="670560" y="6573392"/>
            <a:ext cx="451256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CA03CAC-3577-4F2B-3D34-BDF35DF92679}"/>
              </a:ext>
            </a:extLst>
          </p:cNvPr>
          <p:cNvSpPr/>
          <p:nvPr/>
        </p:nvSpPr>
        <p:spPr>
          <a:xfrm>
            <a:off x="3209925" y="6619875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CA1AB2-04D4-5943-4A0E-E08EABE88F34}"/>
              </a:ext>
            </a:extLst>
          </p:cNvPr>
          <p:cNvSpPr txBox="1"/>
          <p:nvPr/>
        </p:nvSpPr>
        <p:spPr>
          <a:xfrm>
            <a:off x="670560" y="7068121"/>
            <a:ext cx="206819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Increase 95%.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993E52-489A-8A31-82D8-22BDAABE53C4}"/>
              </a:ext>
            </a:extLst>
          </p:cNvPr>
          <p:cNvSpPr txBox="1"/>
          <p:nvPr/>
        </p:nvSpPr>
        <p:spPr>
          <a:xfrm>
            <a:off x="670560" y="7478267"/>
            <a:ext cx="15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Seller satisfaction 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554A140-5C9C-1C91-A8E6-370E7AF44C83}"/>
              </a:ext>
            </a:extLst>
          </p:cNvPr>
          <p:cNvSpPr/>
          <p:nvPr/>
        </p:nvSpPr>
        <p:spPr>
          <a:xfrm>
            <a:off x="4048125" y="6505575"/>
            <a:ext cx="12686347" cy="1209675"/>
          </a:xfrm>
          <a:custGeom>
            <a:avLst/>
            <a:gdLst>
              <a:gd name="connsiteX0" fmla="*/ 0 w 12686347"/>
              <a:gd name="connsiteY0" fmla="*/ 0 h 1209675"/>
              <a:gd name="connsiteX1" fmla="*/ 12686348 w 12686347"/>
              <a:gd name="connsiteY1" fmla="*/ 0 h 1209675"/>
              <a:gd name="connsiteX2" fmla="*/ 12686348 w 12686347"/>
              <a:gd name="connsiteY2" fmla="*/ 1209675 h 1209675"/>
              <a:gd name="connsiteX3" fmla="*/ 0 w 12686347"/>
              <a:gd name="connsiteY3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6347" h="1209675">
                <a:moveTo>
                  <a:pt x="0" y="0"/>
                </a:moveTo>
                <a:lnTo>
                  <a:pt x="12686348" y="0"/>
                </a:lnTo>
                <a:lnTo>
                  <a:pt x="12686348" y="1209675"/>
                </a:lnTo>
                <a:lnTo>
                  <a:pt x="0" y="1209675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98FF755-DEA8-23C6-F145-5A63EA6AA495}"/>
              </a:ext>
            </a:extLst>
          </p:cNvPr>
          <p:cNvSpPr/>
          <p:nvPr/>
        </p:nvSpPr>
        <p:spPr>
          <a:xfrm>
            <a:off x="16734472" y="6505575"/>
            <a:ext cx="791527" cy="1209675"/>
          </a:xfrm>
          <a:custGeom>
            <a:avLst/>
            <a:gdLst>
              <a:gd name="connsiteX0" fmla="*/ 0 w 791527"/>
              <a:gd name="connsiteY0" fmla="*/ 0 h 1209675"/>
              <a:gd name="connsiteX1" fmla="*/ 791528 w 791527"/>
              <a:gd name="connsiteY1" fmla="*/ 0 h 1209675"/>
              <a:gd name="connsiteX2" fmla="*/ 791528 w 791527"/>
              <a:gd name="connsiteY2" fmla="*/ 1209675 h 1209675"/>
              <a:gd name="connsiteX3" fmla="*/ 0 w 791527"/>
              <a:gd name="connsiteY3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527" h="1209675">
                <a:moveTo>
                  <a:pt x="0" y="0"/>
                </a:moveTo>
                <a:lnTo>
                  <a:pt x="791528" y="0"/>
                </a:lnTo>
                <a:lnTo>
                  <a:pt x="791528" y="1209675"/>
                </a:lnTo>
                <a:lnTo>
                  <a:pt x="0" y="1209675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AFB0485-0CA5-E9DF-8B15-710D72990AE5}"/>
              </a:ext>
            </a:extLst>
          </p:cNvPr>
          <p:cNvSpPr/>
          <p:nvPr/>
        </p:nvSpPr>
        <p:spPr>
          <a:xfrm>
            <a:off x="762000" y="8086725"/>
            <a:ext cx="2828925" cy="9525"/>
          </a:xfrm>
          <a:custGeom>
            <a:avLst/>
            <a:gdLst>
              <a:gd name="connsiteX0" fmla="*/ 0 w 2828925"/>
              <a:gd name="connsiteY0" fmla="*/ 0 h 9525"/>
              <a:gd name="connsiteX1" fmla="*/ 2828925 w 28289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28925" h="9525">
                <a:moveTo>
                  <a:pt x="0" y="0"/>
                </a:moveTo>
                <a:lnTo>
                  <a:pt x="2828925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82FD02-3DBF-B90F-3452-DC48A0DE2AC7}"/>
              </a:ext>
            </a:extLst>
          </p:cNvPr>
          <p:cNvSpPr txBox="1"/>
          <p:nvPr/>
        </p:nvSpPr>
        <p:spPr>
          <a:xfrm>
            <a:off x="670560" y="8154542"/>
            <a:ext cx="45262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FEDC769-91C9-D77F-23C3-9E836E519C1B}"/>
              </a:ext>
            </a:extLst>
          </p:cNvPr>
          <p:cNvSpPr/>
          <p:nvPr/>
        </p:nvSpPr>
        <p:spPr>
          <a:xfrm>
            <a:off x="3209925" y="8201025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67BAC-263E-1D58-1ADC-F1EBE6EB539C}"/>
              </a:ext>
            </a:extLst>
          </p:cNvPr>
          <p:cNvSpPr txBox="1"/>
          <p:nvPr/>
        </p:nvSpPr>
        <p:spPr>
          <a:xfrm>
            <a:off x="670560" y="8649271"/>
            <a:ext cx="258756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+80% Transaction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F5C72E-B1F1-78E1-01DD-52E5D0C82947}"/>
              </a:ext>
            </a:extLst>
          </p:cNvPr>
          <p:cNvSpPr txBox="1"/>
          <p:nvPr/>
        </p:nvSpPr>
        <p:spPr>
          <a:xfrm>
            <a:off x="670560" y="9059417"/>
            <a:ext cx="1407414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Daily transaction 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75B6FAD-8E00-8B8C-072A-4E40BFB4E642}"/>
              </a:ext>
            </a:extLst>
          </p:cNvPr>
          <p:cNvSpPr/>
          <p:nvPr/>
        </p:nvSpPr>
        <p:spPr>
          <a:xfrm>
            <a:off x="4048125" y="8086725"/>
            <a:ext cx="10683240" cy="1209675"/>
          </a:xfrm>
          <a:custGeom>
            <a:avLst/>
            <a:gdLst>
              <a:gd name="connsiteX0" fmla="*/ 0 w 10683240"/>
              <a:gd name="connsiteY0" fmla="*/ 0 h 1209675"/>
              <a:gd name="connsiteX1" fmla="*/ 10683240 w 10683240"/>
              <a:gd name="connsiteY1" fmla="*/ 0 h 1209675"/>
              <a:gd name="connsiteX2" fmla="*/ 10683240 w 10683240"/>
              <a:gd name="connsiteY2" fmla="*/ 1209675 h 1209675"/>
              <a:gd name="connsiteX3" fmla="*/ 0 w 10683240"/>
              <a:gd name="connsiteY3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83240" h="1209675">
                <a:moveTo>
                  <a:pt x="0" y="0"/>
                </a:moveTo>
                <a:lnTo>
                  <a:pt x="10683240" y="0"/>
                </a:lnTo>
                <a:lnTo>
                  <a:pt x="10683240" y="1209675"/>
                </a:lnTo>
                <a:lnTo>
                  <a:pt x="0" y="1209675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CB2A0B6-AF95-49FB-EA96-D8381ED18B5F}"/>
              </a:ext>
            </a:extLst>
          </p:cNvPr>
          <p:cNvSpPr/>
          <p:nvPr/>
        </p:nvSpPr>
        <p:spPr>
          <a:xfrm>
            <a:off x="14731365" y="8086725"/>
            <a:ext cx="2794635" cy="1209675"/>
          </a:xfrm>
          <a:custGeom>
            <a:avLst/>
            <a:gdLst>
              <a:gd name="connsiteX0" fmla="*/ 0 w 2794635"/>
              <a:gd name="connsiteY0" fmla="*/ 0 h 1209675"/>
              <a:gd name="connsiteX1" fmla="*/ 2794635 w 2794635"/>
              <a:gd name="connsiteY1" fmla="*/ 0 h 1209675"/>
              <a:gd name="connsiteX2" fmla="*/ 2794635 w 2794635"/>
              <a:gd name="connsiteY2" fmla="*/ 1209675 h 1209675"/>
              <a:gd name="connsiteX3" fmla="*/ 0 w 2794635"/>
              <a:gd name="connsiteY3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4635" h="1209675">
                <a:moveTo>
                  <a:pt x="0" y="0"/>
                </a:moveTo>
                <a:lnTo>
                  <a:pt x="2794635" y="0"/>
                </a:lnTo>
                <a:lnTo>
                  <a:pt x="2794635" y="1209675"/>
                </a:lnTo>
                <a:lnTo>
                  <a:pt x="0" y="1209675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404466C-0F50-7466-09DE-88E3657902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E75F9C-12B0-21DD-421B-B64DFFBCBC61}"/>
              </a:ext>
            </a:extLst>
          </p:cNvPr>
          <p:cNvSpPr txBox="1"/>
          <p:nvPr/>
        </p:nvSpPr>
        <p:spPr>
          <a:xfrm>
            <a:off x="14834236" y="1839467"/>
            <a:ext cx="3106749" cy="83099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2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  <a:endParaRPr lang="nb-NO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nb-NO" sz="1200">
                <a:solidFill>
                  <a:srgbClr val="2E2E2E"/>
                </a:solidFill>
                <a:latin typeface="Plus Jakarta Sans" pitchFamily="2" charset="0"/>
              </a:rPr>
              <a:t>consectetur adipiscing elit. Ut et </a:t>
            </a:r>
            <a:endParaRPr lang="sv-SE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massa mi. Aliquam in hendrerit urna. </a:t>
            </a: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Pellentesque sit amet sapien.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1D8C17-B008-C4FA-3576-FB843DD6C59C}"/>
              </a:ext>
            </a:extLst>
          </p:cNvPr>
          <p:cNvSpPr txBox="1"/>
          <p:nvPr/>
        </p:nvSpPr>
        <p:spPr>
          <a:xfrm>
            <a:off x="670560" y="1841944"/>
            <a:ext cx="5790361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Our impact in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measurable form.</a:t>
            </a:r>
          </a:p>
        </p:txBody>
      </p:sp>
    </p:spTree>
    <p:extLst>
      <p:ext uri="{BB962C8B-B14F-4D97-AF65-F5344CB8AC3E}">
        <p14:creationId xmlns:p14="http://schemas.microsoft.com/office/powerpoint/2010/main" val="2856031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DBDFFF1-CE58-A271-872F-A2955687C56F}"/>
              </a:ext>
            </a:extLst>
          </p:cNvPr>
          <p:cNvSpPr txBox="1"/>
          <p:nvPr/>
        </p:nvSpPr>
        <p:spPr>
          <a:xfrm>
            <a:off x="689610" y="1373885"/>
            <a:ext cx="2693366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Team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E0C47-7963-1EC1-317C-D5DC6084CB5F}"/>
              </a:ext>
            </a:extLst>
          </p:cNvPr>
          <p:cNvSpPr txBox="1"/>
          <p:nvPr/>
        </p:nvSpPr>
        <p:spPr>
          <a:xfrm>
            <a:off x="689610" y="2478786"/>
            <a:ext cx="3764318" cy="1195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Member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75DA3D-1058-D596-77C4-33522DD22625}"/>
              </a:ext>
            </a:extLst>
          </p:cNvPr>
          <p:cNvSpPr txBox="1"/>
          <p:nvPr/>
        </p:nvSpPr>
        <p:spPr>
          <a:xfrm>
            <a:off x="689610" y="3620452"/>
            <a:ext cx="29225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The people behind innovation.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9994AA-BAF8-7560-582B-F2465769318E}"/>
              </a:ext>
            </a:extLst>
          </p:cNvPr>
          <p:cNvSpPr/>
          <p:nvPr/>
        </p:nvSpPr>
        <p:spPr>
          <a:xfrm>
            <a:off x="5010150" y="7067550"/>
            <a:ext cx="4019550" cy="9525"/>
          </a:xfrm>
          <a:custGeom>
            <a:avLst/>
            <a:gdLst>
              <a:gd name="connsiteX0" fmla="*/ 0 w 4019550"/>
              <a:gd name="connsiteY0" fmla="*/ 0 h 9525"/>
              <a:gd name="connsiteX1" fmla="*/ 4019550 w 40195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19550" h="9525">
                <a:moveTo>
                  <a:pt x="0" y="0"/>
                </a:moveTo>
                <a:lnTo>
                  <a:pt x="401955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ED1F9B-286F-E127-50E8-9A814097B866}"/>
              </a:ext>
            </a:extLst>
          </p:cNvPr>
          <p:cNvSpPr/>
          <p:nvPr/>
        </p:nvSpPr>
        <p:spPr>
          <a:xfrm>
            <a:off x="8648700" y="718185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EFD536-F4AC-5843-5260-96E4E47B9FBA}"/>
              </a:ext>
            </a:extLst>
          </p:cNvPr>
          <p:cNvSpPr txBox="1"/>
          <p:nvPr/>
        </p:nvSpPr>
        <p:spPr>
          <a:xfrm>
            <a:off x="4918710" y="7629239"/>
            <a:ext cx="125226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Aisha Khan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0B108-6A41-535D-7C3F-F6207876FC4C}"/>
              </a:ext>
            </a:extLst>
          </p:cNvPr>
          <p:cNvSpPr txBox="1"/>
          <p:nvPr/>
        </p:nvSpPr>
        <p:spPr>
          <a:xfrm>
            <a:off x="6014085" y="7630477"/>
            <a:ext cx="19062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Product Manager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A06AF-204E-7646-6849-01D424BD846A}"/>
              </a:ext>
            </a:extLst>
          </p:cNvPr>
          <p:cNvSpPr txBox="1"/>
          <p:nvPr/>
        </p:nvSpPr>
        <p:spPr>
          <a:xfrm>
            <a:off x="4918710" y="7992617"/>
            <a:ext cx="27478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Driving product vision and strategy.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019953C-ADDF-3902-0454-D9334342A413}"/>
              </a:ext>
            </a:extLst>
          </p:cNvPr>
          <p:cNvSpPr/>
          <p:nvPr/>
        </p:nvSpPr>
        <p:spPr>
          <a:xfrm>
            <a:off x="9258300" y="7067550"/>
            <a:ext cx="4019550" cy="9525"/>
          </a:xfrm>
          <a:custGeom>
            <a:avLst/>
            <a:gdLst>
              <a:gd name="connsiteX0" fmla="*/ 0 w 4019550"/>
              <a:gd name="connsiteY0" fmla="*/ 0 h 9525"/>
              <a:gd name="connsiteX1" fmla="*/ 4019550 w 40195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19550" h="9525">
                <a:moveTo>
                  <a:pt x="0" y="0"/>
                </a:moveTo>
                <a:lnTo>
                  <a:pt x="401955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EB643F8-FE7D-52C2-3FF7-69C8F597616F}"/>
              </a:ext>
            </a:extLst>
          </p:cNvPr>
          <p:cNvSpPr/>
          <p:nvPr/>
        </p:nvSpPr>
        <p:spPr>
          <a:xfrm>
            <a:off x="12896850" y="718185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1F3FA-30DA-E1CD-F4C5-AC52D1A1D1A1}"/>
              </a:ext>
            </a:extLst>
          </p:cNvPr>
          <p:cNvSpPr txBox="1"/>
          <p:nvPr/>
        </p:nvSpPr>
        <p:spPr>
          <a:xfrm>
            <a:off x="9166860" y="7629239"/>
            <a:ext cx="126028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Maya Patel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99CE22-2505-7C0B-D2A5-E740EADFEE87}"/>
              </a:ext>
            </a:extLst>
          </p:cNvPr>
          <p:cNvSpPr txBox="1"/>
          <p:nvPr/>
        </p:nvSpPr>
        <p:spPr>
          <a:xfrm>
            <a:off x="10262235" y="7630477"/>
            <a:ext cx="19143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Graphic Designer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865D7E-43B9-AEBA-897E-1A507D37F4FE}"/>
              </a:ext>
            </a:extLst>
          </p:cNvPr>
          <p:cNvSpPr txBox="1"/>
          <p:nvPr/>
        </p:nvSpPr>
        <p:spPr>
          <a:xfrm>
            <a:off x="9166860" y="7992617"/>
            <a:ext cx="2807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Creating stunning visuals for brands.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7D7B43A-6578-3052-842A-6673BBC467EC}"/>
              </a:ext>
            </a:extLst>
          </p:cNvPr>
          <p:cNvSpPr/>
          <p:nvPr/>
        </p:nvSpPr>
        <p:spPr>
          <a:xfrm>
            <a:off x="13506450" y="7067550"/>
            <a:ext cx="4019550" cy="9525"/>
          </a:xfrm>
          <a:custGeom>
            <a:avLst/>
            <a:gdLst>
              <a:gd name="connsiteX0" fmla="*/ 0 w 4019550"/>
              <a:gd name="connsiteY0" fmla="*/ 0 h 9525"/>
              <a:gd name="connsiteX1" fmla="*/ 4019550 w 40195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19550" h="9525">
                <a:moveTo>
                  <a:pt x="0" y="0"/>
                </a:moveTo>
                <a:lnTo>
                  <a:pt x="401955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4EC9FC2-D4C9-801F-5691-7F4A9BC2E0D4}"/>
              </a:ext>
            </a:extLst>
          </p:cNvPr>
          <p:cNvSpPr/>
          <p:nvPr/>
        </p:nvSpPr>
        <p:spPr>
          <a:xfrm>
            <a:off x="17145000" y="718185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AEF650-2850-7146-0A0B-797FB21DD7B9}"/>
              </a:ext>
            </a:extLst>
          </p:cNvPr>
          <p:cNvSpPr txBox="1"/>
          <p:nvPr/>
        </p:nvSpPr>
        <p:spPr>
          <a:xfrm>
            <a:off x="13415010" y="7629239"/>
            <a:ext cx="1192806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Liam Chen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CF664C-C16D-C74E-5E85-1915ED7A4304}"/>
              </a:ext>
            </a:extLst>
          </p:cNvPr>
          <p:cNvSpPr txBox="1"/>
          <p:nvPr/>
        </p:nvSpPr>
        <p:spPr>
          <a:xfrm>
            <a:off x="14472285" y="7630477"/>
            <a:ext cx="21675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Frontend Developer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21EAB4-EC28-8559-A76D-47EA1CDFC67F}"/>
              </a:ext>
            </a:extLst>
          </p:cNvPr>
          <p:cNvSpPr txBox="1"/>
          <p:nvPr/>
        </p:nvSpPr>
        <p:spPr>
          <a:xfrm>
            <a:off x="13415010" y="7992617"/>
            <a:ext cx="2943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Crafting responsive web applications.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3855DC1-DDA6-8C63-E8BA-394DF5C6B0A4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71F92B-70AC-0406-C315-EB58F25406BA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33840E-3905-B182-0F39-A8EDC8C1E756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2A15504-9651-3C01-ED7F-BF9AD13ABAC5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81F9D1-24C7-4CB6-AFE0-8D6D4164CE95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099DABA-B4B7-01CE-6CA0-1F20CD9E83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D55548A-D32B-E454-B078-444DF746DA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D91EE02-6BE1-AEC3-39C7-58AE0D9BBF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B8FC9F-E26A-F90B-4CD6-2A7096987E05}"/>
              </a:ext>
            </a:extLst>
          </p:cNvPr>
          <p:cNvSpPr txBox="1"/>
          <p:nvPr/>
        </p:nvSpPr>
        <p:spPr>
          <a:xfrm>
            <a:off x="11767185" y="2734818"/>
            <a:ext cx="6066663" cy="83099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Aliquam in hendrerit urna. Pellentesque sit amet sapien fringilla, mattis ligula </a:t>
            </a:r>
            <a:endParaRPr lang="fr-FR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fr-FR" sz="1200">
                <a:solidFill>
                  <a:srgbClr val="2E2E2E"/>
                </a:solidFill>
                <a:latin typeface="Plus Jakarta Sans" pitchFamily="2" charset="0"/>
              </a:rPr>
              <a:t>consectetur, ultrices mauris. Maecenas vitae mattis tellus. Nullam quis </a:t>
            </a:r>
            <a:endParaRPr lang="it-IT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it-IT" sz="1200">
                <a:solidFill>
                  <a:srgbClr val="2E2E2E"/>
                </a:solidFill>
                <a:latin typeface="Plus Jakarta Sans" pitchFamily="2" charset="0"/>
              </a:rPr>
              <a:t>imperdiet augue. Vestibulum auctor ornare leo, non suscipit magna interdum. 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383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D9CFBC0-91C1-B97A-9C78-937C1A02610A}"/>
              </a:ext>
            </a:extLst>
          </p:cNvPr>
          <p:cNvSpPr/>
          <p:nvPr/>
        </p:nvSpPr>
        <p:spPr>
          <a:xfrm>
            <a:off x="781050" y="762000"/>
            <a:ext cx="5276850" cy="9525"/>
          </a:xfrm>
          <a:custGeom>
            <a:avLst/>
            <a:gdLst>
              <a:gd name="connsiteX0" fmla="*/ 0 w 5276850"/>
              <a:gd name="connsiteY0" fmla="*/ 0 h 9525"/>
              <a:gd name="connsiteX1" fmla="*/ 5276850 w 52768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098B1E2-8893-B857-B818-BDBB206DB33D}"/>
              </a:ext>
            </a:extLst>
          </p:cNvPr>
          <p:cNvSpPr/>
          <p:nvPr/>
        </p:nvSpPr>
        <p:spPr>
          <a:xfrm>
            <a:off x="5676900" y="8763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C7E46-82D5-A200-9C6B-DD6DB80FBF64}"/>
              </a:ext>
            </a:extLst>
          </p:cNvPr>
          <p:cNvSpPr txBox="1"/>
          <p:nvPr/>
        </p:nvSpPr>
        <p:spPr>
          <a:xfrm>
            <a:off x="689610" y="1440751"/>
            <a:ext cx="4410182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8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Validating Order Details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9A3EC60-05D2-69DA-7177-C6FDF90E5714}"/>
              </a:ext>
            </a:extLst>
          </p:cNvPr>
          <p:cNvSpPr/>
          <p:nvPr/>
        </p:nvSpPr>
        <p:spPr>
          <a:xfrm>
            <a:off x="6515100" y="762000"/>
            <a:ext cx="5276850" cy="9525"/>
          </a:xfrm>
          <a:custGeom>
            <a:avLst/>
            <a:gdLst>
              <a:gd name="connsiteX0" fmla="*/ 0 w 5276850"/>
              <a:gd name="connsiteY0" fmla="*/ 0 h 9525"/>
              <a:gd name="connsiteX1" fmla="*/ 5276850 w 52768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18518C6-AADE-3A04-F988-19C359E6495B}"/>
              </a:ext>
            </a:extLst>
          </p:cNvPr>
          <p:cNvSpPr/>
          <p:nvPr/>
        </p:nvSpPr>
        <p:spPr>
          <a:xfrm>
            <a:off x="11410950" y="8763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A6133-4572-ECD5-47A3-5E469344C213}"/>
              </a:ext>
            </a:extLst>
          </p:cNvPr>
          <p:cNvSpPr txBox="1"/>
          <p:nvPr/>
        </p:nvSpPr>
        <p:spPr>
          <a:xfrm>
            <a:off x="6423660" y="1440751"/>
            <a:ext cx="3825086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8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Processing Payment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476A5BD-25F5-6B4A-314F-1863B84CF422}"/>
              </a:ext>
            </a:extLst>
          </p:cNvPr>
          <p:cNvSpPr/>
          <p:nvPr/>
        </p:nvSpPr>
        <p:spPr>
          <a:xfrm>
            <a:off x="12249150" y="762000"/>
            <a:ext cx="5276850" cy="9525"/>
          </a:xfrm>
          <a:custGeom>
            <a:avLst/>
            <a:gdLst>
              <a:gd name="connsiteX0" fmla="*/ 0 w 5276850"/>
              <a:gd name="connsiteY0" fmla="*/ 0 h 9525"/>
              <a:gd name="connsiteX1" fmla="*/ 5276850 w 52768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6C0C4-95A0-B241-516B-35779FB143FB}"/>
              </a:ext>
            </a:extLst>
          </p:cNvPr>
          <p:cNvSpPr/>
          <p:nvPr/>
        </p:nvSpPr>
        <p:spPr>
          <a:xfrm>
            <a:off x="17145000" y="8763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C3105D-C768-0D82-F800-1348F8349E37}"/>
              </a:ext>
            </a:extLst>
          </p:cNvPr>
          <p:cNvSpPr txBox="1"/>
          <p:nvPr/>
        </p:nvSpPr>
        <p:spPr>
          <a:xfrm>
            <a:off x="12157710" y="1440751"/>
            <a:ext cx="3510286" cy="547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8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Finalizing Purchase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7DA64AB-1620-5130-6DBF-EF6489DD03A4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32FE39-EA61-8572-0CF9-426DE6BE6BB6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308247-4AEC-7B8D-E5FA-2053A5199DD3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7E9CB-81E7-258F-4339-662E7F811E88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6B4819-6E2F-2D6C-48A4-D2A21B0043CD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BDB453B-733F-BAF6-0AE4-D92D4EC7AC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6F3FB6D7-2AC8-A0FF-A011-493571210D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194C01A7-6404-597E-CA3E-C81A3FA710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4A6621-325E-D5A6-6DAB-6A3145FD9E9A}"/>
              </a:ext>
            </a:extLst>
          </p:cNvPr>
          <p:cNvSpPr txBox="1"/>
          <p:nvPr/>
        </p:nvSpPr>
        <p:spPr>
          <a:xfrm>
            <a:off x="12157710" y="2127504"/>
            <a:ext cx="5457537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</a:t>
            </a:r>
            <a:endParaRPr lang="sv-SE" sz="135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massa mi. Aliquam in hendrerit urna. 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9DEBF3-BFB7-8D0B-21E6-0339E5B506B5}"/>
              </a:ext>
            </a:extLst>
          </p:cNvPr>
          <p:cNvSpPr txBox="1"/>
          <p:nvPr/>
        </p:nvSpPr>
        <p:spPr>
          <a:xfrm>
            <a:off x="6423660" y="2127504"/>
            <a:ext cx="5457537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</a:t>
            </a:r>
            <a:endParaRPr lang="sv-SE" sz="135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massa mi. Aliquam in hendrerit urna. 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E6290A-0ADD-3931-3EDD-980EEA5FE438}"/>
              </a:ext>
            </a:extLst>
          </p:cNvPr>
          <p:cNvSpPr txBox="1"/>
          <p:nvPr/>
        </p:nvSpPr>
        <p:spPr>
          <a:xfrm>
            <a:off x="689610" y="2127504"/>
            <a:ext cx="5457538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</a:t>
            </a:r>
            <a:endParaRPr lang="sv-SE" sz="135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massa mi. Aliquam in hendrerit urna. 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023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9ECCA43-6D28-D1CA-2454-3D923C8479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3A8E51D-0BA3-D938-6B9F-F3F4788F8ABD}"/>
              </a:ext>
            </a:extLst>
          </p:cNvPr>
          <p:cNvSpPr/>
          <p:nvPr/>
        </p:nvSpPr>
        <p:spPr>
          <a:xfrm>
            <a:off x="228600" y="228600"/>
            <a:ext cx="16106775" cy="9829800"/>
          </a:xfrm>
          <a:custGeom>
            <a:avLst/>
            <a:gdLst>
              <a:gd name="connsiteX0" fmla="*/ 15878175 w 16106775"/>
              <a:gd name="connsiteY0" fmla="*/ 0 h 9829800"/>
              <a:gd name="connsiteX1" fmla="*/ 16106775 w 16106775"/>
              <a:gd name="connsiteY1" fmla="*/ 0 h 9829800"/>
              <a:gd name="connsiteX2" fmla="*/ 16106775 w 16106775"/>
              <a:gd name="connsiteY2" fmla="*/ 9829800 h 9829800"/>
              <a:gd name="connsiteX3" fmla="*/ 15878175 w 16106775"/>
              <a:gd name="connsiteY3" fmla="*/ 9829800 h 9829800"/>
              <a:gd name="connsiteX4" fmla="*/ 228600 w 16106775"/>
              <a:gd name="connsiteY4" fmla="*/ 9829800 h 9829800"/>
              <a:gd name="connsiteX5" fmla="*/ 0 w 16106775"/>
              <a:gd name="connsiteY5" fmla="*/ 9829800 h 9829800"/>
              <a:gd name="connsiteX6" fmla="*/ 0 w 16106775"/>
              <a:gd name="connsiteY6" fmla="*/ 0 h 9829800"/>
              <a:gd name="connsiteX7" fmla="*/ 228600 w 16106775"/>
              <a:gd name="connsiteY7" fmla="*/ 0 h 982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06775" h="9829800">
                <a:moveTo>
                  <a:pt x="15878175" y="0"/>
                </a:moveTo>
                <a:cubicBezTo>
                  <a:pt x="16004428" y="0"/>
                  <a:pt x="16106775" y="0"/>
                  <a:pt x="16106775" y="0"/>
                </a:cubicBezTo>
                <a:lnTo>
                  <a:pt x="16106775" y="9829800"/>
                </a:lnTo>
                <a:cubicBezTo>
                  <a:pt x="16106775" y="9829800"/>
                  <a:pt x="16004428" y="9829800"/>
                  <a:pt x="15878175" y="9829800"/>
                </a:cubicBezTo>
                <a:lnTo>
                  <a:pt x="228600" y="9829800"/>
                </a:lnTo>
                <a:cubicBezTo>
                  <a:pt x="102348" y="9829800"/>
                  <a:pt x="0" y="9829800"/>
                  <a:pt x="0" y="9829800"/>
                </a:cubicBezTo>
                <a:lnTo>
                  <a:pt x="0" y="0"/>
                </a:lnTo>
                <a:cubicBezTo>
                  <a:pt x="0" y="0"/>
                  <a:pt x="102348" y="0"/>
                  <a:pt x="228600" y="0"/>
                </a:cubicBezTo>
                <a:close/>
              </a:path>
            </a:pathLst>
          </a:custGeom>
          <a:gradFill>
            <a:gsLst>
              <a:gs pos="0">
                <a:srgbClr val="000000"/>
              </a:gs>
              <a:gs pos="50000">
                <a:srgbClr val="000000">
                  <a:alpha val="49804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8750B0-3D9F-C8FB-E369-B1D60E0837EF}"/>
              </a:ext>
            </a:extLst>
          </p:cNvPr>
          <p:cNvSpPr/>
          <p:nvPr/>
        </p:nvSpPr>
        <p:spPr>
          <a:xfrm>
            <a:off x="762000" y="838200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A6A24D7-F3C3-3725-6331-0BCA5786E21C}"/>
              </a:ext>
            </a:extLst>
          </p:cNvPr>
          <p:cNvSpPr/>
          <p:nvPr/>
        </p:nvSpPr>
        <p:spPr>
          <a:xfrm>
            <a:off x="1031881" y="8648700"/>
            <a:ext cx="660396" cy="609600"/>
          </a:xfrm>
          <a:custGeom>
            <a:avLst/>
            <a:gdLst>
              <a:gd name="connsiteX0" fmla="*/ 58274 w 660396"/>
              <a:gd name="connsiteY0" fmla="*/ 0 h 609600"/>
              <a:gd name="connsiteX1" fmla="*/ 0 w 660396"/>
              <a:gd name="connsiteY1" fmla="*/ 0 h 609600"/>
              <a:gd name="connsiteX2" fmla="*/ 0 w 660396"/>
              <a:gd name="connsiteY2" fmla="*/ 609600 h 609600"/>
              <a:gd name="connsiteX3" fmla="*/ 369046 w 660396"/>
              <a:gd name="connsiteY3" fmla="*/ 609600 h 609600"/>
              <a:gd name="connsiteX4" fmla="*/ 58274 w 660396"/>
              <a:gd name="connsiteY4" fmla="*/ 0 h 609600"/>
              <a:gd name="connsiteX5" fmla="*/ 271929 w 660396"/>
              <a:gd name="connsiteY5" fmla="*/ 0 h 609600"/>
              <a:gd name="connsiteX6" fmla="*/ 582701 w 660396"/>
              <a:gd name="connsiteY6" fmla="*/ 609600 h 609600"/>
              <a:gd name="connsiteX7" fmla="*/ 660397 w 660396"/>
              <a:gd name="connsiteY7" fmla="*/ 609600 h 609600"/>
              <a:gd name="connsiteX8" fmla="*/ 660397 w 660396"/>
              <a:gd name="connsiteY8" fmla="*/ 0 h 609600"/>
              <a:gd name="connsiteX9" fmla="*/ 271929 w 66039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39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46" y="609600"/>
                </a:lnTo>
                <a:lnTo>
                  <a:pt x="58274" y="0"/>
                </a:lnTo>
                <a:close/>
                <a:moveTo>
                  <a:pt x="271929" y="0"/>
                </a:moveTo>
                <a:lnTo>
                  <a:pt x="582701" y="609600"/>
                </a:lnTo>
                <a:lnTo>
                  <a:pt x="660397" y="609600"/>
                </a:lnTo>
                <a:lnTo>
                  <a:pt x="660397" y="0"/>
                </a:lnTo>
                <a:lnTo>
                  <a:pt x="27192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F84EAE-89F3-72BC-FE31-EC6F67F3B51F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F0C5B4-84D2-E9C5-62F7-7283797F2B91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EAEAE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D1AD8A-F23E-9B2D-A5A8-91EA177B93D9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EAEAE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BD7E2D-CC24-26A5-8974-3319DF81E939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53295B-5A6C-ED0E-FD9B-98BEB1C29BE5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7B1628-51B5-585C-CE02-9D3087F5A44E}"/>
              </a:ext>
            </a:extLst>
          </p:cNvPr>
          <p:cNvSpPr txBox="1"/>
          <p:nvPr/>
        </p:nvSpPr>
        <p:spPr>
          <a:xfrm>
            <a:off x="670560" y="6335077"/>
            <a:ext cx="5951028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EAEAEA"/>
                </a:solidFill>
                <a:latin typeface="Plus Jakarta Sans" pitchFamily="2" charset="0"/>
              </a:rPr>
              <a:t>Summarize insights and invite collaboration: “Join NEXORA in </a:t>
            </a:r>
          </a:p>
          <a:p>
            <a:r>
              <a:rPr lang="en-US" sz="1500">
                <a:solidFill>
                  <a:srgbClr val="EAEAEA"/>
                </a:solidFill>
                <a:latin typeface="Plus Jakarta Sans" pitchFamily="2" charset="0"/>
              </a:rPr>
              <a:t>shaping the smarter commerce era.” Add contact call-to-</a:t>
            </a:r>
          </a:p>
          <a:p>
            <a:r>
              <a:rPr lang="en-US" sz="1500">
                <a:solidFill>
                  <a:srgbClr val="EAEAEA"/>
                </a:solidFill>
                <a:latin typeface="Plus Jakarta Sans" pitchFamily="2" charset="0"/>
              </a:rPr>
              <a:t>action.</a:t>
            </a:r>
            <a:endParaRPr lang="en-ID" sz="1500">
              <a:solidFill>
                <a:srgbClr val="EAEAEA"/>
              </a:solidFill>
              <a:latin typeface="Plus Jakarta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23AE19-A40E-6162-B567-48457959A094}"/>
              </a:ext>
            </a:extLst>
          </p:cNvPr>
          <p:cNvSpPr txBox="1"/>
          <p:nvPr/>
        </p:nvSpPr>
        <p:spPr>
          <a:xfrm>
            <a:off x="670560" y="4089844"/>
            <a:ext cx="5486780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F3F3F3"/>
                </a:solidFill>
                <a:latin typeface="Plus Jakarta Sans" pitchFamily="2" charset="0"/>
              </a:rPr>
              <a:t>Let’s redefine </a:t>
            </a:r>
          </a:p>
          <a:p>
            <a:r>
              <a:rPr lang="en-ID" sz="4800" b="1">
                <a:solidFill>
                  <a:srgbClr val="F3F3F3"/>
                </a:solidFill>
                <a:latin typeface="Plus Jakarta Sans" pitchFamily="2" charset="0"/>
              </a:rPr>
              <a:t>online shopping.</a:t>
            </a:r>
          </a:p>
        </p:txBody>
      </p:sp>
    </p:spTree>
    <p:extLst>
      <p:ext uri="{BB962C8B-B14F-4D97-AF65-F5344CB8AC3E}">
        <p14:creationId xmlns:p14="http://schemas.microsoft.com/office/powerpoint/2010/main" val="1373155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158E580B-FE19-B289-F7FA-6ECA116779F6}"/>
              </a:ext>
            </a:extLst>
          </p:cNvPr>
          <p:cNvSpPr txBox="1"/>
          <p:nvPr/>
        </p:nvSpPr>
        <p:spPr>
          <a:xfrm>
            <a:off x="670560" y="1572767"/>
            <a:ext cx="1983943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Shop Smart. Live Digital.”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EAE761-90A9-C1EA-C955-062C0EF2FF2B}"/>
              </a:ext>
            </a:extLst>
          </p:cNvPr>
          <p:cNvSpPr txBox="1"/>
          <p:nvPr/>
        </p:nvSpPr>
        <p:spPr>
          <a:xfrm>
            <a:off x="670560" y="1859660"/>
            <a:ext cx="735970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Closing Remarks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8970232-A977-8E37-0C44-5623261A9207}"/>
              </a:ext>
            </a:extLst>
          </p:cNvPr>
          <p:cNvSpPr/>
          <p:nvPr/>
        </p:nvSpPr>
        <p:spPr>
          <a:xfrm>
            <a:off x="9029700" y="3009900"/>
            <a:ext cx="8496300" cy="9525"/>
          </a:xfrm>
          <a:custGeom>
            <a:avLst/>
            <a:gdLst>
              <a:gd name="connsiteX0" fmla="*/ 8496300 w 8496300"/>
              <a:gd name="connsiteY0" fmla="*/ 0 h 9525"/>
              <a:gd name="connsiteX1" fmla="*/ 0 w 84963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96300" h="9525">
                <a:moveTo>
                  <a:pt x="8496300" y="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080601F-98CE-3BD5-78A5-E34A2AE70EDD}"/>
              </a:ext>
            </a:extLst>
          </p:cNvPr>
          <p:cNvSpPr/>
          <p:nvPr/>
        </p:nvSpPr>
        <p:spPr>
          <a:xfrm>
            <a:off x="9029700" y="3124200"/>
            <a:ext cx="381000" cy="381000"/>
          </a:xfrm>
          <a:custGeom>
            <a:avLst/>
            <a:gdLst>
              <a:gd name="connsiteX0" fmla="*/ 381000 w 381000"/>
              <a:gd name="connsiteY0" fmla="*/ 0 h 381000"/>
              <a:gd name="connsiteX1" fmla="*/ 0 w 381000"/>
              <a:gd name="connsiteY1" fmla="*/ 0 h 381000"/>
              <a:gd name="connsiteX2" fmla="*/ 0 w 381000"/>
              <a:gd name="connsiteY2" fmla="*/ 381000 h 381000"/>
              <a:gd name="connsiteX3" fmla="*/ 381000 w 381000"/>
              <a:gd name="connsiteY3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381000" y="0"/>
                </a:moveTo>
                <a:lnTo>
                  <a:pt x="0" y="0"/>
                </a:lnTo>
                <a:lnTo>
                  <a:pt x="0" y="381000"/>
                </a:lnTo>
                <a:lnTo>
                  <a:pt x="38100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5CEA5D-E00D-A961-D7AF-84B57853B58E}"/>
              </a:ext>
            </a:extLst>
          </p:cNvPr>
          <p:cNvSpPr txBox="1"/>
          <p:nvPr/>
        </p:nvSpPr>
        <p:spPr>
          <a:xfrm>
            <a:off x="7747635" y="877843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Website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32782F-8FC3-E268-817E-F7A252112C77}"/>
              </a:ext>
            </a:extLst>
          </p:cNvPr>
          <p:cNvSpPr txBox="1"/>
          <p:nvPr/>
        </p:nvSpPr>
        <p:spPr>
          <a:xfrm>
            <a:off x="7752978" y="9007887"/>
            <a:ext cx="2167581" cy="357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www.nexora.com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CCEE49-55D8-61AD-C331-CD8A4DF1D073}"/>
              </a:ext>
            </a:extLst>
          </p:cNvPr>
          <p:cNvSpPr txBox="1"/>
          <p:nvPr/>
        </p:nvSpPr>
        <p:spPr>
          <a:xfrm>
            <a:off x="11052810" y="8778430"/>
            <a:ext cx="64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E-Mail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0A9D62-ABFD-D139-2694-6B5B3C0657B2}"/>
              </a:ext>
            </a:extLst>
          </p:cNvPr>
          <p:cNvSpPr txBox="1"/>
          <p:nvPr/>
        </p:nvSpPr>
        <p:spPr>
          <a:xfrm>
            <a:off x="11061953" y="9007887"/>
            <a:ext cx="2779928" cy="357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hello.help@nexora.com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B1DC9D-5175-39C4-BCD0-3C5B6FE88035}"/>
              </a:ext>
            </a:extLst>
          </p:cNvPr>
          <p:cNvSpPr txBox="1"/>
          <p:nvPr/>
        </p:nvSpPr>
        <p:spPr>
          <a:xfrm>
            <a:off x="14357985" y="8778430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Telephone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1AE5C9-E719-2A44-4701-1BD468988830}"/>
              </a:ext>
            </a:extLst>
          </p:cNvPr>
          <p:cNvSpPr txBox="1"/>
          <p:nvPr/>
        </p:nvSpPr>
        <p:spPr>
          <a:xfrm>
            <a:off x="14360747" y="9007887"/>
            <a:ext cx="2449430" cy="367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+999 808-1234-1234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C87BBDA-3D91-5158-F7AA-FAD906F33370}"/>
              </a:ext>
            </a:extLst>
          </p:cNvPr>
          <p:cNvSpPr/>
          <p:nvPr/>
        </p:nvSpPr>
        <p:spPr>
          <a:xfrm>
            <a:off x="12087225" y="5286375"/>
            <a:ext cx="457200" cy="457200"/>
          </a:xfrm>
          <a:custGeom>
            <a:avLst/>
            <a:gdLst>
              <a:gd name="connsiteX0" fmla="*/ 457200 w 457200"/>
              <a:gd name="connsiteY0" fmla="*/ 228600 h 457200"/>
              <a:gd name="connsiteX1" fmla="*/ 228600 w 457200"/>
              <a:gd name="connsiteY1" fmla="*/ 457200 h 457200"/>
              <a:gd name="connsiteX2" fmla="*/ 0 w 457200"/>
              <a:gd name="connsiteY2" fmla="*/ 228600 h 457200"/>
              <a:gd name="connsiteX3" fmla="*/ 228600 w 457200"/>
              <a:gd name="connsiteY3" fmla="*/ 0 h 457200"/>
              <a:gd name="connsiteX4" fmla="*/ 457200 w 457200"/>
              <a:gd name="connsiteY4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354852"/>
                  <a:pt x="354853" y="457200"/>
                  <a:pt x="228600" y="457200"/>
                </a:cubicBezTo>
                <a:cubicBezTo>
                  <a:pt x="102347" y="457200"/>
                  <a:pt x="0" y="354852"/>
                  <a:pt x="0" y="228600"/>
                </a:cubicBezTo>
                <a:cubicBezTo>
                  <a:pt x="0" y="102348"/>
                  <a:pt x="102347" y="0"/>
                  <a:pt x="228600" y="0"/>
                </a:cubicBezTo>
                <a:cubicBezTo>
                  <a:pt x="354853" y="0"/>
                  <a:pt x="457200" y="102348"/>
                  <a:pt x="457200" y="228600"/>
                </a:cubicBez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3ECEF79-C509-12EE-687D-2E47F4D3DD09}"/>
              </a:ext>
            </a:extLst>
          </p:cNvPr>
          <p:cNvSpPr/>
          <p:nvPr/>
        </p:nvSpPr>
        <p:spPr>
          <a:xfrm>
            <a:off x="12204192" y="5413971"/>
            <a:ext cx="223265" cy="202015"/>
          </a:xfrm>
          <a:custGeom>
            <a:avLst/>
            <a:gdLst>
              <a:gd name="connsiteX0" fmla="*/ 19716 w 223265"/>
              <a:gd name="connsiteY0" fmla="*/ 0 h 202015"/>
              <a:gd name="connsiteX1" fmla="*/ 0 w 223265"/>
              <a:gd name="connsiteY1" fmla="*/ 0 h 202015"/>
              <a:gd name="connsiteX2" fmla="*/ 0 w 223265"/>
              <a:gd name="connsiteY2" fmla="*/ 202016 h 202015"/>
              <a:gd name="connsiteX3" fmla="*/ 124777 w 223265"/>
              <a:gd name="connsiteY3" fmla="*/ 202016 h 202015"/>
              <a:gd name="connsiteX4" fmla="*/ 19716 w 223265"/>
              <a:gd name="connsiteY4" fmla="*/ 0 h 202015"/>
              <a:gd name="connsiteX5" fmla="*/ 91916 w 223265"/>
              <a:gd name="connsiteY5" fmla="*/ 0 h 202015"/>
              <a:gd name="connsiteX6" fmla="*/ 196976 w 223265"/>
              <a:gd name="connsiteY6" fmla="*/ 202016 h 202015"/>
              <a:gd name="connsiteX7" fmla="*/ 223265 w 223265"/>
              <a:gd name="connsiteY7" fmla="*/ 202016 h 202015"/>
              <a:gd name="connsiteX8" fmla="*/ 223265 w 223265"/>
              <a:gd name="connsiteY8" fmla="*/ 0 h 202015"/>
              <a:gd name="connsiteX9" fmla="*/ 91916 w 223265"/>
              <a:gd name="connsiteY9" fmla="*/ 0 h 20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3265" h="202015">
                <a:moveTo>
                  <a:pt x="19716" y="0"/>
                </a:moveTo>
                <a:lnTo>
                  <a:pt x="0" y="0"/>
                </a:lnTo>
                <a:lnTo>
                  <a:pt x="0" y="202016"/>
                </a:lnTo>
                <a:lnTo>
                  <a:pt x="124777" y="202016"/>
                </a:lnTo>
                <a:lnTo>
                  <a:pt x="19716" y="0"/>
                </a:lnTo>
                <a:close/>
                <a:moveTo>
                  <a:pt x="91916" y="0"/>
                </a:moveTo>
                <a:lnTo>
                  <a:pt x="196976" y="202016"/>
                </a:lnTo>
                <a:lnTo>
                  <a:pt x="223265" y="202016"/>
                </a:lnTo>
                <a:lnTo>
                  <a:pt x="223265" y="0"/>
                </a:lnTo>
                <a:lnTo>
                  <a:pt x="91916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4CD7BE-63DD-2209-6E88-97B878816185}"/>
              </a:ext>
            </a:extLst>
          </p:cNvPr>
          <p:cNvSpPr txBox="1"/>
          <p:nvPr/>
        </p:nvSpPr>
        <p:spPr>
          <a:xfrm>
            <a:off x="12681585" y="5211317"/>
            <a:ext cx="1157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Presented by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AF0CF2-357D-087D-4CE3-8FEC3C0D1567}"/>
              </a:ext>
            </a:extLst>
          </p:cNvPr>
          <p:cNvSpPr txBox="1"/>
          <p:nvPr/>
        </p:nvSpPr>
        <p:spPr>
          <a:xfrm>
            <a:off x="12681585" y="5439537"/>
            <a:ext cx="1561337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James Smith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F391FC11-3312-DE12-2B57-A20D746B2D1B}"/>
              </a:ext>
            </a:extLst>
          </p:cNvPr>
          <p:cNvSpPr/>
          <p:nvPr/>
        </p:nvSpPr>
        <p:spPr>
          <a:xfrm>
            <a:off x="533400" y="324064"/>
            <a:ext cx="247650" cy="228600"/>
          </a:xfrm>
          <a:custGeom>
            <a:avLst/>
            <a:gdLst>
              <a:gd name="connsiteX0" fmla="*/ 21851 w 247650"/>
              <a:gd name="connsiteY0" fmla="*/ 0 h 228600"/>
              <a:gd name="connsiteX1" fmla="*/ 0 w 247650"/>
              <a:gd name="connsiteY1" fmla="*/ 0 h 228600"/>
              <a:gd name="connsiteX2" fmla="*/ 0 w 247650"/>
              <a:gd name="connsiteY2" fmla="*/ 228600 h 228600"/>
              <a:gd name="connsiteX3" fmla="*/ 138393 w 247650"/>
              <a:gd name="connsiteY3" fmla="*/ 228600 h 228600"/>
              <a:gd name="connsiteX4" fmla="*/ 21851 w 247650"/>
              <a:gd name="connsiteY4" fmla="*/ 0 h 228600"/>
              <a:gd name="connsiteX5" fmla="*/ 101974 w 247650"/>
              <a:gd name="connsiteY5" fmla="*/ 0 h 228600"/>
              <a:gd name="connsiteX6" fmla="*/ 218515 w 247650"/>
              <a:gd name="connsiteY6" fmla="*/ 228600 h 228600"/>
              <a:gd name="connsiteX7" fmla="*/ 247650 w 247650"/>
              <a:gd name="connsiteY7" fmla="*/ 228600 h 228600"/>
              <a:gd name="connsiteX8" fmla="*/ 247650 w 247650"/>
              <a:gd name="connsiteY8" fmla="*/ 0 h 228600"/>
              <a:gd name="connsiteX9" fmla="*/ 101974 w 247650"/>
              <a:gd name="connsiteY9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650" h="228600">
                <a:moveTo>
                  <a:pt x="21851" y="0"/>
                </a:moveTo>
                <a:lnTo>
                  <a:pt x="0" y="0"/>
                </a:lnTo>
                <a:lnTo>
                  <a:pt x="0" y="228600"/>
                </a:lnTo>
                <a:lnTo>
                  <a:pt x="138393" y="228600"/>
                </a:lnTo>
                <a:lnTo>
                  <a:pt x="21851" y="0"/>
                </a:lnTo>
                <a:close/>
                <a:moveTo>
                  <a:pt x="101974" y="0"/>
                </a:moveTo>
                <a:lnTo>
                  <a:pt x="218515" y="228600"/>
                </a:lnTo>
                <a:lnTo>
                  <a:pt x="247650" y="228600"/>
                </a:lnTo>
                <a:lnTo>
                  <a:pt x="247650" y="0"/>
                </a:lnTo>
                <a:lnTo>
                  <a:pt x="101974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A9DB85-5030-2707-2605-F15A6453B595}"/>
              </a:ext>
            </a:extLst>
          </p:cNvPr>
          <p:cNvSpPr txBox="1"/>
          <p:nvPr/>
        </p:nvSpPr>
        <p:spPr>
          <a:xfrm>
            <a:off x="803910" y="24862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NEXORA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B33999-6F78-02AD-6724-4B70D7D89B32}"/>
              </a:ext>
            </a:extLst>
          </p:cNvPr>
          <p:cNvSpPr txBox="1"/>
          <p:nvPr/>
        </p:nvSpPr>
        <p:spPr>
          <a:xfrm>
            <a:off x="1813560" y="296632"/>
            <a:ext cx="1997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- Shop Smart. Live Digital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ED9A129F-8DFF-206A-1C30-2D73190BE396}"/>
              </a:ext>
            </a:extLst>
          </p:cNvPr>
          <p:cNvSpPr/>
          <p:nvPr/>
        </p:nvSpPr>
        <p:spPr>
          <a:xfrm>
            <a:off x="17373600" y="9372600"/>
            <a:ext cx="381000" cy="381000"/>
          </a:xfrm>
          <a:custGeom>
            <a:avLst/>
            <a:gdLst>
              <a:gd name="connsiteX0" fmla="*/ 0 w 381000"/>
              <a:gd name="connsiteY0" fmla="*/ 0 h 381000"/>
              <a:gd name="connsiteX1" fmla="*/ 381000 w 381000"/>
              <a:gd name="connsiteY1" fmla="*/ 0 h 381000"/>
              <a:gd name="connsiteX2" fmla="*/ 381000 w 381000"/>
              <a:gd name="connsiteY2" fmla="*/ 381000 h 381000"/>
              <a:gd name="connsiteX3" fmla="*/ 0 w 381000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86689C-A853-4F03-9D0C-D9A02E93A992}"/>
              </a:ext>
            </a:extLst>
          </p:cNvPr>
          <p:cNvSpPr txBox="1"/>
          <p:nvPr/>
        </p:nvSpPr>
        <p:spPr>
          <a:xfrm>
            <a:off x="17377410" y="9404565"/>
            <a:ext cx="371989" cy="30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35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01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A7AFE9E3-D514-DBC0-FE0F-D487ECE527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D446C7-5DA9-03A4-3A25-74FC7FCD91ED}"/>
              </a:ext>
            </a:extLst>
          </p:cNvPr>
          <p:cNvSpPr txBox="1"/>
          <p:nvPr/>
        </p:nvSpPr>
        <p:spPr>
          <a:xfrm>
            <a:off x="11995785" y="3839718"/>
            <a:ext cx="4661992" cy="83099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Envision Nexora as the future of e-commerce, seamlessly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merging convenience and cutting-edge technology to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revolutionize your shopping experience. Nexora: shop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faster, safer, and smarter.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86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4B8BBDB-66D1-ED56-1740-BB6231F663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8BC8DA-12F5-4D10-E0B0-ACEF74F10A8B}"/>
              </a:ext>
            </a:extLst>
          </p:cNvPr>
          <p:cNvSpPr/>
          <p:nvPr/>
        </p:nvSpPr>
        <p:spPr>
          <a:xfrm>
            <a:off x="533400" y="8934450"/>
            <a:ext cx="819150" cy="819150"/>
          </a:xfrm>
          <a:custGeom>
            <a:avLst/>
            <a:gdLst>
              <a:gd name="connsiteX0" fmla="*/ 819150 w 819150"/>
              <a:gd name="connsiteY0" fmla="*/ 409575 h 819150"/>
              <a:gd name="connsiteX1" fmla="*/ 409575 w 819150"/>
              <a:gd name="connsiteY1" fmla="*/ 819150 h 819150"/>
              <a:gd name="connsiteX2" fmla="*/ 0 w 819150"/>
              <a:gd name="connsiteY2" fmla="*/ 409575 h 819150"/>
              <a:gd name="connsiteX3" fmla="*/ 409575 w 819150"/>
              <a:gd name="connsiteY3" fmla="*/ 0 h 819150"/>
              <a:gd name="connsiteX4" fmla="*/ 819150 w 819150"/>
              <a:gd name="connsiteY4" fmla="*/ 409575 h 8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150" h="819150">
                <a:moveTo>
                  <a:pt x="819150" y="409575"/>
                </a:moveTo>
                <a:cubicBezTo>
                  <a:pt x="819150" y="635777"/>
                  <a:pt x="635777" y="819150"/>
                  <a:pt x="409575" y="819150"/>
                </a:cubicBezTo>
                <a:cubicBezTo>
                  <a:pt x="183373" y="819150"/>
                  <a:pt x="0" y="635777"/>
                  <a:pt x="0" y="409575"/>
                </a:cubicBezTo>
                <a:cubicBezTo>
                  <a:pt x="0" y="183373"/>
                  <a:pt x="183373" y="0"/>
                  <a:pt x="409575" y="0"/>
                </a:cubicBezTo>
                <a:cubicBezTo>
                  <a:pt x="635777" y="0"/>
                  <a:pt x="819150" y="183373"/>
                  <a:pt x="819150" y="409575"/>
                </a:cubicBez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657FF40-D5F9-48B0-3E83-CA743C5FC07F}"/>
              </a:ext>
            </a:extLst>
          </p:cNvPr>
          <p:cNvSpPr/>
          <p:nvPr/>
        </p:nvSpPr>
        <p:spPr>
          <a:xfrm>
            <a:off x="742950" y="9163050"/>
            <a:ext cx="400050" cy="361950"/>
          </a:xfrm>
          <a:custGeom>
            <a:avLst/>
            <a:gdLst>
              <a:gd name="connsiteX0" fmla="*/ 35299 w 400050"/>
              <a:gd name="connsiteY0" fmla="*/ 0 h 361950"/>
              <a:gd name="connsiteX1" fmla="*/ 0 w 400050"/>
              <a:gd name="connsiteY1" fmla="*/ 0 h 361950"/>
              <a:gd name="connsiteX2" fmla="*/ 0 w 400050"/>
              <a:gd name="connsiteY2" fmla="*/ 361950 h 361950"/>
              <a:gd name="connsiteX3" fmla="*/ 223561 w 400050"/>
              <a:gd name="connsiteY3" fmla="*/ 361950 h 361950"/>
              <a:gd name="connsiteX4" fmla="*/ 35299 w 400050"/>
              <a:gd name="connsiteY4" fmla="*/ 0 h 361950"/>
              <a:gd name="connsiteX5" fmla="*/ 164726 w 400050"/>
              <a:gd name="connsiteY5" fmla="*/ 0 h 361950"/>
              <a:gd name="connsiteX6" fmla="*/ 352987 w 400050"/>
              <a:gd name="connsiteY6" fmla="*/ 361950 h 361950"/>
              <a:gd name="connsiteX7" fmla="*/ 400050 w 400050"/>
              <a:gd name="connsiteY7" fmla="*/ 361950 h 361950"/>
              <a:gd name="connsiteX8" fmla="*/ 400050 w 400050"/>
              <a:gd name="connsiteY8" fmla="*/ 0 h 361950"/>
              <a:gd name="connsiteX9" fmla="*/ 164726 w 400050"/>
              <a:gd name="connsiteY9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0050" h="361950">
                <a:moveTo>
                  <a:pt x="35299" y="0"/>
                </a:moveTo>
                <a:lnTo>
                  <a:pt x="0" y="0"/>
                </a:lnTo>
                <a:lnTo>
                  <a:pt x="0" y="361950"/>
                </a:lnTo>
                <a:lnTo>
                  <a:pt x="223561" y="361950"/>
                </a:lnTo>
                <a:lnTo>
                  <a:pt x="35299" y="0"/>
                </a:lnTo>
                <a:close/>
                <a:moveTo>
                  <a:pt x="164726" y="0"/>
                </a:moveTo>
                <a:lnTo>
                  <a:pt x="352987" y="361950"/>
                </a:lnTo>
                <a:lnTo>
                  <a:pt x="400050" y="361950"/>
                </a:lnTo>
                <a:lnTo>
                  <a:pt x="400050" y="0"/>
                </a:lnTo>
                <a:lnTo>
                  <a:pt x="164726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EC9BD-0E4A-BC95-8A6C-E388C2D062EE}"/>
              </a:ext>
            </a:extLst>
          </p:cNvPr>
          <p:cNvSpPr txBox="1"/>
          <p:nvPr/>
        </p:nvSpPr>
        <p:spPr>
          <a:xfrm>
            <a:off x="1489710" y="9040367"/>
            <a:ext cx="1157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Presented by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D9FDC9-F368-9AF3-FE0E-E49A045EE15C}"/>
              </a:ext>
            </a:extLst>
          </p:cNvPr>
          <p:cNvSpPr txBox="1"/>
          <p:nvPr/>
        </p:nvSpPr>
        <p:spPr>
          <a:xfrm>
            <a:off x="1489710" y="9268567"/>
            <a:ext cx="1561338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James Smith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FA3998-E8A3-1A80-4F16-CB880D12F895}"/>
              </a:ext>
            </a:extLst>
          </p:cNvPr>
          <p:cNvSpPr/>
          <p:nvPr/>
        </p:nvSpPr>
        <p:spPr>
          <a:xfrm>
            <a:off x="12087225" y="6381750"/>
            <a:ext cx="5448300" cy="3143250"/>
          </a:xfrm>
          <a:custGeom>
            <a:avLst/>
            <a:gdLst>
              <a:gd name="connsiteX0" fmla="*/ 0 w 5448300"/>
              <a:gd name="connsiteY0" fmla="*/ 0 h 3143250"/>
              <a:gd name="connsiteX1" fmla="*/ 5448300 w 5448300"/>
              <a:gd name="connsiteY1" fmla="*/ 0 h 3143250"/>
              <a:gd name="connsiteX2" fmla="*/ 5448300 w 5448300"/>
              <a:gd name="connsiteY2" fmla="*/ 3143250 h 3143250"/>
              <a:gd name="connsiteX3" fmla="*/ 0 w 544830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8300" h="3143250">
                <a:moveTo>
                  <a:pt x="0" y="0"/>
                </a:moveTo>
                <a:lnTo>
                  <a:pt x="5448300" y="0"/>
                </a:lnTo>
                <a:lnTo>
                  <a:pt x="5448300" y="3143250"/>
                </a:lnTo>
                <a:lnTo>
                  <a:pt x="0" y="314325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ACE418-32F6-5B23-64B6-B16786FAB24E}"/>
              </a:ext>
            </a:extLst>
          </p:cNvPr>
          <p:cNvSpPr txBox="1"/>
          <p:nvPr/>
        </p:nvSpPr>
        <p:spPr>
          <a:xfrm>
            <a:off x="12452985" y="8068817"/>
            <a:ext cx="4915738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Introduce the brand’s vision as a next-gen e-commerce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platform that bridges convenience and technology. NEXORA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empowers users to shop faster, safer, and smarter.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ABEE59-41B3-78FA-FFC2-C2CE02EA9EFC}"/>
              </a:ext>
            </a:extLst>
          </p:cNvPr>
          <p:cNvSpPr txBox="1"/>
          <p:nvPr/>
        </p:nvSpPr>
        <p:spPr>
          <a:xfrm>
            <a:off x="12452985" y="7172896"/>
            <a:ext cx="2207666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2E2E2E"/>
                </a:solidFill>
                <a:latin typeface="Plus Jakarta Sans" pitchFamily="2" charset="0"/>
              </a:rPr>
              <a:t>Welcome to  </a:t>
            </a:r>
          </a:p>
          <a:p>
            <a:r>
              <a:rPr lang="en-ID" sz="2100" b="1">
                <a:solidFill>
                  <a:srgbClr val="2E2E2E"/>
                </a:solidFill>
                <a:latin typeface="Plus Jakarta Sans" pitchFamily="2" charset="0"/>
              </a:rPr>
              <a:t>NEXORA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9BC28E-C80A-944D-5296-190189060C34}"/>
              </a:ext>
            </a:extLst>
          </p:cNvPr>
          <p:cNvSpPr txBox="1"/>
          <p:nvPr/>
        </p:nvSpPr>
        <p:spPr>
          <a:xfrm>
            <a:off x="441960" y="1880044"/>
            <a:ext cx="4498619" cy="230832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The Future of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Smart Online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Shopping</a:t>
            </a:r>
          </a:p>
        </p:txBody>
      </p:sp>
    </p:spTree>
    <p:extLst>
      <p:ext uri="{BB962C8B-B14F-4D97-AF65-F5344CB8AC3E}">
        <p14:creationId xmlns:p14="http://schemas.microsoft.com/office/powerpoint/2010/main" val="1020111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5EC77FC-8755-D5A6-3FBB-696AA1E51A8D}"/>
              </a:ext>
            </a:extLst>
          </p:cNvPr>
          <p:cNvSpPr/>
          <p:nvPr/>
        </p:nvSpPr>
        <p:spPr>
          <a:xfrm>
            <a:off x="762000" y="502920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2846E97-62A7-0F61-80E0-34E5D6648C4F}"/>
              </a:ext>
            </a:extLst>
          </p:cNvPr>
          <p:cNvSpPr/>
          <p:nvPr/>
        </p:nvSpPr>
        <p:spPr>
          <a:xfrm>
            <a:off x="1031871" y="5295900"/>
            <a:ext cx="660406" cy="609600"/>
          </a:xfrm>
          <a:custGeom>
            <a:avLst/>
            <a:gdLst>
              <a:gd name="connsiteX0" fmla="*/ 58274 w 660406"/>
              <a:gd name="connsiteY0" fmla="*/ 0 h 609600"/>
              <a:gd name="connsiteX1" fmla="*/ 0 w 660406"/>
              <a:gd name="connsiteY1" fmla="*/ 0 h 609600"/>
              <a:gd name="connsiteX2" fmla="*/ 0 w 660406"/>
              <a:gd name="connsiteY2" fmla="*/ 609600 h 609600"/>
              <a:gd name="connsiteX3" fmla="*/ 369056 w 660406"/>
              <a:gd name="connsiteY3" fmla="*/ 609600 h 609600"/>
              <a:gd name="connsiteX4" fmla="*/ 58274 w 660406"/>
              <a:gd name="connsiteY4" fmla="*/ 0 h 609600"/>
              <a:gd name="connsiteX5" fmla="*/ 271939 w 660406"/>
              <a:gd name="connsiteY5" fmla="*/ 0 h 609600"/>
              <a:gd name="connsiteX6" fmla="*/ 582711 w 660406"/>
              <a:gd name="connsiteY6" fmla="*/ 609600 h 609600"/>
              <a:gd name="connsiteX7" fmla="*/ 660406 w 660406"/>
              <a:gd name="connsiteY7" fmla="*/ 609600 h 609600"/>
              <a:gd name="connsiteX8" fmla="*/ 660406 w 660406"/>
              <a:gd name="connsiteY8" fmla="*/ 0 h 609600"/>
              <a:gd name="connsiteX9" fmla="*/ 271939 w 66040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0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56" y="609600"/>
                </a:lnTo>
                <a:lnTo>
                  <a:pt x="58274" y="0"/>
                </a:lnTo>
                <a:close/>
                <a:moveTo>
                  <a:pt x="271939" y="0"/>
                </a:moveTo>
                <a:lnTo>
                  <a:pt x="582711" y="609600"/>
                </a:lnTo>
                <a:lnTo>
                  <a:pt x="660406" y="609600"/>
                </a:lnTo>
                <a:lnTo>
                  <a:pt x="660406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7664A-8F32-3BF3-BB37-F1ED9FEC3600}"/>
              </a:ext>
            </a:extLst>
          </p:cNvPr>
          <p:cNvSpPr txBox="1"/>
          <p:nvPr/>
        </p:nvSpPr>
        <p:spPr>
          <a:xfrm>
            <a:off x="9166860" y="8077962"/>
            <a:ext cx="3741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Digital commerce for everyone.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094C7B0-8E73-17E8-76DA-A7389491F0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432C29-FBCC-5D06-DCBA-22F1C1E1CE0A}"/>
              </a:ext>
            </a:extLst>
          </p:cNvPr>
          <p:cNvSpPr txBox="1"/>
          <p:nvPr/>
        </p:nvSpPr>
        <p:spPr>
          <a:xfrm>
            <a:off x="9166860" y="8823578"/>
            <a:ext cx="4659267" cy="71558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Explain that NEXORA aims to make online shopping </a:t>
            </a:r>
          </a:p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seamless and personalized, blending user-centric </a:t>
            </a:r>
          </a:p>
          <a:p>
            <a:r>
              <a:rPr lang="en-US" sz="1350">
                <a:solidFill>
                  <a:srgbClr val="2E2E2E"/>
                </a:solidFill>
                <a:latin typeface="Plus Jakarta Sans" pitchFamily="2" charset="0"/>
              </a:rPr>
              <a:t>design with AI-driven recommendations.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D36723-C6D9-1DAF-68AA-C61FE1DD482C}"/>
              </a:ext>
            </a:extLst>
          </p:cNvPr>
          <p:cNvSpPr txBox="1"/>
          <p:nvPr/>
        </p:nvSpPr>
        <p:spPr>
          <a:xfrm>
            <a:off x="2318385" y="4983860"/>
            <a:ext cx="6195060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Introduction 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to Our Vision</a:t>
            </a:r>
          </a:p>
        </p:txBody>
      </p:sp>
    </p:spTree>
    <p:extLst>
      <p:ext uri="{BB962C8B-B14F-4D97-AF65-F5344CB8AC3E}">
        <p14:creationId xmlns:p14="http://schemas.microsoft.com/office/powerpoint/2010/main" val="3780186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3A5EC31-5B99-1B0C-E0D2-A5A357A2D1E5}"/>
              </a:ext>
            </a:extLst>
          </p:cNvPr>
          <p:cNvSpPr txBox="1"/>
          <p:nvPr/>
        </p:nvSpPr>
        <p:spPr>
          <a:xfrm>
            <a:off x="12014835" y="7230046"/>
            <a:ext cx="13516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About us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78170BF-B2F1-5FC0-B173-D31B443D91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064E494-D2DD-06BE-5C5D-2E00C442DC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D90C15-BA67-0963-2232-8AAB169879D4}"/>
              </a:ext>
            </a:extLst>
          </p:cNvPr>
          <p:cNvSpPr txBox="1"/>
          <p:nvPr/>
        </p:nvSpPr>
        <p:spPr>
          <a:xfrm>
            <a:off x="13415011" y="7230427"/>
            <a:ext cx="3376231" cy="124649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Describe how the surge in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mobile usage and post-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pandemic trends reshape the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retail landscape. E-commerce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is no longer luxury—it’s daily life.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784211-7DBC-C805-E895-A1A8454BAAA9}"/>
              </a:ext>
            </a:extLst>
          </p:cNvPr>
          <p:cNvSpPr txBox="1"/>
          <p:nvPr/>
        </p:nvSpPr>
        <p:spPr>
          <a:xfrm>
            <a:off x="7519035" y="2735961"/>
            <a:ext cx="5398503" cy="433965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Grasping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the current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digital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market.</a:t>
            </a:r>
          </a:p>
        </p:txBody>
      </p:sp>
    </p:spTree>
    <p:extLst>
      <p:ext uri="{BB962C8B-B14F-4D97-AF65-F5344CB8AC3E}">
        <p14:creationId xmlns:p14="http://schemas.microsoft.com/office/powerpoint/2010/main" val="1721016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2312AC-764D-6BF9-9DFD-DD0B3D8C4D62}"/>
              </a:ext>
            </a:extLst>
          </p:cNvPr>
          <p:cNvSpPr/>
          <p:nvPr/>
        </p:nvSpPr>
        <p:spPr>
          <a:xfrm>
            <a:off x="13506450" y="762000"/>
            <a:ext cx="4019550" cy="4267200"/>
          </a:xfrm>
          <a:prstGeom prst="roundRect">
            <a:avLst>
              <a:gd name="adj" fmla="val 3000"/>
            </a:avLst>
          </a:pr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5E2A0E-E24B-0E59-515C-A3EDE8E75401}"/>
              </a:ext>
            </a:extLst>
          </p:cNvPr>
          <p:cNvSpPr/>
          <p:nvPr/>
        </p:nvSpPr>
        <p:spPr>
          <a:xfrm>
            <a:off x="13506450" y="5257800"/>
            <a:ext cx="4019550" cy="4267200"/>
          </a:xfrm>
          <a:prstGeom prst="roundRect">
            <a:avLst>
              <a:gd name="adj" fmla="val 3000"/>
            </a:avLst>
          </a:pr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1CA44B-412B-E104-B464-E15E3FC7C1B4}"/>
              </a:ext>
            </a:extLst>
          </p:cNvPr>
          <p:cNvSpPr/>
          <p:nvPr/>
        </p:nvSpPr>
        <p:spPr>
          <a:xfrm>
            <a:off x="9258300" y="762000"/>
            <a:ext cx="4019550" cy="4267200"/>
          </a:xfrm>
          <a:prstGeom prst="roundRect">
            <a:avLst>
              <a:gd name="adj" fmla="val 3000"/>
            </a:avLst>
          </a:pr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7261C0-A7A9-399D-F97B-566DA81B6489}"/>
              </a:ext>
            </a:extLst>
          </p:cNvPr>
          <p:cNvSpPr/>
          <p:nvPr/>
        </p:nvSpPr>
        <p:spPr>
          <a:xfrm>
            <a:off x="9258300" y="5257800"/>
            <a:ext cx="4019550" cy="4267200"/>
          </a:xfrm>
          <a:prstGeom prst="roundRect">
            <a:avLst>
              <a:gd name="adj" fmla="val 3000"/>
            </a:avLst>
          </a:pr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E36C5D4-CC36-9E7F-B98D-D01466FBB088}"/>
              </a:ext>
            </a:extLst>
          </p:cNvPr>
          <p:cNvSpPr/>
          <p:nvPr/>
        </p:nvSpPr>
        <p:spPr>
          <a:xfrm>
            <a:off x="9486900" y="1971675"/>
            <a:ext cx="793717" cy="762000"/>
          </a:xfrm>
          <a:custGeom>
            <a:avLst/>
            <a:gdLst>
              <a:gd name="connsiteX0" fmla="*/ 0 w 793717"/>
              <a:gd name="connsiteY0" fmla="*/ 0 h 762000"/>
              <a:gd name="connsiteX1" fmla="*/ 793718 w 793717"/>
              <a:gd name="connsiteY1" fmla="*/ 0 h 762000"/>
              <a:gd name="connsiteX2" fmla="*/ 793718 w 793717"/>
              <a:gd name="connsiteY2" fmla="*/ 762000 h 762000"/>
              <a:gd name="connsiteX3" fmla="*/ 0 w 793717"/>
              <a:gd name="connsiteY3" fmla="*/ 762000 h 762000"/>
              <a:gd name="connsiteX4" fmla="*/ 0 w 793717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717" h="762000">
                <a:moveTo>
                  <a:pt x="0" y="0"/>
                </a:moveTo>
                <a:lnTo>
                  <a:pt x="793718" y="0"/>
                </a:lnTo>
                <a:lnTo>
                  <a:pt x="79371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5ECC152-1A6D-C91E-91FC-84C4F9E64858}"/>
              </a:ext>
            </a:extLst>
          </p:cNvPr>
          <p:cNvSpPr/>
          <p:nvPr/>
        </p:nvSpPr>
        <p:spPr>
          <a:xfrm>
            <a:off x="13735050" y="1971675"/>
            <a:ext cx="793717" cy="762000"/>
          </a:xfrm>
          <a:custGeom>
            <a:avLst/>
            <a:gdLst>
              <a:gd name="connsiteX0" fmla="*/ 0 w 793717"/>
              <a:gd name="connsiteY0" fmla="*/ 0 h 762000"/>
              <a:gd name="connsiteX1" fmla="*/ 793718 w 793717"/>
              <a:gd name="connsiteY1" fmla="*/ 0 h 762000"/>
              <a:gd name="connsiteX2" fmla="*/ 793718 w 793717"/>
              <a:gd name="connsiteY2" fmla="*/ 762000 h 762000"/>
              <a:gd name="connsiteX3" fmla="*/ 0 w 793717"/>
              <a:gd name="connsiteY3" fmla="*/ 762000 h 762000"/>
              <a:gd name="connsiteX4" fmla="*/ 0 w 793717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717" h="762000">
                <a:moveTo>
                  <a:pt x="0" y="0"/>
                </a:moveTo>
                <a:lnTo>
                  <a:pt x="793718" y="0"/>
                </a:lnTo>
                <a:lnTo>
                  <a:pt x="79371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240FE55-5792-3051-B2E4-029F2C194BEC}"/>
              </a:ext>
            </a:extLst>
          </p:cNvPr>
          <p:cNvSpPr/>
          <p:nvPr/>
        </p:nvSpPr>
        <p:spPr>
          <a:xfrm>
            <a:off x="9486900" y="6467475"/>
            <a:ext cx="793717" cy="762000"/>
          </a:xfrm>
          <a:custGeom>
            <a:avLst/>
            <a:gdLst>
              <a:gd name="connsiteX0" fmla="*/ 0 w 793717"/>
              <a:gd name="connsiteY0" fmla="*/ 0 h 762000"/>
              <a:gd name="connsiteX1" fmla="*/ 793718 w 793717"/>
              <a:gd name="connsiteY1" fmla="*/ 0 h 762000"/>
              <a:gd name="connsiteX2" fmla="*/ 793718 w 793717"/>
              <a:gd name="connsiteY2" fmla="*/ 762000 h 762000"/>
              <a:gd name="connsiteX3" fmla="*/ 0 w 793717"/>
              <a:gd name="connsiteY3" fmla="*/ 762000 h 762000"/>
              <a:gd name="connsiteX4" fmla="*/ 0 w 793717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717" h="762000">
                <a:moveTo>
                  <a:pt x="0" y="0"/>
                </a:moveTo>
                <a:lnTo>
                  <a:pt x="793718" y="0"/>
                </a:lnTo>
                <a:lnTo>
                  <a:pt x="79371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6CAF7E9-92AE-7C3D-0BD1-0D0D544027D9}"/>
              </a:ext>
            </a:extLst>
          </p:cNvPr>
          <p:cNvSpPr/>
          <p:nvPr/>
        </p:nvSpPr>
        <p:spPr>
          <a:xfrm>
            <a:off x="13735050" y="6800850"/>
            <a:ext cx="793717" cy="762000"/>
          </a:xfrm>
          <a:custGeom>
            <a:avLst/>
            <a:gdLst>
              <a:gd name="connsiteX0" fmla="*/ 0 w 793717"/>
              <a:gd name="connsiteY0" fmla="*/ 0 h 762000"/>
              <a:gd name="connsiteX1" fmla="*/ 793718 w 793717"/>
              <a:gd name="connsiteY1" fmla="*/ 0 h 762000"/>
              <a:gd name="connsiteX2" fmla="*/ 793718 w 793717"/>
              <a:gd name="connsiteY2" fmla="*/ 762000 h 762000"/>
              <a:gd name="connsiteX3" fmla="*/ 0 w 793717"/>
              <a:gd name="connsiteY3" fmla="*/ 762000 h 762000"/>
              <a:gd name="connsiteX4" fmla="*/ 0 w 793717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717" h="762000">
                <a:moveTo>
                  <a:pt x="0" y="0"/>
                </a:moveTo>
                <a:lnTo>
                  <a:pt x="793718" y="0"/>
                </a:lnTo>
                <a:lnTo>
                  <a:pt x="79371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CDA910-2EB2-4E09-5BF6-48EA3F4772C9}"/>
              </a:ext>
            </a:extLst>
          </p:cNvPr>
          <p:cNvSpPr txBox="1"/>
          <p:nvPr/>
        </p:nvSpPr>
        <p:spPr>
          <a:xfrm>
            <a:off x="13643610" y="7972996"/>
            <a:ext cx="32800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Build strong seller trust.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F31099-7390-4266-F026-21C316C93BC4}"/>
              </a:ext>
            </a:extLst>
          </p:cNvPr>
          <p:cNvSpPr txBox="1"/>
          <p:nvPr/>
        </p:nvSpPr>
        <p:spPr>
          <a:xfrm rot="16200000">
            <a:off x="-2204276" y="5883802"/>
            <a:ext cx="6704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Purpose &amp; Objectives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1A3C9F-5B6C-BC7C-1B2B-1045ACFAFF00}"/>
              </a:ext>
            </a:extLst>
          </p:cNvPr>
          <p:cNvSpPr txBox="1"/>
          <p:nvPr/>
        </p:nvSpPr>
        <p:spPr>
          <a:xfrm rot="16200000">
            <a:off x="-3790" y="7702066"/>
            <a:ext cx="35413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Our mission to simplify e-commerce.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6BD05D4D-9D75-03A1-4DBB-F4C92A8D81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BA79F3-6969-83F9-0499-CD61CD6A5265}"/>
              </a:ext>
            </a:extLst>
          </p:cNvPr>
          <p:cNvSpPr txBox="1"/>
          <p:nvPr/>
        </p:nvSpPr>
        <p:spPr>
          <a:xfrm>
            <a:off x="13643611" y="8535352"/>
            <a:ext cx="4105084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consectetur adipiscing elit. Ut et massa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mi. Aliquam in hendrerit urna.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7B55DF-F9DD-611B-C29A-BA6DDE8B2CA0}"/>
              </a:ext>
            </a:extLst>
          </p:cNvPr>
          <p:cNvSpPr txBox="1"/>
          <p:nvPr/>
        </p:nvSpPr>
        <p:spPr>
          <a:xfrm>
            <a:off x="9395460" y="8535352"/>
            <a:ext cx="4105084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consectetur adipiscing elit. Ut et massa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mi. Aliquam in hendrerit urna.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6C1525-0F24-AFF9-FE71-76DBF0DBCFF3}"/>
              </a:ext>
            </a:extLst>
          </p:cNvPr>
          <p:cNvSpPr txBox="1"/>
          <p:nvPr/>
        </p:nvSpPr>
        <p:spPr>
          <a:xfrm>
            <a:off x="9395460" y="7639621"/>
            <a:ext cx="3268599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Expand marketplace </a:t>
            </a:r>
          </a:p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accessibility.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32385C-EE60-200A-57E2-D28F7E1F1224}"/>
              </a:ext>
            </a:extLst>
          </p:cNvPr>
          <p:cNvSpPr txBox="1"/>
          <p:nvPr/>
        </p:nvSpPr>
        <p:spPr>
          <a:xfrm>
            <a:off x="13643611" y="4039552"/>
            <a:ext cx="4105084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consectetur adipiscing elit. Ut et massa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mi. Aliquam in hendrerit urna.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A8DC69-01DB-CD5E-7DF7-3C87729B51C8}"/>
              </a:ext>
            </a:extLst>
          </p:cNvPr>
          <p:cNvSpPr txBox="1"/>
          <p:nvPr/>
        </p:nvSpPr>
        <p:spPr>
          <a:xfrm>
            <a:off x="13643611" y="3143821"/>
            <a:ext cx="3118180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Reduce transaction </a:t>
            </a:r>
          </a:p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friction.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F4CD00-8175-DD93-FA75-D22AF2FB0530}"/>
              </a:ext>
            </a:extLst>
          </p:cNvPr>
          <p:cNvSpPr txBox="1"/>
          <p:nvPr/>
        </p:nvSpPr>
        <p:spPr>
          <a:xfrm>
            <a:off x="9395460" y="4039552"/>
            <a:ext cx="4105084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consectetur adipiscing elit. Ut et massa </a:t>
            </a:r>
          </a:p>
          <a:p>
            <a:r>
              <a:rPr lang="da-DK" sz="1500">
                <a:solidFill>
                  <a:srgbClr val="2E2E2E"/>
                </a:solidFill>
                <a:latin typeface="Plus Jakarta Sans" pitchFamily="2" charset="0"/>
              </a:rPr>
              <a:t>mi. Aliquam in hendrerit urna.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F0F98E-8C7F-5EF8-BE35-62AB5BA134E0}"/>
              </a:ext>
            </a:extLst>
          </p:cNvPr>
          <p:cNvSpPr txBox="1"/>
          <p:nvPr/>
        </p:nvSpPr>
        <p:spPr>
          <a:xfrm>
            <a:off x="9395460" y="3143821"/>
            <a:ext cx="2706662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Improve UX with </a:t>
            </a:r>
          </a:p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3057550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8ED985-B4A0-2ABA-891C-F1CD9745B54C}"/>
              </a:ext>
            </a:extLst>
          </p:cNvPr>
          <p:cNvSpPr txBox="1"/>
          <p:nvPr/>
        </p:nvSpPr>
        <p:spPr>
          <a:xfrm>
            <a:off x="670560" y="735711"/>
            <a:ext cx="10089622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Timeline of Our Growth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19BA968-0921-028A-500E-011C23D383C9}"/>
              </a:ext>
            </a:extLst>
          </p:cNvPr>
          <p:cNvSpPr/>
          <p:nvPr/>
        </p:nvSpPr>
        <p:spPr>
          <a:xfrm>
            <a:off x="7620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394E2C6-753A-DBBA-1C17-F68D1D10F6B2}"/>
              </a:ext>
            </a:extLst>
          </p:cNvPr>
          <p:cNvSpPr/>
          <p:nvPr/>
        </p:nvSpPr>
        <p:spPr>
          <a:xfrm>
            <a:off x="28575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8D6EF9-8424-711E-1067-0F4024BE17DF}"/>
              </a:ext>
            </a:extLst>
          </p:cNvPr>
          <p:cNvSpPr/>
          <p:nvPr/>
        </p:nvSpPr>
        <p:spPr>
          <a:xfrm>
            <a:off x="49530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C9D919C-F804-0DAF-CDE0-65E98C935AA3}"/>
              </a:ext>
            </a:extLst>
          </p:cNvPr>
          <p:cNvSpPr/>
          <p:nvPr/>
        </p:nvSpPr>
        <p:spPr>
          <a:xfrm>
            <a:off x="70485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E143A8-C7D9-5128-95A1-6BE1205D2E2B}"/>
              </a:ext>
            </a:extLst>
          </p:cNvPr>
          <p:cNvSpPr/>
          <p:nvPr/>
        </p:nvSpPr>
        <p:spPr>
          <a:xfrm>
            <a:off x="91440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08D225-25E8-8DA0-B7D7-6F251EF19662}"/>
              </a:ext>
            </a:extLst>
          </p:cNvPr>
          <p:cNvSpPr/>
          <p:nvPr/>
        </p:nvSpPr>
        <p:spPr>
          <a:xfrm>
            <a:off x="112395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BE2DBF-06E2-FFD5-1A45-6C21727924E1}"/>
              </a:ext>
            </a:extLst>
          </p:cNvPr>
          <p:cNvSpPr/>
          <p:nvPr/>
        </p:nvSpPr>
        <p:spPr>
          <a:xfrm>
            <a:off x="133350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777EA7-0E14-BC14-22C7-3E21FE8B8080}"/>
              </a:ext>
            </a:extLst>
          </p:cNvPr>
          <p:cNvSpPr/>
          <p:nvPr/>
        </p:nvSpPr>
        <p:spPr>
          <a:xfrm>
            <a:off x="154305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FEBB948-6975-9D41-DE37-AA82F796FDA6}"/>
              </a:ext>
            </a:extLst>
          </p:cNvPr>
          <p:cNvSpPr/>
          <p:nvPr/>
        </p:nvSpPr>
        <p:spPr>
          <a:xfrm>
            <a:off x="17526000" y="2781300"/>
            <a:ext cx="9525" cy="6972300"/>
          </a:xfrm>
          <a:custGeom>
            <a:avLst/>
            <a:gdLst>
              <a:gd name="connsiteX0" fmla="*/ 0 w 9525"/>
              <a:gd name="connsiteY0" fmla="*/ 6972300 h 6972300"/>
              <a:gd name="connsiteX1" fmla="*/ 0 w 9525"/>
              <a:gd name="connsiteY1" fmla="*/ 0 h 697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6972300">
                <a:moveTo>
                  <a:pt x="0" y="6972300"/>
                </a:move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E3858C-0CCC-F4F1-0D9C-58F7E4FFA3A7}"/>
              </a:ext>
            </a:extLst>
          </p:cNvPr>
          <p:cNvSpPr txBox="1"/>
          <p:nvPr/>
        </p:nvSpPr>
        <p:spPr>
          <a:xfrm>
            <a:off x="890158" y="2734246"/>
            <a:ext cx="849363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2022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5596E5-A544-BAE6-22AE-F4A0AF05A1D7}"/>
              </a:ext>
            </a:extLst>
          </p:cNvPr>
          <p:cNvSpPr txBox="1"/>
          <p:nvPr/>
        </p:nvSpPr>
        <p:spPr>
          <a:xfrm>
            <a:off x="5077253" y="2734246"/>
            <a:ext cx="853096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2023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0F4C70-0B7B-5900-21B8-D1932C47C4B6}"/>
              </a:ext>
            </a:extLst>
          </p:cNvPr>
          <p:cNvSpPr txBox="1"/>
          <p:nvPr/>
        </p:nvSpPr>
        <p:spPr>
          <a:xfrm>
            <a:off x="9268920" y="2734246"/>
            <a:ext cx="87235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2024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F8FCE2-1FEC-22CF-2C93-FFB61D58900F}"/>
              </a:ext>
            </a:extLst>
          </p:cNvPr>
          <p:cNvSpPr txBox="1"/>
          <p:nvPr/>
        </p:nvSpPr>
        <p:spPr>
          <a:xfrm>
            <a:off x="13467778" y="2734246"/>
            <a:ext cx="854163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2025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43B087-5E03-5854-9814-198BD6983470}"/>
              </a:ext>
            </a:extLst>
          </p:cNvPr>
          <p:cNvSpPr/>
          <p:nvPr/>
        </p:nvSpPr>
        <p:spPr>
          <a:xfrm>
            <a:off x="752475" y="3905250"/>
            <a:ext cx="4191000" cy="1352550"/>
          </a:xfrm>
          <a:prstGeom prst="roundRect">
            <a:avLst>
              <a:gd name="adj" fmla="val 10000"/>
            </a:avLst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28DFCF-1154-EFFA-9799-ABAF04D45B77}"/>
              </a:ext>
            </a:extLst>
          </p:cNvPr>
          <p:cNvSpPr/>
          <p:nvPr/>
        </p:nvSpPr>
        <p:spPr>
          <a:xfrm>
            <a:off x="4943475" y="5257800"/>
            <a:ext cx="4191000" cy="1352550"/>
          </a:xfrm>
          <a:prstGeom prst="roundRect">
            <a:avLst>
              <a:gd name="adj" fmla="val 10000"/>
            </a:avLst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96D7522-FE8B-4E9E-BAC4-FFC9EA2D264A}"/>
              </a:ext>
            </a:extLst>
          </p:cNvPr>
          <p:cNvSpPr/>
          <p:nvPr/>
        </p:nvSpPr>
        <p:spPr>
          <a:xfrm>
            <a:off x="9134475" y="6610350"/>
            <a:ext cx="4191000" cy="1352550"/>
          </a:xfrm>
          <a:prstGeom prst="roundRect">
            <a:avLst>
              <a:gd name="adj" fmla="val 10000"/>
            </a:avLst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1D8C0BD-1BDF-665E-1B03-322ED3855059}"/>
              </a:ext>
            </a:extLst>
          </p:cNvPr>
          <p:cNvSpPr/>
          <p:nvPr/>
        </p:nvSpPr>
        <p:spPr>
          <a:xfrm>
            <a:off x="13325475" y="7962900"/>
            <a:ext cx="4191000" cy="1352550"/>
          </a:xfrm>
          <a:prstGeom prst="roundRect">
            <a:avLst>
              <a:gd name="adj" fmla="val 10000"/>
            </a:avLst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E1CF8E-0D0C-2856-6693-368836009083}"/>
              </a:ext>
            </a:extLst>
          </p:cNvPr>
          <p:cNvSpPr txBox="1"/>
          <p:nvPr/>
        </p:nvSpPr>
        <p:spPr>
          <a:xfrm>
            <a:off x="889635" y="4125087"/>
            <a:ext cx="283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Concept &amp; MVP launch.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27EDC0-4F23-D5CD-E64C-0E5D3784102D}"/>
              </a:ext>
            </a:extLst>
          </p:cNvPr>
          <p:cNvSpPr txBox="1"/>
          <p:nvPr/>
        </p:nvSpPr>
        <p:spPr>
          <a:xfrm>
            <a:off x="5080635" y="5477637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50K Active users.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A0BCB7-CCFC-92E5-C97F-FC7DE4C4120F}"/>
              </a:ext>
            </a:extLst>
          </p:cNvPr>
          <p:cNvSpPr txBox="1"/>
          <p:nvPr/>
        </p:nvSpPr>
        <p:spPr>
          <a:xfrm>
            <a:off x="9271635" y="6830187"/>
            <a:ext cx="394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AI integration for smart shopping.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4B69E1-1895-F474-6B5A-DE897A9ABA80}"/>
              </a:ext>
            </a:extLst>
          </p:cNvPr>
          <p:cNvSpPr txBox="1"/>
          <p:nvPr/>
        </p:nvSpPr>
        <p:spPr>
          <a:xfrm>
            <a:off x="13462635" y="8182737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Expansion to Southeast Asia.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D3177C-87DA-56C4-D7EA-6C7F1ADC55F5}"/>
              </a:ext>
            </a:extLst>
          </p:cNvPr>
          <p:cNvSpPr txBox="1"/>
          <p:nvPr/>
        </p:nvSpPr>
        <p:spPr>
          <a:xfrm>
            <a:off x="13462636" y="8566403"/>
            <a:ext cx="3836478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</a:t>
            </a:r>
            <a:endParaRPr lang="sv-SE" sz="135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adipiscing elit. Ut et massa mi.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08D6CF-A4DD-EE3E-6D55-AE56286A5383}"/>
              </a:ext>
            </a:extLst>
          </p:cNvPr>
          <p:cNvSpPr txBox="1"/>
          <p:nvPr/>
        </p:nvSpPr>
        <p:spPr>
          <a:xfrm>
            <a:off x="9271635" y="7213853"/>
            <a:ext cx="3836478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</a:t>
            </a:r>
            <a:endParaRPr lang="sv-SE" sz="135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adipiscing elit. Ut et massa mi.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BF86C2-4975-5E28-E1AC-CCA85E076C8A}"/>
              </a:ext>
            </a:extLst>
          </p:cNvPr>
          <p:cNvSpPr txBox="1"/>
          <p:nvPr/>
        </p:nvSpPr>
        <p:spPr>
          <a:xfrm>
            <a:off x="5080635" y="5861303"/>
            <a:ext cx="3836479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</a:t>
            </a:r>
            <a:endParaRPr lang="sv-SE" sz="135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adipiscing elit. Ut et massa mi.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2A55E7-FAA9-E736-6A14-9CAA6C785AB2}"/>
              </a:ext>
            </a:extLst>
          </p:cNvPr>
          <p:cNvSpPr txBox="1"/>
          <p:nvPr/>
        </p:nvSpPr>
        <p:spPr>
          <a:xfrm>
            <a:off x="889635" y="4508754"/>
            <a:ext cx="3836478" cy="5078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350">
                <a:solidFill>
                  <a:srgbClr val="2E2E2E"/>
                </a:solidFill>
                <a:latin typeface="Plus Jakarta Sans" pitchFamily="2" charset="0"/>
              </a:rPr>
              <a:t>Lorem ipsum dolor sit amet, consectetur </a:t>
            </a:r>
            <a:endParaRPr lang="sv-SE" sz="135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350">
                <a:solidFill>
                  <a:srgbClr val="2E2E2E"/>
                </a:solidFill>
                <a:latin typeface="Plus Jakarta Sans" pitchFamily="2" charset="0"/>
              </a:rPr>
              <a:t>adipiscing elit. Ut et massa mi.</a:t>
            </a:r>
            <a:endParaRPr lang="en-ID" sz="135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639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F3604E7-9E09-D3B5-49DF-3A5681B4EB6E}"/>
              </a:ext>
            </a:extLst>
          </p:cNvPr>
          <p:cNvSpPr/>
          <p:nvPr/>
        </p:nvSpPr>
        <p:spPr>
          <a:xfrm>
            <a:off x="762000" y="3009900"/>
            <a:ext cx="5438775" cy="6515100"/>
          </a:xfrm>
          <a:custGeom>
            <a:avLst/>
            <a:gdLst>
              <a:gd name="connsiteX0" fmla="*/ 0 w 5438775"/>
              <a:gd name="connsiteY0" fmla="*/ 0 h 6515100"/>
              <a:gd name="connsiteX1" fmla="*/ 5438775 w 5438775"/>
              <a:gd name="connsiteY1" fmla="*/ 0 h 6515100"/>
              <a:gd name="connsiteX2" fmla="*/ 5438775 w 5438775"/>
              <a:gd name="connsiteY2" fmla="*/ 6515100 h 6515100"/>
              <a:gd name="connsiteX3" fmla="*/ 0 w 5438775"/>
              <a:gd name="connsiteY3" fmla="*/ 6515100 h 651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8775" h="6515100">
                <a:moveTo>
                  <a:pt x="0" y="0"/>
                </a:moveTo>
                <a:lnTo>
                  <a:pt x="5438775" y="0"/>
                </a:lnTo>
                <a:lnTo>
                  <a:pt x="5438775" y="6515100"/>
                </a:lnTo>
                <a:lnTo>
                  <a:pt x="0" y="6515100"/>
                </a:ln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CCEA32-44E2-EEA5-21A2-D511B6B3815E}"/>
              </a:ext>
            </a:extLst>
          </p:cNvPr>
          <p:cNvSpPr/>
          <p:nvPr/>
        </p:nvSpPr>
        <p:spPr>
          <a:xfrm>
            <a:off x="6429375" y="3009900"/>
            <a:ext cx="5438775" cy="6515100"/>
          </a:xfrm>
          <a:custGeom>
            <a:avLst/>
            <a:gdLst>
              <a:gd name="connsiteX0" fmla="*/ 0 w 5438775"/>
              <a:gd name="connsiteY0" fmla="*/ 0 h 6515100"/>
              <a:gd name="connsiteX1" fmla="*/ 5438775 w 5438775"/>
              <a:gd name="connsiteY1" fmla="*/ 0 h 6515100"/>
              <a:gd name="connsiteX2" fmla="*/ 5438775 w 5438775"/>
              <a:gd name="connsiteY2" fmla="*/ 6515100 h 6515100"/>
              <a:gd name="connsiteX3" fmla="*/ 0 w 5438775"/>
              <a:gd name="connsiteY3" fmla="*/ 6515100 h 651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8775" h="6515100">
                <a:moveTo>
                  <a:pt x="0" y="0"/>
                </a:moveTo>
                <a:lnTo>
                  <a:pt x="5438775" y="0"/>
                </a:lnTo>
                <a:lnTo>
                  <a:pt x="5438775" y="6515100"/>
                </a:lnTo>
                <a:lnTo>
                  <a:pt x="0" y="6515100"/>
                </a:ln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FEE61D2-2CE1-7A7C-C3C3-3EDFA75F4EFA}"/>
              </a:ext>
            </a:extLst>
          </p:cNvPr>
          <p:cNvSpPr/>
          <p:nvPr/>
        </p:nvSpPr>
        <p:spPr>
          <a:xfrm>
            <a:off x="12087225" y="3009900"/>
            <a:ext cx="5438775" cy="6515100"/>
          </a:xfrm>
          <a:custGeom>
            <a:avLst/>
            <a:gdLst>
              <a:gd name="connsiteX0" fmla="*/ 0 w 5438775"/>
              <a:gd name="connsiteY0" fmla="*/ 0 h 6515100"/>
              <a:gd name="connsiteX1" fmla="*/ 5438775 w 5438775"/>
              <a:gd name="connsiteY1" fmla="*/ 0 h 6515100"/>
              <a:gd name="connsiteX2" fmla="*/ 5438775 w 5438775"/>
              <a:gd name="connsiteY2" fmla="*/ 6515100 h 6515100"/>
              <a:gd name="connsiteX3" fmla="*/ 0 w 5438775"/>
              <a:gd name="connsiteY3" fmla="*/ 6515100 h 651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8775" h="6515100">
                <a:moveTo>
                  <a:pt x="0" y="0"/>
                </a:moveTo>
                <a:lnTo>
                  <a:pt x="5438775" y="0"/>
                </a:lnTo>
                <a:lnTo>
                  <a:pt x="5438775" y="6515100"/>
                </a:lnTo>
                <a:lnTo>
                  <a:pt x="0" y="6515100"/>
                </a:ln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D2B35-F21E-D113-AEBC-C147E58044B3}"/>
              </a:ext>
            </a:extLst>
          </p:cNvPr>
          <p:cNvSpPr txBox="1"/>
          <p:nvPr/>
        </p:nvSpPr>
        <p:spPr>
          <a:xfrm>
            <a:off x="670560" y="1107186"/>
            <a:ext cx="6284093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Key Concepts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3CA93-3E4B-C66F-E353-EF161BBC13CF}"/>
              </a:ext>
            </a:extLst>
          </p:cNvPr>
          <p:cNvSpPr txBox="1"/>
          <p:nvPr/>
        </p:nvSpPr>
        <p:spPr>
          <a:xfrm>
            <a:off x="670560" y="2325052"/>
            <a:ext cx="2927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Innovation drives our strategy.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E28F67-FE75-A22C-F36E-0216C34FCF96}"/>
              </a:ext>
            </a:extLst>
          </p:cNvPr>
          <p:cNvSpPr/>
          <p:nvPr/>
        </p:nvSpPr>
        <p:spPr>
          <a:xfrm>
            <a:off x="990600" y="3238500"/>
            <a:ext cx="4981575" cy="228600"/>
          </a:xfrm>
          <a:custGeom>
            <a:avLst/>
            <a:gdLst>
              <a:gd name="connsiteX0" fmla="*/ 0 w 4981575"/>
              <a:gd name="connsiteY0" fmla="*/ 0 h 228600"/>
              <a:gd name="connsiteX1" fmla="*/ 4981575 w 4981575"/>
              <a:gd name="connsiteY1" fmla="*/ 0 h 228600"/>
              <a:gd name="connsiteX2" fmla="*/ 4981575 w 4981575"/>
              <a:gd name="connsiteY2" fmla="*/ 228600 h 228600"/>
              <a:gd name="connsiteX3" fmla="*/ 0 w 4981575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1575" h="228600">
                <a:moveTo>
                  <a:pt x="0" y="0"/>
                </a:moveTo>
                <a:lnTo>
                  <a:pt x="4981575" y="0"/>
                </a:lnTo>
                <a:lnTo>
                  <a:pt x="4981575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A611F6-1783-8F5B-E0AE-404C7390DF75}"/>
              </a:ext>
            </a:extLst>
          </p:cNvPr>
          <p:cNvSpPr txBox="1"/>
          <p:nvPr/>
        </p:nvSpPr>
        <p:spPr>
          <a:xfrm>
            <a:off x="899160" y="3649027"/>
            <a:ext cx="4796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9F39C-9075-C693-C931-71FB2A94DF75}"/>
              </a:ext>
            </a:extLst>
          </p:cNvPr>
          <p:cNvSpPr txBox="1"/>
          <p:nvPr/>
        </p:nvSpPr>
        <p:spPr>
          <a:xfrm>
            <a:off x="899160" y="5228939"/>
            <a:ext cx="1491643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Smart Search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4BC99-5508-7419-4D3E-0FBABAAC9F0F}"/>
              </a:ext>
            </a:extLst>
          </p:cNvPr>
          <p:cNvSpPr/>
          <p:nvPr/>
        </p:nvSpPr>
        <p:spPr>
          <a:xfrm>
            <a:off x="6657975" y="3238500"/>
            <a:ext cx="4972050" cy="228600"/>
          </a:xfrm>
          <a:custGeom>
            <a:avLst/>
            <a:gdLst>
              <a:gd name="connsiteX0" fmla="*/ 0 w 4972050"/>
              <a:gd name="connsiteY0" fmla="*/ 0 h 228600"/>
              <a:gd name="connsiteX1" fmla="*/ 4972050 w 4972050"/>
              <a:gd name="connsiteY1" fmla="*/ 0 h 228600"/>
              <a:gd name="connsiteX2" fmla="*/ 4972050 w 4972050"/>
              <a:gd name="connsiteY2" fmla="*/ 228600 h 228600"/>
              <a:gd name="connsiteX3" fmla="*/ 0 w 497205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2050" h="228600">
                <a:moveTo>
                  <a:pt x="0" y="0"/>
                </a:moveTo>
                <a:lnTo>
                  <a:pt x="4972050" y="0"/>
                </a:lnTo>
                <a:lnTo>
                  <a:pt x="497205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418081-CE25-F8DB-FB16-1BC01CB51906}"/>
              </a:ext>
            </a:extLst>
          </p:cNvPr>
          <p:cNvSpPr txBox="1"/>
          <p:nvPr/>
        </p:nvSpPr>
        <p:spPr>
          <a:xfrm>
            <a:off x="6566535" y="3649027"/>
            <a:ext cx="518350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6C166A-B203-6237-A874-C412743A43B7}"/>
              </a:ext>
            </a:extLst>
          </p:cNvPr>
          <p:cNvSpPr txBox="1"/>
          <p:nvPr/>
        </p:nvSpPr>
        <p:spPr>
          <a:xfrm>
            <a:off x="6566535" y="5228939"/>
            <a:ext cx="1901483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Secure Payments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35B22E4-70D5-8506-E23B-413331472B59}"/>
              </a:ext>
            </a:extLst>
          </p:cNvPr>
          <p:cNvSpPr/>
          <p:nvPr/>
        </p:nvSpPr>
        <p:spPr>
          <a:xfrm>
            <a:off x="12315825" y="3238500"/>
            <a:ext cx="4981575" cy="228600"/>
          </a:xfrm>
          <a:custGeom>
            <a:avLst/>
            <a:gdLst>
              <a:gd name="connsiteX0" fmla="*/ 0 w 4981575"/>
              <a:gd name="connsiteY0" fmla="*/ 0 h 228600"/>
              <a:gd name="connsiteX1" fmla="*/ 4981575 w 4981575"/>
              <a:gd name="connsiteY1" fmla="*/ 0 h 228600"/>
              <a:gd name="connsiteX2" fmla="*/ 4981575 w 4981575"/>
              <a:gd name="connsiteY2" fmla="*/ 228600 h 228600"/>
              <a:gd name="connsiteX3" fmla="*/ 0 w 4981575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1575" h="228600">
                <a:moveTo>
                  <a:pt x="0" y="0"/>
                </a:moveTo>
                <a:lnTo>
                  <a:pt x="4981575" y="0"/>
                </a:lnTo>
                <a:lnTo>
                  <a:pt x="4981575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F694F-B0BB-2A7D-9102-2D1691CADAA3}"/>
              </a:ext>
            </a:extLst>
          </p:cNvPr>
          <p:cNvSpPr txBox="1"/>
          <p:nvPr/>
        </p:nvSpPr>
        <p:spPr>
          <a:xfrm>
            <a:off x="12224385" y="3649027"/>
            <a:ext cx="520065" cy="331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52FF55-5F28-2834-03E7-38BA2E73F1B8}"/>
              </a:ext>
            </a:extLst>
          </p:cNvPr>
          <p:cNvSpPr txBox="1"/>
          <p:nvPr/>
        </p:nvSpPr>
        <p:spPr>
          <a:xfrm>
            <a:off x="12224385" y="5228939"/>
            <a:ext cx="248016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Community Commerce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62AD62-CB14-1357-65B4-C9ED7B745CDD}"/>
              </a:ext>
            </a:extLst>
          </p:cNvPr>
          <p:cNvSpPr txBox="1"/>
          <p:nvPr/>
        </p:nvSpPr>
        <p:spPr>
          <a:xfrm>
            <a:off x="12224385" y="8059102"/>
            <a:ext cx="5540502" cy="124649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</a:t>
            </a:r>
            <a:endParaRPr lang="sv-SE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Ut et massa mi. Aliquam in hendrerit urna. Pellentesque </a:t>
            </a: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sit amet sapien fringilla, mattis ligula consectetur, </a:t>
            </a:r>
            <a:endParaRPr lang="fr-FR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fr-FR" sz="1500">
                <a:solidFill>
                  <a:srgbClr val="2E2E2E"/>
                </a:solidFill>
                <a:latin typeface="Plus Jakarta Sans" pitchFamily="2" charset="0"/>
              </a:rPr>
              <a:t>ultrices mauris. Maecenas vitae mattis tellus. Nullam </a:t>
            </a:r>
          </a:p>
          <a:p>
            <a:r>
              <a:rPr lang="fr-FR" sz="1500">
                <a:solidFill>
                  <a:srgbClr val="2E2E2E"/>
                </a:solidFill>
                <a:latin typeface="Plus Jakarta Sans" pitchFamily="2" charset="0"/>
              </a:rPr>
              <a:t>quis imperdiet augue. 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19A019-2E2E-6F99-53E4-A31C00C26513}"/>
              </a:ext>
            </a:extLst>
          </p:cNvPr>
          <p:cNvSpPr txBox="1"/>
          <p:nvPr/>
        </p:nvSpPr>
        <p:spPr>
          <a:xfrm>
            <a:off x="12224385" y="5707760"/>
            <a:ext cx="4207782" cy="106182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3150" b="1">
                <a:solidFill>
                  <a:srgbClr val="1A1A1A"/>
                </a:solidFill>
                <a:latin typeface="Plus Jakarta Sans" pitchFamily="2" charset="0"/>
              </a:rPr>
              <a:t>Sellers and buyers  </a:t>
            </a:r>
          </a:p>
          <a:p>
            <a:r>
              <a:rPr lang="en-ID" sz="3150" b="1">
                <a:solidFill>
                  <a:srgbClr val="1A1A1A"/>
                </a:solidFill>
                <a:latin typeface="Plus Jakarta Sans" pitchFamily="2" charset="0"/>
              </a:rPr>
              <a:t>thrive together.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1C1633-CFE6-1910-9EEF-6676173458E7}"/>
              </a:ext>
            </a:extLst>
          </p:cNvPr>
          <p:cNvSpPr txBox="1"/>
          <p:nvPr/>
        </p:nvSpPr>
        <p:spPr>
          <a:xfrm>
            <a:off x="6566535" y="8059102"/>
            <a:ext cx="5540502" cy="124649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</a:t>
            </a:r>
            <a:endParaRPr lang="sv-SE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Ut et massa mi. Aliquam in hendrerit urna. Pellentesque </a:t>
            </a: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sit amet sapien fringilla, mattis ligula consectetur, </a:t>
            </a:r>
            <a:endParaRPr lang="fr-FR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fr-FR" sz="1500">
                <a:solidFill>
                  <a:srgbClr val="2E2E2E"/>
                </a:solidFill>
                <a:latin typeface="Plus Jakarta Sans" pitchFamily="2" charset="0"/>
              </a:rPr>
              <a:t>ultrices mauris. Maecenas vitae mattis tellus. Nullam </a:t>
            </a:r>
          </a:p>
          <a:p>
            <a:r>
              <a:rPr lang="fr-FR" sz="1500">
                <a:solidFill>
                  <a:srgbClr val="2E2E2E"/>
                </a:solidFill>
                <a:latin typeface="Plus Jakarta Sans" pitchFamily="2" charset="0"/>
              </a:rPr>
              <a:t>quis imperdiet augue. 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724D31-7BFC-0FDE-8E27-029057E3D7AD}"/>
              </a:ext>
            </a:extLst>
          </p:cNvPr>
          <p:cNvSpPr txBox="1"/>
          <p:nvPr/>
        </p:nvSpPr>
        <p:spPr>
          <a:xfrm>
            <a:off x="6566535" y="5707760"/>
            <a:ext cx="3384080" cy="106182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3150" b="1">
                <a:solidFill>
                  <a:srgbClr val="1A1A1A"/>
                </a:solidFill>
                <a:latin typeface="Plus Jakarta Sans" pitchFamily="2" charset="0"/>
              </a:rPr>
              <a:t>Includes fraud </a:t>
            </a:r>
          </a:p>
          <a:p>
            <a:r>
              <a:rPr lang="en-ID" sz="3150" b="1">
                <a:solidFill>
                  <a:srgbClr val="1A1A1A"/>
                </a:solidFill>
                <a:latin typeface="Plus Jakarta Sans" pitchFamily="2" charset="0"/>
              </a:rPr>
              <a:t>protection.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6043E9-00BD-AB3B-C05A-479C7DC61DF3}"/>
              </a:ext>
            </a:extLst>
          </p:cNvPr>
          <p:cNvSpPr txBox="1"/>
          <p:nvPr/>
        </p:nvSpPr>
        <p:spPr>
          <a:xfrm>
            <a:off x="899160" y="8059102"/>
            <a:ext cx="5540501" cy="124649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</a:t>
            </a:r>
            <a:endParaRPr lang="sv-SE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Ut et massa mi. Aliquam in hendrerit urna. Pellentesque </a:t>
            </a:r>
          </a:p>
          <a:p>
            <a:r>
              <a:rPr lang="sv-SE" sz="1500">
                <a:solidFill>
                  <a:srgbClr val="2E2E2E"/>
                </a:solidFill>
                <a:latin typeface="Plus Jakarta Sans" pitchFamily="2" charset="0"/>
              </a:rPr>
              <a:t>sit amet sapien fringilla, mattis ligula consectetur, </a:t>
            </a:r>
            <a:endParaRPr lang="fr-FR" sz="15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fr-FR" sz="1500">
                <a:solidFill>
                  <a:srgbClr val="2E2E2E"/>
                </a:solidFill>
                <a:latin typeface="Plus Jakarta Sans" pitchFamily="2" charset="0"/>
              </a:rPr>
              <a:t>ultrices mauris. Maecenas vitae mattis tellus. Nullam </a:t>
            </a:r>
          </a:p>
          <a:p>
            <a:r>
              <a:rPr lang="fr-FR" sz="1500">
                <a:solidFill>
                  <a:srgbClr val="2E2E2E"/>
                </a:solidFill>
                <a:latin typeface="Plus Jakarta Sans" pitchFamily="2" charset="0"/>
              </a:rPr>
              <a:t>quis imperdiet augue. 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8DAB83-95E5-790B-4799-E455E31FE74D}"/>
              </a:ext>
            </a:extLst>
          </p:cNvPr>
          <p:cNvSpPr txBox="1"/>
          <p:nvPr/>
        </p:nvSpPr>
        <p:spPr>
          <a:xfrm>
            <a:off x="899160" y="5707760"/>
            <a:ext cx="4113771" cy="106182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3150" b="1">
                <a:solidFill>
                  <a:srgbClr val="1A1A1A"/>
                </a:solidFill>
                <a:latin typeface="Plus Jakarta Sans" pitchFamily="2" charset="0"/>
              </a:rPr>
              <a:t>AI boosts product </a:t>
            </a:r>
          </a:p>
          <a:p>
            <a:r>
              <a:rPr lang="en-ID" sz="3150" b="1">
                <a:solidFill>
                  <a:srgbClr val="1A1A1A"/>
                </a:solidFill>
                <a:latin typeface="Plus Jakarta Sans" pitchFamily="2" charset="0"/>
              </a:rPr>
              <a:t>discovery.</a:t>
            </a:r>
          </a:p>
        </p:txBody>
      </p:sp>
    </p:spTree>
    <p:extLst>
      <p:ext uri="{BB962C8B-B14F-4D97-AF65-F5344CB8AC3E}">
        <p14:creationId xmlns:p14="http://schemas.microsoft.com/office/powerpoint/2010/main" val="3477839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B6C5DBC-6351-72FE-94DE-D1DF7B33CA9C}"/>
              </a:ext>
            </a:extLst>
          </p:cNvPr>
          <p:cNvSpPr txBox="1"/>
          <p:nvPr/>
        </p:nvSpPr>
        <p:spPr>
          <a:xfrm>
            <a:off x="441960" y="1612010"/>
            <a:ext cx="14243002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Growth backed by real numbers.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71785-139C-9710-DC57-99AF2B0EE747}"/>
              </a:ext>
            </a:extLst>
          </p:cNvPr>
          <p:cNvSpPr txBox="1"/>
          <p:nvPr/>
        </p:nvSpPr>
        <p:spPr>
          <a:xfrm>
            <a:off x="441960" y="2944177"/>
            <a:ext cx="45191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Visualize data using clean bar chart or line graph.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113D5B-6693-734E-9413-DFF2DE8A8E98}"/>
              </a:ext>
            </a:extLst>
          </p:cNvPr>
          <p:cNvSpPr/>
          <p:nvPr/>
        </p:nvSpPr>
        <p:spPr>
          <a:xfrm>
            <a:off x="10925175" y="7277100"/>
            <a:ext cx="952500" cy="952500"/>
          </a:xfrm>
          <a:custGeom>
            <a:avLst/>
            <a:gdLst>
              <a:gd name="connsiteX0" fmla="*/ 952500 w 952500"/>
              <a:gd name="connsiteY0" fmla="*/ 476250 h 952500"/>
              <a:gd name="connsiteX1" fmla="*/ 476250 w 952500"/>
              <a:gd name="connsiteY1" fmla="*/ 952500 h 952500"/>
              <a:gd name="connsiteX2" fmla="*/ 0 w 952500"/>
              <a:gd name="connsiteY2" fmla="*/ 476250 h 952500"/>
              <a:gd name="connsiteX3" fmla="*/ 476250 w 952500"/>
              <a:gd name="connsiteY3" fmla="*/ 0 h 952500"/>
              <a:gd name="connsiteX4" fmla="*/ 952500 w 952500"/>
              <a:gd name="connsiteY4" fmla="*/ 47625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0" h="952500">
                <a:moveTo>
                  <a:pt x="952500" y="476250"/>
                </a:moveTo>
                <a:cubicBezTo>
                  <a:pt x="952500" y="739276"/>
                  <a:pt x="739276" y="952500"/>
                  <a:pt x="476250" y="952500"/>
                </a:cubicBezTo>
                <a:cubicBezTo>
                  <a:pt x="213224" y="952500"/>
                  <a:pt x="0" y="739276"/>
                  <a:pt x="0" y="476250"/>
                </a:cubicBezTo>
                <a:cubicBezTo>
                  <a:pt x="0" y="213224"/>
                  <a:pt x="213224" y="0"/>
                  <a:pt x="476250" y="0"/>
                </a:cubicBezTo>
                <a:cubicBezTo>
                  <a:pt x="739276" y="0"/>
                  <a:pt x="952500" y="213224"/>
                  <a:pt x="952500" y="4762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D6841D43-861C-1915-FA08-CECC1F75E16D}"/>
              </a:ext>
            </a:extLst>
          </p:cNvPr>
          <p:cNvSpPr/>
          <p:nvPr/>
        </p:nvSpPr>
        <p:spPr>
          <a:xfrm rot="16200000">
            <a:off x="10925153" y="7277100"/>
            <a:ext cx="952512" cy="952499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D4BFE3-C3D1-868D-D599-D228579A0D33}"/>
              </a:ext>
            </a:extLst>
          </p:cNvPr>
          <p:cNvSpPr/>
          <p:nvPr/>
        </p:nvSpPr>
        <p:spPr>
          <a:xfrm>
            <a:off x="11042649" y="7394574"/>
            <a:ext cx="717550" cy="717550"/>
          </a:xfrm>
          <a:custGeom>
            <a:avLst/>
            <a:gdLst>
              <a:gd name="connsiteX0" fmla="*/ 717551 w 717550"/>
              <a:gd name="connsiteY0" fmla="*/ 358775 h 717550"/>
              <a:gd name="connsiteX1" fmla="*/ 358775 w 717550"/>
              <a:gd name="connsiteY1" fmla="*/ 717551 h 717550"/>
              <a:gd name="connsiteX2" fmla="*/ 0 w 717550"/>
              <a:gd name="connsiteY2" fmla="*/ 358775 h 717550"/>
              <a:gd name="connsiteX3" fmla="*/ 358775 w 717550"/>
              <a:gd name="connsiteY3" fmla="*/ 0 h 717550"/>
              <a:gd name="connsiteX4" fmla="*/ 717551 w 717550"/>
              <a:gd name="connsiteY4" fmla="*/ 358775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550" h="717550">
                <a:moveTo>
                  <a:pt x="717551" y="358775"/>
                </a:moveTo>
                <a:cubicBezTo>
                  <a:pt x="717551" y="556921"/>
                  <a:pt x="556921" y="717551"/>
                  <a:pt x="358775" y="717551"/>
                </a:cubicBezTo>
                <a:cubicBezTo>
                  <a:pt x="160629" y="717551"/>
                  <a:pt x="0" y="556921"/>
                  <a:pt x="0" y="358775"/>
                </a:cubicBezTo>
                <a:cubicBezTo>
                  <a:pt x="0" y="160629"/>
                  <a:pt x="160629" y="0"/>
                  <a:pt x="358775" y="0"/>
                </a:cubicBezTo>
                <a:cubicBezTo>
                  <a:pt x="556921" y="0"/>
                  <a:pt x="717551" y="160629"/>
                  <a:pt x="717551" y="358775"/>
                </a:cubicBez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7EDD7A-0DEA-5080-D3B2-FAFD2F162A25}"/>
              </a:ext>
            </a:extLst>
          </p:cNvPr>
          <p:cNvSpPr txBox="1"/>
          <p:nvPr/>
        </p:nvSpPr>
        <p:spPr>
          <a:xfrm>
            <a:off x="10833735" y="8927210"/>
            <a:ext cx="136928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120% 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7311AC7-0CF7-71A8-2C80-0D2890278114}"/>
              </a:ext>
            </a:extLst>
          </p:cNvPr>
          <p:cNvSpPr/>
          <p:nvPr/>
        </p:nvSpPr>
        <p:spPr>
          <a:xfrm>
            <a:off x="13277850" y="7277100"/>
            <a:ext cx="952500" cy="952500"/>
          </a:xfrm>
          <a:custGeom>
            <a:avLst/>
            <a:gdLst>
              <a:gd name="connsiteX0" fmla="*/ 952500 w 952500"/>
              <a:gd name="connsiteY0" fmla="*/ 476250 h 952500"/>
              <a:gd name="connsiteX1" fmla="*/ 476250 w 952500"/>
              <a:gd name="connsiteY1" fmla="*/ 952500 h 952500"/>
              <a:gd name="connsiteX2" fmla="*/ 0 w 952500"/>
              <a:gd name="connsiteY2" fmla="*/ 476250 h 952500"/>
              <a:gd name="connsiteX3" fmla="*/ 476250 w 952500"/>
              <a:gd name="connsiteY3" fmla="*/ 0 h 952500"/>
              <a:gd name="connsiteX4" fmla="*/ 952500 w 952500"/>
              <a:gd name="connsiteY4" fmla="*/ 47625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0" h="952500">
                <a:moveTo>
                  <a:pt x="952500" y="476250"/>
                </a:moveTo>
                <a:cubicBezTo>
                  <a:pt x="952500" y="739276"/>
                  <a:pt x="739276" y="952500"/>
                  <a:pt x="476250" y="952500"/>
                </a:cubicBezTo>
                <a:cubicBezTo>
                  <a:pt x="213224" y="952500"/>
                  <a:pt x="0" y="739276"/>
                  <a:pt x="0" y="476250"/>
                </a:cubicBezTo>
                <a:cubicBezTo>
                  <a:pt x="0" y="213224"/>
                  <a:pt x="213224" y="0"/>
                  <a:pt x="476250" y="0"/>
                </a:cubicBezTo>
                <a:cubicBezTo>
                  <a:pt x="739276" y="0"/>
                  <a:pt x="952500" y="213224"/>
                  <a:pt x="952500" y="4762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Partial Circle 21">
            <a:extLst>
              <a:ext uri="{FF2B5EF4-FFF2-40B4-BE49-F238E27FC236}">
                <a16:creationId xmlns:a16="http://schemas.microsoft.com/office/drawing/2014/main" id="{B1B66ABB-A561-2D91-C84D-7E3C1B25B15D}"/>
              </a:ext>
            </a:extLst>
          </p:cNvPr>
          <p:cNvSpPr/>
          <p:nvPr/>
        </p:nvSpPr>
        <p:spPr>
          <a:xfrm rot="16200000">
            <a:off x="13277840" y="7277100"/>
            <a:ext cx="952533" cy="950213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D1CE2CD-9B82-E498-243D-A1740E3E2022}"/>
              </a:ext>
            </a:extLst>
          </p:cNvPr>
          <p:cNvSpPr/>
          <p:nvPr/>
        </p:nvSpPr>
        <p:spPr>
          <a:xfrm>
            <a:off x="13395324" y="7394574"/>
            <a:ext cx="717550" cy="717550"/>
          </a:xfrm>
          <a:custGeom>
            <a:avLst/>
            <a:gdLst>
              <a:gd name="connsiteX0" fmla="*/ 717551 w 717550"/>
              <a:gd name="connsiteY0" fmla="*/ 358775 h 717550"/>
              <a:gd name="connsiteX1" fmla="*/ 358775 w 717550"/>
              <a:gd name="connsiteY1" fmla="*/ 717551 h 717550"/>
              <a:gd name="connsiteX2" fmla="*/ 0 w 717550"/>
              <a:gd name="connsiteY2" fmla="*/ 358775 h 717550"/>
              <a:gd name="connsiteX3" fmla="*/ 358775 w 717550"/>
              <a:gd name="connsiteY3" fmla="*/ 0 h 717550"/>
              <a:gd name="connsiteX4" fmla="*/ 717551 w 717550"/>
              <a:gd name="connsiteY4" fmla="*/ 358775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550" h="717550">
                <a:moveTo>
                  <a:pt x="717551" y="358775"/>
                </a:moveTo>
                <a:cubicBezTo>
                  <a:pt x="717551" y="556921"/>
                  <a:pt x="556921" y="717551"/>
                  <a:pt x="358775" y="717551"/>
                </a:cubicBezTo>
                <a:cubicBezTo>
                  <a:pt x="160629" y="717551"/>
                  <a:pt x="0" y="556921"/>
                  <a:pt x="0" y="358775"/>
                </a:cubicBezTo>
                <a:cubicBezTo>
                  <a:pt x="0" y="160629"/>
                  <a:pt x="160629" y="0"/>
                  <a:pt x="358775" y="0"/>
                </a:cubicBezTo>
                <a:cubicBezTo>
                  <a:pt x="556921" y="0"/>
                  <a:pt x="717551" y="160629"/>
                  <a:pt x="717551" y="358775"/>
                </a:cubicBez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BAF112-B350-C97E-67B2-AEF4D660AD7A}"/>
              </a:ext>
            </a:extLst>
          </p:cNvPr>
          <p:cNvSpPr txBox="1"/>
          <p:nvPr/>
        </p:nvSpPr>
        <p:spPr>
          <a:xfrm>
            <a:off x="13186410" y="8927210"/>
            <a:ext cx="122982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40% 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FADA88F-28A9-4363-E9BB-13CA59542AF9}"/>
              </a:ext>
            </a:extLst>
          </p:cNvPr>
          <p:cNvSpPr/>
          <p:nvPr/>
        </p:nvSpPr>
        <p:spPr>
          <a:xfrm>
            <a:off x="15630525" y="7277100"/>
            <a:ext cx="952500" cy="952500"/>
          </a:xfrm>
          <a:custGeom>
            <a:avLst/>
            <a:gdLst>
              <a:gd name="connsiteX0" fmla="*/ 952500 w 952500"/>
              <a:gd name="connsiteY0" fmla="*/ 476250 h 952500"/>
              <a:gd name="connsiteX1" fmla="*/ 476250 w 952500"/>
              <a:gd name="connsiteY1" fmla="*/ 952500 h 952500"/>
              <a:gd name="connsiteX2" fmla="*/ 0 w 952500"/>
              <a:gd name="connsiteY2" fmla="*/ 476250 h 952500"/>
              <a:gd name="connsiteX3" fmla="*/ 476250 w 952500"/>
              <a:gd name="connsiteY3" fmla="*/ 0 h 952500"/>
              <a:gd name="connsiteX4" fmla="*/ 952500 w 952500"/>
              <a:gd name="connsiteY4" fmla="*/ 47625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0" h="952500">
                <a:moveTo>
                  <a:pt x="952500" y="476250"/>
                </a:moveTo>
                <a:cubicBezTo>
                  <a:pt x="952500" y="739276"/>
                  <a:pt x="739276" y="952500"/>
                  <a:pt x="476250" y="952500"/>
                </a:cubicBezTo>
                <a:cubicBezTo>
                  <a:pt x="213224" y="952500"/>
                  <a:pt x="0" y="739276"/>
                  <a:pt x="0" y="476250"/>
                </a:cubicBezTo>
                <a:cubicBezTo>
                  <a:pt x="0" y="213224"/>
                  <a:pt x="213224" y="0"/>
                  <a:pt x="476250" y="0"/>
                </a:cubicBezTo>
                <a:cubicBezTo>
                  <a:pt x="739276" y="0"/>
                  <a:pt x="952500" y="213224"/>
                  <a:pt x="952500" y="476250"/>
                </a:cubicBezTo>
                <a:close/>
              </a:path>
            </a:pathLst>
          </a:custGeom>
          <a:solidFill>
            <a:srgbClr val="000000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Partial Circle 27">
            <a:extLst>
              <a:ext uri="{FF2B5EF4-FFF2-40B4-BE49-F238E27FC236}">
                <a16:creationId xmlns:a16="http://schemas.microsoft.com/office/drawing/2014/main" id="{E3297D92-D679-F5DD-1CB7-741FBBA85799}"/>
              </a:ext>
            </a:extLst>
          </p:cNvPr>
          <p:cNvSpPr/>
          <p:nvPr/>
        </p:nvSpPr>
        <p:spPr>
          <a:xfrm rot="16200000">
            <a:off x="15630481" y="7277100"/>
            <a:ext cx="952533" cy="950212"/>
          </a:xfrm>
          <a:prstGeom prst="pie">
            <a:avLst/>
          </a:pr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280F8BE-DC2B-EF8C-7E30-CA93D186540C}"/>
              </a:ext>
            </a:extLst>
          </p:cNvPr>
          <p:cNvSpPr/>
          <p:nvPr/>
        </p:nvSpPr>
        <p:spPr>
          <a:xfrm>
            <a:off x="15747999" y="7394574"/>
            <a:ext cx="717550" cy="717550"/>
          </a:xfrm>
          <a:custGeom>
            <a:avLst/>
            <a:gdLst>
              <a:gd name="connsiteX0" fmla="*/ 717551 w 717550"/>
              <a:gd name="connsiteY0" fmla="*/ 358775 h 717550"/>
              <a:gd name="connsiteX1" fmla="*/ 358775 w 717550"/>
              <a:gd name="connsiteY1" fmla="*/ 717551 h 717550"/>
              <a:gd name="connsiteX2" fmla="*/ 0 w 717550"/>
              <a:gd name="connsiteY2" fmla="*/ 358775 h 717550"/>
              <a:gd name="connsiteX3" fmla="*/ 358775 w 717550"/>
              <a:gd name="connsiteY3" fmla="*/ 0 h 717550"/>
              <a:gd name="connsiteX4" fmla="*/ 717551 w 717550"/>
              <a:gd name="connsiteY4" fmla="*/ 358775 h 71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550" h="717550">
                <a:moveTo>
                  <a:pt x="717551" y="358775"/>
                </a:moveTo>
                <a:cubicBezTo>
                  <a:pt x="717551" y="556921"/>
                  <a:pt x="556921" y="717551"/>
                  <a:pt x="358775" y="717551"/>
                </a:cubicBezTo>
                <a:cubicBezTo>
                  <a:pt x="160629" y="717551"/>
                  <a:pt x="0" y="556921"/>
                  <a:pt x="0" y="358775"/>
                </a:cubicBezTo>
                <a:cubicBezTo>
                  <a:pt x="0" y="160629"/>
                  <a:pt x="160629" y="0"/>
                  <a:pt x="358775" y="0"/>
                </a:cubicBezTo>
                <a:cubicBezTo>
                  <a:pt x="556921" y="0"/>
                  <a:pt x="717551" y="160629"/>
                  <a:pt x="717551" y="358775"/>
                </a:cubicBez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824B9A-AD60-D74B-55CE-E64214B5144D}"/>
              </a:ext>
            </a:extLst>
          </p:cNvPr>
          <p:cNvSpPr txBox="1"/>
          <p:nvPr/>
        </p:nvSpPr>
        <p:spPr>
          <a:xfrm>
            <a:off x="15539085" y="8927210"/>
            <a:ext cx="121219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30% 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2A1CBFB-7309-4602-B716-D35F881C3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6F6A128-5009-B51A-DEB3-DC53CBD7732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28EA39-CAEA-604E-CBC2-191F63217598}"/>
              </a:ext>
            </a:extLst>
          </p:cNvPr>
          <p:cNvSpPr txBox="1"/>
          <p:nvPr/>
        </p:nvSpPr>
        <p:spPr>
          <a:xfrm>
            <a:off x="15539086" y="8411527"/>
            <a:ext cx="2191702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Conversion Boost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Recommendation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DF8050-2953-77BA-2C77-2786B425F86E}"/>
              </a:ext>
            </a:extLst>
          </p:cNvPr>
          <p:cNvSpPr txBox="1"/>
          <p:nvPr/>
        </p:nvSpPr>
        <p:spPr>
          <a:xfrm>
            <a:off x="13186411" y="8411527"/>
            <a:ext cx="1905572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Retention Rate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Improvement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FAC7BA-1B9E-C835-11D3-74B7759BBE42}"/>
              </a:ext>
            </a:extLst>
          </p:cNvPr>
          <p:cNvSpPr txBox="1"/>
          <p:nvPr/>
        </p:nvSpPr>
        <p:spPr>
          <a:xfrm>
            <a:off x="10833735" y="8411527"/>
            <a:ext cx="1436750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YoY Sales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Increase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20151-5751-39AE-1670-B8E985B87510}"/>
              </a:ext>
            </a:extLst>
          </p:cNvPr>
          <p:cNvSpPr txBox="1"/>
          <p:nvPr/>
        </p:nvSpPr>
        <p:spPr>
          <a:xfrm>
            <a:off x="10605135" y="4982527"/>
            <a:ext cx="7393115" cy="124649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1A1A1A"/>
                </a:solidFill>
                <a:latin typeface="Plus Jakarta Sans" pitchFamily="2" charset="0"/>
              </a:rPr>
              <a:t>Lorem ipsum dolor sit amet, consectetur adipiscing elit. Ut et massa mi. </a:t>
            </a:r>
          </a:p>
          <a:p>
            <a:r>
              <a:rPr lang="en-ID" sz="1500">
                <a:solidFill>
                  <a:srgbClr val="1A1A1A"/>
                </a:solidFill>
                <a:latin typeface="Plus Jakarta Sans" pitchFamily="2" charset="0"/>
              </a:rPr>
              <a:t>Aliquam in hendrerit urna. Pellentesque sit amet sapien fringilla, mattis ligula </a:t>
            </a:r>
            <a:endParaRPr lang="fr-FR" sz="1500">
              <a:solidFill>
                <a:srgbClr val="1A1A1A"/>
              </a:solidFill>
              <a:latin typeface="Plus Jakarta Sans" pitchFamily="2" charset="0"/>
            </a:endParaRPr>
          </a:p>
          <a:p>
            <a:r>
              <a:rPr lang="fr-FR" sz="1500">
                <a:solidFill>
                  <a:srgbClr val="1A1A1A"/>
                </a:solidFill>
                <a:latin typeface="Plus Jakarta Sans" pitchFamily="2" charset="0"/>
              </a:rPr>
              <a:t>consectetur, ultrices mauris. Maecenas vitae mattis tellus. Nullam quis </a:t>
            </a:r>
            <a:endParaRPr lang="it-IT" sz="1500">
              <a:solidFill>
                <a:srgbClr val="1A1A1A"/>
              </a:solidFill>
              <a:latin typeface="Plus Jakarta Sans" pitchFamily="2" charset="0"/>
            </a:endParaRPr>
          </a:p>
          <a:p>
            <a:r>
              <a:rPr lang="it-IT" sz="1500">
                <a:solidFill>
                  <a:srgbClr val="1A1A1A"/>
                </a:solidFill>
                <a:latin typeface="Plus Jakarta Sans" pitchFamily="2" charset="0"/>
              </a:rPr>
              <a:t>imperdiet augue. Vestibulum auctor ornare leo, non suscipit magna interdum </a:t>
            </a:r>
          </a:p>
          <a:p>
            <a:r>
              <a:rPr lang="it-IT" sz="1500">
                <a:solidFill>
                  <a:srgbClr val="1A1A1A"/>
                </a:solidFill>
                <a:latin typeface="Plus Jakarta Sans" pitchFamily="2" charset="0"/>
              </a:rPr>
              <a:t>eu. Curabitur pellentesque nibh nibh.</a:t>
            </a:r>
            <a:endParaRPr lang="en-ID" sz="1500">
              <a:solidFill>
                <a:srgbClr val="1A1A1A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637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BF6743-C194-6CD4-8EB8-6BBE0BE10485}"/>
              </a:ext>
            </a:extLst>
          </p:cNvPr>
          <p:cNvSpPr txBox="1"/>
          <p:nvPr/>
        </p:nvSpPr>
        <p:spPr>
          <a:xfrm>
            <a:off x="670560" y="4255865"/>
            <a:ext cx="25987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Market saturation.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F49ED-ED9C-0B2F-1F38-E35411372C8B}"/>
              </a:ext>
            </a:extLst>
          </p:cNvPr>
          <p:cNvSpPr txBox="1"/>
          <p:nvPr/>
        </p:nvSpPr>
        <p:spPr>
          <a:xfrm>
            <a:off x="670560" y="4627721"/>
            <a:ext cx="34644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Lorem ipsum dolor sit amet, consec.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B10011-B287-784B-7E7D-D57BA4C3619E}"/>
              </a:ext>
            </a:extLst>
          </p:cNvPr>
          <p:cNvSpPr txBox="1"/>
          <p:nvPr/>
        </p:nvSpPr>
        <p:spPr>
          <a:xfrm>
            <a:off x="4375785" y="4255865"/>
            <a:ext cx="307327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Logistics inefficiency.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4FC80-7129-34A0-9064-577C8E54E3D9}"/>
              </a:ext>
            </a:extLst>
          </p:cNvPr>
          <p:cNvSpPr txBox="1"/>
          <p:nvPr/>
        </p:nvSpPr>
        <p:spPr>
          <a:xfrm>
            <a:off x="4375785" y="4627721"/>
            <a:ext cx="34644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Lorem ipsum dolor sit amet, consec.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5E1E5-AE39-8BB6-5789-75579A052471}"/>
              </a:ext>
            </a:extLst>
          </p:cNvPr>
          <p:cNvSpPr txBox="1"/>
          <p:nvPr/>
        </p:nvSpPr>
        <p:spPr>
          <a:xfrm>
            <a:off x="8081010" y="4255865"/>
            <a:ext cx="26116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User trust barriers.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746374-6696-9F49-15F7-83DB106AB0A4}"/>
              </a:ext>
            </a:extLst>
          </p:cNvPr>
          <p:cNvSpPr txBox="1"/>
          <p:nvPr/>
        </p:nvSpPr>
        <p:spPr>
          <a:xfrm>
            <a:off x="8081010" y="4627721"/>
            <a:ext cx="34644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Lorem ipsum dolor sit amet, consec.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2988C6-20D8-0A58-D9BA-D9331C483425}"/>
              </a:ext>
            </a:extLst>
          </p:cNvPr>
          <p:cNvSpPr txBox="1"/>
          <p:nvPr/>
        </p:nvSpPr>
        <p:spPr>
          <a:xfrm>
            <a:off x="670560" y="8751665"/>
            <a:ext cx="2027643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High ad costs.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81060-5335-343F-581A-000A23A5030D}"/>
              </a:ext>
            </a:extLst>
          </p:cNvPr>
          <p:cNvSpPr txBox="1"/>
          <p:nvPr/>
        </p:nvSpPr>
        <p:spPr>
          <a:xfrm>
            <a:off x="670560" y="9123521"/>
            <a:ext cx="34644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Lorem ipsum dolor sit amet, consec.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AC7220-1C27-DAC1-C57B-8BDBD6F6B874}"/>
              </a:ext>
            </a:extLst>
          </p:cNvPr>
          <p:cNvSpPr txBox="1"/>
          <p:nvPr/>
        </p:nvSpPr>
        <p:spPr>
          <a:xfrm>
            <a:off x="6109335" y="6107810"/>
            <a:ext cx="10795749" cy="1195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A look inside our journey.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CC6CB9-12AD-183E-3B9C-4784D4B6E822}"/>
              </a:ext>
            </a:extLst>
          </p:cNvPr>
          <p:cNvSpPr/>
          <p:nvPr/>
        </p:nvSpPr>
        <p:spPr>
          <a:xfrm>
            <a:off x="11868150" y="762000"/>
            <a:ext cx="5886450" cy="4267200"/>
          </a:xfrm>
          <a:custGeom>
            <a:avLst/>
            <a:gdLst>
              <a:gd name="connsiteX0" fmla="*/ 5657850 w 5886450"/>
              <a:gd name="connsiteY0" fmla="*/ 0 h 4267200"/>
              <a:gd name="connsiteX1" fmla="*/ 5886450 w 5886450"/>
              <a:gd name="connsiteY1" fmla="*/ 0 h 4267200"/>
              <a:gd name="connsiteX2" fmla="*/ 5886450 w 5886450"/>
              <a:gd name="connsiteY2" fmla="*/ 4267200 h 4267200"/>
              <a:gd name="connsiteX3" fmla="*/ 5657850 w 5886450"/>
              <a:gd name="connsiteY3" fmla="*/ 4267200 h 4267200"/>
              <a:gd name="connsiteX4" fmla="*/ 228600 w 5886450"/>
              <a:gd name="connsiteY4" fmla="*/ 4267200 h 4267200"/>
              <a:gd name="connsiteX5" fmla="*/ 0 w 5886450"/>
              <a:gd name="connsiteY5" fmla="*/ 4267200 h 4267200"/>
              <a:gd name="connsiteX6" fmla="*/ 0 w 5886450"/>
              <a:gd name="connsiteY6" fmla="*/ 0 h 4267200"/>
              <a:gd name="connsiteX7" fmla="*/ 228600 w 5886450"/>
              <a:gd name="connsiteY7" fmla="*/ 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86450" h="4267200">
                <a:moveTo>
                  <a:pt x="5657850" y="0"/>
                </a:moveTo>
                <a:cubicBezTo>
                  <a:pt x="5784103" y="0"/>
                  <a:pt x="5886450" y="0"/>
                  <a:pt x="5886450" y="0"/>
                </a:cubicBezTo>
                <a:lnTo>
                  <a:pt x="5886450" y="4267200"/>
                </a:lnTo>
                <a:cubicBezTo>
                  <a:pt x="5886450" y="4267200"/>
                  <a:pt x="5784103" y="4267200"/>
                  <a:pt x="5657850" y="4267200"/>
                </a:cubicBezTo>
                <a:lnTo>
                  <a:pt x="228600" y="4267200"/>
                </a:lnTo>
                <a:cubicBezTo>
                  <a:pt x="102347" y="4267200"/>
                  <a:pt x="0" y="4267200"/>
                  <a:pt x="0" y="4267200"/>
                </a:cubicBezTo>
                <a:lnTo>
                  <a:pt x="0" y="0"/>
                </a:lnTo>
                <a:cubicBezTo>
                  <a:pt x="0" y="0"/>
                  <a:pt x="102347" y="0"/>
                  <a:pt x="228600" y="0"/>
                </a:cubicBez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50BBE02-18E5-5DB2-933E-E9925A7DDAB0}"/>
              </a:ext>
            </a:extLst>
          </p:cNvPr>
          <p:cNvSpPr/>
          <p:nvPr/>
        </p:nvSpPr>
        <p:spPr>
          <a:xfrm>
            <a:off x="12334875" y="1690687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06795EB-2018-F097-CD54-3D6501E2777B}"/>
              </a:ext>
            </a:extLst>
          </p:cNvPr>
          <p:cNvSpPr/>
          <p:nvPr/>
        </p:nvSpPr>
        <p:spPr>
          <a:xfrm>
            <a:off x="12604717" y="1957387"/>
            <a:ext cx="660464" cy="609600"/>
          </a:xfrm>
          <a:custGeom>
            <a:avLst/>
            <a:gdLst>
              <a:gd name="connsiteX0" fmla="*/ 58293 w 660464"/>
              <a:gd name="connsiteY0" fmla="*/ 0 h 609600"/>
              <a:gd name="connsiteX1" fmla="*/ 0 w 660464"/>
              <a:gd name="connsiteY1" fmla="*/ 0 h 609600"/>
              <a:gd name="connsiteX2" fmla="*/ 0 w 660464"/>
              <a:gd name="connsiteY2" fmla="*/ 609600 h 609600"/>
              <a:gd name="connsiteX3" fmla="*/ 369094 w 660464"/>
              <a:gd name="connsiteY3" fmla="*/ 609600 h 609600"/>
              <a:gd name="connsiteX4" fmla="*/ 58293 w 660464"/>
              <a:gd name="connsiteY4" fmla="*/ 0 h 609600"/>
              <a:gd name="connsiteX5" fmla="*/ 271939 w 660464"/>
              <a:gd name="connsiteY5" fmla="*/ 0 h 609600"/>
              <a:gd name="connsiteX6" fmla="*/ 582740 w 660464"/>
              <a:gd name="connsiteY6" fmla="*/ 609600 h 609600"/>
              <a:gd name="connsiteX7" fmla="*/ 660464 w 660464"/>
              <a:gd name="connsiteY7" fmla="*/ 609600 h 609600"/>
              <a:gd name="connsiteX8" fmla="*/ 660464 w 660464"/>
              <a:gd name="connsiteY8" fmla="*/ 0 h 609600"/>
              <a:gd name="connsiteX9" fmla="*/ 271939 w 660464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464" h="609600">
                <a:moveTo>
                  <a:pt x="58293" y="0"/>
                </a:moveTo>
                <a:lnTo>
                  <a:pt x="0" y="0"/>
                </a:lnTo>
                <a:lnTo>
                  <a:pt x="0" y="609600"/>
                </a:lnTo>
                <a:lnTo>
                  <a:pt x="369094" y="609600"/>
                </a:lnTo>
                <a:lnTo>
                  <a:pt x="58293" y="0"/>
                </a:lnTo>
                <a:close/>
                <a:moveTo>
                  <a:pt x="271939" y="0"/>
                </a:moveTo>
                <a:lnTo>
                  <a:pt x="582740" y="609600"/>
                </a:lnTo>
                <a:lnTo>
                  <a:pt x="660464" y="609600"/>
                </a:lnTo>
                <a:lnTo>
                  <a:pt x="660464" y="0"/>
                </a:lnTo>
                <a:lnTo>
                  <a:pt x="27193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395CCE-1EAE-F845-9D09-1BB4678F43D4}"/>
              </a:ext>
            </a:extLst>
          </p:cNvPr>
          <p:cNvSpPr txBox="1"/>
          <p:nvPr/>
        </p:nvSpPr>
        <p:spPr>
          <a:xfrm>
            <a:off x="12243435" y="3720083"/>
            <a:ext cx="2875483" cy="42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Highlight main issues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7A7CF3B-0A23-9BA2-7A46-CBF55B63CD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8445A67-F981-DDCE-2E3C-E9F1CBF807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E42806E9-686C-36E5-20E1-8665552D82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0A43BA51-7ADB-71BB-19C7-B4316309D4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105B3C-C8A0-AC3A-C0BA-3DD4E242F31A}"/>
              </a:ext>
            </a:extLst>
          </p:cNvPr>
          <p:cNvSpPr txBox="1"/>
          <p:nvPr/>
        </p:nvSpPr>
        <p:spPr>
          <a:xfrm>
            <a:off x="12243435" y="3015614"/>
            <a:ext cx="3753802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Explain how each challenge shaped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product innovation.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2D2536-5EF2-BF9A-DBF3-8FC7FC21064B}"/>
              </a:ext>
            </a:extLst>
          </p:cNvPr>
          <p:cNvSpPr txBox="1"/>
          <p:nvPr/>
        </p:nvSpPr>
        <p:spPr>
          <a:xfrm>
            <a:off x="6109335" y="8163496"/>
            <a:ext cx="2435694" cy="738664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Highlight main </a:t>
            </a:r>
          </a:p>
          <a:p>
            <a:r>
              <a:rPr lang="en-ID" sz="2100" b="1">
                <a:solidFill>
                  <a:srgbClr val="1A1A1A"/>
                </a:solidFill>
                <a:latin typeface="Plus Jakarta Sans" pitchFamily="2" charset="0"/>
              </a:rPr>
              <a:t>issues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7107B4-9B77-BD0D-4FE0-14201E940880}"/>
              </a:ext>
            </a:extLst>
          </p:cNvPr>
          <p:cNvSpPr txBox="1"/>
          <p:nvPr/>
        </p:nvSpPr>
        <p:spPr>
          <a:xfrm>
            <a:off x="6109335" y="7459027"/>
            <a:ext cx="3035046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Explain how each challenge </a:t>
            </a:r>
          </a:p>
          <a:p>
            <a:r>
              <a:rPr lang="en-ID" sz="1500">
                <a:solidFill>
                  <a:srgbClr val="2E2E2E"/>
                </a:solidFill>
                <a:latin typeface="Plus Jakarta Sans" pitchFamily="2" charset="0"/>
              </a:rPr>
              <a:t>shaped product innovation.</a:t>
            </a:r>
          </a:p>
        </p:txBody>
      </p:sp>
    </p:spTree>
    <p:extLst>
      <p:ext uri="{BB962C8B-B14F-4D97-AF65-F5344CB8AC3E}">
        <p14:creationId xmlns:p14="http://schemas.microsoft.com/office/powerpoint/2010/main" val="437817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880FF56-48C9-3190-DA86-62802E43C8D4}"/>
              </a:ext>
            </a:extLst>
          </p:cNvPr>
          <p:cNvSpPr/>
          <p:nvPr/>
        </p:nvSpPr>
        <p:spPr>
          <a:xfrm>
            <a:off x="9258300" y="762000"/>
            <a:ext cx="8267700" cy="2019300"/>
          </a:xfrm>
          <a:custGeom>
            <a:avLst/>
            <a:gdLst>
              <a:gd name="connsiteX0" fmla="*/ 0 w 8267700"/>
              <a:gd name="connsiteY0" fmla="*/ 0 h 2019300"/>
              <a:gd name="connsiteX1" fmla="*/ 8267700 w 8267700"/>
              <a:gd name="connsiteY1" fmla="*/ 0 h 2019300"/>
              <a:gd name="connsiteX2" fmla="*/ 8267700 w 8267700"/>
              <a:gd name="connsiteY2" fmla="*/ 2019300 h 2019300"/>
              <a:gd name="connsiteX3" fmla="*/ 0 w 82677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7700" h="2019300">
                <a:moveTo>
                  <a:pt x="0" y="0"/>
                </a:moveTo>
                <a:lnTo>
                  <a:pt x="8267700" y="0"/>
                </a:lnTo>
                <a:lnTo>
                  <a:pt x="8267700" y="2019300"/>
                </a:lnTo>
                <a:lnTo>
                  <a:pt x="0" y="201930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F845226-90E1-4CD6-6A9D-45C7136DDA41}"/>
              </a:ext>
            </a:extLst>
          </p:cNvPr>
          <p:cNvSpPr/>
          <p:nvPr/>
        </p:nvSpPr>
        <p:spPr>
          <a:xfrm>
            <a:off x="9258300" y="3009900"/>
            <a:ext cx="8267700" cy="2019300"/>
          </a:xfrm>
          <a:custGeom>
            <a:avLst/>
            <a:gdLst>
              <a:gd name="connsiteX0" fmla="*/ 0 w 8267700"/>
              <a:gd name="connsiteY0" fmla="*/ 0 h 2019300"/>
              <a:gd name="connsiteX1" fmla="*/ 8267700 w 8267700"/>
              <a:gd name="connsiteY1" fmla="*/ 0 h 2019300"/>
              <a:gd name="connsiteX2" fmla="*/ 8267700 w 8267700"/>
              <a:gd name="connsiteY2" fmla="*/ 2019300 h 2019300"/>
              <a:gd name="connsiteX3" fmla="*/ 0 w 82677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7700" h="2019300">
                <a:moveTo>
                  <a:pt x="0" y="0"/>
                </a:moveTo>
                <a:lnTo>
                  <a:pt x="8267700" y="0"/>
                </a:lnTo>
                <a:lnTo>
                  <a:pt x="8267700" y="2019300"/>
                </a:lnTo>
                <a:lnTo>
                  <a:pt x="0" y="201930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F3B8AC4-5805-7485-82F4-CEEC4ABA15C3}"/>
              </a:ext>
            </a:extLst>
          </p:cNvPr>
          <p:cNvSpPr/>
          <p:nvPr/>
        </p:nvSpPr>
        <p:spPr>
          <a:xfrm>
            <a:off x="9258300" y="5257800"/>
            <a:ext cx="8267700" cy="2019300"/>
          </a:xfrm>
          <a:custGeom>
            <a:avLst/>
            <a:gdLst>
              <a:gd name="connsiteX0" fmla="*/ 0 w 8267700"/>
              <a:gd name="connsiteY0" fmla="*/ 0 h 2019300"/>
              <a:gd name="connsiteX1" fmla="*/ 8267700 w 8267700"/>
              <a:gd name="connsiteY1" fmla="*/ 0 h 2019300"/>
              <a:gd name="connsiteX2" fmla="*/ 8267700 w 8267700"/>
              <a:gd name="connsiteY2" fmla="*/ 2019300 h 2019300"/>
              <a:gd name="connsiteX3" fmla="*/ 0 w 82677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7700" h="2019300">
                <a:moveTo>
                  <a:pt x="0" y="0"/>
                </a:moveTo>
                <a:lnTo>
                  <a:pt x="8267700" y="0"/>
                </a:lnTo>
                <a:lnTo>
                  <a:pt x="8267700" y="2019300"/>
                </a:lnTo>
                <a:lnTo>
                  <a:pt x="0" y="201930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2170D4-4F9A-24FB-7E8C-9DDCAAE99F0A}"/>
              </a:ext>
            </a:extLst>
          </p:cNvPr>
          <p:cNvSpPr/>
          <p:nvPr/>
        </p:nvSpPr>
        <p:spPr>
          <a:xfrm>
            <a:off x="9258300" y="7505700"/>
            <a:ext cx="8267700" cy="2019300"/>
          </a:xfrm>
          <a:custGeom>
            <a:avLst/>
            <a:gdLst>
              <a:gd name="connsiteX0" fmla="*/ 0 w 8267700"/>
              <a:gd name="connsiteY0" fmla="*/ 0 h 2019300"/>
              <a:gd name="connsiteX1" fmla="*/ 8267700 w 8267700"/>
              <a:gd name="connsiteY1" fmla="*/ 0 h 2019300"/>
              <a:gd name="connsiteX2" fmla="*/ 8267700 w 8267700"/>
              <a:gd name="connsiteY2" fmla="*/ 2019300 h 2019300"/>
              <a:gd name="connsiteX3" fmla="*/ 0 w 82677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7700" h="2019300">
                <a:moveTo>
                  <a:pt x="0" y="0"/>
                </a:moveTo>
                <a:lnTo>
                  <a:pt x="8267700" y="0"/>
                </a:lnTo>
                <a:lnTo>
                  <a:pt x="8267700" y="2019300"/>
                </a:lnTo>
                <a:lnTo>
                  <a:pt x="0" y="201930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37EBB4C-262A-3221-58FD-6AD6FCEF9427}"/>
              </a:ext>
            </a:extLst>
          </p:cNvPr>
          <p:cNvSpPr/>
          <p:nvPr/>
        </p:nvSpPr>
        <p:spPr>
          <a:xfrm>
            <a:off x="9486900" y="990600"/>
            <a:ext cx="228600" cy="1562100"/>
          </a:xfrm>
          <a:custGeom>
            <a:avLst/>
            <a:gdLst>
              <a:gd name="connsiteX0" fmla="*/ 0 w 228600"/>
              <a:gd name="connsiteY0" fmla="*/ 0 h 1562100"/>
              <a:gd name="connsiteX1" fmla="*/ 228600 w 228600"/>
              <a:gd name="connsiteY1" fmla="*/ 0 h 1562100"/>
              <a:gd name="connsiteX2" fmla="*/ 228600 w 228600"/>
              <a:gd name="connsiteY2" fmla="*/ 1562100 h 1562100"/>
              <a:gd name="connsiteX3" fmla="*/ 0 w 228600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1562100">
                <a:moveTo>
                  <a:pt x="0" y="0"/>
                </a:moveTo>
                <a:lnTo>
                  <a:pt x="228600" y="0"/>
                </a:lnTo>
                <a:lnTo>
                  <a:pt x="228600" y="1562100"/>
                </a:lnTo>
                <a:lnTo>
                  <a:pt x="0" y="15621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239FB3-F195-3518-FC4B-C7FDC0D88B31}"/>
              </a:ext>
            </a:extLst>
          </p:cNvPr>
          <p:cNvSpPr txBox="1"/>
          <p:nvPr/>
        </p:nvSpPr>
        <p:spPr>
          <a:xfrm>
            <a:off x="10081260" y="1234630"/>
            <a:ext cx="416356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21EF2-50FC-6246-CB06-6D8E03812894}"/>
              </a:ext>
            </a:extLst>
          </p:cNvPr>
          <p:cNvSpPr txBox="1"/>
          <p:nvPr/>
        </p:nvSpPr>
        <p:spPr>
          <a:xfrm>
            <a:off x="10538460" y="1234059"/>
            <a:ext cx="58176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Use AI-driven marketing to reduce ad cost.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BBB4BF5-BEE1-51C5-5FD2-CD8E9F8EE4F4}"/>
              </a:ext>
            </a:extLst>
          </p:cNvPr>
          <p:cNvSpPr/>
          <p:nvPr/>
        </p:nvSpPr>
        <p:spPr>
          <a:xfrm>
            <a:off x="9486900" y="3238500"/>
            <a:ext cx="228600" cy="1562100"/>
          </a:xfrm>
          <a:custGeom>
            <a:avLst/>
            <a:gdLst>
              <a:gd name="connsiteX0" fmla="*/ 0 w 228600"/>
              <a:gd name="connsiteY0" fmla="*/ 0 h 1562100"/>
              <a:gd name="connsiteX1" fmla="*/ 228600 w 228600"/>
              <a:gd name="connsiteY1" fmla="*/ 0 h 1562100"/>
              <a:gd name="connsiteX2" fmla="*/ 228600 w 228600"/>
              <a:gd name="connsiteY2" fmla="*/ 1562100 h 1562100"/>
              <a:gd name="connsiteX3" fmla="*/ 0 w 228600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1562100">
                <a:moveTo>
                  <a:pt x="0" y="0"/>
                </a:moveTo>
                <a:lnTo>
                  <a:pt x="228600" y="0"/>
                </a:lnTo>
                <a:lnTo>
                  <a:pt x="228600" y="1562100"/>
                </a:lnTo>
                <a:lnTo>
                  <a:pt x="0" y="15621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CAE4AF-B435-B2B7-4E26-05FC2233E307}"/>
              </a:ext>
            </a:extLst>
          </p:cNvPr>
          <p:cNvSpPr txBox="1"/>
          <p:nvPr/>
        </p:nvSpPr>
        <p:spPr>
          <a:xfrm>
            <a:off x="10081260" y="3482530"/>
            <a:ext cx="451256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EC6B17-A62E-1E28-4A49-85A782731377}"/>
              </a:ext>
            </a:extLst>
          </p:cNvPr>
          <p:cNvSpPr txBox="1"/>
          <p:nvPr/>
        </p:nvSpPr>
        <p:spPr>
          <a:xfrm>
            <a:off x="10576560" y="3481958"/>
            <a:ext cx="36776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Partner with local couriers.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9DCE1E-D0EF-C5B2-ADB3-9AE05B5B4857}"/>
              </a:ext>
            </a:extLst>
          </p:cNvPr>
          <p:cNvSpPr/>
          <p:nvPr/>
        </p:nvSpPr>
        <p:spPr>
          <a:xfrm>
            <a:off x="9486900" y="5486400"/>
            <a:ext cx="228600" cy="1562100"/>
          </a:xfrm>
          <a:custGeom>
            <a:avLst/>
            <a:gdLst>
              <a:gd name="connsiteX0" fmla="*/ 0 w 228600"/>
              <a:gd name="connsiteY0" fmla="*/ 0 h 1562100"/>
              <a:gd name="connsiteX1" fmla="*/ 228600 w 228600"/>
              <a:gd name="connsiteY1" fmla="*/ 0 h 1562100"/>
              <a:gd name="connsiteX2" fmla="*/ 228600 w 228600"/>
              <a:gd name="connsiteY2" fmla="*/ 1562100 h 1562100"/>
              <a:gd name="connsiteX3" fmla="*/ 0 w 228600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1562100">
                <a:moveTo>
                  <a:pt x="0" y="0"/>
                </a:moveTo>
                <a:lnTo>
                  <a:pt x="228600" y="0"/>
                </a:lnTo>
                <a:lnTo>
                  <a:pt x="228600" y="1562100"/>
                </a:lnTo>
                <a:lnTo>
                  <a:pt x="0" y="1562100"/>
                </a:lnTo>
                <a:close/>
              </a:path>
            </a:pathLst>
          </a:custGeom>
          <a:solidFill>
            <a:srgbClr val="55555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940BA6-CCCB-3191-9110-D5C60E7F45FE}"/>
              </a:ext>
            </a:extLst>
          </p:cNvPr>
          <p:cNvSpPr txBox="1"/>
          <p:nvPr/>
        </p:nvSpPr>
        <p:spPr>
          <a:xfrm>
            <a:off x="10081260" y="5730430"/>
            <a:ext cx="452627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F5FD99-7BBF-00EE-E1F3-56679FB1DD3D}"/>
              </a:ext>
            </a:extLst>
          </p:cNvPr>
          <p:cNvSpPr txBox="1"/>
          <p:nvPr/>
        </p:nvSpPr>
        <p:spPr>
          <a:xfrm>
            <a:off x="10576560" y="5729858"/>
            <a:ext cx="390683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Introduce user trust badges.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C36CD61-EA45-ED9F-827C-982BD3E60E84}"/>
              </a:ext>
            </a:extLst>
          </p:cNvPr>
          <p:cNvSpPr/>
          <p:nvPr/>
        </p:nvSpPr>
        <p:spPr>
          <a:xfrm>
            <a:off x="9486900" y="7734300"/>
            <a:ext cx="228600" cy="1562100"/>
          </a:xfrm>
          <a:custGeom>
            <a:avLst/>
            <a:gdLst>
              <a:gd name="connsiteX0" fmla="*/ 0 w 228600"/>
              <a:gd name="connsiteY0" fmla="*/ 0 h 1562100"/>
              <a:gd name="connsiteX1" fmla="*/ 228600 w 228600"/>
              <a:gd name="connsiteY1" fmla="*/ 0 h 1562100"/>
              <a:gd name="connsiteX2" fmla="*/ 228600 w 228600"/>
              <a:gd name="connsiteY2" fmla="*/ 1562100 h 1562100"/>
              <a:gd name="connsiteX3" fmla="*/ 0 w 228600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1562100">
                <a:moveTo>
                  <a:pt x="0" y="0"/>
                </a:moveTo>
                <a:lnTo>
                  <a:pt x="228600" y="0"/>
                </a:lnTo>
                <a:lnTo>
                  <a:pt x="228600" y="1562100"/>
                </a:lnTo>
                <a:lnTo>
                  <a:pt x="0" y="1562100"/>
                </a:lnTo>
                <a:close/>
              </a:path>
            </a:pathLst>
          </a:custGeom>
          <a:solidFill>
            <a:srgbClr val="30303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462597-C3ED-7001-1756-2B03DB013044}"/>
              </a:ext>
            </a:extLst>
          </p:cNvPr>
          <p:cNvSpPr txBox="1"/>
          <p:nvPr/>
        </p:nvSpPr>
        <p:spPr>
          <a:xfrm>
            <a:off x="10081260" y="7978330"/>
            <a:ext cx="455828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F581F1-55EB-5616-F29F-7F35FE5736C8}"/>
              </a:ext>
            </a:extLst>
          </p:cNvPr>
          <p:cNvSpPr txBox="1"/>
          <p:nvPr/>
        </p:nvSpPr>
        <p:spPr>
          <a:xfrm>
            <a:off x="10586085" y="7977758"/>
            <a:ext cx="487825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21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Simplify onboarding for new sellers.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A7E9BA-05C6-6D71-D594-1A1C4F98349B}"/>
              </a:ext>
            </a:extLst>
          </p:cNvPr>
          <p:cNvSpPr txBox="1"/>
          <p:nvPr/>
        </p:nvSpPr>
        <p:spPr>
          <a:xfrm>
            <a:off x="670560" y="2737294"/>
            <a:ext cx="5999683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Proposed Solutions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F8997C-8528-93EE-4882-5140660A0BE9}"/>
              </a:ext>
            </a:extLst>
          </p:cNvPr>
          <p:cNvSpPr txBox="1"/>
          <p:nvPr/>
        </p:nvSpPr>
        <p:spPr>
          <a:xfrm>
            <a:off x="670560" y="3544252"/>
            <a:ext cx="349005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Turning problems into opportunities.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0D21B06F-7ECA-EBC5-5BA0-6AEA7B298E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065927-C426-C3AB-B71F-1584B22191B7}"/>
              </a:ext>
            </a:extLst>
          </p:cNvPr>
          <p:cNvSpPr txBox="1"/>
          <p:nvPr/>
        </p:nvSpPr>
        <p:spPr>
          <a:xfrm>
            <a:off x="10586085" y="8387905"/>
            <a:ext cx="7092468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hendrerit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urna. Pellentesque sit amet sapien fringilla, mattis ligula consectetur, ultrices mauris.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Maecenas vitae mattis tellus. Nullam quis imperdiet augue.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3558C8-DA7E-BFD7-CC20-134B9BD9AB8C}"/>
              </a:ext>
            </a:extLst>
          </p:cNvPr>
          <p:cNvSpPr txBox="1"/>
          <p:nvPr/>
        </p:nvSpPr>
        <p:spPr>
          <a:xfrm>
            <a:off x="10576560" y="6140005"/>
            <a:ext cx="7092468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hendrerit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urna. Pellentesque sit amet sapien fringilla, mattis ligula consectetur, ultrices mauris.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Maecenas vitae mattis tellus. Nullam quis imperdiet augue.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20D2D2-E284-E7F9-70A1-EE9EC5E420C3}"/>
              </a:ext>
            </a:extLst>
          </p:cNvPr>
          <p:cNvSpPr txBox="1"/>
          <p:nvPr/>
        </p:nvSpPr>
        <p:spPr>
          <a:xfrm>
            <a:off x="10576560" y="3892105"/>
            <a:ext cx="7092468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hendrerit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urna. Pellentesque sit amet sapien fringilla, mattis ligula consectetur, ultrices mauris.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Maecenas vitae mattis tellus. Nullam quis imperdiet augue.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A5B7E9-FA36-19D0-B737-F84E957755CD}"/>
              </a:ext>
            </a:extLst>
          </p:cNvPr>
          <p:cNvSpPr txBox="1"/>
          <p:nvPr/>
        </p:nvSpPr>
        <p:spPr>
          <a:xfrm>
            <a:off x="10538460" y="1644205"/>
            <a:ext cx="7092468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Ut et massa mi. Aliquam in hendrerit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urna. Pellentesque sit amet sapien fringilla, mattis ligula consectetur, ultrices mauris. </a:t>
            </a:r>
          </a:p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Maecenas vitae mattis tellus. Nullam quis imperdiet augue.</a:t>
            </a:r>
          </a:p>
        </p:txBody>
      </p:sp>
    </p:spTree>
    <p:extLst>
      <p:ext uri="{BB962C8B-B14F-4D97-AF65-F5344CB8AC3E}">
        <p14:creationId xmlns:p14="http://schemas.microsoft.com/office/powerpoint/2010/main" val="3406420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FC320E3-C31A-2AE8-FCA0-3D5EE46D6C90}"/>
              </a:ext>
            </a:extLst>
          </p:cNvPr>
          <p:cNvSpPr/>
          <p:nvPr/>
        </p:nvSpPr>
        <p:spPr>
          <a:xfrm>
            <a:off x="533400" y="533400"/>
            <a:ext cx="5667375" cy="9220200"/>
          </a:xfrm>
          <a:custGeom>
            <a:avLst/>
            <a:gdLst>
              <a:gd name="connsiteX0" fmla="*/ 5438775 w 5667375"/>
              <a:gd name="connsiteY0" fmla="*/ 0 h 9220200"/>
              <a:gd name="connsiteX1" fmla="*/ 5667375 w 5667375"/>
              <a:gd name="connsiteY1" fmla="*/ 0 h 9220200"/>
              <a:gd name="connsiteX2" fmla="*/ 5667375 w 5667375"/>
              <a:gd name="connsiteY2" fmla="*/ 9220200 h 9220200"/>
              <a:gd name="connsiteX3" fmla="*/ 5438775 w 5667375"/>
              <a:gd name="connsiteY3" fmla="*/ 9220200 h 9220200"/>
              <a:gd name="connsiteX4" fmla="*/ 228600 w 5667375"/>
              <a:gd name="connsiteY4" fmla="*/ 9220200 h 9220200"/>
              <a:gd name="connsiteX5" fmla="*/ 0 w 5667375"/>
              <a:gd name="connsiteY5" fmla="*/ 9220200 h 9220200"/>
              <a:gd name="connsiteX6" fmla="*/ 0 w 5667375"/>
              <a:gd name="connsiteY6" fmla="*/ 0 h 9220200"/>
              <a:gd name="connsiteX7" fmla="*/ 228600 w 5667375"/>
              <a:gd name="connsiteY7" fmla="*/ 0 h 922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7375" h="9220200">
                <a:moveTo>
                  <a:pt x="5438775" y="0"/>
                </a:moveTo>
                <a:cubicBezTo>
                  <a:pt x="5565027" y="0"/>
                  <a:pt x="5667375" y="0"/>
                  <a:pt x="5667375" y="0"/>
                </a:cubicBezTo>
                <a:lnTo>
                  <a:pt x="5667375" y="9220200"/>
                </a:lnTo>
                <a:cubicBezTo>
                  <a:pt x="5667375" y="9220200"/>
                  <a:pt x="5565027" y="9220200"/>
                  <a:pt x="5438775" y="9220200"/>
                </a:cubicBezTo>
                <a:lnTo>
                  <a:pt x="228600" y="9220200"/>
                </a:lnTo>
                <a:cubicBezTo>
                  <a:pt x="102348" y="9220200"/>
                  <a:pt x="0" y="9220200"/>
                  <a:pt x="0" y="9220200"/>
                </a:cubicBezTo>
                <a:lnTo>
                  <a:pt x="0" y="0"/>
                </a:lnTo>
                <a:cubicBezTo>
                  <a:pt x="0" y="0"/>
                  <a:pt x="102348" y="0"/>
                  <a:pt x="228600" y="0"/>
                </a:cubicBezTo>
                <a:close/>
              </a:path>
            </a:pathLst>
          </a:custGeom>
          <a:solidFill>
            <a:srgbClr val="EAEAE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27E8417-1BB7-7E55-579C-001DD874B452}"/>
              </a:ext>
            </a:extLst>
          </p:cNvPr>
          <p:cNvSpPr/>
          <p:nvPr/>
        </p:nvSpPr>
        <p:spPr>
          <a:xfrm>
            <a:off x="990600" y="211455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C80241E-015A-F5D6-DDAA-9064FCDFD339}"/>
              </a:ext>
            </a:extLst>
          </p:cNvPr>
          <p:cNvSpPr/>
          <p:nvPr/>
        </p:nvSpPr>
        <p:spPr>
          <a:xfrm>
            <a:off x="1260481" y="2381250"/>
            <a:ext cx="660396" cy="609600"/>
          </a:xfrm>
          <a:custGeom>
            <a:avLst/>
            <a:gdLst>
              <a:gd name="connsiteX0" fmla="*/ 58274 w 660396"/>
              <a:gd name="connsiteY0" fmla="*/ 0 h 609600"/>
              <a:gd name="connsiteX1" fmla="*/ 0 w 660396"/>
              <a:gd name="connsiteY1" fmla="*/ 0 h 609600"/>
              <a:gd name="connsiteX2" fmla="*/ 0 w 660396"/>
              <a:gd name="connsiteY2" fmla="*/ 609600 h 609600"/>
              <a:gd name="connsiteX3" fmla="*/ 369046 w 660396"/>
              <a:gd name="connsiteY3" fmla="*/ 609600 h 609600"/>
              <a:gd name="connsiteX4" fmla="*/ 58274 w 660396"/>
              <a:gd name="connsiteY4" fmla="*/ 0 h 609600"/>
              <a:gd name="connsiteX5" fmla="*/ 271929 w 660396"/>
              <a:gd name="connsiteY5" fmla="*/ 0 h 609600"/>
              <a:gd name="connsiteX6" fmla="*/ 582701 w 660396"/>
              <a:gd name="connsiteY6" fmla="*/ 609600 h 609600"/>
              <a:gd name="connsiteX7" fmla="*/ 660397 w 660396"/>
              <a:gd name="connsiteY7" fmla="*/ 609600 h 609600"/>
              <a:gd name="connsiteX8" fmla="*/ 660397 w 660396"/>
              <a:gd name="connsiteY8" fmla="*/ 0 h 609600"/>
              <a:gd name="connsiteX9" fmla="*/ 271929 w 66039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39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46" y="609600"/>
                </a:lnTo>
                <a:lnTo>
                  <a:pt x="58274" y="0"/>
                </a:lnTo>
                <a:close/>
                <a:moveTo>
                  <a:pt x="271929" y="0"/>
                </a:moveTo>
                <a:lnTo>
                  <a:pt x="582701" y="609600"/>
                </a:lnTo>
                <a:lnTo>
                  <a:pt x="660397" y="609600"/>
                </a:lnTo>
                <a:lnTo>
                  <a:pt x="660397" y="0"/>
                </a:lnTo>
                <a:lnTo>
                  <a:pt x="27192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2DC353-4996-A5B5-F623-43A155FC388E}"/>
              </a:ext>
            </a:extLst>
          </p:cNvPr>
          <p:cNvSpPr txBox="1"/>
          <p:nvPr/>
        </p:nvSpPr>
        <p:spPr>
          <a:xfrm>
            <a:off x="12148185" y="3555111"/>
            <a:ext cx="673608" cy="1195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D9FF00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02F847-3D59-F0A2-C68D-0EA83B10907B}"/>
              </a:ext>
            </a:extLst>
          </p:cNvPr>
          <p:cNvSpPr txBox="1"/>
          <p:nvPr/>
        </p:nvSpPr>
        <p:spPr>
          <a:xfrm>
            <a:off x="12224385" y="7555325"/>
            <a:ext cx="973343" cy="357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Lina K.,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F42768-FE57-3988-C5E8-4FD1300F8466}"/>
              </a:ext>
            </a:extLst>
          </p:cNvPr>
          <p:cNvSpPr txBox="1"/>
          <p:nvPr/>
        </p:nvSpPr>
        <p:spPr>
          <a:xfrm>
            <a:off x="13043535" y="7573327"/>
            <a:ext cx="1802130" cy="331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Online Merchant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C59C1022-15D2-010F-7804-F9B8B648E9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20DF07-C188-4A51-4048-665FA6292465}"/>
              </a:ext>
            </a:extLst>
          </p:cNvPr>
          <p:cNvSpPr txBox="1"/>
          <p:nvPr/>
        </p:nvSpPr>
        <p:spPr>
          <a:xfrm>
            <a:off x="12224385" y="6135052"/>
            <a:ext cx="5483161" cy="124649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We've tripled our monthly orders, all thanks to its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cutting-edge smart analytics. The insights we gain help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us make informed decisions, streamline our inventory,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and truly grasp our customers' preferences, resulting in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remarkable sales growth!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F02402-C275-5339-219A-819FB03A5A61}"/>
              </a:ext>
            </a:extLst>
          </p:cNvPr>
          <p:cNvSpPr txBox="1"/>
          <p:nvPr/>
        </p:nvSpPr>
        <p:spPr>
          <a:xfrm>
            <a:off x="12224385" y="4307776"/>
            <a:ext cx="4885600" cy="140807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2850" b="1">
                <a:solidFill>
                  <a:srgbClr val="1A1A1A"/>
                </a:solidFill>
                <a:latin typeface="Plus Jakarta Sans" pitchFamily="2" charset="0"/>
              </a:rPr>
              <a:t>Thanks to NEXORA, our </a:t>
            </a:r>
          </a:p>
          <a:p>
            <a:r>
              <a:rPr lang="en-ID" sz="2850" b="1">
                <a:solidFill>
                  <a:srgbClr val="1A1A1A"/>
                </a:solidFill>
                <a:latin typeface="Plus Jakarta Sans" pitchFamily="2" charset="0"/>
              </a:rPr>
              <a:t>store's performance has </a:t>
            </a:r>
          </a:p>
          <a:p>
            <a:r>
              <a:rPr lang="en-ID" sz="2850" b="1">
                <a:solidFill>
                  <a:srgbClr val="1A1A1A"/>
                </a:solidFill>
                <a:latin typeface="Plus Jakarta Sans" pitchFamily="2" charset="0"/>
              </a:rPr>
              <a:t>skyrocketed!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89779C-6999-F41A-775B-6965D42FA93A}"/>
              </a:ext>
            </a:extLst>
          </p:cNvPr>
          <p:cNvSpPr txBox="1"/>
          <p:nvPr/>
        </p:nvSpPr>
        <p:spPr>
          <a:xfrm>
            <a:off x="899160" y="5668517"/>
            <a:ext cx="4578019" cy="120032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1200">
                <a:solidFill>
                  <a:srgbClr val="2E2E2E"/>
                </a:solidFill>
                <a:latin typeface="Plus Jakarta Sans" pitchFamily="2" charset="0"/>
              </a:rPr>
              <a:t>Lorem ipsum dolor sit amet, consectetur adipiscing elit. </a:t>
            </a:r>
            <a:endParaRPr lang="sv-SE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Ut et massa mi. Aliquam in hendrerit urna. Pellentesque </a:t>
            </a: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sit amet sapien fringilla, mattis ligula consectetur, </a:t>
            </a:r>
            <a:endParaRPr lang="fr-FR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fr-FR" sz="1200">
                <a:solidFill>
                  <a:srgbClr val="2E2E2E"/>
                </a:solidFill>
                <a:latin typeface="Plus Jakarta Sans" pitchFamily="2" charset="0"/>
              </a:rPr>
              <a:t>ultrices mauris. Maecenas vitae mattis tellus. Nullam quis </a:t>
            </a:r>
          </a:p>
          <a:p>
            <a:r>
              <a:rPr lang="fr-FR" sz="1200">
                <a:solidFill>
                  <a:srgbClr val="2E2E2E"/>
                </a:solidFill>
                <a:latin typeface="Plus Jakarta Sans" pitchFamily="2" charset="0"/>
              </a:rPr>
              <a:t>imperdiet augue. Vestibulum auctor ornare leo, non </a:t>
            </a:r>
          </a:p>
          <a:p>
            <a:r>
              <a:rPr lang="fr-FR" sz="1200">
                <a:solidFill>
                  <a:srgbClr val="2E2E2E"/>
                </a:solidFill>
                <a:latin typeface="Plus Jakarta Sans" pitchFamily="2" charset="0"/>
              </a:rPr>
              <a:t>suscipit magna interdum. 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6092B9-CE0A-3F11-C991-1EE723B368F9}"/>
              </a:ext>
            </a:extLst>
          </p:cNvPr>
          <p:cNvSpPr txBox="1"/>
          <p:nvPr/>
        </p:nvSpPr>
        <p:spPr>
          <a:xfrm>
            <a:off x="899160" y="3670744"/>
            <a:ext cx="5121630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2E2E2E"/>
                </a:solidFill>
                <a:latin typeface="Plus Jakarta Sans" pitchFamily="2" charset="0"/>
              </a:rPr>
              <a:t>Real success </a:t>
            </a:r>
          </a:p>
          <a:p>
            <a:r>
              <a:rPr lang="en-ID" sz="4800" b="1">
                <a:solidFill>
                  <a:srgbClr val="2E2E2E"/>
                </a:solidFill>
                <a:latin typeface="Plus Jakarta Sans" pitchFamily="2" charset="0"/>
              </a:rPr>
              <a:t>from real users.</a:t>
            </a:r>
          </a:p>
        </p:txBody>
      </p:sp>
    </p:spTree>
    <p:extLst>
      <p:ext uri="{BB962C8B-B14F-4D97-AF65-F5344CB8AC3E}">
        <p14:creationId xmlns:p14="http://schemas.microsoft.com/office/powerpoint/2010/main" val="3396845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960899-16EE-03FB-22AD-C4E7243E3931}"/>
              </a:ext>
            </a:extLst>
          </p:cNvPr>
          <p:cNvSpPr txBox="1"/>
          <p:nvPr/>
        </p:nvSpPr>
        <p:spPr>
          <a:xfrm>
            <a:off x="899160" y="3191827"/>
            <a:ext cx="29225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The people behind innovation.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5475D82-9E7F-E1EE-3BE8-63E42828B6EF}"/>
              </a:ext>
            </a:extLst>
          </p:cNvPr>
          <p:cNvSpPr/>
          <p:nvPr/>
        </p:nvSpPr>
        <p:spPr>
          <a:xfrm>
            <a:off x="990600" y="4429125"/>
            <a:ext cx="285750" cy="190500"/>
          </a:xfrm>
          <a:custGeom>
            <a:avLst/>
            <a:gdLst>
              <a:gd name="connsiteX0" fmla="*/ 0 w 285750"/>
              <a:gd name="connsiteY0" fmla="*/ 0 h 190500"/>
              <a:gd name="connsiteX1" fmla="*/ 285750 w 285750"/>
              <a:gd name="connsiteY1" fmla="*/ 0 h 190500"/>
              <a:gd name="connsiteX2" fmla="*/ 285750 w 285750"/>
              <a:gd name="connsiteY2" fmla="*/ 190500 h 190500"/>
              <a:gd name="connsiteX3" fmla="*/ 0 w 28575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90500">
                <a:moveTo>
                  <a:pt x="0" y="0"/>
                </a:moveTo>
                <a:lnTo>
                  <a:pt x="285750" y="0"/>
                </a:lnTo>
                <a:lnTo>
                  <a:pt x="28575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F3410-C984-6759-A9AF-96921809A9CE}"/>
              </a:ext>
            </a:extLst>
          </p:cNvPr>
          <p:cNvSpPr txBox="1"/>
          <p:nvPr/>
        </p:nvSpPr>
        <p:spPr>
          <a:xfrm>
            <a:off x="899160" y="4382643"/>
            <a:ext cx="416356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27C0D4-AC17-FBC2-3B26-80492FD04B2A}"/>
              </a:ext>
            </a:extLst>
          </p:cNvPr>
          <p:cNvSpPr txBox="1"/>
          <p:nvPr/>
        </p:nvSpPr>
        <p:spPr>
          <a:xfrm>
            <a:off x="899160" y="4879085"/>
            <a:ext cx="1741874" cy="5955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+200%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710E2-9BDD-B409-96D2-D388D3C52A0B}"/>
              </a:ext>
            </a:extLst>
          </p:cNvPr>
          <p:cNvSpPr txBox="1"/>
          <p:nvPr/>
        </p:nvSpPr>
        <p:spPr>
          <a:xfrm>
            <a:off x="899160" y="5610987"/>
            <a:ext cx="234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Gross Merchandise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953AE-A2F1-CB63-F004-9223C813D1B8}"/>
              </a:ext>
            </a:extLst>
          </p:cNvPr>
          <p:cNvSpPr txBox="1"/>
          <p:nvPr/>
        </p:nvSpPr>
        <p:spPr>
          <a:xfrm>
            <a:off x="899160" y="6125717"/>
            <a:ext cx="1098042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in 12 months.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ABE2675-1821-CA3D-4ED4-967CC8BCC790}"/>
              </a:ext>
            </a:extLst>
          </p:cNvPr>
          <p:cNvSpPr/>
          <p:nvPr/>
        </p:nvSpPr>
        <p:spPr>
          <a:xfrm>
            <a:off x="3746506" y="4429125"/>
            <a:ext cx="314325" cy="190500"/>
          </a:xfrm>
          <a:custGeom>
            <a:avLst/>
            <a:gdLst>
              <a:gd name="connsiteX0" fmla="*/ 0 w 314325"/>
              <a:gd name="connsiteY0" fmla="*/ 0 h 190500"/>
              <a:gd name="connsiteX1" fmla="*/ 314325 w 314325"/>
              <a:gd name="connsiteY1" fmla="*/ 0 h 190500"/>
              <a:gd name="connsiteX2" fmla="*/ 314325 w 314325"/>
              <a:gd name="connsiteY2" fmla="*/ 190500 h 190500"/>
              <a:gd name="connsiteX3" fmla="*/ 0 w 314325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5" h="190500">
                <a:moveTo>
                  <a:pt x="0" y="0"/>
                </a:moveTo>
                <a:lnTo>
                  <a:pt x="314325" y="0"/>
                </a:lnTo>
                <a:lnTo>
                  <a:pt x="314325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8285E7-CC52-0481-7493-5F465F6381E1}"/>
              </a:ext>
            </a:extLst>
          </p:cNvPr>
          <p:cNvSpPr txBox="1"/>
          <p:nvPr/>
        </p:nvSpPr>
        <p:spPr>
          <a:xfrm>
            <a:off x="3655066" y="4382643"/>
            <a:ext cx="451256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F3F3F3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1F0D53-399A-1418-DEAB-9A7E019D8084}"/>
              </a:ext>
            </a:extLst>
          </p:cNvPr>
          <p:cNvSpPr txBox="1"/>
          <p:nvPr/>
        </p:nvSpPr>
        <p:spPr>
          <a:xfrm>
            <a:off x="3655066" y="4879085"/>
            <a:ext cx="109998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95%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0C60E7-BE3A-F837-5BF4-BEFA9970C72B}"/>
              </a:ext>
            </a:extLst>
          </p:cNvPr>
          <p:cNvSpPr txBox="1"/>
          <p:nvPr/>
        </p:nvSpPr>
        <p:spPr>
          <a:xfrm>
            <a:off x="3655066" y="5610987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Seller satisfaction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C50280-1B11-ABF3-D3F1-EA2F69711EC0}"/>
              </a:ext>
            </a:extLst>
          </p:cNvPr>
          <p:cNvSpPr txBox="1"/>
          <p:nvPr/>
        </p:nvSpPr>
        <p:spPr>
          <a:xfrm>
            <a:off x="3655066" y="6125717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Increase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B7CD658-2D61-A5F5-A778-AB888E3DDBAC}"/>
              </a:ext>
            </a:extLst>
          </p:cNvPr>
          <p:cNvSpPr/>
          <p:nvPr/>
        </p:nvSpPr>
        <p:spPr>
          <a:xfrm>
            <a:off x="6502393" y="4429125"/>
            <a:ext cx="304800" cy="190500"/>
          </a:xfrm>
          <a:custGeom>
            <a:avLst/>
            <a:gdLst>
              <a:gd name="connsiteX0" fmla="*/ 0 w 304800"/>
              <a:gd name="connsiteY0" fmla="*/ 0 h 190500"/>
              <a:gd name="connsiteX1" fmla="*/ 304800 w 304800"/>
              <a:gd name="connsiteY1" fmla="*/ 0 h 190500"/>
              <a:gd name="connsiteX2" fmla="*/ 304800 w 304800"/>
              <a:gd name="connsiteY2" fmla="*/ 190500 h 190500"/>
              <a:gd name="connsiteX3" fmla="*/ 0 w 30480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90500">
                <a:moveTo>
                  <a:pt x="0" y="0"/>
                </a:moveTo>
                <a:lnTo>
                  <a:pt x="304800" y="0"/>
                </a:lnTo>
                <a:lnTo>
                  <a:pt x="3048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ED5BA8-B1AD-5811-48E9-954AA85A111E}"/>
              </a:ext>
            </a:extLst>
          </p:cNvPr>
          <p:cNvSpPr txBox="1"/>
          <p:nvPr/>
        </p:nvSpPr>
        <p:spPr>
          <a:xfrm>
            <a:off x="6410953" y="4382643"/>
            <a:ext cx="452628" cy="283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F3F3F3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/03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1A0698-A509-C054-8FFA-62AA70A35647}"/>
              </a:ext>
            </a:extLst>
          </p:cNvPr>
          <p:cNvSpPr txBox="1"/>
          <p:nvPr/>
        </p:nvSpPr>
        <p:spPr>
          <a:xfrm>
            <a:off x="6410953" y="4879085"/>
            <a:ext cx="1401432" cy="5955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315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+80%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035017-FE8F-0286-291C-3D27816DAC84}"/>
              </a:ext>
            </a:extLst>
          </p:cNvPr>
          <p:cNvSpPr txBox="1"/>
          <p:nvPr/>
        </p:nvSpPr>
        <p:spPr>
          <a:xfrm>
            <a:off x="6410953" y="5610987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Daily transaction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34CFA8-AF70-32A5-6D0D-BF5E3801A066}"/>
              </a:ext>
            </a:extLst>
          </p:cNvPr>
          <p:cNvSpPr txBox="1"/>
          <p:nvPr/>
        </p:nvSpPr>
        <p:spPr>
          <a:xfrm>
            <a:off x="6410953" y="6125717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Transaction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075E868-B7D1-A6C6-8228-3F566B0BF9B7}"/>
              </a:ext>
            </a:extLst>
          </p:cNvPr>
          <p:cNvSpPr/>
          <p:nvPr/>
        </p:nvSpPr>
        <p:spPr>
          <a:xfrm>
            <a:off x="990600" y="6819900"/>
            <a:ext cx="7810500" cy="9525"/>
          </a:xfrm>
          <a:custGeom>
            <a:avLst/>
            <a:gdLst>
              <a:gd name="connsiteX0" fmla="*/ 0 w 7810500"/>
              <a:gd name="connsiteY0" fmla="*/ 0 h 9525"/>
              <a:gd name="connsiteX1" fmla="*/ 7810500 w 78105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4C3DAEC-22E0-5B3A-0F2A-23042ED27B98}"/>
              </a:ext>
            </a:extLst>
          </p:cNvPr>
          <p:cNvSpPr/>
          <p:nvPr/>
        </p:nvSpPr>
        <p:spPr>
          <a:xfrm>
            <a:off x="10201313" y="762000"/>
            <a:ext cx="5567476" cy="5567476"/>
          </a:xfrm>
          <a:custGeom>
            <a:avLst/>
            <a:gdLst>
              <a:gd name="connsiteX0" fmla="*/ 5567477 w 5567476"/>
              <a:gd name="connsiteY0" fmla="*/ 2783739 h 5567476"/>
              <a:gd name="connsiteX1" fmla="*/ 2783739 w 5567476"/>
              <a:gd name="connsiteY1" fmla="*/ 5567477 h 5567476"/>
              <a:gd name="connsiteX2" fmla="*/ 0 w 5567476"/>
              <a:gd name="connsiteY2" fmla="*/ 2783739 h 5567476"/>
              <a:gd name="connsiteX3" fmla="*/ 2783739 w 5567476"/>
              <a:gd name="connsiteY3" fmla="*/ 0 h 5567476"/>
              <a:gd name="connsiteX4" fmla="*/ 5567477 w 5567476"/>
              <a:gd name="connsiteY4" fmla="*/ 2783739 h 5567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7476" h="5567476">
                <a:moveTo>
                  <a:pt x="5567477" y="2783739"/>
                </a:moveTo>
                <a:cubicBezTo>
                  <a:pt x="5567477" y="4321155"/>
                  <a:pt x="4321155" y="5567477"/>
                  <a:pt x="2783739" y="5567477"/>
                </a:cubicBezTo>
                <a:cubicBezTo>
                  <a:pt x="1246322" y="5567477"/>
                  <a:pt x="0" y="4321155"/>
                  <a:pt x="0" y="2783739"/>
                </a:cubicBezTo>
                <a:cubicBezTo>
                  <a:pt x="0" y="1246322"/>
                  <a:pt x="1246322" y="0"/>
                  <a:pt x="2783739" y="0"/>
                </a:cubicBezTo>
                <a:cubicBezTo>
                  <a:pt x="4321155" y="0"/>
                  <a:pt x="5567477" y="1246322"/>
                  <a:pt x="5567477" y="2783739"/>
                </a:cubicBez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799A6D6-A520-D5AF-F3C5-ECB125C17AB2}"/>
              </a:ext>
            </a:extLst>
          </p:cNvPr>
          <p:cNvSpPr/>
          <p:nvPr/>
        </p:nvSpPr>
        <p:spPr>
          <a:xfrm>
            <a:off x="13373080" y="5734050"/>
            <a:ext cx="3788511" cy="3788511"/>
          </a:xfrm>
          <a:custGeom>
            <a:avLst/>
            <a:gdLst>
              <a:gd name="connsiteX0" fmla="*/ 3788511 w 3788511"/>
              <a:gd name="connsiteY0" fmla="*/ 1894256 h 3788511"/>
              <a:gd name="connsiteX1" fmla="*/ 1894256 w 3788511"/>
              <a:gd name="connsiteY1" fmla="*/ 3788512 h 3788511"/>
              <a:gd name="connsiteX2" fmla="*/ 0 w 3788511"/>
              <a:gd name="connsiteY2" fmla="*/ 1894256 h 3788511"/>
              <a:gd name="connsiteX3" fmla="*/ 1894256 w 3788511"/>
              <a:gd name="connsiteY3" fmla="*/ 0 h 3788511"/>
              <a:gd name="connsiteX4" fmla="*/ 3788511 w 3788511"/>
              <a:gd name="connsiteY4" fmla="*/ 1894256 h 378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8511" h="3788511">
                <a:moveTo>
                  <a:pt x="3788511" y="1894256"/>
                </a:moveTo>
                <a:cubicBezTo>
                  <a:pt x="3788511" y="2940425"/>
                  <a:pt x="2940423" y="3788512"/>
                  <a:pt x="1894256" y="3788512"/>
                </a:cubicBezTo>
                <a:cubicBezTo>
                  <a:pt x="848087" y="3788512"/>
                  <a:pt x="0" y="2940425"/>
                  <a:pt x="0" y="1894256"/>
                </a:cubicBezTo>
                <a:cubicBezTo>
                  <a:pt x="0" y="848087"/>
                  <a:pt x="848088" y="0"/>
                  <a:pt x="1894256" y="0"/>
                </a:cubicBezTo>
                <a:cubicBezTo>
                  <a:pt x="2940425" y="0"/>
                  <a:pt x="3788511" y="848087"/>
                  <a:pt x="3788511" y="1894256"/>
                </a:cubicBezTo>
                <a:close/>
              </a:path>
            </a:pathLst>
          </a:custGeom>
          <a:solidFill>
            <a:srgbClr val="8A8A8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BBC96A7-553C-D524-D921-6F1A7DE94D49}"/>
              </a:ext>
            </a:extLst>
          </p:cNvPr>
          <p:cNvSpPr/>
          <p:nvPr/>
        </p:nvSpPr>
        <p:spPr>
          <a:xfrm>
            <a:off x="9991744" y="6143625"/>
            <a:ext cx="3384956" cy="3384956"/>
          </a:xfrm>
          <a:custGeom>
            <a:avLst/>
            <a:gdLst>
              <a:gd name="connsiteX0" fmla="*/ 3384957 w 3384956"/>
              <a:gd name="connsiteY0" fmla="*/ 1692478 h 3384956"/>
              <a:gd name="connsiteX1" fmla="*/ 1692479 w 3384956"/>
              <a:gd name="connsiteY1" fmla="*/ 3384956 h 3384956"/>
              <a:gd name="connsiteX2" fmla="*/ 1 w 3384956"/>
              <a:gd name="connsiteY2" fmla="*/ 1692478 h 3384956"/>
              <a:gd name="connsiteX3" fmla="*/ 1692479 w 3384956"/>
              <a:gd name="connsiteY3" fmla="*/ 0 h 3384956"/>
              <a:gd name="connsiteX4" fmla="*/ 3384957 w 3384956"/>
              <a:gd name="connsiteY4" fmla="*/ 1692478 h 338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4956" h="3384956">
                <a:moveTo>
                  <a:pt x="3384957" y="1692478"/>
                </a:moveTo>
                <a:cubicBezTo>
                  <a:pt x="3384957" y="2627208"/>
                  <a:pt x="2627209" y="3384956"/>
                  <a:pt x="1692479" y="3384956"/>
                </a:cubicBezTo>
                <a:cubicBezTo>
                  <a:pt x="757749" y="3384956"/>
                  <a:pt x="1" y="2627208"/>
                  <a:pt x="1" y="1692478"/>
                </a:cubicBezTo>
                <a:cubicBezTo>
                  <a:pt x="1" y="757748"/>
                  <a:pt x="757749" y="0"/>
                  <a:pt x="1692479" y="0"/>
                </a:cubicBezTo>
                <a:cubicBezTo>
                  <a:pt x="2627209" y="0"/>
                  <a:pt x="3384957" y="757749"/>
                  <a:pt x="3384957" y="1692478"/>
                </a:cubicBezTo>
                <a:close/>
              </a:path>
            </a:pathLst>
          </a:custGeom>
          <a:solidFill>
            <a:srgbClr val="2E2E2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009073-B84C-E7D6-1611-FBC9D9CE1F7E}"/>
              </a:ext>
            </a:extLst>
          </p:cNvPr>
          <p:cNvSpPr txBox="1"/>
          <p:nvPr/>
        </p:nvSpPr>
        <p:spPr>
          <a:xfrm>
            <a:off x="11754517" y="3118294"/>
            <a:ext cx="2558490" cy="859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+200%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61084B-5D1A-CF8D-534D-5624B2CB438C}"/>
              </a:ext>
            </a:extLst>
          </p:cNvPr>
          <p:cNvSpPr txBox="1"/>
          <p:nvPr/>
        </p:nvSpPr>
        <p:spPr>
          <a:xfrm>
            <a:off x="14558486" y="7202424"/>
            <a:ext cx="1433073" cy="78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350" b="1" spc="0" baseline="0">
                <a:ln/>
                <a:solidFill>
                  <a:srgbClr val="F3F3F3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95%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BE39B-10B5-9069-3A18-AACAAA4963C5}"/>
              </a:ext>
            </a:extLst>
          </p:cNvPr>
          <p:cNvSpPr txBox="1"/>
          <p:nvPr/>
        </p:nvSpPr>
        <p:spPr>
          <a:xfrm>
            <a:off x="10751248" y="7402449"/>
            <a:ext cx="1865643" cy="78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4350" b="1" spc="0" baseline="0">
                <a:ln/>
                <a:solidFill>
                  <a:srgbClr val="F3F3F3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+80%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513922E-A23D-C3DB-89BE-F0685B7728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101B1B-B7E1-C63E-AA64-88B7C4D84CFD}"/>
              </a:ext>
            </a:extLst>
          </p:cNvPr>
          <p:cNvSpPr txBox="1"/>
          <p:nvPr/>
        </p:nvSpPr>
        <p:spPr>
          <a:xfrm>
            <a:off x="6109335" y="7230617"/>
            <a:ext cx="3106750" cy="83099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da-DK" sz="1200">
                <a:solidFill>
                  <a:srgbClr val="2E2E2E"/>
                </a:solidFill>
                <a:latin typeface="Plus Jakarta Sans" pitchFamily="2" charset="0"/>
              </a:rPr>
              <a:t>Lorem ipsum dolor sit amet, </a:t>
            </a:r>
            <a:endParaRPr lang="nb-NO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nb-NO" sz="1200">
                <a:solidFill>
                  <a:srgbClr val="2E2E2E"/>
                </a:solidFill>
                <a:latin typeface="Plus Jakarta Sans" pitchFamily="2" charset="0"/>
              </a:rPr>
              <a:t>consectetur adipiscing elit. Ut et </a:t>
            </a:r>
            <a:endParaRPr lang="sv-SE" sz="1200">
              <a:solidFill>
                <a:srgbClr val="2E2E2E"/>
              </a:solidFill>
              <a:latin typeface="Plus Jakarta Sans" pitchFamily="2" charset="0"/>
            </a:endParaRP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massa mi. Aliquam in hendrerit urna. </a:t>
            </a:r>
          </a:p>
          <a:p>
            <a:r>
              <a:rPr lang="sv-SE" sz="1200">
                <a:solidFill>
                  <a:srgbClr val="2E2E2E"/>
                </a:solidFill>
                <a:latin typeface="Plus Jakarta Sans" pitchFamily="2" charset="0"/>
              </a:rPr>
              <a:t>Pellentesque sit amet sapien.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B3ECFD-4F59-26C1-E524-99AF389B4DEB}"/>
              </a:ext>
            </a:extLst>
          </p:cNvPr>
          <p:cNvSpPr txBox="1"/>
          <p:nvPr/>
        </p:nvSpPr>
        <p:spPr>
          <a:xfrm>
            <a:off x="899160" y="945261"/>
            <a:ext cx="8086115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Our impact in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measurable form.</a:t>
            </a:r>
          </a:p>
        </p:txBody>
      </p:sp>
    </p:spTree>
    <p:extLst>
      <p:ext uri="{BB962C8B-B14F-4D97-AF65-F5344CB8AC3E}">
        <p14:creationId xmlns:p14="http://schemas.microsoft.com/office/powerpoint/2010/main" val="7631857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660413B-54AD-C8FC-AECC-D070FA6D1453}"/>
              </a:ext>
            </a:extLst>
          </p:cNvPr>
          <p:cNvSpPr txBox="1"/>
          <p:nvPr/>
        </p:nvSpPr>
        <p:spPr>
          <a:xfrm>
            <a:off x="670560" y="3949064"/>
            <a:ext cx="29225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The people behind innovation.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B480BF-AAD3-F7A1-0FD9-93F7C12296A9}"/>
              </a:ext>
            </a:extLst>
          </p:cNvPr>
          <p:cNvSpPr txBox="1"/>
          <p:nvPr/>
        </p:nvSpPr>
        <p:spPr>
          <a:xfrm>
            <a:off x="6328410" y="4428839"/>
            <a:ext cx="125226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Aisha Khan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2A08CE-443C-E2F7-1BC0-B581BB157173}"/>
              </a:ext>
            </a:extLst>
          </p:cNvPr>
          <p:cNvSpPr txBox="1"/>
          <p:nvPr/>
        </p:nvSpPr>
        <p:spPr>
          <a:xfrm>
            <a:off x="7423785" y="4430077"/>
            <a:ext cx="19062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Product Manager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0FC1A-4570-8EEB-998B-3B07BA25A088}"/>
              </a:ext>
            </a:extLst>
          </p:cNvPr>
          <p:cNvSpPr txBox="1"/>
          <p:nvPr/>
        </p:nvSpPr>
        <p:spPr>
          <a:xfrm>
            <a:off x="6328410" y="4792218"/>
            <a:ext cx="27478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Driving product vision and strategy.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D1CED-7307-72C1-17BB-0241A8ECAD5D}"/>
              </a:ext>
            </a:extLst>
          </p:cNvPr>
          <p:cNvSpPr txBox="1"/>
          <p:nvPr/>
        </p:nvSpPr>
        <p:spPr>
          <a:xfrm>
            <a:off x="11986260" y="4428839"/>
            <a:ext cx="126028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Maya Patel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A6D4E-47DE-820A-15A6-034F10D48443}"/>
              </a:ext>
            </a:extLst>
          </p:cNvPr>
          <p:cNvSpPr txBox="1"/>
          <p:nvPr/>
        </p:nvSpPr>
        <p:spPr>
          <a:xfrm>
            <a:off x="13081635" y="4430077"/>
            <a:ext cx="19143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Graphic Designer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43C2D0-1C5C-007C-69AA-B50ACA7C5862}"/>
              </a:ext>
            </a:extLst>
          </p:cNvPr>
          <p:cNvSpPr txBox="1"/>
          <p:nvPr/>
        </p:nvSpPr>
        <p:spPr>
          <a:xfrm>
            <a:off x="11986260" y="4792218"/>
            <a:ext cx="2807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Creating stunning visuals for brands.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F9E91E-9EC2-AF30-AB14-A37C0A1F7273}"/>
              </a:ext>
            </a:extLst>
          </p:cNvPr>
          <p:cNvSpPr txBox="1"/>
          <p:nvPr/>
        </p:nvSpPr>
        <p:spPr>
          <a:xfrm>
            <a:off x="670560" y="8924639"/>
            <a:ext cx="1192806" cy="34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Liam Chen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C4B471-E358-F645-5647-DC3E1A0B684D}"/>
              </a:ext>
            </a:extLst>
          </p:cNvPr>
          <p:cNvSpPr txBox="1"/>
          <p:nvPr/>
        </p:nvSpPr>
        <p:spPr>
          <a:xfrm>
            <a:off x="1727835" y="8925877"/>
            <a:ext cx="21675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Frontend Developer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3FAB3F-B1D1-A802-EF8A-E9CB56B82C99}"/>
              </a:ext>
            </a:extLst>
          </p:cNvPr>
          <p:cNvSpPr txBox="1"/>
          <p:nvPr/>
        </p:nvSpPr>
        <p:spPr>
          <a:xfrm>
            <a:off x="670560" y="9288017"/>
            <a:ext cx="2943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Crafting responsive web applications.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FFFF7-8278-440A-5CBC-EC981A850BBF}"/>
              </a:ext>
            </a:extLst>
          </p:cNvPr>
          <p:cNvSpPr txBox="1"/>
          <p:nvPr/>
        </p:nvSpPr>
        <p:spPr>
          <a:xfrm>
            <a:off x="6328410" y="8924639"/>
            <a:ext cx="1511952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Rajesh Verma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0DDCB4-48FC-140F-58F3-C138185BCC1C}"/>
              </a:ext>
            </a:extLst>
          </p:cNvPr>
          <p:cNvSpPr txBox="1"/>
          <p:nvPr/>
        </p:nvSpPr>
        <p:spPr>
          <a:xfrm>
            <a:off x="7680960" y="8925877"/>
            <a:ext cx="14622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Data Analyst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85DC2B-6231-86A4-EDA1-4039E116B948}"/>
              </a:ext>
            </a:extLst>
          </p:cNvPr>
          <p:cNvSpPr txBox="1"/>
          <p:nvPr/>
        </p:nvSpPr>
        <p:spPr>
          <a:xfrm>
            <a:off x="6328410" y="9288017"/>
            <a:ext cx="3267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Transforming data into actionable insights.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30F893-D537-AB6A-5464-3AD51086F5EF}"/>
              </a:ext>
            </a:extLst>
          </p:cNvPr>
          <p:cNvSpPr txBox="1"/>
          <p:nvPr/>
        </p:nvSpPr>
        <p:spPr>
          <a:xfrm>
            <a:off x="11986260" y="8924639"/>
            <a:ext cx="1425390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75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Ethan Brown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3A039E-B8D9-043B-4A4B-28CA0D250C19}"/>
              </a:ext>
            </a:extLst>
          </p:cNvPr>
          <p:cNvSpPr txBox="1"/>
          <p:nvPr/>
        </p:nvSpPr>
        <p:spPr>
          <a:xfrm>
            <a:off x="13253085" y="8925877"/>
            <a:ext cx="21755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5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– Marketing Specialist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870C01-4C18-6EF1-F404-EB740BB8D923}"/>
              </a:ext>
            </a:extLst>
          </p:cNvPr>
          <p:cNvSpPr txBox="1"/>
          <p:nvPr/>
        </p:nvSpPr>
        <p:spPr>
          <a:xfrm>
            <a:off x="11986260" y="9288017"/>
            <a:ext cx="36150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Executing campaigns that engage and convert.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9DE8E53-6CC5-DE84-B591-0398C3B31B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BF904D9-C4BF-82E9-D8E2-DE3BADEDA97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50E702B-E227-17D9-B15A-9932911F7D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1197E94-2842-5851-0517-E656E7E6E13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4E72EEB-68ED-810C-6F42-E1CFD6B8F7E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E1B2BE-985B-7736-E8D3-D905DB6FBC2F}"/>
              </a:ext>
            </a:extLst>
          </p:cNvPr>
          <p:cNvSpPr txBox="1"/>
          <p:nvPr/>
        </p:nvSpPr>
        <p:spPr>
          <a:xfrm>
            <a:off x="670560" y="1511998"/>
            <a:ext cx="4124363" cy="221599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Team </a:t>
            </a:r>
          </a:p>
          <a:p>
            <a:r>
              <a:rPr lang="en-ID" sz="6900" b="1">
                <a:solidFill>
                  <a:srgbClr val="1A1A1A"/>
                </a:solidFill>
                <a:latin typeface="Plus Jakarta Sans" pitchFamily="2" charset="0"/>
              </a:rPr>
              <a:t>Member</a:t>
            </a:r>
          </a:p>
        </p:txBody>
      </p:sp>
    </p:spTree>
    <p:extLst>
      <p:ext uri="{BB962C8B-B14F-4D97-AF65-F5344CB8AC3E}">
        <p14:creationId xmlns:p14="http://schemas.microsoft.com/office/powerpoint/2010/main" val="2850778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06D41E-1B45-35E0-AD5D-3C34F7B9DFD6}"/>
              </a:ext>
            </a:extLst>
          </p:cNvPr>
          <p:cNvSpPr/>
          <p:nvPr/>
        </p:nvSpPr>
        <p:spPr>
          <a:xfrm>
            <a:off x="762000" y="236220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88C8017-D02E-EA75-3CD8-AE441D653971}"/>
              </a:ext>
            </a:extLst>
          </p:cNvPr>
          <p:cNvSpPr/>
          <p:nvPr/>
        </p:nvSpPr>
        <p:spPr>
          <a:xfrm>
            <a:off x="1031881" y="2628900"/>
            <a:ext cx="660396" cy="609600"/>
          </a:xfrm>
          <a:custGeom>
            <a:avLst/>
            <a:gdLst>
              <a:gd name="connsiteX0" fmla="*/ 58274 w 660396"/>
              <a:gd name="connsiteY0" fmla="*/ 0 h 609600"/>
              <a:gd name="connsiteX1" fmla="*/ 0 w 660396"/>
              <a:gd name="connsiteY1" fmla="*/ 0 h 609600"/>
              <a:gd name="connsiteX2" fmla="*/ 0 w 660396"/>
              <a:gd name="connsiteY2" fmla="*/ 609600 h 609600"/>
              <a:gd name="connsiteX3" fmla="*/ 369046 w 660396"/>
              <a:gd name="connsiteY3" fmla="*/ 609600 h 609600"/>
              <a:gd name="connsiteX4" fmla="*/ 58274 w 660396"/>
              <a:gd name="connsiteY4" fmla="*/ 0 h 609600"/>
              <a:gd name="connsiteX5" fmla="*/ 271929 w 660396"/>
              <a:gd name="connsiteY5" fmla="*/ 0 h 609600"/>
              <a:gd name="connsiteX6" fmla="*/ 582701 w 660396"/>
              <a:gd name="connsiteY6" fmla="*/ 609600 h 609600"/>
              <a:gd name="connsiteX7" fmla="*/ 660397 w 660396"/>
              <a:gd name="connsiteY7" fmla="*/ 609600 h 609600"/>
              <a:gd name="connsiteX8" fmla="*/ 660397 w 660396"/>
              <a:gd name="connsiteY8" fmla="*/ 0 h 609600"/>
              <a:gd name="connsiteX9" fmla="*/ 271929 w 66039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39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46" y="609600"/>
                </a:lnTo>
                <a:lnTo>
                  <a:pt x="58274" y="0"/>
                </a:lnTo>
                <a:close/>
                <a:moveTo>
                  <a:pt x="271929" y="0"/>
                </a:moveTo>
                <a:lnTo>
                  <a:pt x="582701" y="609600"/>
                </a:lnTo>
                <a:lnTo>
                  <a:pt x="660397" y="609600"/>
                </a:lnTo>
                <a:lnTo>
                  <a:pt x="660397" y="0"/>
                </a:lnTo>
                <a:lnTo>
                  <a:pt x="27192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53E5A-DC95-691C-C8ED-D9F70572418A}"/>
              </a:ext>
            </a:extLst>
          </p:cNvPr>
          <p:cNvSpPr txBox="1"/>
          <p:nvPr/>
        </p:nvSpPr>
        <p:spPr>
          <a:xfrm>
            <a:off x="670560" y="6411087"/>
            <a:ext cx="2630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From ideas to impact.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D81EB63-EC66-B635-AB82-178F30A98F5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A245B10-11DB-8DAC-A4FD-815AB8391B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B425056-EF41-73C0-4C91-2C3C105B01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05981-77BE-04B3-6A10-D029AAF0265B}"/>
              </a:ext>
            </a:extLst>
          </p:cNvPr>
          <p:cNvSpPr txBox="1"/>
          <p:nvPr/>
        </p:nvSpPr>
        <p:spPr>
          <a:xfrm>
            <a:off x="670560" y="7401877"/>
            <a:ext cx="4230242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Include product mockups, event photos,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and user-generated content.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E30B9C-2BB2-4FDB-714D-1897771C382B}"/>
              </a:ext>
            </a:extLst>
          </p:cNvPr>
          <p:cNvSpPr txBox="1"/>
          <p:nvPr/>
        </p:nvSpPr>
        <p:spPr>
          <a:xfrm>
            <a:off x="670560" y="4166044"/>
            <a:ext cx="4367555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A look inside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our journey.</a:t>
            </a:r>
          </a:p>
        </p:txBody>
      </p:sp>
    </p:spTree>
    <p:extLst>
      <p:ext uri="{BB962C8B-B14F-4D97-AF65-F5344CB8AC3E}">
        <p14:creationId xmlns:p14="http://schemas.microsoft.com/office/powerpoint/2010/main" val="27355476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20592BC-16B2-BEAE-FDD4-05B91AA7CD88}"/>
              </a:ext>
            </a:extLst>
          </p:cNvPr>
          <p:cNvSpPr/>
          <p:nvPr/>
        </p:nvSpPr>
        <p:spPr>
          <a:xfrm>
            <a:off x="762000" y="1657350"/>
            <a:ext cx="1190625" cy="1143000"/>
          </a:xfrm>
          <a:custGeom>
            <a:avLst/>
            <a:gdLst>
              <a:gd name="connsiteX0" fmla="*/ 0 w 1190625"/>
              <a:gd name="connsiteY0" fmla="*/ 0 h 1143000"/>
              <a:gd name="connsiteX1" fmla="*/ 1190625 w 1190625"/>
              <a:gd name="connsiteY1" fmla="*/ 0 h 1143000"/>
              <a:gd name="connsiteX2" fmla="*/ 1190625 w 1190625"/>
              <a:gd name="connsiteY2" fmla="*/ 1143000 h 1143000"/>
              <a:gd name="connsiteX3" fmla="*/ 0 w 1190625"/>
              <a:gd name="connsiteY3" fmla="*/ 1143000 h 1143000"/>
              <a:gd name="connsiteX4" fmla="*/ 0 w 1190625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625" h="1143000">
                <a:moveTo>
                  <a:pt x="0" y="0"/>
                </a:moveTo>
                <a:lnTo>
                  <a:pt x="1190625" y="0"/>
                </a:lnTo>
                <a:lnTo>
                  <a:pt x="11906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72FBCF0-80AC-90F5-50C3-22B347DF7134}"/>
              </a:ext>
            </a:extLst>
          </p:cNvPr>
          <p:cNvSpPr/>
          <p:nvPr/>
        </p:nvSpPr>
        <p:spPr>
          <a:xfrm>
            <a:off x="1031881" y="1924050"/>
            <a:ext cx="660396" cy="609600"/>
          </a:xfrm>
          <a:custGeom>
            <a:avLst/>
            <a:gdLst>
              <a:gd name="connsiteX0" fmla="*/ 58274 w 660396"/>
              <a:gd name="connsiteY0" fmla="*/ 0 h 609600"/>
              <a:gd name="connsiteX1" fmla="*/ 0 w 660396"/>
              <a:gd name="connsiteY1" fmla="*/ 0 h 609600"/>
              <a:gd name="connsiteX2" fmla="*/ 0 w 660396"/>
              <a:gd name="connsiteY2" fmla="*/ 609600 h 609600"/>
              <a:gd name="connsiteX3" fmla="*/ 369046 w 660396"/>
              <a:gd name="connsiteY3" fmla="*/ 609600 h 609600"/>
              <a:gd name="connsiteX4" fmla="*/ 58274 w 660396"/>
              <a:gd name="connsiteY4" fmla="*/ 0 h 609600"/>
              <a:gd name="connsiteX5" fmla="*/ 271929 w 660396"/>
              <a:gd name="connsiteY5" fmla="*/ 0 h 609600"/>
              <a:gd name="connsiteX6" fmla="*/ 582701 w 660396"/>
              <a:gd name="connsiteY6" fmla="*/ 609600 h 609600"/>
              <a:gd name="connsiteX7" fmla="*/ 660397 w 660396"/>
              <a:gd name="connsiteY7" fmla="*/ 609600 h 609600"/>
              <a:gd name="connsiteX8" fmla="*/ 660397 w 660396"/>
              <a:gd name="connsiteY8" fmla="*/ 0 h 609600"/>
              <a:gd name="connsiteX9" fmla="*/ 271929 w 660396"/>
              <a:gd name="connsiteY9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0396" h="609600">
                <a:moveTo>
                  <a:pt x="58274" y="0"/>
                </a:moveTo>
                <a:lnTo>
                  <a:pt x="0" y="0"/>
                </a:lnTo>
                <a:lnTo>
                  <a:pt x="0" y="609600"/>
                </a:lnTo>
                <a:lnTo>
                  <a:pt x="369046" y="609600"/>
                </a:lnTo>
                <a:lnTo>
                  <a:pt x="58274" y="0"/>
                </a:lnTo>
                <a:close/>
                <a:moveTo>
                  <a:pt x="271929" y="0"/>
                </a:moveTo>
                <a:lnTo>
                  <a:pt x="582701" y="609600"/>
                </a:lnTo>
                <a:lnTo>
                  <a:pt x="660397" y="609600"/>
                </a:lnTo>
                <a:lnTo>
                  <a:pt x="660397" y="0"/>
                </a:lnTo>
                <a:lnTo>
                  <a:pt x="271929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26890AF-D9D7-FB9D-3637-65F577ACDA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B6CE9-5D9B-5D66-43EA-E576C136DA40}"/>
              </a:ext>
            </a:extLst>
          </p:cNvPr>
          <p:cNvSpPr txBox="1"/>
          <p:nvPr/>
        </p:nvSpPr>
        <p:spPr>
          <a:xfrm>
            <a:off x="670560" y="5211127"/>
            <a:ext cx="5951028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Summarize insights and invite collaboration: “Join NEXORA in 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shaping the smarter commerce era.” Add contact call-to-</a:t>
            </a:r>
          </a:p>
          <a:p>
            <a:r>
              <a:rPr lang="en-US" sz="1500">
                <a:solidFill>
                  <a:srgbClr val="2E2E2E"/>
                </a:solidFill>
                <a:latin typeface="Plus Jakarta Sans" pitchFamily="2" charset="0"/>
              </a:rPr>
              <a:t>action.</a:t>
            </a:r>
            <a:endParaRPr lang="en-ID" sz="1500">
              <a:solidFill>
                <a:srgbClr val="2E2E2E"/>
              </a:solidFill>
              <a:latin typeface="Plus Jakarta Sans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9EB7AC-899A-1399-0EB5-2180DB1941AC}"/>
              </a:ext>
            </a:extLst>
          </p:cNvPr>
          <p:cNvSpPr txBox="1"/>
          <p:nvPr/>
        </p:nvSpPr>
        <p:spPr>
          <a:xfrm>
            <a:off x="670560" y="2965894"/>
            <a:ext cx="5486780" cy="156966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Let’s redefine </a:t>
            </a:r>
          </a:p>
          <a:p>
            <a:r>
              <a:rPr lang="en-ID" sz="4800" b="1">
                <a:solidFill>
                  <a:srgbClr val="1A1A1A"/>
                </a:solidFill>
                <a:latin typeface="Plus Jakarta Sans" pitchFamily="2" charset="0"/>
              </a:rPr>
              <a:t>online shopping.</a:t>
            </a:r>
          </a:p>
        </p:txBody>
      </p:sp>
    </p:spTree>
    <p:extLst>
      <p:ext uri="{BB962C8B-B14F-4D97-AF65-F5344CB8AC3E}">
        <p14:creationId xmlns:p14="http://schemas.microsoft.com/office/powerpoint/2010/main" val="6240619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68B884-33BB-BBF4-7A0D-3F4F326A9114}"/>
              </a:ext>
            </a:extLst>
          </p:cNvPr>
          <p:cNvSpPr/>
          <p:nvPr/>
        </p:nvSpPr>
        <p:spPr>
          <a:xfrm>
            <a:off x="228600" y="228600"/>
            <a:ext cx="17830800" cy="9829800"/>
          </a:xfrm>
          <a:prstGeom prst="roundRect">
            <a:avLst>
              <a:gd name="adj" fmla="val 1000"/>
            </a:avLst>
          </a:prstGeom>
          <a:gradFill>
            <a:gsLst>
              <a:gs pos="0">
                <a:srgbClr val="000000">
                  <a:alpha val="20000"/>
                </a:srgb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78ED3-8244-CDAB-4F11-DA2751D664E7}"/>
              </a:ext>
            </a:extLst>
          </p:cNvPr>
          <p:cNvSpPr txBox="1"/>
          <p:nvPr/>
        </p:nvSpPr>
        <p:spPr>
          <a:xfrm>
            <a:off x="670560" y="6935342"/>
            <a:ext cx="1983943" cy="283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Shop Smart. Live Digital.”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BB268-7EF4-56B4-6297-EB27AC87D784}"/>
              </a:ext>
            </a:extLst>
          </p:cNvPr>
          <p:cNvSpPr txBox="1"/>
          <p:nvPr/>
        </p:nvSpPr>
        <p:spPr>
          <a:xfrm>
            <a:off x="670560" y="7222235"/>
            <a:ext cx="735970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69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Closing Remarks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51098-C751-169F-0D5E-A210CACB8314}"/>
              </a:ext>
            </a:extLst>
          </p:cNvPr>
          <p:cNvSpPr txBox="1"/>
          <p:nvPr/>
        </p:nvSpPr>
        <p:spPr>
          <a:xfrm>
            <a:off x="670560" y="877843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Website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1E91A3-6D25-A97D-9543-D17B18671D87}"/>
              </a:ext>
            </a:extLst>
          </p:cNvPr>
          <p:cNvSpPr txBox="1"/>
          <p:nvPr/>
        </p:nvSpPr>
        <p:spPr>
          <a:xfrm>
            <a:off x="675898" y="9007887"/>
            <a:ext cx="2167581" cy="357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www.nexora.com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3F65C-C0FB-49F3-72EC-3B0320F5BC86}"/>
              </a:ext>
            </a:extLst>
          </p:cNvPr>
          <p:cNvSpPr txBox="1"/>
          <p:nvPr/>
        </p:nvSpPr>
        <p:spPr>
          <a:xfrm>
            <a:off x="3975735" y="8778430"/>
            <a:ext cx="64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E-Mail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13B67-2C27-65E1-24E1-814B594358FC}"/>
              </a:ext>
            </a:extLst>
          </p:cNvPr>
          <p:cNvSpPr txBox="1"/>
          <p:nvPr/>
        </p:nvSpPr>
        <p:spPr>
          <a:xfrm>
            <a:off x="3984907" y="9007887"/>
            <a:ext cx="2779928" cy="357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hello.help@nexora.com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87A2E-8DF8-C351-4431-CAC12516B49F}"/>
              </a:ext>
            </a:extLst>
          </p:cNvPr>
          <p:cNvSpPr txBox="1"/>
          <p:nvPr/>
        </p:nvSpPr>
        <p:spPr>
          <a:xfrm>
            <a:off x="7280910" y="8778430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Telephone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1258CE-1D30-A20B-252B-64193F1F5D20}"/>
              </a:ext>
            </a:extLst>
          </p:cNvPr>
          <p:cNvSpPr txBox="1"/>
          <p:nvPr/>
        </p:nvSpPr>
        <p:spPr>
          <a:xfrm>
            <a:off x="7283634" y="9007887"/>
            <a:ext cx="2449430" cy="367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725" b="1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+999 808-1234-1234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1F1EE7B-555F-D3C0-F880-6A11FF2905AF}"/>
              </a:ext>
            </a:extLst>
          </p:cNvPr>
          <p:cNvSpPr/>
          <p:nvPr/>
        </p:nvSpPr>
        <p:spPr>
          <a:xfrm>
            <a:off x="13544550" y="9039225"/>
            <a:ext cx="457200" cy="457200"/>
          </a:xfrm>
          <a:custGeom>
            <a:avLst/>
            <a:gdLst>
              <a:gd name="connsiteX0" fmla="*/ 457200 w 457200"/>
              <a:gd name="connsiteY0" fmla="*/ 228600 h 457200"/>
              <a:gd name="connsiteX1" fmla="*/ 228600 w 457200"/>
              <a:gd name="connsiteY1" fmla="*/ 457200 h 457200"/>
              <a:gd name="connsiteX2" fmla="*/ 0 w 457200"/>
              <a:gd name="connsiteY2" fmla="*/ 228600 h 457200"/>
              <a:gd name="connsiteX3" fmla="*/ 228600 w 457200"/>
              <a:gd name="connsiteY3" fmla="*/ 0 h 457200"/>
              <a:gd name="connsiteX4" fmla="*/ 457200 w 457200"/>
              <a:gd name="connsiteY4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354852"/>
                  <a:pt x="354853" y="457200"/>
                  <a:pt x="228600" y="457200"/>
                </a:cubicBezTo>
                <a:cubicBezTo>
                  <a:pt x="102347" y="457200"/>
                  <a:pt x="0" y="354852"/>
                  <a:pt x="0" y="228600"/>
                </a:cubicBezTo>
                <a:cubicBezTo>
                  <a:pt x="0" y="102348"/>
                  <a:pt x="102347" y="0"/>
                  <a:pt x="228600" y="0"/>
                </a:cubicBezTo>
                <a:cubicBezTo>
                  <a:pt x="354853" y="0"/>
                  <a:pt x="457200" y="102348"/>
                  <a:pt x="457200" y="228600"/>
                </a:cubicBezTo>
                <a:close/>
              </a:path>
            </a:pathLst>
          </a:custGeom>
          <a:solidFill>
            <a:srgbClr val="D9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B472523-3276-83B6-1D38-AA832CCFE40E}"/>
              </a:ext>
            </a:extLst>
          </p:cNvPr>
          <p:cNvSpPr/>
          <p:nvPr/>
        </p:nvSpPr>
        <p:spPr>
          <a:xfrm>
            <a:off x="13661517" y="9166821"/>
            <a:ext cx="223265" cy="202015"/>
          </a:xfrm>
          <a:custGeom>
            <a:avLst/>
            <a:gdLst>
              <a:gd name="connsiteX0" fmla="*/ 19716 w 223265"/>
              <a:gd name="connsiteY0" fmla="*/ 0 h 202015"/>
              <a:gd name="connsiteX1" fmla="*/ 0 w 223265"/>
              <a:gd name="connsiteY1" fmla="*/ 0 h 202015"/>
              <a:gd name="connsiteX2" fmla="*/ 0 w 223265"/>
              <a:gd name="connsiteY2" fmla="*/ 202016 h 202015"/>
              <a:gd name="connsiteX3" fmla="*/ 124777 w 223265"/>
              <a:gd name="connsiteY3" fmla="*/ 202016 h 202015"/>
              <a:gd name="connsiteX4" fmla="*/ 19716 w 223265"/>
              <a:gd name="connsiteY4" fmla="*/ 0 h 202015"/>
              <a:gd name="connsiteX5" fmla="*/ 91916 w 223265"/>
              <a:gd name="connsiteY5" fmla="*/ 0 h 202015"/>
              <a:gd name="connsiteX6" fmla="*/ 196976 w 223265"/>
              <a:gd name="connsiteY6" fmla="*/ 202016 h 202015"/>
              <a:gd name="connsiteX7" fmla="*/ 223265 w 223265"/>
              <a:gd name="connsiteY7" fmla="*/ 202016 h 202015"/>
              <a:gd name="connsiteX8" fmla="*/ 223265 w 223265"/>
              <a:gd name="connsiteY8" fmla="*/ 0 h 202015"/>
              <a:gd name="connsiteX9" fmla="*/ 91916 w 223265"/>
              <a:gd name="connsiteY9" fmla="*/ 0 h 20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3265" h="202015">
                <a:moveTo>
                  <a:pt x="19716" y="0"/>
                </a:moveTo>
                <a:lnTo>
                  <a:pt x="0" y="0"/>
                </a:lnTo>
                <a:lnTo>
                  <a:pt x="0" y="202016"/>
                </a:lnTo>
                <a:lnTo>
                  <a:pt x="124777" y="202016"/>
                </a:lnTo>
                <a:lnTo>
                  <a:pt x="19716" y="0"/>
                </a:lnTo>
                <a:close/>
                <a:moveTo>
                  <a:pt x="91916" y="0"/>
                </a:moveTo>
                <a:lnTo>
                  <a:pt x="196976" y="202016"/>
                </a:lnTo>
                <a:lnTo>
                  <a:pt x="223265" y="202016"/>
                </a:lnTo>
                <a:lnTo>
                  <a:pt x="223265" y="0"/>
                </a:lnTo>
                <a:lnTo>
                  <a:pt x="91916" y="0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218BEC-7933-3EEB-38F7-F95BB2E394E7}"/>
              </a:ext>
            </a:extLst>
          </p:cNvPr>
          <p:cNvSpPr txBox="1"/>
          <p:nvPr/>
        </p:nvSpPr>
        <p:spPr>
          <a:xfrm>
            <a:off x="14138910" y="8964167"/>
            <a:ext cx="1157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200" spc="0" baseline="0">
                <a:ln/>
                <a:solidFill>
                  <a:srgbClr val="2E2E2E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Presented by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46D704-0F70-9184-37B4-D3C5EB940FB7}"/>
              </a:ext>
            </a:extLst>
          </p:cNvPr>
          <p:cNvSpPr txBox="1"/>
          <p:nvPr/>
        </p:nvSpPr>
        <p:spPr>
          <a:xfrm>
            <a:off x="14138910" y="9192387"/>
            <a:ext cx="1561337" cy="379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D" sz="1800" b="1" spc="0" baseline="0">
                <a:ln/>
                <a:solidFill>
                  <a:srgbClr val="1A1A1A"/>
                </a:solidFill>
                <a:latin typeface="Plus Jakarta Sans" pitchFamily="2" charset="0"/>
                <a:cs typeface="Plus Jakarta Sans"/>
                <a:sym typeface="Plus Jakarta Sans"/>
                <a:rtl val="0"/>
              </a:rPr>
              <a:t>James Smith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146C7D38-9FFE-8EFF-F05F-75BD5132A3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7162DE-C07A-5051-236D-9755A13ACF9D}"/>
              </a:ext>
            </a:extLst>
          </p:cNvPr>
          <p:cNvSpPr txBox="1"/>
          <p:nvPr/>
        </p:nvSpPr>
        <p:spPr>
          <a:xfrm>
            <a:off x="13453111" y="7592567"/>
            <a:ext cx="4476520" cy="83099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Envision Nexora as the future of e-commerce,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seamlessly merging convenience and cutting-edge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technology to revolutionize your shopping experience. </a:t>
            </a:r>
          </a:p>
          <a:p>
            <a:r>
              <a:rPr lang="en-US" sz="1200">
                <a:solidFill>
                  <a:srgbClr val="2E2E2E"/>
                </a:solidFill>
                <a:latin typeface="Plus Jakarta Sans" pitchFamily="2" charset="0"/>
              </a:rPr>
              <a:t>Nexora: shop faster, safer, and smarter.</a:t>
            </a:r>
            <a:endParaRPr lang="en-ID" sz="1200">
              <a:solidFill>
                <a:srgbClr val="2E2E2E"/>
              </a:solidFill>
              <a:latin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69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3774</Words>
  <Application>Microsoft Office PowerPoint</Application>
  <PresentationFormat>Custom</PresentationFormat>
  <Paragraphs>732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Aptos Display</vt:lpstr>
      <vt:lpstr>Arial</vt:lpstr>
      <vt:lpstr>Plus Jakarta Sans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seno  bimantoro</dc:creator>
  <cp:lastModifiedBy>seno  bimantoro</cp:lastModifiedBy>
  <cp:revision>3</cp:revision>
  <dcterms:created xsi:type="dcterms:W3CDTF">2025-10-13T01:10:36Z</dcterms:created>
  <dcterms:modified xsi:type="dcterms:W3CDTF">2025-11-19T03:47:08Z</dcterms:modified>
</cp:coreProperties>
</file>