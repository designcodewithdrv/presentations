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24.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FFFFFF"/>
    <a:srgbClr val="ED1515"/>
    <a:srgbClr val="FF4D4D"/>
    <a:srgbClr val="FF9D9D"/>
    <a:srgbClr val="FFA2A2"/>
    <a:srgbClr val="D1D1D1"/>
    <a:srgbClr val="FFDFDF"/>
    <a:srgbClr val="B5A0A0"/>
    <a:srgbClr val="B0B0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1" d="100"/>
          <a:sy n="31" d="100"/>
        </p:scale>
        <p:origin x="106" y="7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FF4D4D"/>
              </a:solidFill>
              <a:ln w="19050">
                <a:noFill/>
              </a:ln>
              <a:effectLst/>
            </c:spPr>
            <c:extLst>
              <c:ext xmlns:c16="http://schemas.microsoft.com/office/drawing/2014/chart" uri="{C3380CC4-5D6E-409C-BE32-E72D297353CC}">
                <c16:uniqueId val="{00000002-A094-4E07-BA79-641945BFA1E9}"/>
              </c:ext>
            </c:extLst>
          </c:dPt>
          <c:dPt>
            <c:idx val="1"/>
            <c:bubble3D val="0"/>
            <c:spPr>
              <a:solidFill>
                <a:srgbClr val="C80D0D"/>
              </a:solidFill>
              <a:ln w="19050">
                <a:noFill/>
              </a:ln>
              <a:effectLst/>
            </c:spPr>
            <c:extLst>
              <c:ext xmlns:c16="http://schemas.microsoft.com/office/drawing/2014/chart" uri="{C3380CC4-5D6E-409C-BE32-E72D297353CC}">
                <c16:uniqueId val="{00000003-A094-4E07-BA79-641945BFA1E9}"/>
              </c:ext>
            </c:extLst>
          </c:dPt>
          <c:dPt>
            <c:idx val="2"/>
            <c:bubble3D val="0"/>
            <c:spPr>
              <a:solidFill>
                <a:srgbClr val="881414"/>
              </a:solidFill>
              <a:ln w="19050">
                <a:noFill/>
              </a:ln>
              <a:effectLst/>
            </c:spPr>
            <c:extLst>
              <c:ext xmlns:c16="http://schemas.microsoft.com/office/drawing/2014/chart" uri="{C3380CC4-5D6E-409C-BE32-E72D297353CC}">
                <c16:uniqueId val="{00000004-A094-4E07-BA79-641945BFA1E9}"/>
              </c:ext>
            </c:extLst>
          </c:dPt>
          <c:dPt>
            <c:idx val="3"/>
            <c:bubble3D val="0"/>
            <c:spPr>
              <a:solidFill>
                <a:srgbClr val="454545"/>
              </a:solidFill>
              <a:ln w="19050">
                <a:noFill/>
              </a:ln>
              <a:effectLst/>
            </c:spPr>
            <c:extLst>
              <c:ext xmlns:c16="http://schemas.microsoft.com/office/drawing/2014/chart" uri="{C3380CC4-5D6E-409C-BE32-E72D297353CC}">
                <c16:uniqueId val="{00000005-A094-4E07-BA79-641945BFA1E9}"/>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0.4</c:v>
                </c:pt>
                <c:pt idx="1">
                  <c:v>0.25</c:v>
                </c:pt>
                <c:pt idx="2">
                  <c:v>0.15</c:v>
                </c:pt>
                <c:pt idx="3">
                  <c:v>0.2</c:v>
                </c:pt>
              </c:numCache>
            </c:numRef>
          </c:val>
          <c:extLst>
            <c:ext xmlns:c16="http://schemas.microsoft.com/office/drawing/2014/chart" uri="{C3380CC4-5D6E-409C-BE32-E72D297353CC}">
              <c16:uniqueId val="{00000000-A094-4E07-BA79-641945BFA1E9}"/>
            </c:ext>
          </c:extLst>
        </c:ser>
        <c:dLbls>
          <c:showLegendKey val="0"/>
          <c:showVal val="0"/>
          <c:showCatName val="0"/>
          <c:showSerName val="0"/>
          <c:showPercent val="0"/>
          <c:showBubbleSize val="0"/>
          <c:showLeaderLines val="1"/>
        </c:dLbls>
        <c:firstSliceAng val="308"/>
        <c:holeSize val="8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Series 1</c:v>
                </c:pt>
              </c:strCache>
            </c:strRef>
          </c:tx>
          <c:spPr>
            <a:solidFill>
              <a:srgbClr val="E7E7E7"/>
            </a:solidFill>
            <a:ln>
              <a:solidFill>
                <a:srgbClr val="B0B0B0"/>
              </a:solidFill>
            </a:ln>
            <a:effectLst/>
          </c:spPr>
          <c:cat>
            <c:numRef>
              <c:f>Sheet1!$A$2:$A$5</c:f>
              <c:numCache>
                <c:formatCode>m/d/yyyy</c:formatCode>
                <c:ptCount val="4"/>
                <c:pt idx="0">
                  <c:v>37377</c:v>
                </c:pt>
                <c:pt idx="1">
                  <c:v>37408</c:v>
                </c:pt>
                <c:pt idx="2">
                  <c:v>37438</c:v>
                </c:pt>
                <c:pt idx="3">
                  <c:v>37469</c:v>
                </c:pt>
              </c:numCache>
            </c:numRef>
          </c:cat>
          <c:val>
            <c:numRef>
              <c:f>Sheet1!$B$2:$B$5</c:f>
              <c:numCache>
                <c:formatCode>General</c:formatCode>
                <c:ptCount val="4"/>
                <c:pt idx="0">
                  <c:v>0</c:v>
                </c:pt>
                <c:pt idx="1">
                  <c:v>16</c:v>
                </c:pt>
                <c:pt idx="2">
                  <c:v>10</c:v>
                </c:pt>
                <c:pt idx="3">
                  <c:v>19</c:v>
                </c:pt>
              </c:numCache>
            </c:numRef>
          </c:val>
          <c:extLst>
            <c:ext xmlns:c16="http://schemas.microsoft.com/office/drawing/2014/chart" uri="{C3380CC4-5D6E-409C-BE32-E72D297353CC}">
              <c16:uniqueId val="{00000000-9D4A-40A3-92C9-6AFA283F2235}"/>
            </c:ext>
          </c:extLst>
        </c:ser>
        <c:ser>
          <c:idx val="1"/>
          <c:order val="1"/>
          <c:tx>
            <c:strRef>
              <c:f>Sheet1!$C$1</c:f>
              <c:strCache>
                <c:ptCount val="1"/>
                <c:pt idx="0">
                  <c:v>Series 2</c:v>
                </c:pt>
              </c:strCache>
            </c:strRef>
          </c:tx>
          <c:spPr>
            <a:solidFill>
              <a:srgbClr val="FFDFDF"/>
            </a:solidFill>
            <a:ln>
              <a:solidFill>
                <a:srgbClr val="FF4D4D"/>
              </a:solidFill>
            </a:ln>
            <a:effectLst/>
          </c:spPr>
          <c:cat>
            <c:numRef>
              <c:f>Sheet1!$A$2:$A$5</c:f>
              <c:numCache>
                <c:formatCode>m/d/yyyy</c:formatCode>
                <c:ptCount val="4"/>
                <c:pt idx="0">
                  <c:v>37377</c:v>
                </c:pt>
                <c:pt idx="1">
                  <c:v>37408</c:v>
                </c:pt>
                <c:pt idx="2">
                  <c:v>37438</c:v>
                </c:pt>
                <c:pt idx="3">
                  <c:v>37469</c:v>
                </c:pt>
              </c:numCache>
            </c:numRef>
          </c:cat>
          <c:val>
            <c:numRef>
              <c:f>Sheet1!$C$2:$C$5</c:f>
              <c:numCache>
                <c:formatCode>General</c:formatCode>
                <c:ptCount val="4"/>
                <c:pt idx="0">
                  <c:v>0</c:v>
                </c:pt>
                <c:pt idx="1">
                  <c:v>32</c:v>
                </c:pt>
                <c:pt idx="2">
                  <c:v>40</c:v>
                </c:pt>
                <c:pt idx="3">
                  <c:v>45</c:v>
                </c:pt>
              </c:numCache>
            </c:numRef>
          </c:val>
          <c:extLst>
            <c:ext xmlns:c16="http://schemas.microsoft.com/office/drawing/2014/chart" uri="{C3380CC4-5D6E-409C-BE32-E72D297353CC}">
              <c16:uniqueId val="{00000001-9D4A-40A3-92C9-6AFA283F2235}"/>
            </c:ext>
          </c:extLst>
        </c:ser>
        <c:dLbls>
          <c:showLegendKey val="0"/>
          <c:showVal val="0"/>
          <c:showCatName val="0"/>
          <c:showSerName val="0"/>
          <c:showPercent val="0"/>
          <c:showBubbleSize val="0"/>
        </c:dLbls>
        <c:axId val="262464767"/>
        <c:axId val="262458527"/>
      </c:areaChart>
      <c:dateAx>
        <c:axId val="262464767"/>
        <c:scaling>
          <c:orientation val="minMax"/>
        </c:scaling>
        <c:delete val="1"/>
        <c:axPos val="b"/>
        <c:numFmt formatCode="m/d/yyyy" sourceLinked="1"/>
        <c:majorTickMark val="out"/>
        <c:minorTickMark val="none"/>
        <c:tickLblPos val="nextTo"/>
        <c:crossAx val="262458527"/>
        <c:crosses val="autoZero"/>
        <c:auto val="1"/>
        <c:lblOffset val="100"/>
        <c:baseTimeUnit val="months"/>
      </c:dateAx>
      <c:valAx>
        <c:axId val="262458527"/>
        <c:scaling>
          <c:orientation val="minMax"/>
        </c:scaling>
        <c:delete val="1"/>
        <c:axPos val="l"/>
        <c:numFmt formatCode="General" sourceLinked="1"/>
        <c:majorTickMark val="none"/>
        <c:minorTickMark val="none"/>
        <c:tickLblPos val="nextTo"/>
        <c:crossAx val="262464767"/>
        <c:crosses val="autoZero"/>
        <c:crossBetween val="midCat"/>
      </c:valAx>
      <c:spPr>
        <a:noFill/>
        <a:ln w="25400">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dPt>
            <c:idx val="0"/>
            <c:invertIfNegative val="0"/>
            <c:bubble3D val="0"/>
            <c:spPr>
              <a:solidFill>
                <a:srgbClr val="E7E7E7"/>
              </a:solidFill>
              <a:ln>
                <a:noFill/>
              </a:ln>
              <a:effectLst/>
            </c:spPr>
            <c:extLst>
              <c:ext xmlns:c16="http://schemas.microsoft.com/office/drawing/2014/chart" uri="{C3380CC4-5D6E-409C-BE32-E72D297353CC}">
                <c16:uniqueId val="{00000004-766C-45DC-949B-50E9FF168659}"/>
              </c:ext>
            </c:extLst>
          </c:dPt>
          <c:dPt>
            <c:idx val="1"/>
            <c:invertIfNegative val="0"/>
            <c:bubble3D val="0"/>
            <c:spPr>
              <a:solidFill>
                <a:srgbClr val="D1D1D1"/>
              </a:solidFill>
              <a:ln>
                <a:noFill/>
              </a:ln>
              <a:effectLst/>
            </c:spPr>
            <c:extLst>
              <c:ext xmlns:c16="http://schemas.microsoft.com/office/drawing/2014/chart" uri="{C3380CC4-5D6E-409C-BE32-E72D297353CC}">
                <c16:uniqueId val="{00000005-766C-45DC-949B-50E9FF168659}"/>
              </c:ext>
            </c:extLst>
          </c:dPt>
          <c:dPt>
            <c:idx val="2"/>
            <c:invertIfNegative val="0"/>
            <c:bubble3D val="0"/>
            <c:spPr>
              <a:solidFill>
                <a:srgbClr val="B0B0B0"/>
              </a:solidFill>
              <a:ln>
                <a:noFill/>
              </a:ln>
              <a:effectLst/>
            </c:spPr>
            <c:extLst>
              <c:ext xmlns:c16="http://schemas.microsoft.com/office/drawing/2014/chart" uri="{C3380CC4-5D6E-409C-BE32-E72D297353CC}">
                <c16:uniqueId val="{00000006-766C-45DC-949B-50E9FF168659}"/>
              </c:ext>
            </c:extLst>
          </c:dPt>
          <c:dPt>
            <c:idx val="3"/>
            <c:invertIfNegative val="0"/>
            <c:bubble3D val="0"/>
            <c:spPr>
              <a:solidFill>
                <a:schemeClr val="bg1">
                  <a:lumMod val="50000"/>
                </a:schemeClr>
              </a:solidFill>
              <a:ln>
                <a:noFill/>
              </a:ln>
              <a:effectLst/>
            </c:spPr>
            <c:extLst>
              <c:ext xmlns:c16="http://schemas.microsoft.com/office/drawing/2014/chart" uri="{C3380CC4-5D6E-409C-BE32-E72D297353CC}">
                <c16:uniqueId val="{00000007-766C-45DC-949B-50E9FF168659}"/>
              </c:ext>
            </c:extLst>
          </c:dPt>
          <c:dPt>
            <c:idx val="4"/>
            <c:invertIfNegative val="0"/>
            <c:bubble3D val="0"/>
            <c:spPr>
              <a:solidFill>
                <a:schemeClr val="bg2">
                  <a:lumMod val="50000"/>
                </a:schemeClr>
              </a:solidFill>
              <a:ln>
                <a:noFill/>
              </a:ln>
              <a:effectLst/>
            </c:spPr>
            <c:extLst>
              <c:ext xmlns:c16="http://schemas.microsoft.com/office/drawing/2014/chart" uri="{C3380CC4-5D6E-409C-BE32-E72D297353CC}">
                <c16:uniqueId val="{00000008-766C-45DC-949B-50E9FF168659}"/>
              </c:ext>
            </c:extLst>
          </c:dPt>
          <c:cat>
            <c:strRef>
              <c:f>Sheet1!$A$2:$A$6</c:f>
              <c:strCache>
                <c:ptCount val="5"/>
                <c:pt idx="0">
                  <c:v>Marketing</c:v>
                </c:pt>
                <c:pt idx="1">
                  <c:v>Operations</c:v>
                </c:pt>
                <c:pt idx="2">
                  <c:v>Technology</c:v>
                </c:pt>
                <c:pt idx="3">
                  <c:v>R&amp;D</c:v>
                </c:pt>
                <c:pt idx="4">
                  <c:v>Admin</c:v>
                </c:pt>
              </c:strCache>
            </c:strRef>
          </c:cat>
          <c:val>
            <c:numRef>
              <c:f>Sheet1!$B$2:$B$6</c:f>
              <c:numCache>
                <c:formatCode>General</c:formatCode>
                <c:ptCount val="5"/>
                <c:pt idx="0">
                  <c:v>4</c:v>
                </c:pt>
                <c:pt idx="1">
                  <c:v>3</c:v>
                </c:pt>
                <c:pt idx="2">
                  <c:v>2</c:v>
                </c:pt>
                <c:pt idx="3">
                  <c:v>2</c:v>
                </c:pt>
                <c:pt idx="4">
                  <c:v>3</c:v>
                </c:pt>
              </c:numCache>
            </c:numRef>
          </c:val>
          <c:extLst>
            <c:ext xmlns:c16="http://schemas.microsoft.com/office/drawing/2014/chart" uri="{C3380CC4-5D6E-409C-BE32-E72D297353CC}">
              <c16:uniqueId val="{00000000-766C-45DC-949B-50E9FF168659}"/>
            </c:ext>
          </c:extLst>
        </c:ser>
        <c:ser>
          <c:idx val="1"/>
          <c:order val="1"/>
          <c:tx>
            <c:strRef>
              <c:f>Sheet1!$C$1</c:f>
              <c:strCache>
                <c:ptCount val="1"/>
                <c:pt idx="0">
                  <c:v>After</c:v>
                </c:pt>
              </c:strCache>
            </c:strRef>
          </c:tx>
          <c:spPr>
            <a:solidFill>
              <a:srgbClr val="FF4D4D"/>
            </a:solidFill>
            <a:ln>
              <a:noFill/>
            </a:ln>
            <a:effectLst/>
          </c:spPr>
          <c:invertIfNegative val="0"/>
          <c:cat>
            <c:strRef>
              <c:f>Sheet1!$A$2:$A$6</c:f>
              <c:strCache>
                <c:ptCount val="5"/>
                <c:pt idx="0">
                  <c:v>Marketing</c:v>
                </c:pt>
                <c:pt idx="1">
                  <c:v>Operations</c:v>
                </c:pt>
                <c:pt idx="2">
                  <c:v>Technology</c:v>
                </c:pt>
                <c:pt idx="3">
                  <c:v>R&amp;D</c:v>
                </c:pt>
                <c:pt idx="4">
                  <c:v>Admin</c:v>
                </c:pt>
              </c:strCache>
            </c:strRef>
          </c:cat>
          <c:val>
            <c:numRef>
              <c:f>Sheet1!$C$2:$C$6</c:f>
              <c:numCache>
                <c:formatCode>General</c:formatCode>
                <c:ptCount val="5"/>
                <c:pt idx="0">
                  <c:v>3</c:v>
                </c:pt>
                <c:pt idx="1">
                  <c:v>3.5</c:v>
                </c:pt>
                <c:pt idx="2">
                  <c:v>4</c:v>
                </c:pt>
                <c:pt idx="3">
                  <c:v>2</c:v>
                </c:pt>
                <c:pt idx="4">
                  <c:v>2</c:v>
                </c:pt>
              </c:numCache>
            </c:numRef>
          </c:val>
          <c:extLst>
            <c:ext xmlns:c16="http://schemas.microsoft.com/office/drawing/2014/chart" uri="{C3380CC4-5D6E-409C-BE32-E72D297353CC}">
              <c16:uniqueId val="{00000001-766C-45DC-949B-50E9FF168659}"/>
            </c:ext>
          </c:extLst>
        </c:ser>
        <c:dLbls>
          <c:showLegendKey val="0"/>
          <c:showVal val="0"/>
          <c:showCatName val="0"/>
          <c:showSerName val="0"/>
          <c:showPercent val="0"/>
          <c:showBubbleSize val="0"/>
        </c:dLbls>
        <c:gapWidth val="79"/>
        <c:overlap val="-27"/>
        <c:axId val="509251135"/>
        <c:axId val="509247807"/>
      </c:barChart>
      <c:catAx>
        <c:axId val="5092511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crossAx val="509247807"/>
        <c:crosses val="autoZero"/>
        <c:auto val="1"/>
        <c:lblAlgn val="ctr"/>
        <c:lblOffset val="2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dPt>
            <c:idx val="0"/>
            <c:invertIfNegative val="0"/>
            <c:bubble3D val="0"/>
            <c:spPr>
              <a:solidFill>
                <a:srgbClr val="FF4D4D"/>
              </a:solidFill>
              <a:ln>
                <a:noFill/>
              </a:ln>
              <a:effectLst/>
            </c:spPr>
            <c:extLst>
              <c:ext xmlns:c16="http://schemas.microsoft.com/office/drawing/2014/chart" uri="{C3380CC4-5D6E-409C-BE32-E72D297353CC}">
                <c16:uniqueId val="{00000001-A24F-40DE-88C8-A6EEBA8A3307}"/>
              </c:ext>
            </c:extLst>
          </c:dPt>
          <c:dPt>
            <c:idx val="1"/>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3-A24F-40DE-88C8-A6EEBA8A3307}"/>
              </c:ext>
            </c:extLst>
          </c:dPt>
          <c:dPt>
            <c:idx val="2"/>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5-A24F-40DE-88C8-A6EEBA8A3307}"/>
              </c:ext>
            </c:extLst>
          </c:dPt>
          <c:dPt>
            <c:idx val="3"/>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7-A24F-40DE-88C8-A6EEBA8A3307}"/>
              </c:ext>
            </c:extLst>
          </c:dPt>
          <c:dPt>
            <c:idx val="4"/>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9-A24F-40DE-88C8-A6EEBA8A3307}"/>
              </c:ext>
            </c:extLst>
          </c:dPt>
          <c:cat>
            <c:strRef>
              <c:f>Sheet1!$A$2:$A$6</c:f>
              <c:strCache>
                <c:ptCount val="5"/>
                <c:pt idx="0">
                  <c:v>Supplier A</c:v>
                </c:pt>
                <c:pt idx="1">
                  <c:v>Supplier B</c:v>
                </c:pt>
                <c:pt idx="2">
                  <c:v>Supplier C</c:v>
                </c:pt>
                <c:pt idx="3">
                  <c:v>Supplier D</c:v>
                </c:pt>
                <c:pt idx="4">
                  <c:v>Supplier E</c:v>
                </c:pt>
              </c:strCache>
            </c:strRef>
          </c:cat>
          <c:val>
            <c:numRef>
              <c:f>Sheet1!$B$2:$B$6</c:f>
              <c:numCache>
                <c:formatCode>General</c:formatCode>
                <c:ptCount val="5"/>
                <c:pt idx="0">
                  <c:v>5</c:v>
                </c:pt>
                <c:pt idx="1">
                  <c:v>4</c:v>
                </c:pt>
                <c:pt idx="2">
                  <c:v>3</c:v>
                </c:pt>
                <c:pt idx="3">
                  <c:v>2</c:v>
                </c:pt>
                <c:pt idx="4">
                  <c:v>1</c:v>
                </c:pt>
              </c:numCache>
            </c:numRef>
          </c:val>
          <c:extLst>
            <c:ext xmlns:c16="http://schemas.microsoft.com/office/drawing/2014/chart" uri="{C3380CC4-5D6E-409C-BE32-E72D297353CC}">
              <c16:uniqueId val="{0000000A-A24F-40DE-88C8-A6EEBA8A3307}"/>
            </c:ext>
          </c:extLst>
        </c:ser>
        <c:dLbls>
          <c:showLegendKey val="0"/>
          <c:showVal val="0"/>
          <c:showCatName val="0"/>
          <c:showSerName val="0"/>
          <c:showPercent val="0"/>
          <c:showBubbleSize val="0"/>
        </c:dLbls>
        <c:gapWidth val="10"/>
        <c:axId val="509251135"/>
        <c:axId val="509247807"/>
      </c:barChart>
      <c:lineChart>
        <c:grouping val="standard"/>
        <c:varyColors val="0"/>
        <c:ser>
          <c:idx val="1"/>
          <c:order val="1"/>
          <c:tx>
            <c:strRef>
              <c:f>Sheet1!$C$1</c:f>
              <c:strCache>
                <c:ptCount val="1"/>
                <c:pt idx="0">
                  <c:v>After</c:v>
                </c:pt>
              </c:strCache>
            </c:strRef>
          </c:tx>
          <c:spPr>
            <a:ln w="28575" cap="rnd">
              <a:solidFill>
                <a:schemeClr val="bg1">
                  <a:lumMod val="65000"/>
                </a:schemeClr>
              </a:solidFill>
              <a:round/>
            </a:ln>
            <a:effectLst/>
          </c:spPr>
          <c:marker>
            <c:symbol val="circle"/>
            <c:size val="8"/>
            <c:spPr>
              <a:solidFill>
                <a:schemeClr val="tx1"/>
              </a:solidFill>
              <a:ln w="19050">
                <a:solidFill>
                  <a:schemeClr val="tx1"/>
                </a:solidFill>
              </a:ln>
              <a:effectLst/>
            </c:spPr>
          </c:marker>
          <c:cat>
            <c:strRef>
              <c:f>Sheet1!$A$2:$A$6</c:f>
              <c:strCache>
                <c:ptCount val="5"/>
                <c:pt idx="0">
                  <c:v>Supplier A</c:v>
                </c:pt>
                <c:pt idx="1">
                  <c:v>Supplier B</c:v>
                </c:pt>
                <c:pt idx="2">
                  <c:v>Supplier C</c:v>
                </c:pt>
                <c:pt idx="3">
                  <c:v>Supplier D</c:v>
                </c:pt>
                <c:pt idx="4">
                  <c:v>Supplier E</c:v>
                </c:pt>
              </c:strCache>
            </c:strRef>
          </c:cat>
          <c:val>
            <c:numRef>
              <c:f>Sheet1!$C$2:$C$6</c:f>
              <c:numCache>
                <c:formatCode>General</c:formatCode>
                <c:ptCount val="5"/>
                <c:pt idx="0">
                  <c:v>4.5</c:v>
                </c:pt>
                <c:pt idx="1">
                  <c:v>3.5</c:v>
                </c:pt>
                <c:pt idx="2">
                  <c:v>5</c:v>
                </c:pt>
                <c:pt idx="3">
                  <c:v>2</c:v>
                </c:pt>
                <c:pt idx="4">
                  <c:v>4</c:v>
                </c:pt>
              </c:numCache>
            </c:numRef>
          </c:val>
          <c:smooth val="0"/>
          <c:extLst>
            <c:ext xmlns:c16="http://schemas.microsoft.com/office/drawing/2014/chart" uri="{C3380CC4-5D6E-409C-BE32-E72D297353CC}">
              <c16:uniqueId val="{0000000B-A24F-40DE-88C8-A6EEBA8A3307}"/>
            </c:ext>
          </c:extLst>
        </c:ser>
        <c:dLbls>
          <c:showLegendKey val="0"/>
          <c:showVal val="0"/>
          <c:showCatName val="0"/>
          <c:showSerName val="0"/>
          <c:showPercent val="0"/>
          <c:showBubbleSize val="0"/>
        </c:dLbls>
        <c:marker val="1"/>
        <c:smooth val="0"/>
        <c:axId val="509251135"/>
        <c:axId val="509247807"/>
      </c:lineChart>
      <c:catAx>
        <c:axId val="5092511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Inter" panose="02000503000000020004" pitchFamily="2" charset="0"/>
                <a:ea typeface="Inter" panose="02000503000000020004" pitchFamily="2" charset="0"/>
                <a:cs typeface="+mn-cs"/>
              </a:defRPr>
            </a:pPr>
            <a:endParaRPr lang="en-US"/>
          </a:p>
        </c:txPr>
        <c:crossAx val="509247807"/>
        <c:crosses val="autoZero"/>
        <c:auto val="1"/>
        <c:lblAlgn val="ctr"/>
        <c:lblOffset val="6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FF4D4D"/>
              </a:solidFill>
              <a:ln w="19050">
                <a:noFill/>
              </a:ln>
              <a:effectLst/>
            </c:spPr>
            <c:extLst>
              <c:ext xmlns:c16="http://schemas.microsoft.com/office/drawing/2014/chart" uri="{C3380CC4-5D6E-409C-BE32-E72D297353CC}">
                <c16:uniqueId val="{00000001-2613-4EF3-B3BB-E45BD66A4913}"/>
              </c:ext>
            </c:extLst>
          </c:dPt>
          <c:dPt>
            <c:idx val="1"/>
            <c:bubble3D val="0"/>
            <c:spPr>
              <a:solidFill>
                <a:srgbClr val="FF9D9D"/>
              </a:solidFill>
              <a:ln w="19050">
                <a:noFill/>
              </a:ln>
              <a:effectLst/>
            </c:spPr>
            <c:extLst>
              <c:ext xmlns:c16="http://schemas.microsoft.com/office/drawing/2014/chart" uri="{C3380CC4-5D6E-409C-BE32-E72D297353CC}">
                <c16:uniqueId val="{00000003-2613-4EF3-B3BB-E45BD66A4913}"/>
              </c:ext>
            </c:extLst>
          </c:dPt>
          <c:dPt>
            <c:idx val="2"/>
            <c:bubble3D val="0"/>
            <c:spPr>
              <a:solidFill>
                <a:srgbClr val="FFDFDF"/>
              </a:solidFill>
              <a:ln w="19050">
                <a:noFill/>
              </a:ln>
              <a:effectLst/>
            </c:spPr>
            <c:extLst>
              <c:ext xmlns:c16="http://schemas.microsoft.com/office/drawing/2014/chart" uri="{C3380CC4-5D6E-409C-BE32-E72D297353CC}">
                <c16:uniqueId val="{00000005-2613-4EF3-B3BB-E45BD66A4913}"/>
              </c:ext>
            </c:extLst>
          </c:dPt>
          <c:dPt>
            <c:idx val="3"/>
            <c:bubble3D val="0"/>
            <c:spPr>
              <a:solidFill>
                <a:srgbClr val="454545"/>
              </a:solidFill>
              <a:ln w="19050">
                <a:noFill/>
              </a:ln>
              <a:effectLst/>
            </c:spPr>
            <c:extLst>
              <c:ext xmlns:c16="http://schemas.microsoft.com/office/drawing/2014/chart" uri="{C3380CC4-5D6E-409C-BE32-E72D297353CC}">
                <c16:uniqueId val="{00000007-2613-4EF3-B3BB-E45BD66A4913}"/>
              </c:ext>
            </c:extLst>
          </c:dPt>
          <c:cat>
            <c:strRef>
              <c:f>Sheet1!$A$2:$A$4</c:f>
              <c:strCache>
                <c:ptCount val="3"/>
                <c:pt idx="0">
                  <c:v>1st Qtr</c:v>
                </c:pt>
                <c:pt idx="1">
                  <c:v>2nd Qtr</c:v>
                </c:pt>
                <c:pt idx="2">
                  <c:v>3rd Qtr</c:v>
                </c:pt>
              </c:strCache>
            </c:strRef>
          </c:cat>
          <c:val>
            <c:numRef>
              <c:f>Sheet1!$B$2:$B$4</c:f>
              <c:numCache>
                <c:formatCode>0%</c:formatCode>
                <c:ptCount val="3"/>
                <c:pt idx="0">
                  <c:v>0.4</c:v>
                </c:pt>
                <c:pt idx="1">
                  <c:v>0.35</c:v>
                </c:pt>
                <c:pt idx="2">
                  <c:v>0.25</c:v>
                </c:pt>
              </c:numCache>
            </c:numRef>
          </c:val>
          <c:extLst>
            <c:ext xmlns:c16="http://schemas.microsoft.com/office/drawing/2014/chart" uri="{C3380CC4-5D6E-409C-BE32-E72D297353CC}">
              <c16:uniqueId val="{00000008-2613-4EF3-B3BB-E45BD66A4913}"/>
            </c:ext>
          </c:extLst>
        </c:ser>
        <c:dLbls>
          <c:showLegendKey val="0"/>
          <c:showVal val="0"/>
          <c:showCatName val="0"/>
          <c:showSerName val="0"/>
          <c:showPercent val="0"/>
          <c:showBubbleSize val="0"/>
          <c:showLeaderLines val="1"/>
        </c:dLbls>
        <c:firstSliceAng val="91"/>
        <c:holeSize val="7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dPt>
            <c:idx val="0"/>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1-9B59-4626-A9C2-C1F5CD8526B3}"/>
              </c:ext>
            </c:extLst>
          </c:dPt>
          <c:dPt>
            <c:idx val="1"/>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3-9B59-4626-A9C2-C1F5CD8526B3}"/>
              </c:ext>
            </c:extLst>
          </c:dPt>
          <c:dPt>
            <c:idx val="2"/>
            <c:invertIfNegative val="0"/>
            <c:bubble3D val="0"/>
            <c:spPr>
              <a:solidFill>
                <a:srgbClr val="FF4D4D"/>
              </a:solidFill>
              <a:ln>
                <a:noFill/>
              </a:ln>
              <a:effectLst/>
            </c:spPr>
            <c:extLst>
              <c:ext xmlns:c16="http://schemas.microsoft.com/office/drawing/2014/chart" uri="{C3380CC4-5D6E-409C-BE32-E72D297353CC}">
                <c16:uniqueId val="{00000005-9B59-4626-A9C2-C1F5CD8526B3}"/>
              </c:ext>
            </c:extLst>
          </c:dPt>
          <c:dPt>
            <c:idx val="3"/>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7-9B59-4626-A9C2-C1F5CD8526B3}"/>
              </c:ext>
            </c:extLst>
          </c:dPt>
          <c:dPt>
            <c:idx val="4"/>
            <c:invertIfNegative val="0"/>
            <c:bubble3D val="0"/>
            <c:spPr>
              <a:solidFill>
                <a:srgbClr val="E7E7E7"/>
              </a:solidFill>
              <a:ln>
                <a:solidFill>
                  <a:schemeClr val="bg1">
                    <a:lumMod val="85000"/>
                  </a:schemeClr>
                </a:solidFill>
              </a:ln>
              <a:effectLst/>
            </c:spPr>
            <c:extLst>
              <c:ext xmlns:c16="http://schemas.microsoft.com/office/drawing/2014/chart" uri="{C3380CC4-5D6E-409C-BE32-E72D297353CC}">
                <c16:uniqueId val="{00000009-9B59-4626-A9C2-C1F5CD8526B3}"/>
              </c:ext>
            </c:extLst>
          </c:dPt>
          <c:cat>
            <c:strRef>
              <c:f>Sheet1!$A$2:$A$5</c:f>
              <c:strCache>
                <c:ptCount val="4"/>
                <c:pt idx="0">
                  <c:v>Supplier A</c:v>
                </c:pt>
                <c:pt idx="1">
                  <c:v>Supplier B</c:v>
                </c:pt>
                <c:pt idx="2">
                  <c:v>Supplier C</c:v>
                </c:pt>
                <c:pt idx="3">
                  <c:v>Supplier D</c:v>
                </c:pt>
              </c:strCache>
            </c:strRef>
          </c:cat>
          <c:val>
            <c:numRef>
              <c:f>Sheet1!$B$2:$B$5</c:f>
              <c:numCache>
                <c:formatCode>General</c:formatCode>
                <c:ptCount val="4"/>
                <c:pt idx="0">
                  <c:v>4</c:v>
                </c:pt>
                <c:pt idx="1">
                  <c:v>3</c:v>
                </c:pt>
                <c:pt idx="2">
                  <c:v>5</c:v>
                </c:pt>
                <c:pt idx="3">
                  <c:v>2</c:v>
                </c:pt>
              </c:numCache>
            </c:numRef>
          </c:val>
          <c:extLst>
            <c:ext xmlns:c16="http://schemas.microsoft.com/office/drawing/2014/chart" uri="{C3380CC4-5D6E-409C-BE32-E72D297353CC}">
              <c16:uniqueId val="{0000000A-9B59-4626-A9C2-C1F5CD8526B3}"/>
            </c:ext>
          </c:extLst>
        </c:ser>
        <c:dLbls>
          <c:showLegendKey val="0"/>
          <c:showVal val="0"/>
          <c:showCatName val="0"/>
          <c:showSerName val="0"/>
          <c:showPercent val="0"/>
          <c:showBubbleSize val="0"/>
        </c:dLbls>
        <c:gapWidth val="10"/>
        <c:axId val="509251135"/>
        <c:axId val="509247807"/>
      </c:barChart>
      <c:catAx>
        <c:axId val="509251135"/>
        <c:scaling>
          <c:orientation val="minMax"/>
        </c:scaling>
        <c:delete val="1"/>
        <c:axPos val="b"/>
        <c:numFmt formatCode="General" sourceLinked="1"/>
        <c:majorTickMark val="none"/>
        <c:minorTickMark val="none"/>
        <c:tickLblPos val="nextTo"/>
        <c:crossAx val="509247807"/>
        <c:crosses val="autoZero"/>
        <c:auto val="1"/>
        <c:lblAlgn val="ctr"/>
        <c:lblOffset val="6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FF4D4D"/>
            </a:solidFill>
            <a:ln>
              <a:noFill/>
            </a:ln>
            <a:effectLst/>
          </c:spPr>
          <c:invertIfNegative val="0"/>
          <c:dLbls>
            <c:spPr>
              <a:noFill/>
              <a:ln>
                <a:noFill/>
              </a:ln>
              <a:effectLst/>
            </c:spPr>
            <c:txPr>
              <a:bodyPr rot="0" spcFirstLastPara="1" vertOverflow="ellipsis" vert="horz" wrap="square" lIns="0" tIns="19050" rIns="38100" bIns="19050" anchor="ctr" anchorCtr="0">
                <a:spAutoFit/>
              </a:bodyPr>
              <a:lstStyle/>
              <a:p>
                <a:pPr>
                  <a:defRPr sz="21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400</c:v>
                </c:pt>
                <c:pt idx="1">
                  <c:v>200</c:v>
                </c:pt>
                <c:pt idx="2">
                  <c:v>600</c:v>
                </c:pt>
                <c:pt idx="3">
                  <c:v>250</c:v>
                </c:pt>
                <c:pt idx="4">
                  <c:v>300</c:v>
                </c:pt>
              </c:numCache>
            </c:numRef>
          </c:val>
          <c:extLst>
            <c:ext xmlns:c16="http://schemas.microsoft.com/office/drawing/2014/chart" uri="{C3380CC4-5D6E-409C-BE32-E72D297353CC}">
              <c16:uniqueId val="{00000000-02AE-4F0E-887E-8D6F398DD53E}"/>
            </c:ext>
          </c:extLst>
        </c:ser>
        <c:ser>
          <c:idx val="1"/>
          <c:order val="1"/>
          <c:tx>
            <c:strRef>
              <c:f>Sheet1!$C$1</c:f>
              <c:strCache>
                <c:ptCount val="1"/>
                <c:pt idx="0">
                  <c:v>Series 2</c:v>
                </c:pt>
              </c:strCache>
            </c:strRef>
          </c:tx>
          <c:spPr>
            <a:solidFill>
              <a:srgbClr val="E7E7E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100" b="0" i="0" u="none" strike="noStrike" kern="1200" baseline="0">
                    <a:solidFill>
                      <a:schemeClr val="tx1">
                        <a:lumMod val="75000"/>
                        <a:lumOff val="25000"/>
                      </a:schemeClr>
                    </a:solidFill>
                    <a:latin typeface="Inter" panose="02000503000000020004" pitchFamily="2" charset="0"/>
                    <a:ea typeface="Inter" panose="02000503000000020004" pitchFamily="2"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280</c:v>
                </c:pt>
                <c:pt idx="1">
                  <c:v>150</c:v>
                </c:pt>
                <c:pt idx="2">
                  <c:v>480</c:v>
                </c:pt>
                <c:pt idx="3">
                  <c:v>200</c:v>
                </c:pt>
                <c:pt idx="4">
                  <c:v>210</c:v>
                </c:pt>
              </c:numCache>
            </c:numRef>
          </c:val>
          <c:extLst>
            <c:ext xmlns:c16="http://schemas.microsoft.com/office/drawing/2014/chart" uri="{C3380CC4-5D6E-409C-BE32-E72D297353CC}">
              <c16:uniqueId val="{00000001-02AE-4F0E-887E-8D6F398DD53E}"/>
            </c:ext>
          </c:extLst>
        </c:ser>
        <c:dLbls>
          <c:dLblPos val="ctr"/>
          <c:showLegendKey val="0"/>
          <c:showVal val="1"/>
          <c:showCatName val="0"/>
          <c:showSerName val="0"/>
          <c:showPercent val="0"/>
          <c:showBubbleSize val="0"/>
        </c:dLbls>
        <c:gapWidth val="10"/>
        <c:overlap val="100"/>
        <c:axId val="508515615"/>
        <c:axId val="508506047"/>
      </c:barChart>
      <c:catAx>
        <c:axId val="508515615"/>
        <c:scaling>
          <c:orientation val="minMax"/>
        </c:scaling>
        <c:delete val="1"/>
        <c:axPos val="b"/>
        <c:numFmt formatCode="General" sourceLinked="1"/>
        <c:majorTickMark val="none"/>
        <c:minorTickMark val="none"/>
        <c:tickLblPos val="nextTo"/>
        <c:crossAx val="508506047"/>
        <c:crosses val="autoZero"/>
        <c:auto val="1"/>
        <c:lblAlgn val="ctr"/>
        <c:lblOffset val="100"/>
        <c:noMultiLvlLbl val="0"/>
      </c:catAx>
      <c:valAx>
        <c:axId val="508506047"/>
        <c:scaling>
          <c:orientation val="minMax"/>
        </c:scaling>
        <c:delete val="1"/>
        <c:axPos val="l"/>
        <c:numFmt formatCode="General" sourceLinked="1"/>
        <c:majorTickMark val="none"/>
        <c:minorTickMark val="none"/>
        <c:tickLblPos val="nextTo"/>
        <c:crossAx val="5085156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nchor="t" anchorCtr="0"/>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1032-4EA6-BDF2-472B255AB71E}"/>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1032-4EA6-BDF2-472B255AB71E}"/>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5-1032-4EA6-BDF2-472B255AB71E}"/>
              </c:ext>
            </c:extLst>
          </c:dPt>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7-1032-4EA6-BDF2-472B255AB71E}"/>
              </c:ext>
            </c:extLst>
          </c:dPt>
          <c:dPt>
            <c:idx val="4"/>
            <c:invertIfNegative val="0"/>
            <c:bubble3D val="0"/>
            <c:spPr>
              <a:solidFill>
                <a:schemeClr val="bg1">
                  <a:lumMod val="85000"/>
                </a:schemeClr>
              </a:solidFill>
              <a:ln>
                <a:noFill/>
              </a:ln>
              <a:effectLst/>
            </c:spPr>
            <c:extLst>
              <c:ext xmlns:c16="http://schemas.microsoft.com/office/drawing/2014/chart" uri="{C3380CC4-5D6E-409C-BE32-E72D297353CC}">
                <c16:uniqueId val="{00000009-1032-4EA6-BDF2-472B255AB71E}"/>
              </c:ext>
            </c:extLst>
          </c:dPt>
          <c:cat>
            <c:strRef>
              <c:f>Sheet1!$A$2:$A$5</c:f>
              <c:strCache>
                <c:ptCount val="4"/>
                <c:pt idx="0">
                  <c:v>Customer Service</c:v>
                </c:pt>
                <c:pt idx="1">
                  <c:v>Inventory Management</c:v>
                </c:pt>
                <c:pt idx="2">
                  <c:v>Order Processing</c:v>
                </c:pt>
                <c:pt idx="3">
                  <c:v>Payroll</c:v>
                </c:pt>
              </c:strCache>
            </c:strRef>
          </c:cat>
          <c:val>
            <c:numRef>
              <c:f>Sheet1!$B$2:$B$5</c:f>
              <c:numCache>
                <c:formatCode>General</c:formatCode>
                <c:ptCount val="4"/>
                <c:pt idx="0">
                  <c:v>4</c:v>
                </c:pt>
                <c:pt idx="1">
                  <c:v>3</c:v>
                </c:pt>
                <c:pt idx="2">
                  <c:v>4</c:v>
                </c:pt>
                <c:pt idx="3">
                  <c:v>3</c:v>
                </c:pt>
              </c:numCache>
            </c:numRef>
          </c:val>
          <c:extLst>
            <c:ext xmlns:c16="http://schemas.microsoft.com/office/drawing/2014/chart" uri="{C3380CC4-5D6E-409C-BE32-E72D297353CC}">
              <c16:uniqueId val="{0000000A-1032-4EA6-BDF2-472B255AB71E}"/>
            </c:ext>
          </c:extLst>
        </c:ser>
        <c:ser>
          <c:idx val="1"/>
          <c:order val="1"/>
          <c:tx>
            <c:strRef>
              <c:f>Sheet1!$C$1</c:f>
              <c:strCache>
                <c:ptCount val="1"/>
                <c:pt idx="0">
                  <c:v>After</c:v>
                </c:pt>
              </c:strCache>
            </c:strRef>
          </c:tx>
          <c:spPr>
            <a:solidFill>
              <a:srgbClr val="FF4D4D"/>
            </a:solidFill>
            <a:ln>
              <a:noFill/>
            </a:ln>
            <a:effectLst/>
          </c:spPr>
          <c:invertIfNegative val="0"/>
          <c:cat>
            <c:strRef>
              <c:f>Sheet1!$A$2:$A$5</c:f>
              <c:strCache>
                <c:ptCount val="4"/>
                <c:pt idx="0">
                  <c:v>Customer Service</c:v>
                </c:pt>
                <c:pt idx="1">
                  <c:v>Inventory Management</c:v>
                </c:pt>
                <c:pt idx="2">
                  <c:v>Order Processing</c:v>
                </c:pt>
                <c:pt idx="3">
                  <c:v>Payroll</c:v>
                </c:pt>
              </c:strCache>
            </c:strRef>
          </c:cat>
          <c:val>
            <c:numRef>
              <c:f>Sheet1!$C$2:$C$5</c:f>
              <c:numCache>
                <c:formatCode>General</c:formatCode>
                <c:ptCount val="4"/>
                <c:pt idx="0">
                  <c:v>3</c:v>
                </c:pt>
                <c:pt idx="1">
                  <c:v>2</c:v>
                </c:pt>
                <c:pt idx="2">
                  <c:v>3</c:v>
                </c:pt>
                <c:pt idx="3">
                  <c:v>2</c:v>
                </c:pt>
              </c:numCache>
            </c:numRef>
          </c:val>
          <c:extLst>
            <c:ext xmlns:c16="http://schemas.microsoft.com/office/drawing/2014/chart" uri="{C3380CC4-5D6E-409C-BE32-E72D297353CC}">
              <c16:uniqueId val="{0000000B-1032-4EA6-BDF2-472B255AB71E}"/>
            </c:ext>
          </c:extLst>
        </c:ser>
        <c:dLbls>
          <c:showLegendKey val="0"/>
          <c:showVal val="0"/>
          <c:showCatName val="0"/>
          <c:showSerName val="0"/>
          <c:showPercent val="0"/>
          <c:showBubbleSize val="0"/>
        </c:dLbls>
        <c:gapWidth val="79"/>
        <c:overlap val="-27"/>
        <c:axId val="509251135"/>
        <c:axId val="509247807"/>
      </c:barChart>
      <c:catAx>
        <c:axId val="5092511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bg2">
                    <a:lumMod val="50000"/>
                  </a:schemeClr>
                </a:solidFill>
                <a:latin typeface="Inter" panose="02000503000000020004" pitchFamily="2" charset="0"/>
                <a:ea typeface="Inter" panose="02000503000000020004" pitchFamily="2" charset="0"/>
                <a:cs typeface="+mn-cs"/>
              </a:defRPr>
            </a:pPr>
            <a:endParaRPr lang="en-US"/>
          </a:p>
        </c:txPr>
        <c:crossAx val="509247807"/>
        <c:crosses val="autoZero"/>
        <c:auto val="1"/>
        <c:lblAlgn val="ctr"/>
        <c:lblOffset val="2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accent1"/>
            </a:solidFill>
            <a:ln>
              <a:noFill/>
            </a:ln>
            <a:effectLst/>
          </c:spPr>
          <c:invertIfNegative val="0"/>
          <c:dPt>
            <c:idx val="0"/>
            <c:invertIfNegative val="0"/>
            <c:bubble3D val="0"/>
            <c:spPr>
              <a:solidFill>
                <a:srgbClr val="E7E7E7"/>
              </a:solidFill>
              <a:ln>
                <a:noFill/>
              </a:ln>
              <a:effectLst/>
            </c:spPr>
            <c:extLst>
              <c:ext xmlns:c16="http://schemas.microsoft.com/office/drawing/2014/chart" uri="{C3380CC4-5D6E-409C-BE32-E72D297353CC}">
                <c16:uniqueId val="{00000001-09D0-44A6-BB89-FFFC21533CFE}"/>
              </c:ext>
            </c:extLst>
          </c:dPt>
          <c:dPt>
            <c:idx val="1"/>
            <c:invertIfNegative val="0"/>
            <c:bubble3D val="0"/>
            <c:spPr>
              <a:solidFill>
                <a:srgbClr val="D1D1D1"/>
              </a:solidFill>
              <a:ln>
                <a:noFill/>
              </a:ln>
              <a:effectLst/>
            </c:spPr>
            <c:extLst>
              <c:ext xmlns:c16="http://schemas.microsoft.com/office/drawing/2014/chart" uri="{C3380CC4-5D6E-409C-BE32-E72D297353CC}">
                <c16:uniqueId val="{00000003-09D0-44A6-BB89-FFFC21533CFE}"/>
              </c:ext>
            </c:extLst>
          </c:dPt>
          <c:dPt>
            <c:idx val="2"/>
            <c:invertIfNegative val="0"/>
            <c:bubble3D val="0"/>
            <c:spPr>
              <a:solidFill>
                <a:srgbClr val="B0B0B0"/>
              </a:solidFill>
              <a:ln>
                <a:noFill/>
              </a:ln>
              <a:effectLst/>
            </c:spPr>
            <c:extLst>
              <c:ext xmlns:c16="http://schemas.microsoft.com/office/drawing/2014/chart" uri="{C3380CC4-5D6E-409C-BE32-E72D297353CC}">
                <c16:uniqueId val="{00000005-09D0-44A6-BB89-FFFC21533CFE}"/>
              </c:ext>
            </c:extLst>
          </c:dPt>
          <c:dPt>
            <c:idx val="3"/>
            <c:invertIfNegative val="0"/>
            <c:bubble3D val="0"/>
            <c:spPr>
              <a:solidFill>
                <a:schemeClr val="bg1">
                  <a:lumMod val="50000"/>
                </a:schemeClr>
              </a:solidFill>
              <a:ln>
                <a:noFill/>
              </a:ln>
              <a:effectLst/>
            </c:spPr>
            <c:extLst>
              <c:ext xmlns:c16="http://schemas.microsoft.com/office/drawing/2014/chart" uri="{C3380CC4-5D6E-409C-BE32-E72D297353CC}">
                <c16:uniqueId val="{00000007-09D0-44A6-BB89-FFFC21533CFE}"/>
              </c:ext>
            </c:extLst>
          </c:dPt>
          <c:dPt>
            <c:idx val="4"/>
            <c:invertIfNegative val="0"/>
            <c:bubble3D val="0"/>
            <c:spPr>
              <a:solidFill>
                <a:schemeClr val="bg2">
                  <a:lumMod val="50000"/>
                </a:schemeClr>
              </a:solidFill>
              <a:ln>
                <a:noFill/>
              </a:ln>
              <a:effectLst/>
            </c:spPr>
            <c:extLst>
              <c:ext xmlns:c16="http://schemas.microsoft.com/office/drawing/2014/chart" uri="{C3380CC4-5D6E-409C-BE32-E72D297353CC}">
                <c16:uniqueId val="{00000009-09D0-44A6-BB89-FFFC21533CFE}"/>
              </c:ext>
            </c:extLst>
          </c:dPt>
          <c:cat>
            <c:strRef>
              <c:f>Sheet1!$A$2:$A$5</c:f>
              <c:strCache>
                <c:ptCount val="4"/>
                <c:pt idx="0">
                  <c:v>Order Entry</c:v>
                </c:pt>
                <c:pt idx="1">
                  <c:v>Manufacturing</c:v>
                </c:pt>
                <c:pt idx="2">
                  <c:v>Quality Check</c:v>
                </c:pt>
                <c:pt idx="3">
                  <c:v>Shipping</c:v>
                </c:pt>
              </c:strCache>
            </c:strRef>
          </c:cat>
          <c:val>
            <c:numRef>
              <c:f>Sheet1!$B$2:$B$5</c:f>
              <c:numCache>
                <c:formatCode>General</c:formatCode>
                <c:ptCount val="4"/>
                <c:pt idx="0">
                  <c:v>2</c:v>
                </c:pt>
                <c:pt idx="1">
                  <c:v>5</c:v>
                </c:pt>
                <c:pt idx="2">
                  <c:v>2</c:v>
                </c:pt>
                <c:pt idx="3">
                  <c:v>3</c:v>
                </c:pt>
              </c:numCache>
            </c:numRef>
          </c:val>
          <c:extLst>
            <c:ext xmlns:c16="http://schemas.microsoft.com/office/drawing/2014/chart" uri="{C3380CC4-5D6E-409C-BE32-E72D297353CC}">
              <c16:uniqueId val="{0000000A-09D0-44A6-BB89-FFFC21533CFE}"/>
            </c:ext>
          </c:extLst>
        </c:ser>
        <c:ser>
          <c:idx val="1"/>
          <c:order val="1"/>
          <c:tx>
            <c:strRef>
              <c:f>Sheet1!$C$1</c:f>
              <c:strCache>
                <c:ptCount val="1"/>
                <c:pt idx="0">
                  <c:v>After</c:v>
                </c:pt>
              </c:strCache>
            </c:strRef>
          </c:tx>
          <c:spPr>
            <a:solidFill>
              <a:srgbClr val="FF4D4D"/>
            </a:solidFill>
            <a:ln>
              <a:noFill/>
            </a:ln>
            <a:effectLst/>
          </c:spPr>
          <c:invertIfNegative val="0"/>
          <c:cat>
            <c:strRef>
              <c:f>Sheet1!$A$2:$A$5</c:f>
              <c:strCache>
                <c:ptCount val="4"/>
                <c:pt idx="0">
                  <c:v>Order Entry</c:v>
                </c:pt>
                <c:pt idx="1">
                  <c:v>Manufacturing</c:v>
                </c:pt>
                <c:pt idx="2">
                  <c:v>Quality Check</c:v>
                </c:pt>
                <c:pt idx="3">
                  <c:v>Shipping</c:v>
                </c:pt>
              </c:strCache>
            </c:strRef>
          </c:cat>
          <c:val>
            <c:numRef>
              <c:f>Sheet1!$C$2:$C$5</c:f>
              <c:numCache>
                <c:formatCode>General</c:formatCode>
                <c:ptCount val="4"/>
                <c:pt idx="0">
                  <c:v>0.5</c:v>
                </c:pt>
                <c:pt idx="1">
                  <c:v>4</c:v>
                </c:pt>
                <c:pt idx="2">
                  <c:v>1</c:v>
                </c:pt>
                <c:pt idx="3">
                  <c:v>2</c:v>
                </c:pt>
              </c:numCache>
            </c:numRef>
          </c:val>
          <c:extLst>
            <c:ext xmlns:c16="http://schemas.microsoft.com/office/drawing/2014/chart" uri="{C3380CC4-5D6E-409C-BE32-E72D297353CC}">
              <c16:uniqueId val="{0000000B-09D0-44A6-BB89-FFFC21533CFE}"/>
            </c:ext>
          </c:extLst>
        </c:ser>
        <c:dLbls>
          <c:showLegendKey val="0"/>
          <c:showVal val="0"/>
          <c:showCatName val="0"/>
          <c:showSerName val="0"/>
          <c:showPercent val="0"/>
          <c:showBubbleSize val="0"/>
        </c:dLbls>
        <c:gapWidth val="79"/>
        <c:overlap val="-27"/>
        <c:axId val="509251135"/>
        <c:axId val="509247807"/>
      </c:barChart>
      <c:catAx>
        <c:axId val="5092511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crossAx val="509247807"/>
        <c:crosses val="autoZero"/>
        <c:auto val="1"/>
        <c:lblAlgn val="ctr"/>
        <c:lblOffset val="5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FF4D4D"/>
            </a:solidFill>
            <a:ln>
              <a:noFill/>
            </a:ln>
            <a:effectLst/>
          </c:spPr>
          <c:invertIfNegative val="0"/>
          <c:dLbls>
            <c:spPr>
              <a:noFill/>
              <a:ln>
                <a:noFill/>
              </a:ln>
              <a:effectLst/>
            </c:spPr>
            <c:txPr>
              <a:bodyPr rot="0" spcFirstLastPara="1" vertOverflow="ellipsis" horzOverflow="clip" vert="horz" wrap="square" lIns="0" tIns="19050" rIns="38100" bIns="19050" anchor="ctr" anchorCtr="0">
                <a:spAutoFit/>
              </a:bodyPr>
              <a:lstStyle/>
              <a:p>
                <a:pPr>
                  <a:defRPr sz="2100" b="0" i="0" u="none" strike="noStrike" kern="1200" baseline="0">
                    <a:solidFill>
                      <a:schemeClr val="bg1"/>
                    </a:solidFill>
                    <a:latin typeface="Inter" panose="02000503000000020004" pitchFamily="2" charset="0"/>
                    <a:ea typeface="Inter" panose="02000503000000020004" pitchFamily="2"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60000</c:v>
                </c:pt>
                <c:pt idx="1">
                  <c:v>150000</c:v>
                </c:pt>
                <c:pt idx="2">
                  <c:v>270000</c:v>
                </c:pt>
                <c:pt idx="3">
                  <c:v>80000</c:v>
                </c:pt>
              </c:numCache>
            </c:numRef>
          </c:val>
          <c:extLst>
            <c:ext xmlns:c16="http://schemas.microsoft.com/office/drawing/2014/chart" uri="{C3380CC4-5D6E-409C-BE32-E72D297353CC}">
              <c16:uniqueId val="{00000000-0C51-42EC-8E3B-A1ACEA452C92}"/>
            </c:ext>
          </c:extLst>
        </c:ser>
        <c:ser>
          <c:idx val="1"/>
          <c:order val="1"/>
          <c:tx>
            <c:strRef>
              <c:f>Sheet1!$C$1</c:f>
              <c:strCache>
                <c:ptCount val="1"/>
                <c:pt idx="0">
                  <c:v>Series 2</c:v>
                </c:pt>
              </c:strCache>
            </c:strRef>
          </c:tx>
          <c:spPr>
            <a:solidFill>
              <a:srgbClr val="E7E7E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100" b="0" i="0" u="none" strike="noStrike" kern="1200" baseline="0">
                    <a:solidFill>
                      <a:schemeClr val="tx1">
                        <a:lumMod val="75000"/>
                        <a:lumOff val="25000"/>
                      </a:schemeClr>
                    </a:solidFill>
                    <a:latin typeface="Inter" panose="02000503000000020004" pitchFamily="2" charset="0"/>
                    <a:ea typeface="Inter" panose="02000503000000020004" pitchFamily="2"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120000</c:v>
                </c:pt>
                <c:pt idx="1">
                  <c:v>200000</c:v>
                </c:pt>
                <c:pt idx="2">
                  <c:v>300000</c:v>
                </c:pt>
                <c:pt idx="3">
                  <c:v>100000</c:v>
                </c:pt>
              </c:numCache>
            </c:numRef>
          </c:val>
          <c:extLst>
            <c:ext xmlns:c16="http://schemas.microsoft.com/office/drawing/2014/chart" uri="{C3380CC4-5D6E-409C-BE32-E72D297353CC}">
              <c16:uniqueId val="{00000001-0C51-42EC-8E3B-A1ACEA452C92}"/>
            </c:ext>
          </c:extLst>
        </c:ser>
        <c:dLbls>
          <c:dLblPos val="ctr"/>
          <c:showLegendKey val="0"/>
          <c:showVal val="1"/>
          <c:showCatName val="0"/>
          <c:showSerName val="0"/>
          <c:showPercent val="0"/>
          <c:showBubbleSize val="0"/>
        </c:dLbls>
        <c:gapWidth val="10"/>
        <c:overlap val="100"/>
        <c:axId val="508515615"/>
        <c:axId val="508506047"/>
      </c:barChart>
      <c:catAx>
        <c:axId val="508515615"/>
        <c:scaling>
          <c:orientation val="minMax"/>
        </c:scaling>
        <c:delete val="1"/>
        <c:axPos val="b"/>
        <c:numFmt formatCode="General" sourceLinked="1"/>
        <c:majorTickMark val="none"/>
        <c:minorTickMark val="none"/>
        <c:tickLblPos val="nextTo"/>
        <c:crossAx val="508506047"/>
        <c:crosses val="autoZero"/>
        <c:auto val="1"/>
        <c:lblAlgn val="ctr"/>
        <c:lblOffset val="100"/>
        <c:noMultiLvlLbl val="0"/>
      </c:catAx>
      <c:valAx>
        <c:axId val="508506047"/>
        <c:scaling>
          <c:orientation val="minMax"/>
        </c:scaling>
        <c:delete val="1"/>
        <c:axPos val="l"/>
        <c:numFmt formatCode="General" sourceLinked="1"/>
        <c:majorTickMark val="none"/>
        <c:minorTickMark val="none"/>
        <c:tickLblPos val="nextTo"/>
        <c:crossAx val="50851561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nchor="t" anchorCtr="0"/>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1"/>
          <c:order val="0"/>
          <c:tx>
            <c:strRef>
              <c:f>Sheet1!$C$1</c:f>
              <c:strCache>
                <c:ptCount val="1"/>
                <c:pt idx="0">
                  <c:v>Series 2</c:v>
                </c:pt>
              </c:strCache>
            </c:strRef>
          </c:tx>
          <c:spPr>
            <a:solidFill>
              <a:srgbClr val="FFDFDF"/>
            </a:solidFill>
            <a:ln>
              <a:solidFill>
                <a:srgbClr val="FF4D4D"/>
              </a:solidFill>
            </a:ln>
            <a:effectLst/>
          </c:spPr>
          <c:cat>
            <c:numRef>
              <c:f>Sheet1!$A$2:$A$5</c:f>
              <c:numCache>
                <c:formatCode>m/d/yyyy</c:formatCode>
                <c:ptCount val="4"/>
                <c:pt idx="0">
                  <c:v>37377</c:v>
                </c:pt>
                <c:pt idx="1">
                  <c:v>37408</c:v>
                </c:pt>
                <c:pt idx="2">
                  <c:v>37438</c:v>
                </c:pt>
                <c:pt idx="3">
                  <c:v>37469</c:v>
                </c:pt>
              </c:numCache>
            </c:numRef>
          </c:cat>
          <c:val>
            <c:numRef>
              <c:f>Sheet1!$C$2:$C$5</c:f>
              <c:numCache>
                <c:formatCode>General</c:formatCode>
                <c:ptCount val="4"/>
                <c:pt idx="0">
                  <c:v>45</c:v>
                </c:pt>
                <c:pt idx="1">
                  <c:v>30</c:v>
                </c:pt>
                <c:pt idx="2">
                  <c:v>28</c:v>
                </c:pt>
                <c:pt idx="3">
                  <c:v>0</c:v>
                </c:pt>
              </c:numCache>
            </c:numRef>
          </c:val>
          <c:extLst>
            <c:ext xmlns:c16="http://schemas.microsoft.com/office/drawing/2014/chart" uri="{C3380CC4-5D6E-409C-BE32-E72D297353CC}">
              <c16:uniqueId val="{00000001-FE4B-47AE-82B4-0F20D2EFB3C3}"/>
            </c:ext>
          </c:extLst>
        </c:ser>
        <c:dLbls>
          <c:showLegendKey val="0"/>
          <c:showVal val="0"/>
          <c:showCatName val="0"/>
          <c:showSerName val="0"/>
          <c:showPercent val="0"/>
          <c:showBubbleSize val="0"/>
        </c:dLbls>
        <c:axId val="262464767"/>
        <c:axId val="262458527"/>
      </c:areaChart>
      <c:dateAx>
        <c:axId val="262464767"/>
        <c:scaling>
          <c:orientation val="minMax"/>
        </c:scaling>
        <c:delete val="1"/>
        <c:axPos val="b"/>
        <c:numFmt formatCode="m/d/yyyy" sourceLinked="1"/>
        <c:majorTickMark val="out"/>
        <c:minorTickMark val="none"/>
        <c:tickLblPos val="nextTo"/>
        <c:crossAx val="262458527"/>
        <c:crosses val="autoZero"/>
        <c:auto val="1"/>
        <c:lblOffset val="100"/>
        <c:baseTimeUnit val="months"/>
      </c:dateAx>
      <c:valAx>
        <c:axId val="262458527"/>
        <c:scaling>
          <c:orientation val="minMax"/>
        </c:scaling>
        <c:delete val="1"/>
        <c:axPos val="l"/>
        <c:numFmt formatCode="General" sourceLinked="1"/>
        <c:majorTickMark val="none"/>
        <c:minorTickMark val="none"/>
        <c:tickLblPos val="nextTo"/>
        <c:crossAx val="262464767"/>
        <c:crosses val="autoZero"/>
        <c:crossBetween val="midCat"/>
      </c:valAx>
      <c:spPr>
        <a:noFill/>
        <a:ln w="25400">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C4BA-4F9F-8073-2DD99882CF52}"/>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C4BA-4F9F-8073-2DD99882CF52}"/>
              </c:ext>
            </c:extLst>
          </c:dPt>
          <c:dPt>
            <c:idx val="2"/>
            <c:invertIfNegative val="0"/>
            <c:bubble3D val="0"/>
            <c:spPr>
              <a:gradFill>
                <a:gsLst>
                  <a:gs pos="0">
                    <a:srgbClr val="FFA2A2"/>
                  </a:gs>
                  <a:gs pos="100000">
                    <a:srgbClr val="FF4D4D"/>
                  </a:gs>
                </a:gsLst>
                <a:lin ang="5400000" scaled="1"/>
              </a:gradFill>
              <a:ln>
                <a:noFill/>
              </a:ln>
              <a:effectLst/>
            </c:spPr>
            <c:extLst>
              <c:ext xmlns:c16="http://schemas.microsoft.com/office/drawing/2014/chart" uri="{C3380CC4-5D6E-409C-BE32-E72D297353CC}">
                <c16:uniqueId val="{00000005-C4BA-4F9F-8073-2DD99882CF52}"/>
              </c:ext>
            </c:extLst>
          </c:dPt>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7-C4BA-4F9F-8073-2DD99882CF52}"/>
              </c:ext>
            </c:extLst>
          </c:dPt>
          <c:dPt>
            <c:idx val="4"/>
            <c:invertIfNegative val="0"/>
            <c:bubble3D val="0"/>
            <c:spPr>
              <a:solidFill>
                <a:schemeClr val="bg1">
                  <a:lumMod val="85000"/>
                </a:schemeClr>
              </a:solidFill>
              <a:ln>
                <a:noFill/>
              </a:ln>
              <a:effectLst/>
            </c:spPr>
            <c:extLst>
              <c:ext xmlns:c16="http://schemas.microsoft.com/office/drawing/2014/chart" uri="{C3380CC4-5D6E-409C-BE32-E72D297353CC}">
                <c16:uniqueId val="{00000009-C4BA-4F9F-8073-2DD99882CF52}"/>
              </c:ext>
            </c:extLst>
          </c:dPt>
          <c:cat>
            <c:strRef>
              <c:f>Sheet1!$A$2:$A$5</c:f>
              <c:strCache>
                <c:ptCount val="4"/>
                <c:pt idx="0">
                  <c:v>Customer Service</c:v>
                </c:pt>
                <c:pt idx="1">
                  <c:v>Inventory Management</c:v>
                </c:pt>
                <c:pt idx="2">
                  <c:v>Order Processing</c:v>
                </c:pt>
                <c:pt idx="3">
                  <c:v>Payroll</c:v>
                </c:pt>
              </c:strCache>
            </c:strRef>
          </c:cat>
          <c:val>
            <c:numRef>
              <c:f>Sheet1!$B$2:$B$5</c:f>
              <c:numCache>
                <c:formatCode>General</c:formatCode>
                <c:ptCount val="4"/>
                <c:pt idx="0">
                  <c:v>2</c:v>
                </c:pt>
                <c:pt idx="1">
                  <c:v>3</c:v>
                </c:pt>
                <c:pt idx="2">
                  <c:v>4</c:v>
                </c:pt>
                <c:pt idx="3">
                  <c:v>3</c:v>
                </c:pt>
              </c:numCache>
            </c:numRef>
          </c:val>
          <c:extLst>
            <c:ext xmlns:c16="http://schemas.microsoft.com/office/drawing/2014/chart" uri="{C3380CC4-5D6E-409C-BE32-E72D297353CC}">
              <c16:uniqueId val="{0000000A-C4BA-4F9F-8073-2DD99882CF52}"/>
            </c:ext>
          </c:extLst>
        </c:ser>
        <c:dLbls>
          <c:showLegendKey val="0"/>
          <c:showVal val="0"/>
          <c:showCatName val="0"/>
          <c:showSerName val="0"/>
          <c:showPercent val="0"/>
          <c:showBubbleSize val="0"/>
        </c:dLbls>
        <c:gapWidth val="30"/>
        <c:overlap val="-27"/>
        <c:axId val="509251135"/>
        <c:axId val="509247807"/>
      </c:barChart>
      <c:catAx>
        <c:axId val="509251135"/>
        <c:scaling>
          <c:orientation val="minMax"/>
        </c:scaling>
        <c:delete val="1"/>
        <c:axPos val="b"/>
        <c:numFmt formatCode="General" sourceLinked="1"/>
        <c:majorTickMark val="none"/>
        <c:minorTickMark val="none"/>
        <c:tickLblPos val="nextTo"/>
        <c:crossAx val="509247807"/>
        <c:crosses val="autoZero"/>
        <c:auto val="1"/>
        <c:lblAlgn val="ctr"/>
        <c:lblOffset val="2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FF4D4D"/>
              </a:solidFill>
              <a:ln w="19050">
                <a:noFill/>
              </a:ln>
              <a:effectLst/>
            </c:spPr>
            <c:extLst>
              <c:ext xmlns:c16="http://schemas.microsoft.com/office/drawing/2014/chart" uri="{C3380CC4-5D6E-409C-BE32-E72D297353CC}">
                <c16:uniqueId val="{00000001-7979-4BA7-B1DD-30EA90F9B1DB}"/>
              </c:ext>
            </c:extLst>
          </c:dPt>
          <c:dPt>
            <c:idx val="1"/>
            <c:bubble3D val="0"/>
            <c:spPr>
              <a:solidFill>
                <a:srgbClr val="FF9D9D"/>
              </a:solidFill>
              <a:ln w="19050">
                <a:noFill/>
              </a:ln>
              <a:effectLst/>
            </c:spPr>
            <c:extLst>
              <c:ext xmlns:c16="http://schemas.microsoft.com/office/drawing/2014/chart" uri="{C3380CC4-5D6E-409C-BE32-E72D297353CC}">
                <c16:uniqueId val="{00000003-7979-4BA7-B1DD-30EA90F9B1DB}"/>
              </c:ext>
            </c:extLst>
          </c:dPt>
          <c:dPt>
            <c:idx val="2"/>
            <c:bubble3D val="0"/>
            <c:spPr>
              <a:solidFill>
                <a:srgbClr val="E7E7E7"/>
              </a:solidFill>
              <a:ln w="19050">
                <a:noFill/>
              </a:ln>
              <a:effectLst/>
            </c:spPr>
            <c:extLst>
              <c:ext xmlns:c16="http://schemas.microsoft.com/office/drawing/2014/chart" uri="{C3380CC4-5D6E-409C-BE32-E72D297353CC}">
                <c16:uniqueId val="{00000005-7979-4BA7-B1DD-30EA90F9B1DB}"/>
              </c:ext>
            </c:extLst>
          </c:dPt>
          <c:dPt>
            <c:idx val="3"/>
            <c:bubble3D val="0"/>
            <c:spPr>
              <a:noFill/>
              <a:ln w="19050">
                <a:noFill/>
              </a:ln>
              <a:effectLst/>
            </c:spPr>
            <c:extLst>
              <c:ext xmlns:c16="http://schemas.microsoft.com/office/drawing/2014/chart" uri="{C3380CC4-5D6E-409C-BE32-E72D297353CC}">
                <c16:uniqueId val="{00000007-7979-4BA7-B1DD-30EA90F9B1DB}"/>
              </c:ext>
            </c:extLst>
          </c:dPt>
          <c:dPt>
            <c:idx val="4"/>
            <c:bubble3D val="0"/>
            <c:spPr>
              <a:noFill/>
              <a:ln w="19050">
                <a:noFill/>
              </a:ln>
              <a:effectLst/>
            </c:spPr>
            <c:extLst>
              <c:ext xmlns:c16="http://schemas.microsoft.com/office/drawing/2014/chart" uri="{C3380CC4-5D6E-409C-BE32-E72D297353CC}">
                <c16:uniqueId val="{0000000A-7979-4BA7-B1DD-30EA90F9B1DB}"/>
              </c:ext>
            </c:extLst>
          </c:dPt>
          <c:cat>
            <c:strRef>
              <c:f>Sheet1!$A$2:$A$6</c:f>
              <c:strCache>
                <c:ptCount val="3"/>
                <c:pt idx="0">
                  <c:v>1st Qtr</c:v>
                </c:pt>
                <c:pt idx="1">
                  <c:v>2nd Qtr</c:v>
                </c:pt>
                <c:pt idx="2">
                  <c:v>3rd Qtr</c:v>
                </c:pt>
              </c:strCache>
            </c:strRef>
          </c:cat>
          <c:val>
            <c:numRef>
              <c:f>Sheet1!$B$2:$B$6</c:f>
              <c:numCache>
                <c:formatCode>0%</c:formatCode>
                <c:ptCount val="5"/>
                <c:pt idx="0">
                  <c:v>0.4</c:v>
                </c:pt>
                <c:pt idx="1">
                  <c:v>0.35</c:v>
                </c:pt>
                <c:pt idx="2">
                  <c:v>0.25</c:v>
                </c:pt>
                <c:pt idx="3">
                  <c:v>0.5</c:v>
                </c:pt>
                <c:pt idx="4">
                  <c:v>0.5</c:v>
                </c:pt>
              </c:numCache>
            </c:numRef>
          </c:val>
          <c:extLst>
            <c:ext xmlns:c16="http://schemas.microsoft.com/office/drawing/2014/chart" uri="{C3380CC4-5D6E-409C-BE32-E72D297353CC}">
              <c16:uniqueId val="{00000008-7979-4BA7-B1DD-30EA90F9B1DB}"/>
            </c:ext>
          </c:extLst>
        </c:ser>
        <c:dLbls>
          <c:showLegendKey val="0"/>
          <c:showVal val="0"/>
          <c:showCatName val="0"/>
          <c:showSerName val="0"/>
          <c:showPercent val="0"/>
          <c:showBubbleSize val="0"/>
          <c:showLeaderLines val="1"/>
        </c:dLbls>
        <c:firstSliceAng val="27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00"/>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c:v>
                </c:pt>
              </c:strCache>
            </c:strRef>
          </c:tx>
          <c:spPr>
            <a:solidFill>
              <a:schemeClr val="bg1"/>
            </a:solidFill>
            <a:ln>
              <a:noFill/>
            </a:ln>
            <a:effectLst/>
          </c:spPr>
          <c:invertIfNegative val="0"/>
          <c:dPt>
            <c:idx val="0"/>
            <c:invertIfNegative val="0"/>
            <c:bubble3D val="0"/>
            <c:spPr>
              <a:solidFill>
                <a:schemeClr val="bg1"/>
              </a:solidFill>
              <a:ln>
                <a:noFill/>
              </a:ln>
              <a:effectLst/>
            </c:spPr>
            <c:extLst>
              <c:ext xmlns:c16="http://schemas.microsoft.com/office/drawing/2014/chart" uri="{C3380CC4-5D6E-409C-BE32-E72D297353CC}">
                <c16:uniqueId val="{00000001-E717-4E29-AB9F-B0719A4D3375}"/>
              </c:ext>
            </c:extLst>
          </c:dPt>
          <c:dPt>
            <c:idx val="1"/>
            <c:invertIfNegative val="0"/>
            <c:bubble3D val="0"/>
            <c:spPr>
              <a:solidFill>
                <a:schemeClr val="bg1"/>
              </a:solidFill>
              <a:ln>
                <a:noFill/>
              </a:ln>
              <a:effectLst/>
            </c:spPr>
            <c:extLst>
              <c:ext xmlns:c16="http://schemas.microsoft.com/office/drawing/2014/chart" uri="{C3380CC4-5D6E-409C-BE32-E72D297353CC}">
                <c16:uniqueId val="{00000003-E717-4E29-AB9F-B0719A4D3375}"/>
              </c:ext>
            </c:extLst>
          </c:dPt>
          <c:dPt>
            <c:idx val="2"/>
            <c:invertIfNegative val="0"/>
            <c:bubble3D val="0"/>
            <c:spPr>
              <a:solidFill>
                <a:schemeClr val="bg1"/>
              </a:solidFill>
              <a:ln>
                <a:noFill/>
              </a:ln>
              <a:effectLst/>
            </c:spPr>
            <c:extLst>
              <c:ext xmlns:c16="http://schemas.microsoft.com/office/drawing/2014/chart" uri="{C3380CC4-5D6E-409C-BE32-E72D297353CC}">
                <c16:uniqueId val="{00000005-E717-4E29-AB9F-B0719A4D3375}"/>
              </c:ext>
            </c:extLst>
          </c:dPt>
          <c:dPt>
            <c:idx val="3"/>
            <c:invertIfNegative val="0"/>
            <c:bubble3D val="0"/>
            <c:spPr>
              <a:solidFill>
                <a:schemeClr val="bg1"/>
              </a:solidFill>
              <a:ln>
                <a:noFill/>
              </a:ln>
              <a:effectLst/>
            </c:spPr>
            <c:extLst>
              <c:ext xmlns:c16="http://schemas.microsoft.com/office/drawing/2014/chart" uri="{C3380CC4-5D6E-409C-BE32-E72D297353CC}">
                <c16:uniqueId val="{00000007-E717-4E29-AB9F-B0719A4D3375}"/>
              </c:ext>
            </c:extLst>
          </c:dPt>
          <c:dPt>
            <c:idx val="4"/>
            <c:invertIfNegative val="0"/>
            <c:bubble3D val="0"/>
            <c:spPr>
              <a:solidFill>
                <a:schemeClr val="bg1"/>
              </a:solidFill>
              <a:ln>
                <a:noFill/>
              </a:ln>
              <a:effectLst/>
            </c:spPr>
            <c:extLst>
              <c:ext xmlns:c16="http://schemas.microsoft.com/office/drawing/2014/chart" uri="{C3380CC4-5D6E-409C-BE32-E72D297353CC}">
                <c16:uniqueId val="{00000009-E717-4E29-AB9F-B0719A4D3375}"/>
              </c:ext>
            </c:extLst>
          </c:dPt>
          <c:cat>
            <c:strRef>
              <c:f>Sheet1!$A$2:$A$9</c:f>
              <c:strCache>
                <c:ptCount val="4"/>
                <c:pt idx="0">
                  <c:v>Customer Service</c:v>
                </c:pt>
                <c:pt idx="1">
                  <c:v>Inventory Management</c:v>
                </c:pt>
                <c:pt idx="2">
                  <c:v>Order Processing</c:v>
                </c:pt>
                <c:pt idx="3">
                  <c:v>Payroll</c:v>
                </c:pt>
              </c:strCache>
            </c:strRef>
          </c:cat>
          <c:val>
            <c:numRef>
              <c:f>Sheet1!$B$2:$B$9</c:f>
              <c:numCache>
                <c:formatCode>General</c:formatCode>
                <c:ptCount val="8"/>
                <c:pt idx="0">
                  <c:v>4</c:v>
                </c:pt>
                <c:pt idx="1">
                  <c:v>3</c:v>
                </c:pt>
                <c:pt idx="2">
                  <c:v>4</c:v>
                </c:pt>
                <c:pt idx="3">
                  <c:v>3</c:v>
                </c:pt>
                <c:pt idx="4">
                  <c:v>4</c:v>
                </c:pt>
                <c:pt idx="5">
                  <c:v>2</c:v>
                </c:pt>
                <c:pt idx="6">
                  <c:v>1</c:v>
                </c:pt>
                <c:pt idx="7">
                  <c:v>5</c:v>
                </c:pt>
              </c:numCache>
            </c:numRef>
          </c:val>
          <c:extLst>
            <c:ext xmlns:c16="http://schemas.microsoft.com/office/drawing/2014/chart" uri="{C3380CC4-5D6E-409C-BE32-E72D297353CC}">
              <c16:uniqueId val="{0000000A-E717-4E29-AB9F-B0719A4D3375}"/>
            </c:ext>
          </c:extLst>
        </c:ser>
        <c:dLbls>
          <c:showLegendKey val="0"/>
          <c:showVal val="0"/>
          <c:showCatName val="0"/>
          <c:showSerName val="0"/>
          <c:showPercent val="0"/>
          <c:showBubbleSize val="0"/>
        </c:dLbls>
        <c:gapWidth val="79"/>
        <c:overlap val="-27"/>
        <c:axId val="509251135"/>
        <c:axId val="509247807"/>
      </c:barChart>
      <c:catAx>
        <c:axId val="509251135"/>
        <c:scaling>
          <c:orientation val="minMax"/>
        </c:scaling>
        <c:delete val="1"/>
        <c:axPos val="b"/>
        <c:numFmt formatCode="General" sourceLinked="1"/>
        <c:majorTickMark val="none"/>
        <c:minorTickMark val="none"/>
        <c:tickLblPos val="nextTo"/>
        <c:crossAx val="509247807"/>
        <c:crosses val="autoZero"/>
        <c:auto val="1"/>
        <c:lblAlgn val="ctr"/>
        <c:lblOffset val="200"/>
        <c:noMultiLvlLbl val="0"/>
      </c:catAx>
      <c:valAx>
        <c:axId val="509247807"/>
        <c:scaling>
          <c:orientation val="minMax"/>
        </c:scaling>
        <c:delete val="1"/>
        <c:axPos val="l"/>
        <c:numFmt formatCode="General" sourceLinked="1"/>
        <c:majorTickMark val="none"/>
        <c:minorTickMark val="none"/>
        <c:tickLblPos val="nextTo"/>
        <c:crossAx val="50925113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FFFFFF"/>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10</c:v>
                </c:pt>
                <c:pt idx="1">
                  <c:v>9</c:v>
                </c:pt>
                <c:pt idx="2">
                  <c:v>8</c:v>
                </c:pt>
                <c:pt idx="3">
                  <c:v>6</c:v>
                </c:pt>
                <c:pt idx="4">
                  <c:v>5</c:v>
                </c:pt>
              </c:numCache>
            </c:numRef>
          </c:val>
          <c:extLst>
            <c:ext xmlns:c16="http://schemas.microsoft.com/office/drawing/2014/chart" uri="{C3380CC4-5D6E-409C-BE32-E72D297353CC}">
              <c16:uniqueId val="{00000000-DA3E-4FFE-B3DE-837E80847B5E}"/>
            </c:ext>
          </c:extLst>
        </c:ser>
        <c:dLbls>
          <c:dLblPos val="ctr"/>
          <c:showLegendKey val="0"/>
          <c:showVal val="0"/>
          <c:showCatName val="0"/>
          <c:showSerName val="0"/>
          <c:showPercent val="0"/>
          <c:showBubbleSize val="0"/>
        </c:dLbls>
        <c:gapWidth val="120"/>
        <c:overlap val="100"/>
        <c:axId val="508515615"/>
        <c:axId val="508506047"/>
      </c:barChart>
      <c:catAx>
        <c:axId val="508515615"/>
        <c:scaling>
          <c:orientation val="minMax"/>
        </c:scaling>
        <c:delete val="1"/>
        <c:axPos val="b"/>
        <c:numFmt formatCode="General" sourceLinked="1"/>
        <c:majorTickMark val="none"/>
        <c:minorTickMark val="none"/>
        <c:tickLblPos val="nextTo"/>
        <c:crossAx val="508506047"/>
        <c:crosses val="autoZero"/>
        <c:auto val="1"/>
        <c:lblAlgn val="ctr"/>
        <c:lblOffset val="100"/>
        <c:noMultiLvlLbl val="0"/>
      </c:catAx>
      <c:valAx>
        <c:axId val="508506047"/>
        <c:scaling>
          <c:orientation val="minMax"/>
        </c:scaling>
        <c:delete val="1"/>
        <c:axPos val="l"/>
        <c:numFmt formatCode="General" sourceLinked="1"/>
        <c:majorTickMark val="none"/>
        <c:minorTickMark val="none"/>
        <c:tickLblPos val="nextTo"/>
        <c:crossAx val="50851561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nchor="t" anchorCtr="0"/>
    <a:lstStyle/>
    <a:p>
      <a:pPr>
        <a:defRPr sz="600"/>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Y-Values</c:v>
                </c:pt>
              </c:strCache>
            </c:strRef>
          </c:tx>
          <c:spPr>
            <a:ln w="19050" cap="rnd">
              <a:solidFill>
                <a:srgbClr val="FF9D9D"/>
              </a:solidFill>
              <a:round/>
            </a:ln>
            <a:effectLst/>
          </c:spPr>
          <c:marker>
            <c:symbol val="circle"/>
            <c:size val="5"/>
            <c:spPr>
              <a:solidFill>
                <a:srgbClr val="FF4D4D"/>
              </a:solidFill>
              <a:ln w="9525">
                <a:solidFill>
                  <a:srgbClr val="FF4D4D"/>
                </a:solidFill>
              </a:ln>
              <a:effectLst/>
            </c:spPr>
          </c:marker>
          <c:xVal>
            <c:numRef>
              <c:f>Sheet1!$A$2:$A$6</c:f>
              <c:numCache>
                <c:formatCode>General</c:formatCode>
                <c:ptCount val="5"/>
                <c:pt idx="0">
                  <c:v>1</c:v>
                </c:pt>
                <c:pt idx="1">
                  <c:v>2</c:v>
                </c:pt>
                <c:pt idx="2">
                  <c:v>2.5</c:v>
                </c:pt>
                <c:pt idx="3">
                  <c:v>2.5</c:v>
                </c:pt>
                <c:pt idx="4">
                  <c:v>5</c:v>
                </c:pt>
              </c:numCache>
            </c:numRef>
          </c:xVal>
          <c:yVal>
            <c:numRef>
              <c:f>Sheet1!$B$2:$B$6</c:f>
              <c:numCache>
                <c:formatCode>General</c:formatCode>
                <c:ptCount val="5"/>
                <c:pt idx="0">
                  <c:v>5</c:v>
                </c:pt>
                <c:pt idx="1">
                  <c:v>5</c:v>
                </c:pt>
                <c:pt idx="2">
                  <c:v>5</c:v>
                </c:pt>
                <c:pt idx="3">
                  <c:v>2.5</c:v>
                </c:pt>
                <c:pt idx="4">
                  <c:v>2</c:v>
                </c:pt>
              </c:numCache>
            </c:numRef>
          </c:yVal>
          <c:smooth val="1"/>
          <c:extLst>
            <c:ext xmlns:c16="http://schemas.microsoft.com/office/drawing/2014/chart" uri="{C3380CC4-5D6E-409C-BE32-E72D297353CC}">
              <c16:uniqueId val="{00000000-7982-4382-B5CC-886D031C28D6}"/>
            </c:ext>
          </c:extLst>
        </c:ser>
        <c:dLbls>
          <c:showLegendKey val="0"/>
          <c:showVal val="0"/>
          <c:showCatName val="0"/>
          <c:showSerName val="0"/>
          <c:showPercent val="0"/>
          <c:showBubbleSize val="0"/>
        </c:dLbls>
        <c:axId val="625513055"/>
        <c:axId val="625515135"/>
      </c:scatterChart>
      <c:valAx>
        <c:axId val="625513055"/>
        <c:scaling>
          <c:orientation val="minMax"/>
        </c:scaling>
        <c:delete val="1"/>
        <c:axPos val="b"/>
        <c:numFmt formatCode="General" sourceLinked="1"/>
        <c:majorTickMark val="none"/>
        <c:minorTickMark val="none"/>
        <c:tickLblPos val="nextTo"/>
        <c:crossAx val="625515135"/>
        <c:crosses val="autoZero"/>
        <c:crossBetween val="midCat"/>
      </c:valAx>
      <c:valAx>
        <c:axId val="625515135"/>
        <c:scaling>
          <c:orientation val="minMax"/>
        </c:scaling>
        <c:delete val="1"/>
        <c:axPos val="l"/>
        <c:numFmt formatCode="General" sourceLinked="1"/>
        <c:majorTickMark val="none"/>
        <c:minorTickMark val="none"/>
        <c:tickLblPos val="nextTo"/>
        <c:crossAx val="62551305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2860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6" Type="http://schemas.openxmlformats.org/officeDocument/2006/relationships/image" Target="../media/image14.sv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chart" Target="../charts/chart1.xml"/><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4.svg"/><Relationship Id="rId11" Type="http://schemas.openxmlformats.org/officeDocument/2006/relationships/image" Target="../media/image28.svg"/><Relationship Id="rId5" Type="http://schemas.openxmlformats.org/officeDocument/2006/relationships/image" Target="../media/image23.png"/><Relationship Id="rId15" Type="http://schemas.openxmlformats.org/officeDocument/2006/relationships/image" Target="../media/image32.svg"/><Relationship Id="rId10" Type="http://schemas.openxmlformats.org/officeDocument/2006/relationships/image" Target="../media/image27.png"/><Relationship Id="rId19" Type="http://schemas.openxmlformats.org/officeDocument/2006/relationships/image" Target="../media/image36.svg"/><Relationship Id="rId4" Type="http://schemas.openxmlformats.org/officeDocument/2006/relationships/image" Target="../media/image22.svg"/><Relationship Id="rId9" Type="http://schemas.openxmlformats.org/officeDocument/2006/relationships/image" Target="../media/image26.sv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3" Type="http://schemas.openxmlformats.org/officeDocument/2006/relationships/image" Target="../media/image37.png"/><Relationship Id="rId21" Type="http://schemas.openxmlformats.org/officeDocument/2006/relationships/image" Target="../media/image53.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 Type="http://schemas.openxmlformats.org/officeDocument/2006/relationships/notesSlide" Target="../notesSlides/notesSlide4.xml"/><Relationship Id="rId16" Type="http://schemas.openxmlformats.org/officeDocument/2006/relationships/image" Target="../media/image50.svg"/><Relationship Id="rId20" Type="http://schemas.openxmlformats.org/officeDocument/2006/relationships/image" Target="../media/image34.svg"/><Relationship Id="rId1" Type="http://schemas.openxmlformats.org/officeDocument/2006/relationships/slideLayout" Target="../slideLayouts/slideLayout1.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svg"/><Relationship Id="rId19" Type="http://schemas.openxmlformats.org/officeDocument/2006/relationships/image" Target="../media/image33.png"/><Relationship Id="rId4" Type="http://schemas.openxmlformats.org/officeDocument/2006/relationships/image" Target="../media/image38.svg"/><Relationship Id="rId9" Type="http://schemas.openxmlformats.org/officeDocument/2006/relationships/image" Target="../media/image43.png"/><Relationship Id="rId14" Type="http://schemas.openxmlformats.org/officeDocument/2006/relationships/image" Target="../media/image48.svg"/><Relationship Id="rId22" Type="http://schemas.openxmlformats.org/officeDocument/2006/relationships/image" Target="../media/image54.svg"/></Relationships>
</file>

<file path=ppt/slides/_rels/slide5.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8.svg"/><Relationship Id="rId11" Type="http://schemas.openxmlformats.org/officeDocument/2006/relationships/image" Target="../media/image63.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png"/></Relationships>
</file>

<file path=ppt/slides/_rels/slide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svg"/></Relationships>
</file>

<file path=ppt/slides/_rels/slide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slides/_rels/slide8.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67.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74.svg"/><Relationship Id="rId4" Type="http://schemas.openxmlformats.org/officeDocument/2006/relationships/image" Target="../media/image73.svg"/></Relationships>
</file>

<file path=ppt/slides/_rels/slide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2.svg"/><Relationship Id="rId3" Type="http://schemas.openxmlformats.org/officeDocument/2006/relationships/image" Target="../media/image75.png"/><Relationship Id="rId7" Type="http://schemas.openxmlformats.org/officeDocument/2006/relationships/image" Target="../media/image78.svg"/><Relationship Id="rId12" Type="http://schemas.openxmlformats.org/officeDocument/2006/relationships/image" Target="../media/image8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34.svg"/><Relationship Id="rId5" Type="http://schemas.openxmlformats.org/officeDocument/2006/relationships/chart" Target="../charts/chart2.xml"/><Relationship Id="rId10" Type="http://schemas.openxmlformats.org/officeDocument/2006/relationships/image" Target="../media/image33.png"/><Relationship Id="rId4" Type="http://schemas.openxmlformats.org/officeDocument/2006/relationships/image" Target="../media/image76.svg"/><Relationship Id="rId9" Type="http://schemas.openxmlformats.org/officeDocument/2006/relationships/image" Target="../media/image80.svg"/><Relationship Id="rId14" Type="http://schemas.openxmlformats.org/officeDocument/2006/relationships/chart" Target="../charts/chart3.xml"/></Relationships>
</file>

<file path=ppt/slides/_rels/slide10.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18" Type="http://schemas.openxmlformats.org/officeDocument/2006/relationships/image" Target="../media/image96.png"/><Relationship Id="rId3" Type="http://schemas.openxmlformats.org/officeDocument/2006/relationships/chart" Target="../charts/chart4.xml"/><Relationship Id="rId7" Type="http://schemas.openxmlformats.org/officeDocument/2006/relationships/image" Target="../media/image86.svg"/><Relationship Id="rId12" Type="http://schemas.openxmlformats.org/officeDocument/2006/relationships/image" Target="../media/image91.svg"/><Relationship Id="rId17" Type="http://schemas.openxmlformats.org/officeDocument/2006/relationships/image" Target="../media/image95.svg"/><Relationship Id="rId2" Type="http://schemas.openxmlformats.org/officeDocument/2006/relationships/notesSlide" Target="../notesSlides/notesSlide10.xml"/><Relationship Id="rId16"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svg"/><Relationship Id="rId15" Type="http://schemas.openxmlformats.org/officeDocument/2006/relationships/chart" Target="../charts/chart5.xml"/><Relationship Id="rId10" Type="http://schemas.openxmlformats.org/officeDocument/2006/relationships/image" Target="../media/image89.svg"/><Relationship Id="rId19" Type="http://schemas.openxmlformats.org/officeDocument/2006/relationships/image" Target="../media/image97.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svg"/></Relationships>
</file>

<file path=ppt/slides/_rels/slide11.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chart" Target="../charts/chart6.xml"/><Relationship Id="rId7" Type="http://schemas.openxmlformats.org/officeDocument/2006/relationships/image" Target="../media/image8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0.svg"/><Relationship Id="rId5" Type="http://schemas.openxmlformats.org/officeDocument/2006/relationships/image" Target="../media/image99.svg"/><Relationship Id="rId10" Type="http://schemas.openxmlformats.org/officeDocument/2006/relationships/image" Target="../media/image102.svg"/><Relationship Id="rId4" Type="http://schemas.openxmlformats.org/officeDocument/2006/relationships/image" Target="../media/image98.png"/><Relationship Id="rId9" Type="http://schemas.openxmlformats.org/officeDocument/2006/relationships/image" Target="../media/image101.png"/></Relationships>
</file>

<file path=ppt/slides/_rels/slide12.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chart" Target="../charts/chart7.xml"/><Relationship Id="rId7" Type="http://schemas.openxmlformats.org/officeDocument/2006/relationships/image" Target="../media/image105.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04.svg"/><Relationship Id="rId4" Type="http://schemas.openxmlformats.org/officeDocument/2006/relationships/image" Target="../media/image103.png"/><Relationship Id="rId9" Type="http://schemas.openxmlformats.org/officeDocument/2006/relationships/image" Target="../media/image107.svg"/></Relationships>
</file>

<file path=ppt/slides/_rels/slide13.xml.rels><?xml version="1.0" encoding="UTF-8" standalone="yes"?>
<Relationships xmlns="http://schemas.openxmlformats.org/package/2006/relationships"><Relationship Id="rId8" Type="http://schemas.openxmlformats.org/officeDocument/2006/relationships/image" Target="../media/image113.svg"/><Relationship Id="rId13" Type="http://schemas.openxmlformats.org/officeDocument/2006/relationships/image" Target="../media/image118.png"/><Relationship Id="rId18" Type="http://schemas.openxmlformats.org/officeDocument/2006/relationships/image" Target="../media/image122.sv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svg"/><Relationship Id="rId17" Type="http://schemas.openxmlformats.org/officeDocument/2006/relationships/image" Target="../media/image81.png"/><Relationship Id="rId2" Type="http://schemas.openxmlformats.org/officeDocument/2006/relationships/notesSlide" Target="../notesSlides/notesSlide13.xml"/><Relationship Id="rId16" Type="http://schemas.openxmlformats.org/officeDocument/2006/relationships/image" Target="../media/image121.svg"/><Relationship Id="rId1" Type="http://schemas.openxmlformats.org/officeDocument/2006/relationships/slideLayout" Target="../slideLayouts/slideLayout1.xml"/><Relationship Id="rId6" Type="http://schemas.openxmlformats.org/officeDocument/2006/relationships/image" Target="../media/image111.sv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svg"/><Relationship Id="rId19" Type="http://schemas.openxmlformats.org/officeDocument/2006/relationships/chart" Target="../charts/chart8.xml"/><Relationship Id="rId4" Type="http://schemas.openxmlformats.org/officeDocument/2006/relationships/image" Target="../media/image109.svg"/><Relationship Id="rId9" Type="http://schemas.openxmlformats.org/officeDocument/2006/relationships/image" Target="../media/image114.png"/><Relationship Id="rId14" Type="http://schemas.openxmlformats.org/officeDocument/2006/relationships/image" Target="../media/image119.svg"/></Relationships>
</file>

<file path=ppt/slides/_rels/slide14.xml.rels><?xml version="1.0" encoding="UTF-8" standalone="yes"?>
<Relationships xmlns="http://schemas.openxmlformats.org/package/2006/relationships"><Relationship Id="rId8" Type="http://schemas.openxmlformats.org/officeDocument/2006/relationships/image" Target="../media/image128.svg"/><Relationship Id="rId13" Type="http://schemas.openxmlformats.org/officeDocument/2006/relationships/image" Target="../media/image131.sv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1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6.svg"/><Relationship Id="rId11" Type="http://schemas.openxmlformats.org/officeDocument/2006/relationships/image" Target="../media/image129.svg"/><Relationship Id="rId5" Type="http://schemas.openxmlformats.org/officeDocument/2006/relationships/image" Target="../media/image125.png"/><Relationship Id="rId15" Type="http://schemas.openxmlformats.org/officeDocument/2006/relationships/image" Target="../media/image133.svg"/><Relationship Id="rId10" Type="http://schemas.openxmlformats.org/officeDocument/2006/relationships/image" Target="../media/image108.png"/><Relationship Id="rId4" Type="http://schemas.openxmlformats.org/officeDocument/2006/relationships/image" Target="../media/image124.svg"/><Relationship Id="rId9" Type="http://schemas.openxmlformats.org/officeDocument/2006/relationships/chart" Target="../charts/chart9.xml"/><Relationship Id="rId14" Type="http://schemas.openxmlformats.org/officeDocument/2006/relationships/image" Target="../media/image132.png"/></Relationships>
</file>

<file path=ppt/slides/_rels/slide15.xml.rels><?xml version="1.0" encoding="UTF-8" standalone="yes"?>
<Relationships xmlns="http://schemas.openxmlformats.org/package/2006/relationships"><Relationship Id="rId8" Type="http://schemas.openxmlformats.org/officeDocument/2006/relationships/image" Target="../media/image139.svg"/><Relationship Id="rId13" Type="http://schemas.openxmlformats.org/officeDocument/2006/relationships/image" Target="../media/image103.png"/><Relationship Id="rId18" Type="http://schemas.openxmlformats.org/officeDocument/2006/relationships/image" Target="../media/image145.svg"/><Relationship Id="rId3" Type="http://schemas.openxmlformats.org/officeDocument/2006/relationships/image" Target="../media/image134.png"/><Relationship Id="rId7" Type="http://schemas.openxmlformats.org/officeDocument/2006/relationships/image" Target="../media/image138.png"/><Relationship Id="rId12" Type="http://schemas.openxmlformats.org/officeDocument/2006/relationships/image" Target="../media/image142.svg"/><Relationship Id="rId17" Type="http://schemas.openxmlformats.org/officeDocument/2006/relationships/image" Target="../media/image144.png"/><Relationship Id="rId2" Type="http://schemas.openxmlformats.org/officeDocument/2006/relationships/notesSlide" Target="../notesSlides/notesSlide15.xml"/><Relationship Id="rId16" Type="http://schemas.openxmlformats.org/officeDocument/2006/relationships/image" Target="../media/image67.svg"/><Relationship Id="rId1" Type="http://schemas.openxmlformats.org/officeDocument/2006/relationships/slideLayout" Target="../slideLayouts/slideLayout1.xml"/><Relationship Id="rId6" Type="http://schemas.openxmlformats.org/officeDocument/2006/relationships/image" Target="../media/image137.svg"/><Relationship Id="rId11" Type="http://schemas.openxmlformats.org/officeDocument/2006/relationships/image" Target="../media/image70.png"/><Relationship Id="rId5" Type="http://schemas.openxmlformats.org/officeDocument/2006/relationships/image" Target="../media/image136.png"/><Relationship Id="rId15" Type="http://schemas.openxmlformats.org/officeDocument/2006/relationships/image" Target="../media/image66.png"/><Relationship Id="rId10" Type="http://schemas.openxmlformats.org/officeDocument/2006/relationships/image" Target="../media/image141.svg"/><Relationship Id="rId4" Type="http://schemas.openxmlformats.org/officeDocument/2006/relationships/image" Target="../media/image135.svg"/><Relationship Id="rId9" Type="http://schemas.openxmlformats.org/officeDocument/2006/relationships/image" Target="../media/image140.png"/><Relationship Id="rId14" Type="http://schemas.openxmlformats.org/officeDocument/2006/relationships/image" Target="../media/image143.svg"/></Relationships>
</file>

<file path=ppt/slides/_rels/slide16.xml.rels><?xml version="1.0" encoding="UTF-8" standalone="yes"?>
<Relationships xmlns="http://schemas.openxmlformats.org/package/2006/relationships"><Relationship Id="rId8" Type="http://schemas.openxmlformats.org/officeDocument/2006/relationships/image" Target="../media/image150.svg"/><Relationship Id="rId3" Type="http://schemas.openxmlformats.org/officeDocument/2006/relationships/image" Target="../media/image146.png"/><Relationship Id="rId7" Type="http://schemas.openxmlformats.org/officeDocument/2006/relationships/image" Target="../media/image9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9.svg"/><Relationship Id="rId11" Type="http://schemas.openxmlformats.org/officeDocument/2006/relationships/image" Target="../media/image82.svg"/><Relationship Id="rId5" Type="http://schemas.openxmlformats.org/officeDocument/2006/relationships/image" Target="../media/image148.png"/><Relationship Id="rId10" Type="http://schemas.openxmlformats.org/officeDocument/2006/relationships/image" Target="../media/image81.png"/><Relationship Id="rId4" Type="http://schemas.openxmlformats.org/officeDocument/2006/relationships/image" Target="../media/image147.svg"/><Relationship Id="rId9" Type="http://schemas.openxmlformats.org/officeDocument/2006/relationships/image" Target="../media/image151.svg"/></Relationships>
</file>

<file path=ppt/slides/_rels/slide17.xml.rels><?xml version="1.0" encoding="UTF-8" standalone="yes"?>
<Relationships xmlns="http://schemas.openxmlformats.org/package/2006/relationships"><Relationship Id="rId8" Type="http://schemas.openxmlformats.org/officeDocument/2006/relationships/chart" Target="../charts/chart11.xml"/><Relationship Id="rId13" Type="http://schemas.openxmlformats.org/officeDocument/2006/relationships/image" Target="../media/image157.png"/><Relationship Id="rId3" Type="http://schemas.openxmlformats.org/officeDocument/2006/relationships/chart" Target="../charts/chart10.xml"/><Relationship Id="rId7" Type="http://schemas.openxmlformats.org/officeDocument/2006/relationships/image" Target="../media/image153.svg"/><Relationship Id="rId12" Type="http://schemas.openxmlformats.org/officeDocument/2006/relationships/image" Target="../media/image156.svg"/><Relationship Id="rId2" Type="http://schemas.openxmlformats.org/officeDocument/2006/relationships/notesSlide" Target="../notesSlides/notesSlide17.xml"/><Relationship Id="rId16" Type="http://schemas.openxmlformats.org/officeDocument/2006/relationships/image" Target="../media/image159.svg"/><Relationship Id="rId1" Type="http://schemas.openxmlformats.org/officeDocument/2006/relationships/slideLayout" Target="../slideLayouts/slideLayout1.xml"/><Relationship Id="rId6" Type="http://schemas.openxmlformats.org/officeDocument/2006/relationships/image" Target="../media/image152.png"/><Relationship Id="rId11" Type="http://schemas.openxmlformats.org/officeDocument/2006/relationships/image" Target="../media/image155.png"/><Relationship Id="rId5" Type="http://schemas.openxmlformats.org/officeDocument/2006/relationships/image" Target="../media/image102.svg"/><Relationship Id="rId15" Type="http://schemas.openxmlformats.org/officeDocument/2006/relationships/image" Target="../media/image70.png"/><Relationship Id="rId10" Type="http://schemas.openxmlformats.org/officeDocument/2006/relationships/image" Target="../media/image154.svg"/><Relationship Id="rId4" Type="http://schemas.openxmlformats.org/officeDocument/2006/relationships/image" Target="../media/image101.png"/><Relationship Id="rId9" Type="http://schemas.openxmlformats.org/officeDocument/2006/relationships/image" Target="../media/image77.png"/><Relationship Id="rId14" Type="http://schemas.openxmlformats.org/officeDocument/2006/relationships/image" Target="../media/image158.svg"/></Relationships>
</file>

<file path=ppt/slides/_rels/slide18.xml.rels><?xml version="1.0" encoding="UTF-8" standalone="yes"?>
<Relationships xmlns="http://schemas.openxmlformats.org/package/2006/relationships"><Relationship Id="rId13" Type="http://schemas.openxmlformats.org/officeDocument/2006/relationships/image" Target="../media/image170.svg"/><Relationship Id="rId18" Type="http://schemas.openxmlformats.org/officeDocument/2006/relationships/image" Target="../media/image174.svg"/><Relationship Id="rId26" Type="http://schemas.openxmlformats.org/officeDocument/2006/relationships/image" Target="../media/image182.svg"/><Relationship Id="rId39" Type="http://schemas.openxmlformats.org/officeDocument/2006/relationships/image" Target="../media/image195.svg"/><Relationship Id="rId21" Type="http://schemas.openxmlformats.org/officeDocument/2006/relationships/image" Target="../media/image177.png"/><Relationship Id="rId34" Type="http://schemas.openxmlformats.org/officeDocument/2006/relationships/image" Target="../media/image190.svg"/><Relationship Id="rId42" Type="http://schemas.openxmlformats.org/officeDocument/2006/relationships/image" Target="../media/image198.svg"/><Relationship Id="rId47" Type="http://schemas.openxmlformats.org/officeDocument/2006/relationships/image" Target="../media/image203.svg"/><Relationship Id="rId50" Type="http://schemas.openxmlformats.org/officeDocument/2006/relationships/image" Target="../media/image206.png"/><Relationship Id="rId55" Type="http://schemas.openxmlformats.org/officeDocument/2006/relationships/image" Target="../media/image210.png"/><Relationship Id="rId7" Type="http://schemas.openxmlformats.org/officeDocument/2006/relationships/image" Target="../media/image164.png"/><Relationship Id="rId2" Type="http://schemas.openxmlformats.org/officeDocument/2006/relationships/notesSlide" Target="../notesSlides/notesSlide18.xml"/><Relationship Id="rId16" Type="http://schemas.openxmlformats.org/officeDocument/2006/relationships/image" Target="../media/image172.svg"/><Relationship Id="rId29" Type="http://schemas.openxmlformats.org/officeDocument/2006/relationships/image" Target="../media/image185.png"/><Relationship Id="rId11" Type="http://schemas.openxmlformats.org/officeDocument/2006/relationships/image" Target="../media/image168.svg"/><Relationship Id="rId24" Type="http://schemas.openxmlformats.org/officeDocument/2006/relationships/image" Target="../media/image180.png"/><Relationship Id="rId32" Type="http://schemas.openxmlformats.org/officeDocument/2006/relationships/image" Target="../media/image188.svg"/><Relationship Id="rId37" Type="http://schemas.openxmlformats.org/officeDocument/2006/relationships/image" Target="../media/image193.svg"/><Relationship Id="rId40" Type="http://schemas.openxmlformats.org/officeDocument/2006/relationships/image" Target="../media/image196.svg"/><Relationship Id="rId45" Type="http://schemas.openxmlformats.org/officeDocument/2006/relationships/image" Target="../media/image201.svg"/><Relationship Id="rId53" Type="http://schemas.openxmlformats.org/officeDocument/2006/relationships/image" Target="../media/image208.png"/><Relationship Id="rId5" Type="http://schemas.openxmlformats.org/officeDocument/2006/relationships/image" Target="../media/image162.png"/><Relationship Id="rId19" Type="http://schemas.openxmlformats.org/officeDocument/2006/relationships/image" Target="../media/image175.png"/><Relationship Id="rId4" Type="http://schemas.openxmlformats.org/officeDocument/2006/relationships/image" Target="../media/image161.svg"/><Relationship Id="rId9" Type="http://schemas.openxmlformats.org/officeDocument/2006/relationships/image" Target="../media/image166.png"/><Relationship Id="rId14" Type="http://schemas.openxmlformats.org/officeDocument/2006/relationships/chart" Target="../charts/chart12.xml"/><Relationship Id="rId22" Type="http://schemas.openxmlformats.org/officeDocument/2006/relationships/image" Target="../media/image178.svg"/><Relationship Id="rId27" Type="http://schemas.openxmlformats.org/officeDocument/2006/relationships/image" Target="../media/image183.svg"/><Relationship Id="rId30" Type="http://schemas.openxmlformats.org/officeDocument/2006/relationships/image" Target="../media/image186.svg"/><Relationship Id="rId35" Type="http://schemas.openxmlformats.org/officeDocument/2006/relationships/image" Target="../media/image191.svg"/><Relationship Id="rId43" Type="http://schemas.openxmlformats.org/officeDocument/2006/relationships/image" Target="../media/image199.svg"/><Relationship Id="rId48" Type="http://schemas.openxmlformats.org/officeDocument/2006/relationships/image" Target="../media/image204.svg"/><Relationship Id="rId56" Type="http://schemas.openxmlformats.org/officeDocument/2006/relationships/image" Target="../media/image211.svg"/><Relationship Id="rId8" Type="http://schemas.openxmlformats.org/officeDocument/2006/relationships/image" Target="../media/image165.svg"/><Relationship Id="rId51" Type="http://schemas.openxmlformats.org/officeDocument/2006/relationships/image" Target="../media/image207.svg"/><Relationship Id="rId3" Type="http://schemas.openxmlformats.org/officeDocument/2006/relationships/image" Target="../media/image160.png"/><Relationship Id="rId12" Type="http://schemas.openxmlformats.org/officeDocument/2006/relationships/image" Target="../media/image169.svg"/><Relationship Id="rId17" Type="http://schemas.openxmlformats.org/officeDocument/2006/relationships/image" Target="../media/image173.png"/><Relationship Id="rId25" Type="http://schemas.openxmlformats.org/officeDocument/2006/relationships/image" Target="../media/image181.svg"/><Relationship Id="rId33" Type="http://schemas.openxmlformats.org/officeDocument/2006/relationships/image" Target="../media/image189.svg"/><Relationship Id="rId38" Type="http://schemas.openxmlformats.org/officeDocument/2006/relationships/image" Target="../media/image194.svg"/><Relationship Id="rId46" Type="http://schemas.openxmlformats.org/officeDocument/2006/relationships/image" Target="../media/image202.svg"/><Relationship Id="rId20" Type="http://schemas.openxmlformats.org/officeDocument/2006/relationships/image" Target="../media/image176.svg"/><Relationship Id="rId41" Type="http://schemas.openxmlformats.org/officeDocument/2006/relationships/image" Target="../media/image197.svg"/><Relationship Id="rId54" Type="http://schemas.openxmlformats.org/officeDocument/2006/relationships/image" Target="../media/image209.svg"/><Relationship Id="rId1" Type="http://schemas.openxmlformats.org/officeDocument/2006/relationships/slideLayout" Target="../slideLayouts/slideLayout1.xml"/><Relationship Id="rId6" Type="http://schemas.openxmlformats.org/officeDocument/2006/relationships/image" Target="../media/image163.svg"/><Relationship Id="rId15" Type="http://schemas.openxmlformats.org/officeDocument/2006/relationships/image" Target="../media/image171.png"/><Relationship Id="rId23" Type="http://schemas.openxmlformats.org/officeDocument/2006/relationships/image" Target="../media/image179.svg"/><Relationship Id="rId28" Type="http://schemas.openxmlformats.org/officeDocument/2006/relationships/image" Target="../media/image184.svg"/><Relationship Id="rId36" Type="http://schemas.openxmlformats.org/officeDocument/2006/relationships/image" Target="../media/image192.svg"/><Relationship Id="rId49" Type="http://schemas.openxmlformats.org/officeDocument/2006/relationships/image" Target="../media/image205.svg"/><Relationship Id="rId57" Type="http://schemas.openxmlformats.org/officeDocument/2006/relationships/chart" Target="../charts/chart14.xml"/><Relationship Id="rId10" Type="http://schemas.openxmlformats.org/officeDocument/2006/relationships/image" Target="../media/image167.svg"/><Relationship Id="rId31" Type="http://schemas.openxmlformats.org/officeDocument/2006/relationships/image" Target="../media/image187.svg"/><Relationship Id="rId44" Type="http://schemas.openxmlformats.org/officeDocument/2006/relationships/image" Target="../media/image200.svg"/><Relationship Id="rId52" Type="http://schemas.openxmlformats.org/officeDocument/2006/relationships/chart" Target="../charts/chart13.xml"/></Relationships>
</file>

<file path=ppt/slides/_rels/slide19.xml.rels><?xml version="1.0" encoding="UTF-8" standalone="yes"?>
<Relationships xmlns="http://schemas.openxmlformats.org/package/2006/relationships"><Relationship Id="rId8" Type="http://schemas.openxmlformats.org/officeDocument/2006/relationships/image" Target="../media/image216.svg"/><Relationship Id="rId13" Type="http://schemas.openxmlformats.org/officeDocument/2006/relationships/image" Target="../media/image221.svg"/><Relationship Id="rId18" Type="http://schemas.openxmlformats.org/officeDocument/2006/relationships/image" Target="../media/image226.png"/><Relationship Id="rId3" Type="http://schemas.openxmlformats.org/officeDocument/2006/relationships/image" Target="../media/image81.png"/><Relationship Id="rId21" Type="http://schemas.openxmlformats.org/officeDocument/2006/relationships/image" Target="../media/image229.sv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svg"/><Relationship Id="rId2" Type="http://schemas.openxmlformats.org/officeDocument/2006/relationships/notesSlide" Target="../notesSlides/notesSlide19.xml"/><Relationship Id="rId16" Type="http://schemas.openxmlformats.org/officeDocument/2006/relationships/image" Target="../media/image224.png"/><Relationship Id="rId20" Type="http://schemas.openxmlformats.org/officeDocument/2006/relationships/image" Target="../media/image228.png"/><Relationship Id="rId1" Type="http://schemas.openxmlformats.org/officeDocument/2006/relationships/slideLayout" Target="../slideLayouts/slideLayout1.xml"/><Relationship Id="rId6" Type="http://schemas.openxmlformats.org/officeDocument/2006/relationships/image" Target="../media/image214.svg"/><Relationship Id="rId11" Type="http://schemas.openxmlformats.org/officeDocument/2006/relationships/image" Target="../media/image219.svg"/><Relationship Id="rId5" Type="http://schemas.openxmlformats.org/officeDocument/2006/relationships/image" Target="../media/image213.png"/><Relationship Id="rId15" Type="http://schemas.openxmlformats.org/officeDocument/2006/relationships/image" Target="../media/image223.svg"/><Relationship Id="rId10" Type="http://schemas.openxmlformats.org/officeDocument/2006/relationships/image" Target="../media/image218.svg"/><Relationship Id="rId19" Type="http://schemas.openxmlformats.org/officeDocument/2006/relationships/image" Target="../media/image227.svg"/><Relationship Id="rId4" Type="http://schemas.openxmlformats.org/officeDocument/2006/relationships/image" Target="../media/image212.svg"/><Relationship Id="rId9" Type="http://schemas.openxmlformats.org/officeDocument/2006/relationships/image" Target="../media/image217.png"/><Relationship Id="rId14" Type="http://schemas.openxmlformats.org/officeDocument/2006/relationships/image" Target="../media/image222.png"/></Relationships>
</file>

<file path=ppt/slides/_rels/slide2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1.svg"/><Relationship Id="rId5" Type="http://schemas.openxmlformats.org/officeDocument/2006/relationships/image" Target="../media/image230.png"/><Relationship Id="rId4" Type="http://schemas.openxmlformats.org/officeDocument/2006/relationships/image" Target="../media/image147.svg"/></Relationships>
</file>

<file path=ppt/slides/_rels/slide21.xml.rels><?xml version="1.0" encoding="UTF-8" standalone="yes"?>
<Relationships xmlns="http://schemas.openxmlformats.org/package/2006/relationships"><Relationship Id="rId8" Type="http://schemas.openxmlformats.org/officeDocument/2006/relationships/image" Target="../media/image235.sv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238.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4.svg"/><Relationship Id="rId11" Type="http://schemas.openxmlformats.org/officeDocument/2006/relationships/image" Target="../media/image237.png"/><Relationship Id="rId5" Type="http://schemas.openxmlformats.org/officeDocument/2006/relationships/image" Target="../media/image233.png"/><Relationship Id="rId10" Type="http://schemas.openxmlformats.org/officeDocument/2006/relationships/image" Target="../media/image236.svg"/><Relationship Id="rId4" Type="http://schemas.openxmlformats.org/officeDocument/2006/relationships/image" Target="../media/image232.svg"/><Relationship Id="rId9" Type="http://schemas.openxmlformats.org/officeDocument/2006/relationships/image" Target="../media/image148.png"/></Relationships>
</file>

<file path=ppt/slides/_rels/slide22.xml.rels><?xml version="1.0" encoding="UTF-8" standalone="yes"?>
<Relationships xmlns="http://schemas.openxmlformats.org/package/2006/relationships"><Relationship Id="rId8" Type="http://schemas.openxmlformats.org/officeDocument/2006/relationships/image" Target="../media/image244.svg"/><Relationship Id="rId13" Type="http://schemas.openxmlformats.org/officeDocument/2006/relationships/image" Target="../media/image249.svg"/><Relationship Id="rId18" Type="http://schemas.openxmlformats.org/officeDocument/2006/relationships/image" Target="../media/image254.svg"/><Relationship Id="rId3" Type="http://schemas.openxmlformats.org/officeDocument/2006/relationships/image" Target="../media/image239.png"/><Relationship Id="rId7" Type="http://schemas.openxmlformats.org/officeDocument/2006/relationships/image" Target="../media/image243.png"/><Relationship Id="rId12" Type="http://schemas.openxmlformats.org/officeDocument/2006/relationships/image" Target="../media/image248.png"/><Relationship Id="rId17" Type="http://schemas.openxmlformats.org/officeDocument/2006/relationships/image" Target="../media/image253.png"/><Relationship Id="rId2" Type="http://schemas.openxmlformats.org/officeDocument/2006/relationships/notesSlide" Target="../notesSlides/notesSlide22.xml"/><Relationship Id="rId16" Type="http://schemas.openxmlformats.org/officeDocument/2006/relationships/image" Target="../media/image252.svg"/><Relationship Id="rId1" Type="http://schemas.openxmlformats.org/officeDocument/2006/relationships/slideLayout" Target="../slideLayouts/slideLayout1.xml"/><Relationship Id="rId6" Type="http://schemas.openxmlformats.org/officeDocument/2006/relationships/image" Target="../media/image242.svg"/><Relationship Id="rId11" Type="http://schemas.openxmlformats.org/officeDocument/2006/relationships/image" Target="../media/image247.svg"/><Relationship Id="rId5" Type="http://schemas.openxmlformats.org/officeDocument/2006/relationships/image" Target="../media/image241.png"/><Relationship Id="rId15" Type="http://schemas.openxmlformats.org/officeDocument/2006/relationships/image" Target="../media/image251.png"/><Relationship Id="rId10" Type="http://schemas.openxmlformats.org/officeDocument/2006/relationships/image" Target="../media/image246.svg"/><Relationship Id="rId4" Type="http://schemas.openxmlformats.org/officeDocument/2006/relationships/image" Target="../media/image240.svg"/><Relationship Id="rId9" Type="http://schemas.openxmlformats.org/officeDocument/2006/relationships/image" Target="../media/image245.png"/><Relationship Id="rId14" Type="http://schemas.openxmlformats.org/officeDocument/2006/relationships/image" Target="../media/image250.svg"/></Relationships>
</file>

<file path=ppt/slides/_rels/slide23.xml.rels><?xml version="1.0" encoding="UTF-8" standalone="yes"?>
<Relationships xmlns="http://schemas.openxmlformats.org/package/2006/relationships"><Relationship Id="rId8" Type="http://schemas.openxmlformats.org/officeDocument/2006/relationships/image" Target="../media/image259.png"/><Relationship Id="rId13" Type="http://schemas.openxmlformats.org/officeDocument/2006/relationships/image" Target="../media/image264.svg"/><Relationship Id="rId3" Type="http://schemas.openxmlformats.org/officeDocument/2006/relationships/chart" Target="../charts/chart15.xml"/><Relationship Id="rId7" Type="http://schemas.openxmlformats.org/officeDocument/2006/relationships/image" Target="../media/image258.svg"/><Relationship Id="rId12" Type="http://schemas.openxmlformats.org/officeDocument/2006/relationships/image" Target="../media/image26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7.png"/><Relationship Id="rId11" Type="http://schemas.openxmlformats.org/officeDocument/2006/relationships/image" Target="../media/image262.svg"/><Relationship Id="rId5" Type="http://schemas.openxmlformats.org/officeDocument/2006/relationships/image" Target="../media/image256.svg"/><Relationship Id="rId10" Type="http://schemas.openxmlformats.org/officeDocument/2006/relationships/image" Target="../media/image261.png"/><Relationship Id="rId4" Type="http://schemas.openxmlformats.org/officeDocument/2006/relationships/image" Target="../media/image255.png"/><Relationship Id="rId9" Type="http://schemas.openxmlformats.org/officeDocument/2006/relationships/image" Target="../media/image260.svg"/></Relationships>
</file>

<file path=ppt/slides/_rels/slide24.xml.rels><?xml version="1.0" encoding="UTF-8" standalone="yes"?>
<Relationships xmlns="http://schemas.openxmlformats.org/package/2006/relationships"><Relationship Id="rId8" Type="http://schemas.openxmlformats.org/officeDocument/2006/relationships/image" Target="../media/image270.svg"/><Relationship Id="rId13" Type="http://schemas.openxmlformats.org/officeDocument/2006/relationships/image" Target="../media/image274.svg"/><Relationship Id="rId3" Type="http://schemas.openxmlformats.org/officeDocument/2006/relationships/image" Target="../media/image265.png"/><Relationship Id="rId7" Type="http://schemas.openxmlformats.org/officeDocument/2006/relationships/image" Target="../media/image269.png"/><Relationship Id="rId12" Type="http://schemas.openxmlformats.org/officeDocument/2006/relationships/image" Target="../media/image27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68.svg"/><Relationship Id="rId11" Type="http://schemas.openxmlformats.org/officeDocument/2006/relationships/image" Target="../media/image272.svg"/><Relationship Id="rId5" Type="http://schemas.openxmlformats.org/officeDocument/2006/relationships/image" Target="../media/image267.png"/><Relationship Id="rId15" Type="http://schemas.openxmlformats.org/officeDocument/2006/relationships/image" Target="../media/image276.svg"/><Relationship Id="rId10" Type="http://schemas.openxmlformats.org/officeDocument/2006/relationships/image" Target="../media/image271.png"/><Relationship Id="rId4" Type="http://schemas.openxmlformats.org/officeDocument/2006/relationships/image" Target="../media/image266.svg"/><Relationship Id="rId9" Type="http://schemas.openxmlformats.org/officeDocument/2006/relationships/chart" Target="../charts/chart16.xml"/><Relationship Id="rId14" Type="http://schemas.openxmlformats.org/officeDocument/2006/relationships/image" Target="../media/image275.png"/></Relationships>
</file>

<file path=ppt/slides/_rels/slide25.xml.rels><?xml version="1.0" encoding="UTF-8" standalone="yes"?>
<Relationships xmlns="http://schemas.openxmlformats.org/package/2006/relationships"><Relationship Id="rId13" Type="http://schemas.openxmlformats.org/officeDocument/2006/relationships/image" Target="../media/image286.png"/><Relationship Id="rId18" Type="http://schemas.openxmlformats.org/officeDocument/2006/relationships/image" Target="../media/image291.svg"/><Relationship Id="rId26" Type="http://schemas.openxmlformats.org/officeDocument/2006/relationships/image" Target="../media/image299.png"/><Relationship Id="rId3" Type="http://schemas.openxmlformats.org/officeDocument/2006/relationships/image" Target="../media/image277.png"/><Relationship Id="rId21" Type="http://schemas.openxmlformats.org/officeDocument/2006/relationships/image" Target="../media/image294.svg"/><Relationship Id="rId7" Type="http://schemas.openxmlformats.org/officeDocument/2006/relationships/image" Target="../media/image281.png"/><Relationship Id="rId12" Type="http://schemas.openxmlformats.org/officeDocument/2006/relationships/image" Target="../media/image285.svg"/><Relationship Id="rId17" Type="http://schemas.openxmlformats.org/officeDocument/2006/relationships/image" Target="../media/image290.png"/><Relationship Id="rId25" Type="http://schemas.openxmlformats.org/officeDocument/2006/relationships/image" Target="../media/image298.svg"/><Relationship Id="rId33" Type="http://schemas.openxmlformats.org/officeDocument/2006/relationships/image" Target="../media/image306.svg"/><Relationship Id="rId2" Type="http://schemas.openxmlformats.org/officeDocument/2006/relationships/notesSlide" Target="../notesSlides/notesSlide25.xml"/><Relationship Id="rId16" Type="http://schemas.openxmlformats.org/officeDocument/2006/relationships/image" Target="../media/image289.svg"/><Relationship Id="rId20" Type="http://schemas.openxmlformats.org/officeDocument/2006/relationships/image" Target="../media/image293.png"/><Relationship Id="rId29" Type="http://schemas.openxmlformats.org/officeDocument/2006/relationships/image" Target="../media/image302.png"/><Relationship Id="rId1" Type="http://schemas.openxmlformats.org/officeDocument/2006/relationships/slideLayout" Target="../slideLayouts/slideLayout1.xml"/><Relationship Id="rId6" Type="http://schemas.openxmlformats.org/officeDocument/2006/relationships/image" Target="../media/image280.svg"/><Relationship Id="rId11" Type="http://schemas.openxmlformats.org/officeDocument/2006/relationships/image" Target="../media/image284.png"/><Relationship Id="rId24" Type="http://schemas.openxmlformats.org/officeDocument/2006/relationships/image" Target="../media/image297.png"/><Relationship Id="rId32" Type="http://schemas.openxmlformats.org/officeDocument/2006/relationships/image" Target="../media/image305.png"/><Relationship Id="rId5" Type="http://schemas.openxmlformats.org/officeDocument/2006/relationships/image" Target="../media/image279.png"/><Relationship Id="rId15" Type="http://schemas.openxmlformats.org/officeDocument/2006/relationships/image" Target="../media/image288.png"/><Relationship Id="rId23" Type="http://schemas.openxmlformats.org/officeDocument/2006/relationships/image" Target="../media/image296.svg"/><Relationship Id="rId28" Type="http://schemas.openxmlformats.org/officeDocument/2006/relationships/image" Target="../media/image301.svg"/><Relationship Id="rId10" Type="http://schemas.openxmlformats.org/officeDocument/2006/relationships/image" Target="../media/image283.svg"/><Relationship Id="rId19" Type="http://schemas.openxmlformats.org/officeDocument/2006/relationships/image" Target="../media/image292.svg"/><Relationship Id="rId31" Type="http://schemas.openxmlformats.org/officeDocument/2006/relationships/image" Target="../media/image304.svg"/><Relationship Id="rId4" Type="http://schemas.openxmlformats.org/officeDocument/2006/relationships/image" Target="../media/image278.svg"/><Relationship Id="rId9" Type="http://schemas.openxmlformats.org/officeDocument/2006/relationships/image" Target="../media/image33.png"/><Relationship Id="rId14" Type="http://schemas.openxmlformats.org/officeDocument/2006/relationships/image" Target="../media/image287.svg"/><Relationship Id="rId22" Type="http://schemas.openxmlformats.org/officeDocument/2006/relationships/image" Target="../media/image295.png"/><Relationship Id="rId27" Type="http://schemas.openxmlformats.org/officeDocument/2006/relationships/image" Target="../media/image300.svg"/><Relationship Id="rId30" Type="http://schemas.openxmlformats.org/officeDocument/2006/relationships/image" Target="../media/image303.svg"/><Relationship Id="rId8" Type="http://schemas.openxmlformats.org/officeDocument/2006/relationships/image" Target="../media/image28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120A4D03-C2F6-42CA-B8CD-3AF8E77BD6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3260" y="127420"/>
            <a:ext cx="23940654" cy="13461160"/>
          </a:xfrm>
          <a:prstGeom prst="rect">
            <a:avLst/>
          </a:prstGeom>
        </p:spPr>
      </p:pic>
      <p:pic>
        <p:nvPicPr>
          <p:cNvPr id="2" name="Image 0"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24387048" cy="9258300"/>
          </a:xfrm>
          <a:prstGeom prst="rect">
            <a:avLst/>
          </a:prstGeom>
        </p:spPr>
      </p:pic>
      <p:sp>
        <p:nvSpPr>
          <p:cNvPr id="4" name="Text 0"/>
          <p:cNvSpPr/>
          <p:nvPr/>
        </p:nvSpPr>
        <p:spPr>
          <a:xfrm>
            <a:off x="1486086" y="2946400"/>
            <a:ext cx="13666908" cy="3556000"/>
          </a:xfrm>
          <a:prstGeom prst="rect">
            <a:avLst/>
          </a:prstGeom>
          <a:noFill/>
          <a:ln/>
        </p:spPr>
        <p:txBody>
          <a:bodyPr wrap="square" lIns="0" tIns="0" rIns="0" bIns="0" rtlCol="0" anchor="t"/>
          <a:lstStyle/>
          <a:p>
            <a:pPr marL="0" indent="0" algn="l">
              <a:lnSpc>
                <a:spcPts val="12000"/>
              </a:lnSpc>
              <a:buNone/>
            </a:pPr>
            <a:r>
              <a:rPr lang="en-US" sz="12000" kern="0" spc="-480" dirty="0">
                <a:solidFill>
                  <a:srgbClr val="FFFFFF">
                    <a:alpha val="100000"/>
                  </a:srgbClr>
                </a:solidFill>
                <a:latin typeface="Onest SemiBold" pitchFamily="34" charset="0"/>
                <a:ea typeface="Onest SemiBold" pitchFamily="34" charset="-122"/>
                <a:cs typeface="Onest SemiBold" pitchFamily="34" charset="-120"/>
              </a:rPr>
              <a:t>Cost Optimization Strategy Deck</a:t>
            </a:r>
            <a:endParaRPr lang="en-US" sz="12000" dirty="0"/>
          </a:p>
        </p:txBody>
      </p:sp>
      <p:pic>
        <p:nvPicPr>
          <p:cNvPr id="5"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60283" y="8020627"/>
            <a:ext cx="4779549" cy="1055255"/>
          </a:xfrm>
          <a:prstGeom prst="rect">
            <a:avLst/>
          </a:prstGeom>
        </p:spPr>
      </p:pic>
      <p:pic>
        <p:nvPicPr>
          <p:cNvPr id="6"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4583" y="9395690"/>
            <a:ext cx="17763891" cy="3614738"/>
          </a:xfrm>
          <a:prstGeom prst="rect">
            <a:avLst/>
          </a:prstGeom>
        </p:spPr>
      </p:pic>
      <p:pic>
        <p:nvPicPr>
          <p:cNvPr id="7"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725565" y="9944100"/>
            <a:ext cx="1270159" cy="1270000"/>
          </a:xfrm>
          <a:prstGeom prst="rect">
            <a:avLst/>
          </a:prstGeom>
        </p:spPr>
      </p:pic>
      <p:pic>
        <p:nvPicPr>
          <p:cNvPr id="8"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42267" y="1487134"/>
            <a:ext cx="166220" cy="200732"/>
          </a:xfrm>
          <a:prstGeom prst="rect">
            <a:avLst/>
          </a:prstGeom>
        </p:spPr>
      </p:pic>
      <p:sp>
        <p:nvSpPr>
          <p:cNvPr id="9" name="Text 1"/>
          <p:cNvSpPr/>
          <p:nvPr/>
        </p:nvSpPr>
        <p:spPr>
          <a:xfrm>
            <a:off x="1832033" y="1397000"/>
            <a:ext cx="1075401"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Medium" pitchFamily="34" charset="0"/>
                <a:ea typeface="Inter Medium" pitchFamily="34" charset="-122"/>
                <a:cs typeface="Inter Medium" pitchFamily="34" charset="-120"/>
              </a:rPr>
              <a:t>Saffront</a:t>
            </a:r>
            <a:endParaRPr lang="en-US" sz="2000" dirty="0"/>
          </a:p>
        </p:txBody>
      </p:sp>
      <p:sp>
        <p:nvSpPr>
          <p:cNvPr id="10" name="Text 2"/>
          <p:cNvSpPr/>
          <p:nvPr/>
        </p:nvSpPr>
        <p:spPr>
          <a:xfrm>
            <a:off x="21325965" y="1397000"/>
            <a:ext cx="160886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August 2025</a:t>
            </a:r>
            <a:endParaRPr lang="en-US" sz="2000" dirty="0"/>
          </a:p>
        </p:txBody>
      </p:sp>
      <p:sp>
        <p:nvSpPr>
          <p:cNvPr id="11" name="Text 3"/>
          <p:cNvSpPr/>
          <p:nvPr/>
        </p:nvSpPr>
        <p:spPr>
          <a:xfrm>
            <a:off x="18442705" y="1397000"/>
            <a:ext cx="113890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Optimize</a:t>
            </a:r>
            <a:endParaRPr lang="en-US" sz="2000" dirty="0"/>
          </a:p>
        </p:txBody>
      </p:sp>
      <p:sp>
        <p:nvSpPr>
          <p:cNvPr id="12" name="Text 4"/>
          <p:cNvSpPr/>
          <p:nvPr/>
        </p:nvSpPr>
        <p:spPr>
          <a:xfrm>
            <a:off x="19539275" y="1397000"/>
            <a:ext cx="668950" cy="465667"/>
          </a:xfrm>
          <a:prstGeom prst="rect">
            <a:avLst/>
          </a:prstGeom>
          <a:noFill/>
          <a:ln/>
        </p:spPr>
        <p:txBody>
          <a:bodyPr wrap="square" lIns="0" tIns="0" rIns="0" bIns="0" rtlCol="0" anchor="t"/>
          <a:lstStyle/>
          <a:p>
            <a:pPr marL="0" indent="0" algn="r">
              <a:lnSpc>
                <a:spcPts val="3000"/>
              </a:lnSpc>
              <a:buNone/>
            </a:pPr>
            <a:r>
              <a:rPr lang="en-US" sz="2000" kern="0" spc="-40" dirty="0">
                <a:solidFill>
                  <a:srgbClr val="4F4F4F">
                    <a:alpha val="100000"/>
                  </a:srgbClr>
                </a:solidFill>
                <a:latin typeface="Inter Medium" pitchFamily="34" charset="0"/>
                <a:ea typeface="Inter Medium" pitchFamily="34" charset="-122"/>
                <a:cs typeface="Inter Medium" pitchFamily="34" charset="-120"/>
              </a:rPr>
              <a:t>Save</a:t>
            </a:r>
            <a:endParaRPr lang="en-US" sz="2000" dirty="0"/>
          </a:p>
        </p:txBody>
      </p:sp>
      <p:sp>
        <p:nvSpPr>
          <p:cNvPr id="13" name="Text 5"/>
          <p:cNvSpPr/>
          <p:nvPr/>
        </p:nvSpPr>
        <p:spPr>
          <a:xfrm>
            <a:off x="20250564" y="1397000"/>
            <a:ext cx="719757" cy="465667"/>
          </a:xfrm>
          <a:prstGeom prst="rect">
            <a:avLst/>
          </a:prstGeom>
          <a:noFill/>
          <a:ln/>
        </p:spPr>
        <p:txBody>
          <a:bodyPr wrap="square" lIns="0" tIns="0" rIns="0" bIns="0" rtlCol="0" anchor="t"/>
          <a:lstStyle/>
          <a:p>
            <a:pPr marL="0" indent="0" algn="r">
              <a:lnSpc>
                <a:spcPts val="3000"/>
              </a:lnSpc>
              <a:buNone/>
            </a:pPr>
            <a:r>
              <a:rPr lang="en-US" sz="2000" kern="0" spc="-40" dirty="0">
                <a:solidFill>
                  <a:srgbClr val="3D3D3D">
                    <a:alpha val="100000"/>
                  </a:srgbClr>
                </a:solidFill>
                <a:latin typeface="Inter Medium" pitchFamily="34" charset="0"/>
                <a:ea typeface="Inter Medium" pitchFamily="34" charset="-122"/>
                <a:cs typeface="Inter Medium" pitchFamily="34" charset="-120"/>
              </a:rPr>
              <a:t>Grow</a:t>
            </a:r>
            <a:endParaRPr lang="en-US" sz="2000" dirty="0"/>
          </a:p>
        </p:txBody>
      </p:sp>
      <p:sp>
        <p:nvSpPr>
          <p:cNvPr id="14" name="Shape 6"/>
          <p:cNvSpPr/>
          <p:nvPr/>
        </p:nvSpPr>
        <p:spPr>
          <a:xfrm>
            <a:off x="1486086" y="6921500"/>
            <a:ext cx="3442130" cy="787400"/>
          </a:xfrm>
          <a:prstGeom prst="roundRect">
            <a:avLst>
              <a:gd name="adj" fmla="val 58065"/>
            </a:avLst>
          </a:prstGeom>
          <a:solidFill>
            <a:srgbClr val="FF4D4D">
              <a:alpha val="100000"/>
            </a:srgbClr>
          </a:solidFill>
          <a:ln/>
        </p:spPr>
      </p:sp>
      <p:sp>
        <p:nvSpPr>
          <p:cNvPr id="15" name="Shape 7"/>
          <p:cNvSpPr/>
          <p:nvPr/>
        </p:nvSpPr>
        <p:spPr>
          <a:xfrm>
            <a:off x="4255032" y="7035800"/>
            <a:ext cx="558870" cy="558800"/>
          </a:xfrm>
          <a:prstGeom prst="ellipse">
            <a:avLst/>
          </a:prstGeom>
          <a:solidFill>
            <a:srgbClr val="000000">
              <a:alpha val="100000"/>
            </a:srgbClr>
          </a:solidFill>
          <a:ln/>
        </p:spPr>
      </p:sp>
      <p:pic>
        <p:nvPicPr>
          <p:cNvPr id="16" name="Image 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356644" y="7137400"/>
            <a:ext cx="359255" cy="359211"/>
          </a:xfrm>
          <a:prstGeom prst="rect">
            <a:avLst/>
          </a:prstGeom>
        </p:spPr>
      </p:pic>
      <p:sp>
        <p:nvSpPr>
          <p:cNvPr id="17" name="Text 8"/>
          <p:cNvSpPr/>
          <p:nvPr/>
        </p:nvSpPr>
        <p:spPr>
          <a:xfrm>
            <a:off x="1943343" y="7124700"/>
            <a:ext cx="224394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Presented By Dani</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1524000"/>
            <a:ext cx="326007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What is Cost Optimization?</a:t>
            </a:r>
            <a:endParaRPr lang="en-US" sz="2000" dirty="0"/>
          </a:p>
        </p:txBody>
      </p:sp>
      <p:sp>
        <p:nvSpPr>
          <p:cNvPr id="3" name="Text 1"/>
          <p:cNvSpPr/>
          <p:nvPr/>
        </p:nvSpPr>
        <p:spPr>
          <a:xfrm>
            <a:off x="1524191" y="2159000"/>
            <a:ext cx="18899962" cy="2540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4D4D">
                    <a:alpha val="100000"/>
                  </a:srgbClr>
                </a:solidFill>
                <a:latin typeface="Inter Medium" pitchFamily="34" charset="0"/>
                <a:ea typeface="Inter Medium" pitchFamily="34" charset="-122"/>
                <a:cs typeface="Inter Medium" pitchFamily="34" charset="-120"/>
              </a:rPr>
              <a:t>Cost optimization</a:t>
            </a:r>
            <a:r>
              <a:rPr lang="en-US" sz="6000" kern="0" spc="-240" dirty="0">
                <a:solidFill>
                  <a:srgbClr val="000000">
                    <a:alpha val="100000"/>
                  </a:srgbClr>
                </a:solidFill>
                <a:latin typeface="Inter Medium" pitchFamily="34" charset="0"/>
                <a:ea typeface="Inter Medium" pitchFamily="34" charset="-122"/>
                <a:cs typeface="Inter Medium" pitchFamily="34" charset="-120"/>
              </a:rPr>
              <a:t> is the continuous process of reducing expenses and improving efficiency without sacrificing quality or growth.</a:t>
            </a:r>
            <a:endParaRPr lang="en-US" sz="6000" dirty="0"/>
          </a:p>
        </p:txBody>
      </p:sp>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8991600"/>
            <a:ext cx="5398175" cy="4724400"/>
          </a:xfrm>
          <a:prstGeom prst="rect">
            <a:avLst/>
          </a:prstGeom>
        </p:spPr>
      </p:pic>
      <p:sp>
        <p:nvSpPr>
          <p:cNvPr id="5" name="Text 2"/>
          <p:cNvSpPr/>
          <p:nvPr/>
        </p:nvSpPr>
        <p:spPr>
          <a:xfrm>
            <a:off x="7455832" y="10820400"/>
            <a:ext cx="4157653"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Operational Costs</a:t>
            </a:r>
            <a:endParaRPr lang="en-US" sz="4000" dirty="0"/>
          </a:p>
        </p:txBody>
      </p:sp>
      <p:sp>
        <p:nvSpPr>
          <p:cNvPr id="6" name="Text 3"/>
          <p:cNvSpPr/>
          <p:nvPr/>
        </p:nvSpPr>
        <p:spPr>
          <a:xfrm>
            <a:off x="7455832" y="10007600"/>
            <a:ext cx="1160078"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25%</a:t>
            </a:r>
            <a:endParaRPr lang="en-US" sz="4000" dirty="0"/>
          </a:p>
        </p:txBody>
      </p:sp>
      <p:sp>
        <p:nvSpPr>
          <p:cNvPr id="7" name="Text 4"/>
          <p:cNvSpPr/>
          <p:nvPr/>
        </p:nvSpPr>
        <p:spPr>
          <a:xfrm>
            <a:off x="2032254" y="10820400"/>
            <a:ext cx="4564104"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Resource Utilization</a:t>
            </a:r>
            <a:endParaRPr lang="en-US" sz="4000" dirty="0"/>
          </a:p>
        </p:txBody>
      </p:sp>
      <p:sp>
        <p:nvSpPr>
          <p:cNvPr id="8" name="Text 5"/>
          <p:cNvSpPr/>
          <p:nvPr/>
        </p:nvSpPr>
        <p:spPr>
          <a:xfrm>
            <a:off x="2032254" y="10007600"/>
            <a:ext cx="1185482"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FF6464">
                    <a:alpha val="100000"/>
                  </a:srgbClr>
                </a:solidFill>
                <a:latin typeface="Inter Regular" pitchFamily="34" charset="0"/>
                <a:ea typeface="Inter Regular" pitchFamily="34" charset="-122"/>
                <a:cs typeface="Inter Regular" pitchFamily="34" charset="-120"/>
              </a:rPr>
              <a:t>30%</a:t>
            </a:r>
            <a:endParaRPr lang="en-US" sz="4000" dirty="0"/>
          </a:p>
        </p:txBody>
      </p:sp>
      <p:sp>
        <p:nvSpPr>
          <p:cNvPr id="9" name="Text 6"/>
          <p:cNvSpPr/>
          <p:nvPr/>
        </p:nvSpPr>
        <p:spPr>
          <a:xfrm>
            <a:off x="12828603" y="10820400"/>
            <a:ext cx="4805434" cy="12869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Supply Chain Efficiency</a:t>
            </a:r>
            <a:endParaRPr lang="en-US" sz="4000" dirty="0"/>
          </a:p>
        </p:txBody>
      </p:sp>
      <p:sp>
        <p:nvSpPr>
          <p:cNvPr id="10" name="Text 7"/>
          <p:cNvSpPr/>
          <p:nvPr/>
        </p:nvSpPr>
        <p:spPr>
          <a:xfrm>
            <a:off x="12828603" y="10007600"/>
            <a:ext cx="117278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20%</a:t>
            </a:r>
            <a:endParaRPr lang="en-US" sz="4000" dirty="0"/>
          </a:p>
        </p:txBody>
      </p:sp>
      <p:sp>
        <p:nvSpPr>
          <p:cNvPr id="11" name="Text 8"/>
          <p:cNvSpPr/>
          <p:nvPr/>
        </p:nvSpPr>
        <p:spPr>
          <a:xfrm>
            <a:off x="18226778" y="10820400"/>
            <a:ext cx="3878218"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Revenue Growth</a:t>
            </a:r>
            <a:endParaRPr lang="en-US" sz="4000" dirty="0"/>
          </a:p>
        </p:txBody>
      </p:sp>
      <p:sp>
        <p:nvSpPr>
          <p:cNvPr id="12" name="Text 9"/>
          <p:cNvSpPr/>
          <p:nvPr/>
        </p:nvSpPr>
        <p:spPr>
          <a:xfrm>
            <a:off x="18226778" y="10007600"/>
            <a:ext cx="109657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15%</a:t>
            </a:r>
            <a:endParaRPr lang="en-US" sz="4000" dirty="0"/>
          </a:p>
        </p:txBody>
      </p:sp>
      <p:pic>
        <p:nvPicPr>
          <p:cNvPr id="1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17840" y="8991600"/>
            <a:ext cx="12702" cy="4724400"/>
          </a:xfrm>
          <a:prstGeom prst="rect">
            <a:avLst/>
          </a:prstGeom>
        </p:spPr>
      </p:pic>
      <p:pic>
        <p:nvPicPr>
          <p:cNvPr id="14"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16014" y="8991600"/>
            <a:ext cx="12702" cy="4724400"/>
          </a:xfrm>
          <a:prstGeom prst="rect">
            <a:avLst/>
          </a:prstGeom>
        </p:spPr>
      </p:pic>
      <p:pic>
        <p:nvPicPr>
          <p:cNvPr id="15"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14189" y="8991600"/>
            <a:ext cx="12702" cy="4724400"/>
          </a:xfrm>
          <a:prstGeom prst="rect">
            <a:avLst/>
          </a:prstGeom>
        </p:spPr>
      </p:pic>
      <p:pic>
        <p:nvPicPr>
          <p:cNvPr id="16"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12364" y="8991600"/>
            <a:ext cx="12702" cy="4724400"/>
          </a:xfrm>
          <a:prstGeom prst="rect">
            <a:avLst/>
          </a:prstGeom>
        </p:spPr>
      </p:pic>
      <p:pic>
        <p:nvPicPr>
          <p:cNvPr id="17"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56507" y="8991600"/>
            <a:ext cx="12702" cy="4724400"/>
          </a:xfrm>
          <a:prstGeom prst="rect">
            <a:avLst/>
          </a:prstGeom>
        </p:spPr>
      </p:pic>
      <p:pic>
        <p:nvPicPr>
          <p:cNvPr id="18"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8985250"/>
            <a:ext cx="24387048" cy="12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627803" cy="13716000"/>
          </a:xfrm>
          <a:prstGeom prst="rect">
            <a:avLst/>
          </a:prstGeom>
        </p:spPr>
      </p:pic>
      <p:sp>
        <p:nvSpPr>
          <p:cNvPr id="3" name="Shape 0"/>
          <p:cNvSpPr/>
          <p:nvPr/>
        </p:nvSpPr>
        <p:spPr>
          <a:xfrm>
            <a:off x="1524191" y="3746500"/>
            <a:ext cx="6617527" cy="8039100"/>
          </a:xfrm>
          <a:prstGeom prst="rect">
            <a:avLst/>
          </a:prstGeom>
          <a:noFill/>
          <a:ln/>
        </p:spPr>
      </p:sp>
      <p:sp>
        <p:nvSpPr>
          <p:cNvPr id="4" name="Shape 1"/>
          <p:cNvSpPr/>
          <p:nvPr/>
        </p:nvSpPr>
        <p:spPr>
          <a:xfrm>
            <a:off x="1651206" y="11480800"/>
            <a:ext cx="6350794" cy="304800"/>
          </a:xfrm>
          <a:prstGeom prst="rect">
            <a:avLst/>
          </a:prstGeom>
          <a:noFill/>
          <a:ln/>
        </p:spPr>
      </p:sp>
      <p:sp>
        <p:nvSpPr>
          <p:cNvPr id="5" name="Shape 2"/>
          <p:cNvSpPr/>
          <p:nvPr/>
        </p:nvSpPr>
        <p:spPr>
          <a:xfrm>
            <a:off x="1651206" y="11480800"/>
            <a:ext cx="1206651" cy="304800"/>
          </a:xfrm>
          <a:prstGeom prst="rect">
            <a:avLst/>
          </a:prstGeom>
          <a:noFill/>
          <a:ln/>
        </p:spPr>
      </p:sp>
      <p:sp>
        <p:nvSpPr>
          <p:cNvPr id="6" name="Shape 3"/>
          <p:cNvSpPr/>
          <p:nvPr/>
        </p:nvSpPr>
        <p:spPr>
          <a:xfrm>
            <a:off x="1651206" y="11518900"/>
            <a:ext cx="101613" cy="228600"/>
          </a:xfrm>
          <a:prstGeom prst="roundRect">
            <a:avLst>
              <a:gd name="adj" fmla="val 125984"/>
            </a:avLst>
          </a:prstGeom>
          <a:solidFill>
            <a:srgbClr val="FF4D4D">
              <a:alpha val="100000"/>
            </a:srgbClr>
          </a:solidFill>
          <a:ln/>
        </p:spPr>
      </p:sp>
      <p:sp>
        <p:nvSpPr>
          <p:cNvPr id="7" name="Text 4"/>
          <p:cNvSpPr/>
          <p:nvPr/>
        </p:nvSpPr>
        <p:spPr>
          <a:xfrm>
            <a:off x="1816327" y="11480800"/>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40%</a:t>
            </a:r>
            <a:endParaRPr lang="en-US" sz="1600" dirty="0"/>
          </a:p>
        </p:txBody>
      </p:sp>
      <p:sp>
        <p:nvSpPr>
          <p:cNvPr id="8" name="Text 5"/>
          <p:cNvSpPr/>
          <p:nvPr/>
        </p:nvSpPr>
        <p:spPr>
          <a:xfrm>
            <a:off x="2311689" y="11480800"/>
            <a:ext cx="6139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Labor</a:t>
            </a:r>
            <a:endParaRPr lang="en-US" sz="1600" dirty="0"/>
          </a:p>
        </p:txBody>
      </p:sp>
      <p:sp>
        <p:nvSpPr>
          <p:cNvPr id="9" name="Shape 6"/>
          <p:cNvSpPr/>
          <p:nvPr/>
        </p:nvSpPr>
        <p:spPr>
          <a:xfrm>
            <a:off x="2984873" y="11480800"/>
            <a:ext cx="1498787" cy="304800"/>
          </a:xfrm>
          <a:prstGeom prst="rect">
            <a:avLst/>
          </a:prstGeom>
          <a:noFill/>
          <a:ln/>
        </p:spPr>
      </p:sp>
      <p:sp>
        <p:nvSpPr>
          <p:cNvPr id="10" name="Shape 7"/>
          <p:cNvSpPr/>
          <p:nvPr/>
        </p:nvSpPr>
        <p:spPr>
          <a:xfrm>
            <a:off x="2984873" y="11518900"/>
            <a:ext cx="101613" cy="228600"/>
          </a:xfrm>
          <a:prstGeom prst="roundRect">
            <a:avLst>
              <a:gd name="adj" fmla="val 125984"/>
            </a:avLst>
          </a:prstGeom>
          <a:solidFill>
            <a:srgbClr val="FF4D4D">
              <a:alpha val="100000"/>
            </a:srgbClr>
          </a:solidFill>
          <a:ln/>
        </p:spPr>
      </p:sp>
      <p:sp>
        <p:nvSpPr>
          <p:cNvPr id="11" name="Text 8"/>
          <p:cNvSpPr/>
          <p:nvPr/>
        </p:nvSpPr>
        <p:spPr>
          <a:xfrm>
            <a:off x="3149994" y="114808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25%</a:t>
            </a:r>
            <a:endParaRPr lang="en-US" sz="1600" dirty="0"/>
          </a:p>
        </p:txBody>
      </p:sp>
      <p:sp>
        <p:nvSpPr>
          <p:cNvPr id="12" name="Text 9"/>
          <p:cNvSpPr/>
          <p:nvPr/>
        </p:nvSpPr>
        <p:spPr>
          <a:xfrm>
            <a:off x="3632654" y="11480800"/>
            <a:ext cx="9187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Materials</a:t>
            </a:r>
            <a:endParaRPr lang="en-US" sz="1600" dirty="0"/>
          </a:p>
        </p:txBody>
      </p:sp>
      <p:sp>
        <p:nvSpPr>
          <p:cNvPr id="13" name="Shape 10"/>
          <p:cNvSpPr/>
          <p:nvPr/>
        </p:nvSpPr>
        <p:spPr>
          <a:xfrm>
            <a:off x="4610676" y="11480800"/>
            <a:ext cx="1702013" cy="304800"/>
          </a:xfrm>
          <a:prstGeom prst="rect">
            <a:avLst/>
          </a:prstGeom>
          <a:noFill/>
          <a:ln/>
        </p:spPr>
      </p:sp>
      <p:sp>
        <p:nvSpPr>
          <p:cNvPr id="14" name="Shape 11"/>
          <p:cNvSpPr/>
          <p:nvPr/>
        </p:nvSpPr>
        <p:spPr>
          <a:xfrm>
            <a:off x="4610676" y="11518900"/>
            <a:ext cx="101613" cy="228600"/>
          </a:xfrm>
          <a:prstGeom prst="roundRect">
            <a:avLst>
              <a:gd name="adj" fmla="val 125984"/>
            </a:avLst>
          </a:prstGeom>
          <a:solidFill>
            <a:srgbClr val="FF4D4D">
              <a:alpha val="100000"/>
            </a:srgbClr>
          </a:solidFill>
          <a:ln/>
        </p:spPr>
      </p:sp>
      <p:sp>
        <p:nvSpPr>
          <p:cNvPr id="15" name="Text 12"/>
          <p:cNvSpPr/>
          <p:nvPr/>
        </p:nvSpPr>
        <p:spPr>
          <a:xfrm>
            <a:off x="4775797" y="11480800"/>
            <a:ext cx="46149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15%</a:t>
            </a:r>
            <a:endParaRPr lang="en-US" sz="1600" dirty="0"/>
          </a:p>
        </p:txBody>
      </p:sp>
      <p:sp>
        <p:nvSpPr>
          <p:cNvPr id="16" name="Text 13"/>
          <p:cNvSpPr/>
          <p:nvPr/>
        </p:nvSpPr>
        <p:spPr>
          <a:xfrm>
            <a:off x="5233054" y="11480800"/>
            <a:ext cx="11473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Technology</a:t>
            </a:r>
            <a:endParaRPr lang="en-US" sz="1600" dirty="0"/>
          </a:p>
        </p:txBody>
      </p:sp>
      <p:sp>
        <p:nvSpPr>
          <p:cNvPr id="17" name="Shape 14"/>
          <p:cNvSpPr/>
          <p:nvPr/>
        </p:nvSpPr>
        <p:spPr>
          <a:xfrm>
            <a:off x="6439705" y="11480800"/>
            <a:ext cx="1562295" cy="304800"/>
          </a:xfrm>
          <a:prstGeom prst="rect">
            <a:avLst/>
          </a:prstGeom>
          <a:noFill/>
          <a:ln/>
        </p:spPr>
      </p:sp>
      <p:sp>
        <p:nvSpPr>
          <p:cNvPr id="18" name="Shape 15"/>
          <p:cNvSpPr/>
          <p:nvPr/>
        </p:nvSpPr>
        <p:spPr>
          <a:xfrm>
            <a:off x="6439705" y="11518900"/>
            <a:ext cx="101613" cy="228600"/>
          </a:xfrm>
          <a:prstGeom prst="roundRect">
            <a:avLst>
              <a:gd name="adj" fmla="val 125984"/>
            </a:avLst>
          </a:prstGeom>
          <a:solidFill>
            <a:srgbClr val="FF4D4D">
              <a:alpha val="100000"/>
            </a:srgbClr>
          </a:solidFill>
          <a:ln/>
        </p:spPr>
      </p:sp>
      <p:sp>
        <p:nvSpPr>
          <p:cNvPr id="19" name="Text 16"/>
          <p:cNvSpPr/>
          <p:nvPr/>
        </p:nvSpPr>
        <p:spPr>
          <a:xfrm>
            <a:off x="6604826" y="114808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20%</a:t>
            </a:r>
            <a:endParaRPr lang="en-US" sz="1600" dirty="0"/>
          </a:p>
        </p:txBody>
      </p:sp>
      <p:sp>
        <p:nvSpPr>
          <p:cNvPr id="20" name="Text 17"/>
          <p:cNvSpPr/>
          <p:nvPr/>
        </p:nvSpPr>
        <p:spPr>
          <a:xfrm>
            <a:off x="7087486" y="11480800"/>
            <a:ext cx="98225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Overhead</a:t>
            </a:r>
            <a:endParaRPr lang="en-US" sz="1600" dirty="0"/>
          </a:p>
        </p:txBody>
      </p:sp>
      <p:pic>
        <p:nvPicPr>
          <p:cNvPr id="21"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3746500"/>
            <a:ext cx="6617527" cy="6629400"/>
          </a:xfrm>
          <a:prstGeom prst="rect">
            <a:avLst/>
          </a:prstGeom>
        </p:spPr>
      </p:pic>
      <p:graphicFrame>
        <p:nvGraphicFramePr>
          <p:cNvPr id="55" name="Chart 54">
            <a:extLst>
              <a:ext uri="{FF2B5EF4-FFF2-40B4-BE49-F238E27FC236}">
                <a16:creationId xmlns:a16="http://schemas.microsoft.com/office/drawing/2014/main" id="{1E28C237-41E3-4C97-8178-409F06A3A470}"/>
              </a:ext>
            </a:extLst>
          </p:cNvPr>
          <p:cNvGraphicFramePr/>
          <p:nvPr>
            <p:extLst>
              <p:ext uri="{D42A27DB-BD31-4B8C-83A1-F6EECF244321}">
                <p14:modId xmlns:p14="http://schemas.microsoft.com/office/powerpoint/2010/main" val="2839583224"/>
              </p:ext>
            </p:extLst>
          </p:nvPr>
        </p:nvGraphicFramePr>
        <p:xfrm>
          <a:off x="-683745" y="3879070"/>
          <a:ext cx="11079969" cy="6372719"/>
        </p:xfrm>
        <a:graphic>
          <a:graphicData uri="http://schemas.openxmlformats.org/drawingml/2006/chart">
            <c:chart xmlns:c="http://schemas.openxmlformats.org/drawingml/2006/chart" xmlns:r="http://schemas.openxmlformats.org/officeDocument/2006/relationships" r:id="rId7"/>
          </a:graphicData>
        </a:graphic>
      </p:graphicFrame>
      <p:sp>
        <p:nvSpPr>
          <p:cNvPr id="25" name="Text 18"/>
          <p:cNvSpPr/>
          <p:nvPr/>
        </p:nvSpPr>
        <p:spPr>
          <a:xfrm>
            <a:off x="3302413" y="6870700"/>
            <a:ext cx="31076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Business cost distribution</a:t>
            </a:r>
            <a:endParaRPr lang="en-US" sz="2000" dirty="0"/>
          </a:p>
        </p:txBody>
      </p:sp>
      <p:sp>
        <p:nvSpPr>
          <p:cNvPr id="27" name="Shape 19"/>
          <p:cNvSpPr/>
          <p:nvPr/>
        </p:nvSpPr>
        <p:spPr>
          <a:xfrm>
            <a:off x="6338092" y="4279900"/>
            <a:ext cx="1270159" cy="1270000"/>
          </a:xfrm>
          <a:prstGeom prst="ellipse">
            <a:avLst/>
          </a:prstGeom>
          <a:solidFill>
            <a:srgbClr val="E7E7E7">
              <a:alpha val="100000"/>
            </a:srgbClr>
          </a:solidFill>
          <a:ln/>
        </p:spPr>
      </p:sp>
      <p:sp>
        <p:nvSpPr>
          <p:cNvPr id="29" name="Text 20"/>
          <p:cNvSpPr/>
          <p:nvPr/>
        </p:nvSpPr>
        <p:spPr>
          <a:xfrm>
            <a:off x="2027987" y="1524000"/>
            <a:ext cx="127862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BM Plex Mono Bold" pitchFamily="34" charset="0"/>
                <a:ea typeface="IBM Plex Mono Bold" pitchFamily="34" charset="-122"/>
                <a:cs typeface="IBM Plex Mono Bold" pitchFamily="34" charset="-120"/>
              </a:rPr>
              <a:t>Saffront</a:t>
            </a:r>
            <a:endParaRPr lang="en-US" sz="2000" dirty="0"/>
          </a:p>
        </p:txBody>
      </p:sp>
      <p:pic>
        <p:nvPicPr>
          <p:cNvPr id="30" name="Image 7"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0531" y="1502456"/>
            <a:ext cx="356041" cy="424090"/>
          </a:xfrm>
          <a:prstGeom prst="rect">
            <a:avLst/>
          </a:prstGeom>
        </p:spPr>
      </p:pic>
      <p:pic>
        <p:nvPicPr>
          <p:cNvPr id="31" name="Image 8"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028903" y="4127500"/>
            <a:ext cx="12702" cy="8255000"/>
          </a:xfrm>
          <a:prstGeom prst="rect">
            <a:avLst/>
          </a:prstGeom>
        </p:spPr>
      </p:pic>
      <p:pic>
        <p:nvPicPr>
          <p:cNvPr id="32" name="Image 9"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8436354" y="4127500"/>
            <a:ext cx="12702" cy="7073900"/>
          </a:xfrm>
          <a:prstGeom prst="rect">
            <a:avLst/>
          </a:prstGeom>
        </p:spPr>
      </p:pic>
      <p:pic>
        <p:nvPicPr>
          <p:cNvPr id="33" name="Image 10"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627803" y="4121150"/>
            <a:ext cx="14759245" cy="12702"/>
          </a:xfrm>
          <a:prstGeom prst="rect">
            <a:avLst/>
          </a:prstGeom>
        </p:spPr>
      </p:pic>
      <p:pic>
        <p:nvPicPr>
          <p:cNvPr id="34" name="Image 11"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1453" y="0"/>
            <a:ext cx="12702" cy="13716000"/>
          </a:xfrm>
          <a:prstGeom prst="rect">
            <a:avLst/>
          </a:prstGeom>
        </p:spPr>
      </p:pic>
      <p:sp>
        <p:nvSpPr>
          <p:cNvPr id="35" name="Text 21"/>
          <p:cNvSpPr/>
          <p:nvPr/>
        </p:nvSpPr>
        <p:spPr>
          <a:xfrm>
            <a:off x="10567721" y="1524000"/>
            <a:ext cx="8103613"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Why Cost Optimization Matters</a:t>
            </a:r>
            <a:endParaRPr lang="en-US" sz="6000" dirty="0"/>
          </a:p>
        </p:txBody>
      </p:sp>
      <p:sp>
        <p:nvSpPr>
          <p:cNvPr id="36" name="Shape 22"/>
          <p:cNvSpPr/>
          <p:nvPr/>
        </p:nvSpPr>
        <p:spPr>
          <a:xfrm>
            <a:off x="18747543" y="4432300"/>
            <a:ext cx="508063" cy="508000"/>
          </a:xfrm>
          <a:prstGeom prst="ellipse">
            <a:avLst/>
          </a:prstGeom>
          <a:solidFill>
            <a:srgbClr val="E7E7E7">
              <a:alpha val="100000"/>
            </a:srgbClr>
          </a:solidFill>
          <a:ln/>
        </p:spPr>
      </p:sp>
      <p:sp>
        <p:nvSpPr>
          <p:cNvPr id="37" name="Text 23"/>
          <p:cNvSpPr/>
          <p:nvPr/>
        </p:nvSpPr>
        <p:spPr>
          <a:xfrm>
            <a:off x="18747543" y="5321300"/>
            <a:ext cx="40856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Ensuring Long-Term Sustainability</a:t>
            </a:r>
            <a:endParaRPr lang="en-US" sz="2000" dirty="0"/>
          </a:p>
        </p:txBody>
      </p:sp>
      <p:sp>
        <p:nvSpPr>
          <p:cNvPr id="38" name="Text 24"/>
          <p:cNvSpPr/>
          <p:nvPr/>
        </p:nvSpPr>
        <p:spPr>
          <a:xfrm>
            <a:off x="18925365" y="4495800"/>
            <a:ext cx="2497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3</a:t>
            </a:r>
            <a:endParaRPr lang="en-US" sz="2000" dirty="0"/>
          </a:p>
        </p:txBody>
      </p:sp>
      <p:sp>
        <p:nvSpPr>
          <p:cNvPr id="39" name="Text 25"/>
          <p:cNvSpPr/>
          <p:nvPr/>
        </p:nvSpPr>
        <p:spPr>
          <a:xfrm>
            <a:off x="18747543" y="5803900"/>
            <a:ext cx="3717331"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Build resilience against market shifts</a:t>
            </a:r>
            <a:endParaRPr lang="en-US" sz="2000" dirty="0"/>
          </a:p>
        </p:txBody>
      </p:sp>
      <p:sp>
        <p:nvSpPr>
          <p:cNvPr id="40" name="Shape 26"/>
          <p:cNvSpPr/>
          <p:nvPr/>
        </p:nvSpPr>
        <p:spPr>
          <a:xfrm>
            <a:off x="18442705" y="8839200"/>
            <a:ext cx="5944343" cy="1181100"/>
          </a:xfrm>
          <a:prstGeom prst="rect">
            <a:avLst/>
          </a:prstGeom>
          <a:solidFill>
            <a:srgbClr val="F6F6F6">
              <a:alpha val="100000"/>
            </a:srgbClr>
          </a:solidFill>
          <a:ln/>
        </p:spPr>
      </p:sp>
      <p:sp>
        <p:nvSpPr>
          <p:cNvPr id="41" name="Shape 27"/>
          <p:cNvSpPr/>
          <p:nvPr/>
        </p:nvSpPr>
        <p:spPr>
          <a:xfrm>
            <a:off x="14340092" y="4432300"/>
            <a:ext cx="508063" cy="508000"/>
          </a:xfrm>
          <a:prstGeom prst="ellipse">
            <a:avLst/>
          </a:prstGeom>
          <a:solidFill>
            <a:srgbClr val="E7E7E7">
              <a:alpha val="100000"/>
            </a:srgbClr>
          </a:solidFill>
          <a:ln/>
        </p:spPr>
      </p:sp>
      <p:sp>
        <p:nvSpPr>
          <p:cNvPr id="42" name="Text 28"/>
          <p:cNvSpPr/>
          <p:nvPr/>
        </p:nvSpPr>
        <p:spPr>
          <a:xfrm>
            <a:off x="14340092" y="5321300"/>
            <a:ext cx="32854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Improving Competitiveness</a:t>
            </a:r>
            <a:endParaRPr lang="en-US" sz="2000" dirty="0"/>
          </a:p>
        </p:txBody>
      </p:sp>
      <p:sp>
        <p:nvSpPr>
          <p:cNvPr id="43" name="Text 29"/>
          <p:cNvSpPr/>
          <p:nvPr/>
        </p:nvSpPr>
        <p:spPr>
          <a:xfrm>
            <a:off x="14517915" y="4495800"/>
            <a:ext cx="2497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2</a:t>
            </a:r>
            <a:endParaRPr lang="en-US" sz="2000" dirty="0"/>
          </a:p>
        </p:txBody>
      </p:sp>
      <p:sp>
        <p:nvSpPr>
          <p:cNvPr id="44" name="Text 30"/>
          <p:cNvSpPr/>
          <p:nvPr/>
        </p:nvSpPr>
        <p:spPr>
          <a:xfrm>
            <a:off x="14340092" y="5803900"/>
            <a:ext cx="3641122"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Offer better value and pricing in the market</a:t>
            </a:r>
            <a:endParaRPr lang="en-US" sz="2000" dirty="0"/>
          </a:p>
        </p:txBody>
      </p:sp>
      <p:sp>
        <p:nvSpPr>
          <p:cNvPr id="45" name="Shape 31"/>
          <p:cNvSpPr/>
          <p:nvPr/>
        </p:nvSpPr>
        <p:spPr>
          <a:xfrm>
            <a:off x="14035254" y="10020300"/>
            <a:ext cx="4407451" cy="1181100"/>
          </a:xfrm>
          <a:prstGeom prst="rect">
            <a:avLst/>
          </a:prstGeom>
          <a:solidFill>
            <a:srgbClr val="F6F6F6">
              <a:alpha val="100000"/>
            </a:srgbClr>
          </a:solidFill>
          <a:ln/>
        </p:spPr>
      </p:sp>
      <p:sp>
        <p:nvSpPr>
          <p:cNvPr id="46" name="Shape 32"/>
          <p:cNvSpPr/>
          <p:nvPr/>
        </p:nvSpPr>
        <p:spPr>
          <a:xfrm>
            <a:off x="9932641" y="4432300"/>
            <a:ext cx="508063" cy="508000"/>
          </a:xfrm>
          <a:prstGeom prst="ellipse">
            <a:avLst/>
          </a:prstGeom>
          <a:solidFill>
            <a:srgbClr val="E7E7E7">
              <a:alpha val="100000"/>
            </a:srgbClr>
          </a:solidFill>
          <a:ln/>
        </p:spPr>
      </p:sp>
      <p:sp>
        <p:nvSpPr>
          <p:cNvPr id="47" name="Text 33"/>
          <p:cNvSpPr/>
          <p:nvPr/>
        </p:nvSpPr>
        <p:spPr>
          <a:xfrm>
            <a:off x="9932641" y="5321300"/>
            <a:ext cx="31076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Maximizing Profit Margins</a:t>
            </a:r>
            <a:endParaRPr lang="en-US" sz="2000" dirty="0"/>
          </a:p>
        </p:txBody>
      </p:sp>
      <p:sp>
        <p:nvSpPr>
          <p:cNvPr id="48" name="Text 34"/>
          <p:cNvSpPr/>
          <p:nvPr/>
        </p:nvSpPr>
        <p:spPr>
          <a:xfrm>
            <a:off x="10123165" y="4495800"/>
            <a:ext cx="21169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1</a:t>
            </a:r>
            <a:endParaRPr lang="en-US" sz="2000" dirty="0"/>
          </a:p>
        </p:txBody>
      </p:sp>
      <p:sp>
        <p:nvSpPr>
          <p:cNvPr id="49" name="Text 35"/>
          <p:cNvSpPr/>
          <p:nvPr/>
        </p:nvSpPr>
        <p:spPr>
          <a:xfrm>
            <a:off x="9932641" y="5803900"/>
            <a:ext cx="3907855"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Increase net gains without raising prices</a:t>
            </a:r>
            <a:endParaRPr lang="en-US" sz="2000" dirty="0"/>
          </a:p>
        </p:txBody>
      </p:sp>
      <p:sp>
        <p:nvSpPr>
          <p:cNvPr id="50" name="Shape 36"/>
          <p:cNvSpPr/>
          <p:nvPr/>
        </p:nvSpPr>
        <p:spPr>
          <a:xfrm>
            <a:off x="9627803" y="11201400"/>
            <a:ext cx="4407451" cy="1181100"/>
          </a:xfrm>
          <a:prstGeom prst="rect">
            <a:avLst/>
          </a:prstGeom>
          <a:solidFill>
            <a:srgbClr val="FFC5C5">
              <a:alpha val="100000"/>
            </a:srgbClr>
          </a:solidFill>
          <a:ln/>
        </p:spPr>
      </p:sp>
      <p:pic>
        <p:nvPicPr>
          <p:cNvPr id="52" name="Graphic 51">
            <a:extLst>
              <a:ext uri="{FF2B5EF4-FFF2-40B4-BE49-F238E27FC236}">
                <a16:creationId xmlns:a16="http://schemas.microsoft.com/office/drawing/2014/main" id="{0CC58FDF-2CAA-41FF-A6E3-33A7A669A86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97696" y="4539425"/>
            <a:ext cx="750949" cy="7509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21953" y="0"/>
            <a:ext cx="12765095" cy="13716000"/>
          </a:xfrm>
          <a:prstGeom prst="rect">
            <a:avLst/>
          </a:prstGeom>
        </p:spPr>
      </p:pic>
      <p:grpSp>
        <p:nvGrpSpPr>
          <p:cNvPr id="61" name="Group 60">
            <a:extLst>
              <a:ext uri="{FF2B5EF4-FFF2-40B4-BE49-F238E27FC236}">
                <a16:creationId xmlns:a16="http://schemas.microsoft.com/office/drawing/2014/main" id="{F4A47B87-ECAB-4EC1-AFC4-3D6E5CBF5273}"/>
              </a:ext>
            </a:extLst>
          </p:cNvPr>
          <p:cNvGrpSpPr/>
          <p:nvPr/>
        </p:nvGrpSpPr>
        <p:grpSpPr>
          <a:xfrm>
            <a:off x="12777797" y="4051300"/>
            <a:ext cx="10157036" cy="6591300"/>
            <a:chOff x="12777797" y="4051300"/>
            <a:chExt cx="10157036" cy="6591300"/>
          </a:xfrm>
        </p:grpSpPr>
        <p:sp>
          <p:nvSpPr>
            <p:cNvPr id="4" name="Shape 0"/>
            <p:cNvSpPr/>
            <p:nvPr/>
          </p:nvSpPr>
          <p:spPr>
            <a:xfrm>
              <a:off x="15025978" y="8813800"/>
              <a:ext cx="5144143" cy="1828800"/>
            </a:xfrm>
            <a:prstGeom prst="ellipse">
              <a:avLst/>
            </a:prstGeom>
            <a:solidFill>
              <a:srgbClr val="F6F6F6">
                <a:alpha val="100000"/>
              </a:srgbClr>
            </a:solidFill>
            <a:ln/>
          </p:spPr>
        </p:sp>
        <p:pic>
          <p:nvPicPr>
            <p:cNvPr id="5"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25978" y="9620250"/>
              <a:ext cx="5144143" cy="1022350"/>
            </a:xfrm>
            <a:prstGeom prst="rect">
              <a:avLst/>
            </a:prstGeom>
          </p:spPr>
        </p:pic>
        <p:sp>
          <p:nvSpPr>
            <p:cNvPr id="6" name="Shape 1"/>
            <p:cNvSpPr/>
            <p:nvPr/>
          </p:nvSpPr>
          <p:spPr>
            <a:xfrm>
              <a:off x="15025978" y="7366000"/>
              <a:ext cx="5144143" cy="1828800"/>
            </a:xfrm>
            <a:prstGeom prst="ellipse">
              <a:avLst/>
            </a:prstGeom>
            <a:solidFill>
              <a:srgbClr val="FF6464">
                <a:alpha val="100000"/>
              </a:srgbClr>
            </a:solidFill>
            <a:ln/>
          </p:spPr>
        </p:sp>
        <p:pic>
          <p:nvPicPr>
            <p:cNvPr id="7"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025978" y="8172450"/>
              <a:ext cx="5144143" cy="1022350"/>
            </a:xfrm>
            <a:prstGeom prst="rect">
              <a:avLst/>
            </a:prstGeom>
          </p:spPr>
        </p:pic>
        <p:sp>
          <p:nvSpPr>
            <p:cNvPr id="8" name="Shape 2"/>
            <p:cNvSpPr/>
            <p:nvPr/>
          </p:nvSpPr>
          <p:spPr>
            <a:xfrm>
              <a:off x="15025978" y="5918200"/>
              <a:ext cx="5144143" cy="1828800"/>
            </a:xfrm>
            <a:prstGeom prst="ellipse">
              <a:avLst/>
            </a:prstGeom>
            <a:solidFill>
              <a:srgbClr val="F6F6F6">
                <a:alpha val="100000"/>
              </a:srgbClr>
            </a:solidFill>
            <a:ln/>
          </p:spPr>
        </p:sp>
        <p:pic>
          <p:nvPicPr>
            <p:cNvPr id="9"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25978" y="6724650"/>
              <a:ext cx="5144143" cy="1022350"/>
            </a:xfrm>
            <a:prstGeom prst="rect">
              <a:avLst/>
            </a:prstGeom>
          </p:spPr>
        </p:pic>
        <p:sp>
          <p:nvSpPr>
            <p:cNvPr id="10" name="Shape 3"/>
            <p:cNvSpPr/>
            <p:nvPr/>
          </p:nvSpPr>
          <p:spPr>
            <a:xfrm>
              <a:off x="15025978" y="4470400"/>
              <a:ext cx="5144143" cy="1828800"/>
            </a:xfrm>
            <a:prstGeom prst="ellipse">
              <a:avLst/>
            </a:prstGeom>
            <a:solidFill>
              <a:srgbClr val="F6F6F6">
                <a:alpha val="100000"/>
              </a:srgbClr>
            </a:solidFill>
            <a:ln/>
          </p:spPr>
        </p:sp>
        <p:pic>
          <p:nvPicPr>
            <p:cNvPr id="11"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25978" y="5276850"/>
              <a:ext cx="5144143" cy="1022350"/>
            </a:xfrm>
            <a:prstGeom prst="rect">
              <a:avLst/>
            </a:prstGeom>
          </p:spPr>
        </p:pic>
        <p:sp>
          <p:nvSpPr>
            <p:cNvPr id="12" name="Text 4"/>
            <p:cNvSpPr/>
            <p:nvPr/>
          </p:nvSpPr>
          <p:spPr>
            <a:xfrm>
              <a:off x="19077784" y="4686300"/>
              <a:ext cx="228205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Audit current costs</a:t>
              </a:r>
              <a:endParaRPr lang="en-US" sz="2000" dirty="0"/>
            </a:p>
          </p:txBody>
        </p:sp>
        <p:sp>
          <p:nvSpPr>
            <p:cNvPr id="13" name="Text 5"/>
            <p:cNvSpPr/>
            <p:nvPr/>
          </p:nvSpPr>
          <p:spPr>
            <a:xfrm>
              <a:off x="19077784" y="4051300"/>
              <a:ext cx="117278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20%</a:t>
              </a:r>
              <a:endParaRPr lang="en-US" sz="4000" dirty="0"/>
            </a:p>
          </p:txBody>
        </p:sp>
        <p:sp>
          <p:nvSpPr>
            <p:cNvPr id="14" name="Text 6"/>
            <p:cNvSpPr/>
            <p:nvPr/>
          </p:nvSpPr>
          <p:spPr>
            <a:xfrm>
              <a:off x="19916089" y="7721600"/>
              <a:ext cx="301874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Implement improvements</a:t>
              </a:r>
              <a:endParaRPr lang="en-US" sz="2000" dirty="0"/>
            </a:p>
          </p:txBody>
        </p:sp>
        <p:sp>
          <p:nvSpPr>
            <p:cNvPr id="15" name="Text 7"/>
            <p:cNvSpPr/>
            <p:nvPr/>
          </p:nvSpPr>
          <p:spPr>
            <a:xfrm>
              <a:off x="19916089" y="7035800"/>
              <a:ext cx="1147377"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70%</a:t>
              </a:r>
              <a:endParaRPr lang="en-US" sz="4000" dirty="0"/>
            </a:p>
          </p:txBody>
        </p:sp>
        <p:sp>
          <p:nvSpPr>
            <p:cNvPr id="16" name="Text 8"/>
            <p:cNvSpPr/>
            <p:nvPr/>
          </p:nvSpPr>
          <p:spPr>
            <a:xfrm>
              <a:off x="12803200" y="9042400"/>
              <a:ext cx="197721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Monitor &amp; adjust</a:t>
              </a:r>
              <a:endParaRPr lang="en-US" sz="2000" dirty="0"/>
            </a:p>
          </p:txBody>
        </p:sp>
        <p:sp>
          <p:nvSpPr>
            <p:cNvPr id="17" name="Text 9"/>
            <p:cNvSpPr/>
            <p:nvPr/>
          </p:nvSpPr>
          <p:spPr>
            <a:xfrm>
              <a:off x="12777797" y="8382000"/>
              <a:ext cx="1401408"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100%</a:t>
              </a:r>
              <a:endParaRPr lang="en-US" sz="4000" dirty="0"/>
            </a:p>
          </p:txBody>
        </p:sp>
        <p:sp>
          <p:nvSpPr>
            <p:cNvPr id="18" name="Text 10"/>
            <p:cNvSpPr/>
            <p:nvPr/>
          </p:nvSpPr>
          <p:spPr>
            <a:xfrm>
              <a:off x="13933641" y="6134100"/>
              <a:ext cx="249797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Identify waste points</a:t>
              </a:r>
              <a:endParaRPr lang="en-US" sz="2000" dirty="0"/>
            </a:p>
          </p:txBody>
        </p:sp>
        <p:sp>
          <p:nvSpPr>
            <p:cNvPr id="19" name="Text 11"/>
            <p:cNvSpPr/>
            <p:nvPr/>
          </p:nvSpPr>
          <p:spPr>
            <a:xfrm>
              <a:off x="13933641" y="5473700"/>
              <a:ext cx="1185482"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40%</a:t>
              </a:r>
              <a:endParaRPr lang="en-US" sz="4000" dirty="0"/>
            </a:p>
          </p:txBody>
        </p:sp>
        <p:pic>
          <p:nvPicPr>
            <p:cNvPr id="20" name="Image 6"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570531" y="5242983"/>
              <a:ext cx="3704640" cy="67734"/>
            </a:xfrm>
            <a:prstGeom prst="rect">
              <a:avLst/>
            </a:prstGeom>
          </p:spPr>
        </p:pic>
        <p:pic>
          <p:nvPicPr>
            <p:cNvPr id="21"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570531" y="8246534"/>
              <a:ext cx="5292326" cy="67732"/>
            </a:xfrm>
            <a:prstGeom prst="rect">
              <a:avLst/>
            </a:prstGeom>
          </p:spPr>
        </p:pic>
        <p:pic>
          <p:nvPicPr>
            <p:cNvPr id="22" name="Image 8"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933629" y="6684433"/>
              <a:ext cx="3704640" cy="67733"/>
            </a:xfrm>
            <a:prstGeom prst="rect">
              <a:avLst/>
            </a:prstGeom>
          </p:spPr>
        </p:pic>
        <p:pic>
          <p:nvPicPr>
            <p:cNvPr id="23"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803200" y="9592734"/>
              <a:ext cx="4835069" cy="67734"/>
            </a:xfrm>
            <a:prstGeom prst="rect">
              <a:avLst/>
            </a:prstGeom>
          </p:spPr>
        </p:pic>
        <p:pic>
          <p:nvPicPr>
            <p:cNvPr id="40" name="Image 1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570531" y="5242983"/>
              <a:ext cx="3704640" cy="67734"/>
            </a:xfrm>
            <a:prstGeom prst="rect">
              <a:avLst/>
            </a:prstGeom>
          </p:spPr>
        </p:pic>
        <p:pic>
          <p:nvPicPr>
            <p:cNvPr id="41" name="Image 1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570531" y="8246534"/>
              <a:ext cx="5292326" cy="67732"/>
            </a:xfrm>
            <a:prstGeom prst="rect">
              <a:avLst/>
            </a:prstGeom>
          </p:spPr>
        </p:pic>
        <p:pic>
          <p:nvPicPr>
            <p:cNvPr id="42" name="Image 1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933629" y="6684433"/>
              <a:ext cx="3704640" cy="67733"/>
            </a:xfrm>
            <a:prstGeom prst="rect">
              <a:avLst/>
            </a:prstGeom>
          </p:spPr>
        </p:pic>
        <p:pic>
          <p:nvPicPr>
            <p:cNvPr id="43" name="Image 1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803200" y="9592734"/>
              <a:ext cx="4835069" cy="67734"/>
            </a:xfrm>
            <a:prstGeom prst="rect">
              <a:avLst/>
            </a:prstGeom>
          </p:spPr>
        </p:pic>
      </p:grpSp>
      <p:sp>
        <p:nvSpPr>
          <p:cNvPr id="44" name="Text 24"/>
          <p:cNvSpPr/>
          <p:nvPr/>
        </p:nvSpPr>
        <p:spPr>
          <a:xfrm>
            <a:off x="1524191" y="1524000"/>
            <a:ext cx="9424578"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Objectives of This Strategy</a:t>
            </a:r>
            <a:endParaRPr lang="en-US" sz="6000" dirty="0"/>
          </a:p>
        </p:txBody>
      </p:sp>
      <p:sp>
        <p:nvSpPr>
          <p:cNvPr id="45" name="Text 25"/>
          <p:cNvSpPr/>
          <p:nvPr/>
        </p:nvSpPr>
        <p:spPr>
          <a:xfrm>
            <a:off x="1524191" y="2463800"/>
            <a:ext cx="7934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Our cost optimization strategy is designed to improve efficiency while safeguarding quality and long-term growth.</a:t>
            </a:r>
            <a:endParaRPr lang="en-US" sz="2000" dirty="0"/>
          </a:p>
        </p:txBody>
      </p:sp>
      <p:pic>
        <p:nvPicPr>
          <p:cNvPr id="46" name="Image 1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4895850"/>
            <a:ext cx="11621953" cy="12701"/>
          </a:xfrm>
          <a:prstGeom prst="rect">
            <a:avLst/>
          </a:prstGeom>
        </p:spPr>
      </p:pic>
      <p:pic>
        <p:nvPicPr>
          <p:cNvPr id="47" name="Image 1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6750050"/>
            <a:ext cx="11621953" cy="12702"/>
          </a:xfrm>
          <a:prstGeom prst="rect">
            <a:avLst/>
          </a:prstGeom>
        </p:spPr>
      </p:pic>
      <p:pic>
        <p:nvPicPr>
          <p:cNvPr id="48" name="Image 2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8604250"/>
            <a:ext cx="11621953" cy="12702"/>
          </a:xfrm>
          <a:prstGeom prst="rect">
            <a:avLst/>
          </a:prstGeom>
        </p:spPr>
      </p:pic>
      <p:pic>
        <p:nvPicPr>
          <p:cNvPr id="49" name="Image 21"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10458450"/>
            <a:ext cx="11621953" cy="12702"/>
          </a:xfrm>
          <a:prstGeom prst="rect">
            <a:avLst/>
          </a:prstGeom>
        </p:spPr>
      </p:pic>
      <p:pic>
        <p:nvPicPr>
          <p:cNvPr id="50" name="Image 22"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615602" y="0"/>
            <a:ext cx="12702" cy="13716000"/>
          </a:xfrm>
          <a:prstGeom prst="rect">
            <a:avLst/>
          </a:prstGeom>
        </p:spPr>
      </p:pic>
      <p:sp>
        <p:nvSpPr>
          <p:cNvPr id="51" name="Text 26"/>
          <p:cNvSpPr/>
          <p:nvPr/>
        </p:nvSpPr>
        <p:spPr>
          <a:xfrm>
            <a:off x="1956044" y="5207000"/>
            <a:ext cx="446672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Cut Waste Without Sacrificing Quality</a:t>
            </a:r>
            <a:endParaRPr lang="en-US" sz="2000" dirty="0"/>
          </a:p>
        </p:txBody>
      </p:sp>
      <p:sp>
        <p:nvSpPr>
          <p:cNvPr id="52" name="Text 27"/>
          <p:cNvSpPr/>
          <p:nvPr/>
        </p:nvSpPr>
        <p:spPr>
          <a:xfrm>
            <a:off x="1956044" y="5689600"/>
            <a:ext cx="7324582"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Remove inefficiencies that don’t impact customer satisfaction or product value</a:t>
            </a:r>
            <a:endParaRPr lang="en-US" sz="2000" dirty="0"/>
          </a:p>
        </p:txBody>
      </p:sp>
      <p:pic>
        <p:nvPicPr>
          <p:cNvPr id="53" name="Image 23"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24191" y="5270500"/>
            <a:ext cx="254032" cy="254000"/>
          </a:xfrm>
          <a:prstGeom prst="rect">
            <a:avLst/>
          </a:prstGeom>
        </p:spPr>
      </p:pic>
      <p:sp>
        <p:nvSpPr>
          <p:cNvPr id="54" name="Text 28"/>
          <p:cNvSpPr/>
          <p:nvPr/>
        </p:nvSpPr>
        <p:spPr>
          <a:xfrm>
            <a:off x="1956044" y="7188200"/>
            <a:ext cx="332358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Enhance Process Efficiency</a:t>
            </a:r>
            <a:endParaRPr lang="en-US" sz="2000" dirty="0"/>
          </a:p>
        </p:txBody>
      </p:sp>
      <p:sp>
        <p:nvSpPr>
          <p:cNvPr id="55" name="Text 29"/>
          <p:cNvSpPr/>
          <p:nvPr/>
        </p:nvSpPr>
        <p:spPr>
          <a:xfrm>
            <a:off x="1956044" y="7670800"/>
            <a:ext cx="747700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Streamline workflows, reduce delays, and improve output speed</a:t>
            </a:r>
            <a:endParaRPr lang="en-US" sz="2000" dirty="0"/>
          </a:p>
        </p:txBody>
      </p:sp>
      <p:pic>
        <p:nvPicPr>
          <p:cNvPr id="56" name="Image 24"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24191" y="7251700"/>
            <a:ext cx="254032" cy="254000"/>
          </a:xfrm>
          <a:prstGeom prst="rect">
            <a:avLst/>
          </a:prstGeom>
        </p:spPr>
      </p:pic>
      <p:sp>
        <p:nvSpPr>
          <p:cNvPr id="57" name="Text 30"/>
          <p:cNvSpPr/>
          <p:nvPr/>
        </p:nvSpPr>
        <p:spPr>
          <a:xfrm>
            <a:off x="1956044" y="8915400"/>
            <a:ext cx="351410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Optimize Resource Allocation</a:t>
            </a:r>
            <a:endParaRPr lang="en-US" sz="2000" dirty="0"/>
          </a:p>
        </p:txBody>
      </p:sp>
      <p:sp>
        <p:nvSpPr>
          <p:cNvPr id="58" name="Text 31"/>
          <p:cNvSpPr/>
          <p:nvPr/>
        </p:nvSpPr>
        <p:spPr>
          <a:xfrm>
            <a:off x="1956044" y="9398000"/>
            <a:ext cx="7502404"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Ensure people, tools, and capital are directed to the highest-impact areas</a:t>
            </a:r>
            <a:endParaRPr lang="en-US" sz="2000" dirty="0"/>
          </a:p>
        </p:txBody>
      </p:sp>
      <p:pic>
        <p:nvPicPr>
          <p:cNvPr id="59" name="Image 25"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24191" y="8978900"/>
            <a:ext cx="254032"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978597" y="3975100"/>
            <a:ext cx="6884260" cy="5664200"/>
          </a:xfrm>
          <a:prstGeom prst="rect">
            <a:avLst/>
          </a:prstGeom>
        </p:spPr>
      </p:pic>
      <p:sp>
        <p:nvSpPr>
          <p:cNvPr id="4" name="Text 0"/>
          <p:cNvSpPr/>
          <p:nvPr/>
        </p:nvSpPr>
        <p:spPr>
          <a:xfrm>
            <a:off x="16359645" y="7734300"/>
            <a:ext cx="6206842" cy="1608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Assessment</a:t>
            </a:r>
            <a:r>
              <a:rPr lang="en-US" sz="2000" kern="0" spc="-40" dirty="0">
                <a:solidFill>
                  <a:srgbClr val="FFFFFF">
                    <a:alpha val="100000"/>
                  </a:srgbClr>
                </a:solidFill>
                <a:latin typeface="Inter Medium" pitchFamily="34" charset="0"/>
                <a:ea typeface="Inter Medium" pitchFamily="34" charset="-122"/>
                <a:cs typeface="Inter Medium" pitchFamily="34" charset="-120"/>
              </a:rPr>
              <a:t> – Analyze current costs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Deliverables: Cost audit report, cost baseline, benchmark analysis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Outcome: Clear picture of current spending patterns</a:t>
            </a:r>
            <a:endParaRPr lang="en-US" sz="2000" dirty="0"/>
          </a:p>
        </p:txBody>
      </p:sp>
      <p:sp>
        <p:nvSpPr>
          <p:cNvPr id="5" name="Text 1"/>
          <p:cNvSpPr/>
          <p:nvPr/>
        </p:nvSpPr>
        <p:spPr>
          <a:xfrm>
            <a:off x="16359645" y="4432300"/>
            <a:ext cx="171471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01</a:t>
            </a:r>
            <a:endParaRPr lang="en-US" sz="9600" dirty="0"/>
          </a:p>
        </p:txBody>
      </p:sp>
      <p:pic>
        <p:nvPicPr>
          <p:cNvPr id="6"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978597" y="3975100"/>
            <a:ext cx="6884260" cy="5664200"/>
          </a:xfrm>
          <a:prstGeom prst="rect">
            <a:avLst/>
          </a:prstGeom>
        </p:spPr>
      </p:pic>
      <p:sp>
        <p:nvSpPr>
          <p:cNvPr id="7" name="Text 2"/>
          <p:cNvSpPr/>
          <p:nvPr/>
        </p:nvSpPr>
        <p:spPr>
          <a:xfrm>
            <a:off x="16359645" y="7277100"/>
            <a:ext cx="6206842" cy="20658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Bold" pitchFamily="34" charset="0"/>
                <a:ea typeface="Inter Bold" pitchFamily="34" charset="-122"/>
                <a:cs typeface="Inter Bold" pitchFamily="34" charset="-120"/>
              </a:rPr>
              <a:t>Monitoring</a:t>
            </a:r>
            <a:r>
              <a:rPr lang="en-US" sz="2000" kern="0" spc="-40" dirty="0">
                <a:solidFill>
                  <a:srgbClr val="888888">
                    <a:alpha val="100000"/>
                  </a:srgbClr>
                </a:solidFill>
                <a:latin typeface="Inter Medium" pitchFamily="34" charset="0"/>
                <a:ea typeface="Inter Medium" pitchFamily="34" charset="-122"/>
                <a:cs typeface="Inter Medium" pitchFamily="34" charset="-120"/>
              </a:rPr>
              <a:t> – Measure savings and adjust</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Deliverables: Monthly savings reports, KPI dashboards, performance reviews</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Outcome: Sustained optimization and continuous improvement</a:t>
            </a:r>
            <a:endParaRPr lang="en-US" sz="2000" dirty="0"/>
          </a:p>
        </p:txBody>
      </p:sp>
      <p:sp>
        <p:nvSpPr>
          <p:cNvPr id="8" name="Text 3"/>
          <p:cNvSpPr/>
          <p:nvPr/>
        </p:nvSpPr>
        <p:spPr>
          <a:xfrm>
            <a:off x="16359645" y="4432300"/>
            <a:ext cx="1930641"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6D6D6D">
                    <a:alpha val="100000"/>
                  </a:srgbClr>
                </a:solidFill>
                <a:latin typeface="Inter Regular" pitchFamily="34" charset="0"/>
                <a:ea typeface="Inter Regular" pitchFamily="34" charset="-122"/>
                <a:cs typeface="Inter Regular" pitchFamily="34" charset="-120"/>
              </a:rPr>
              <a:t>04</a:t>
            </a:r>
            <a:endParaRPr lang="en-US" sz="9600" dirty="0"/>
          </a:p>
        </p:txBody>
      </p:sp>
      <p:pic>
        <p:nvPicPr>
          <p:cNvPr id="10" name="Image 4" descr=" "/>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1524191" y="6858000"/>
            <a:ext cx="6884260" cy="5664200"/>
          </a:xfrm>
          <a:prstGeom prst="rect">
            <a:avLst/>
          </a:prstGeom>
        </p:spPr>
      </p:pic>
      <p:sp>
        <p:nvSpPr>
          <p:cNvPr id="11" name="Text 4"/>
          <p:cNvSpPr/>
          <p:nvPr/>
        </p:nvSpPr>
        <p:spPr>
          <a:xfrm>
            <a:off x="1905238" y="10617200"/>
            <a:ext cx="6206842" cy="1608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Assessment</a:t>
            </a:r>
            <a:r>
              <a:rPr lang="en-US" sz="2000" kern="0" spc="-40" dirty="0">
                <a:solidFill>
                  <a:srgbClr val="FFFFFF">
                    <a:alpha val="100000"/>
                  </a:srgbClr>
                </a:solidFill>
                <a:latin typeface="Inter Medium" pitchFamily="34" charset="0"/>
                <a:ea typeface="Inter Medium" pitchFamily="34" charset="-122"/>
                <a:cs typeface="Inter Medium" pitchFamily="34" charset="-120"/>
              </a:rPr>
              <a:t> – Analyze current costs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Deliverables: Cost audit report, cost baseline, benchmark analysis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Outcome: Clear picture of current spending patterns</a:t>
            </a:r>
            <a:endParaRPr lang="en-US" sz="2000" dirty="0"/>
          </a:p>
        </p:txBody>
      </p:sp>
      <p:sp>
        <p:nvSpPr>
          <p:cNvPr id="12" name="Text 5"/>
          <p:cNvSpPr/>
          <p:nvPr/>
        </p:nvSpPr>
        <p:spPr>
          <a:xfrm>
            <a:off x="1905238" y="7315200"/>
            <a:ext cx="171471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01</a:t>
            </a:r>
            <a:endParaRPr lang="en-US" sz="9600" dirty="0"/>
          </a:p>
        </p:txBody>
      </p:sp>
      <p:pic>
        <p:nvPicPr>
          <p:cNvPr id="13" name="Image 5" descr=" "/>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1524191" y="6858000"/>
            <a:ext cx="6884260" cy="5664200"/>
          </a:xfrm>
          <a:prstGeom prst="rect">
            <a:avLst/>
          </a:prstGeom>
        </p:spPr>
      </p:pic>
      <p:sp>
        <p:nvSpPr>
          <p:cNvPr id="14" name="Text 6"/>
          <p:cNvSpPr/>
          <p:nvPr/>
        </p:nvSpPr>
        <p:spPr>
          <a:xfrm>
            <a:off x="1905238" y="10160000"/>
            <a:ext cx="6206842" cy="20658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Assessment</a:t>
            </a:r>
            <a:r>
              <a:rPr lang="en-US" sz="2000" kern="0" spc="-40" dirty="0">
                <a:solidFill>
                  <a:srgbClr val="FFFFFF">
                    <a:alpha val="100000"/>
                  </a:srgbClr>
                </a:solidFill>
                <a:latin typeface="Inter Medium" pitchFamily="34" charset="0"/>
                <a:ea typeface="Inter Medium" pitchFamily="34" charset="-122"/>
                <a:cs typeface="Inter Medium" pitchFamily="34" charset="-120"/>
              </a:rPr>
              <a:t> – Analyze current costs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Deliverables: Cost audit report, cost baseline, benchmark analysis</a:t>
            </a:r>
            <a:endParaRPr lang="en-US" sz="2000" dirty="0"/>
          </a:p>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Outcome: Clear picture of current spending patterns</a:t>
            </a:r>
            <a:endParaRPr lang="en-US" sz="2000" dirty="0"/>
          </a:p>
        </p:txBody>
      </p:sp>
      <p:sp>
        <p:nvSpPr>
          <p:cNvPr id="15" name="Text 7"/>
          <p:cNvSpPr/>
          <p:nvPr/>
        </p:nvSpPr>
        <p:spPr>
          <a:xfrm>
            <a:off x="1905238" y="7315200"/>
            <a:ext cx="171471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01</a:t>
            </a:r>
            <a:endParaRPr lang="en-US" sz="9600" dirty="0"/>
          </a:p>
        </p:txBody>
      </p:sp>
      <p:sp>
        <p:nvSpPr>
          <p:cNvPr id="16" name="Shape 8"/>
          <p:cNvSpPr/>
          <p:nvPr/>
        </p:nvSpPr>
        <p:spPr>
          <a:xfrm>
            <a:off x="8751394" y="3975100"/>
            <a:ext cx="6884260" cy="4102100"/>
          </a:xfrm>
          <a:prstGeom prst="rect">
            <a:avLst/>
          </a:prstGeom>
          <a:noFill/>
          <a:ln/>
        </p:spPr>
      </p:sp>
      <p:pic>
        <p:nvPicPr>
          <p:cNvPr id="17" name="Image 6"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51394" y="3975100"/>
            <a:ext cx="6884260" cy="4102100"/>
          </a:xfrm>
          <a:prstGeom prst="rect">
            <a:avLst/>
          </a:prstGeom>
        </p:spPr>
      </p:pic>
      <p:sp>
        <p:nvSpPr>
          <p:cNvPr id="18" name="Text 9"/>
          <p:cNvSpPr/>
          <p:nvPr/>
        </p:nvSpPr>
        <p:spPr>
          <a:xfrm>
            <a:off x="9259457" y="4483100"/>
            <a:ext cx="1193949"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02</a:t>
            </a:r>
            <a:endParaRPr lang="en-US" sz="6000" dirty="0"/>
          </a:p>
        </p:txBody>
      </p:sp>
      <p:sp>
        <p:nvSpPr>
          <p:cNvPr id="19" name="Text 10"/>
          <p:cNvSpPr/>
          <p:nvPr/>
        </p:nvSpPr>
        <p:spPr>
          <a:xfrm>
            <a:off x="9259457" y="5664200"/>
            <a:ext cx="5952811" cy="1989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Bold" pitchFamily="34" charset="0"/>
                <a:ea typeface="Inter Bold" pitchFamily="34" charset="-122"/>
                <a:cs typeface="Inter Bold" pitchFamily="34" charset="-120"/>
              </a:rPr>
              <a:t>Optimization Planning</a:t>
            </a:r>
            <a:r>
              <a:rPr lang="en-US" sz="2000" kern="0" spc="-40" dirty="0">
                <a:solidFill>
                  <a:srgbClr val="888888">
                    <a:alpha val="100000"/>
                  </a:srgbClr>
                </a:solidFill>
                <a:latin typeface="Inter Medium" pitchFamily="34" charset="0"/>
                <a:ea typeface="Inter Medium" pitchFamily="34" charset="-122"/>
                <a:cs typeface="Inter Medium" pitchFamily="34" charset="-120"/>
              </a:rPr>
              <a:t> – Identify areas of improvement</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Deliverables: Action plan, prioritized initiatives, resource mapping</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Outcome: Targeted strategies ready for execution</a:t>
            </a:r>
            <a:endParaRPr lang="en-US" sz="2000" dirty="0"/>
          </a:p>
        </p:txBody>
      </p:sp>
      <p:sp>
        <p:nvSpPr>
          <p:cNvPr id="20" name="Shape 11"/>
          <p:cNvSpPr/>
          <p:nvPr/>
        </p:nvSpPr>
        <p:spPr>
          <a:xfrm>
            <a:off x="8751394" y="8420100"/>
            <a:ext cx="6884260" cy="4102100"/>
          </a:xfrm>
          <a:prstGeom prst="rect">
            <a:avLst/>
          </a:prstGeom>
          <a:noFill/>
          <a:ln/>
        </p:spPr>
      </p:sp>
      <p:pic>
        <p:nvPicPr>
          <p:cNvPr id="21" name="Image 7" descr=" "/>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8751394" y="8420100"/>
            <a:ext cx="6884260" cy="4102100"/>
          </a:xfrm>
          <a:prstGeom prst="rect">
            <a:avLst/>
          </a:prstGeom>
        </p:spPr>
      </p:pic>
      <p:sp>
        <p:nvSpPr>
          <p:cNvPr id="22" name="Text 12"/>
          <p:cNvSpPr/>
          <p:nvPr/>
        </p:nvSpPr>
        <p:spPr>
          <a:xfrm>
            <a:off x="9259457" y="8928100"/>
            <a:ext cx="1219352"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03</a:t>
            </a:r>
            <a:endParaRPr lang="en-US" sz="6000" dirty="0"/>
          </a:p>
        </p:txBody>
      </p:sp>
      <p:sp>
        <p:nvSpPr>
          <p:cNvPr id="23" name="Text 13"/>
          <p:cNvSpPr/>
          <p:nvPr/>
        </p:nvSpPr>
        <p:spPr>
          <a:xfrm>
            <a:off x="9259457" y="10109200"/>
            <a:ext cx="5952811" cy="1989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Bold" pitchFamily="34" charset="0"/>
                <a:ea typeface="Inter Bold" pitchFamily="34" charset="-122"/>
                <a:cs typeface="Inter Bold" pitchFamily="34" charset="-120"/>
              </a:rPr>
              <a:t>Implementation</a:t>
            </a:r>
            <a:r>
              <a:rPr lang="en-US" sz="2000" kern="0" spc="-40" dirty="0">
                <a:solidFill>
                  <a:srgbClr val="888888">
                    <a:alpha val="100000"/>
                  </a:srgbClr>
                </a:solidFill>
                <a:latin typeface="Inter Medium" pitchFamily="34" charset="0"/>
                <a:ea typeface="Inter Medium" pitchFamily="34" charset="-122"/>
                <a:cs typeface="Inter Medium" pitchFamily="34" charset="-120"/>
              </a:rPr>
              <a:t> – Apply cost-saving strategies</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Deliverables: New processes, renegotiated contracts, tech/tool upgrades</a:t>
            </a:r>
            <a:endParaRPr lang="en-US" sz="2000" dirty="0"/>
          </a:p>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Outcome: Immediate cost savings and efficiency gains</a:t>
            </a:r>
            <a:endParaRPr lang="en-US" sz="2000" dirty="0"/>
          </a:p>
        </p:txBody>
      </p:sp>
      <p:sp>
        <p:nvSpPr>
          <p:cNvPr id="24" name="Text 14"/>
          <p:cNvSpPr/>
          <p:nvPr/>
        </p:nvSpPr>
        <p:spPr>
          <a:xfrm>
            <a:off x="1524191" y="1524000"/>
            <a:ext cx="8103613"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Cost Optimization Roadmap Overview</a:t>
            </a:r>
            <a:endParaRPr lang="en-US" sz="6000" dirty="0"/>
          </a:p>
        </p:txBody>
      </p:sp>
      <p:sp>
        <p:nvSpPr>
          <p:cNvPr id="25" name="Text 15"/>
          <p:cNvSpPr/>
          <p:nvPr/>
        </p:nvSpPr>
        <p:spPr>
          <a:xfrm>
            <a:off x="16232629" y="1905000"/>
            <a:ext cx="6714906"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Our roadmap follows a four-phase approach to ensure sustainable and measurable cost savings.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06600"/>
            <a:ext cx="22862858" cy="11709400"/>
          </a:xfrm>
          <a:prstGeom prst="rect">
            <a:avLst/>
          </a:prstGeom>
          <a:noFill/>
          <a:ln/>
        </p:spPr>
      </p:sp>
      <p:sp>
        <p:nvSpPr>
          <p:cNvPr id="3" name="Shape 1"/>
          <p:cNvSpPr/>
          <p:nvPr/>
        </p:nvSpPr>
        <p:spPr>
          <a:xfrm rot="10800000">
            <a:off x="9627803" y="5283200"/>
            <a:ext cx="3810476" cy="3810000"/>
          </a:xfrm>
          <a:prstGeom prst="roundRect">
            <a:avLst>
              <a:gd name="adj" fmla="val 6000"/>
            </a:avLst>
          </a:prstGeom>
          <a:solidFill>
            <a:srgbClr val="000000">
              <a:alpha val="100000"/>
            </a:srgbClr>
          </a:solidFill>
          <a:ln/>
        </p:spPr>
      </p:sp>
      <p:sp>
        <p:nvSpPr>
          <p:cNvPr id="4" name="Text 2"/>
          <p:cNvSpPr/>
          <p:nvPr/>
        </p:nvSpPr>
        <p:spPr>
          <a:xfrm>
            <a:off x="10300987" y="6083300"/>
            <a:ext cx="2857857"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20%</a:t>
            </a:r>
            <a:endParaRPr lang="en-US" sz="9600" dirty="0"/>
          </a:p>
        </p:txBody>
      </p:sp>
      <p:sp>
        <p:nvSpPr>
          <p:cNvPr id="5" name="Text 3"/>
          <p:cNvSpPr/>
          <p:nvPr/>
        </p:nvSpPr>
        <p:spPr>
          <a:xfrm>
            <a:off x="10948768" y="7912100"/>
            <a:ext cx="125322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Marketing</a:t>
            </a:r>
            <a:endParaRPr lang="en-US" sz="2000" dirty="0"/>
          </a:p>
        </p:txBody>
      </p:sp>
      <p:sp>
        <p:nvSpPr>
          <p:cNvPr id="6" name="Shape 4"/>
          <p:cNvSpPr/>
          <p:nvPr/>
        </p:nvSpPr>
        <p:spPr>
          <a:xfrm rot="10800000">
            <a:off x="14073359" y="2006600"/>
            <a:ext cx="3810476" cy="3810000"/>
          </a:xfrm>
          <a:prstGeom prst="roundRect">
            <a:avLst>
              <a:gd name="adj" fmla="val 6000"/>
            </a:avLst>
          </a:prstGeom>
          <a:solidFill>
            <a:srgbClr val="D1D1D1">
              <a:alpha val="100000"/>
            </a:srgbClr>
          </a:solidFill>
          <a:ln/>
        </p:spPr>
      </p:sp>
      <p:sp>
        <p:nvSpPr>
          <p:cNvPr id="7" name="Text 5"/>
          <p:cNvSpPr/>
          <p:nvPr/>
        </p:nvSpPr>
        <p:spPr>
          <a:xfrm>
            <a:off x="14746543" y="2806700"/>
            <a:ext cx="283245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6D6D6D">
                    <a:alpha val="100000"/>
                  </a:srgbClr>
                </a:solidFill>
                <a:latin typeface="Inter Regular" pitchFamily="34" charset="0"/>
                <a:ea typeface="Inter Regular" pitchFamily="34" charset="-122"/>
                <a:cs typeface="Inter Regular" pitchFamily="34" charset="-120"/>
              </a:rPr>
              <a:t>25%</a:t>
            </a:r>
            <a:endParaRPr lang="en-US" sz="9600" dirty="0"/>
          </a:p>
        </p:txBody>
      </p:sp>
      <p:sp>
        <p:nvSpPr>
          <p:cNvPr id="8" name="Text 6"/>
          <p:cNvSpPr/>
          <p:nvPr/>
        </p:nvSpPr>
        <p:spPr>
          <a:xfrm>
            <a:off x="15508638" y="4635500"/>
            <a:ext cx="9991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Salaries</a:t>
            </a:r>
            <a:endParaRPr lang="en-US" sz="2000" dirty="0"/>
          </a:p>
        </p:txBody>
      </p:sp>
      <p:sp>
        <p:nvSpPr>
          <p:cNvPr id="9" name="Shape 7"/>
          <p:cNvSpPr/>
          <p:nvPr/>
        </p:nvSpPr>
        <p:spPr>
          <a:xfrm rot="10800000">
            <a:off x="18518915" y="5181600"/>
            <a:ext cx="2540318" cy="2540000"/>
          </a:xfrm>
          <a:prstGeom prst="roundRect">
            <a:avLst>
              <a:gd name="adj" fmla="val 9000"/>
            </a:avLst>
          </a:prstGeom>
          <a:solidFill>
            <a:srgbClr val="E7E7E7">
              <a:alpha val="100000"/>
            </a:srgbClr>
          </a:solidFill>
          <a:ln/>
        </p:spPr>
      </p:sp>
      <p:sp>
        <p:nvSpPr>
          <p:cNvPr id="10" name="Text 8"/>
          <p:cNvSpPr/>
          <p:nvPr/>
        </p:nvSpPr>
        <p:spPr>
          <a:xfrm>
            <a:off x="19077784" y="5803900"/>
            <a:ext cx="1676610"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10%</a:t>
            </a:r>
            <a:endParaRPr lang="en-US" sz="6000" dirty="0"/>
          </a:p>
        </p:txBody>
      </p:sp>
      <p:sp>
        <p:nvSpPr>
          <p:cNvPr id="11" name="Text 9"/>
          <p:cNvSpPr/>
          <p:nvPr/>
        </p:nvSpPr>
        <p:spPr>
          <a:xfrm>
            <a:off x="19115889" y="6705600"/>
            <a:ext cx="143104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Technology</a:t>
            </a:r>
            <a:endParaRPr lang="en-US" sz="2000" dirty="0"/>
          </a:p>
        </p:txBody>
      </p:sp>
      <p:sp>
        <p:nvSpPr>
          <p:cNvPr id="12" name="Shape 10"/>
          <p:cNvSpPr/>
          <p:nvPr/>
        </p:nvSpPr>
        <p:spPr>
          <a:xfrm rot="10800000">
            <a:off x="20322540" y="2006600"/>
            <a:ext cx="2540318" cy="2540000"/>
          </a:xfrm>
          <a:prstGeom prst="roundRect">
            <a:avLst>
              <a:gd name="adj" fmla="val 9000"/>
            </a:avLst>
          </a:prstGeom>
          <a:solidFill>
            <a:srgbClr val="F6F6F6">
              <a:alpha val="100000"/>
            </a:srgbClr>
          </a:solidFill>
          <a:ln/>
        </p:spPr>
      </p:sp>
      <p:sp>
        <p:nvSpPr>
          <p:cNvPr id="13" name="Text 11"/>
          <p:cNvSpPr/>
          <p:nvPr/>
        </p:nvSpPr>
        <p:spPr>
          <a:xfrm>
            <a:off x="20881410" y="2628900"/>
            <a:ext cx="1676610"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10%</a:t>
            </a:r>
            <a:endParaRPr lang="en-US" sz="6000" dirty="0"/>
          </a:p>
        </p:txBody>
      </p:sp>
      <p:sp>
        <p:nvSpPr>
          <p:cNvPr id="14" name="Text 12"/>
          <p:cNvSpPr/>
          <p:nvPr/>
        </p:nvSpPr>
        <p:spPr>
          <a:xfrm>
            <a:off x="21021127" y="3530600"/>
            <a:ext cx="12278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Overhead</a:t>
            </a:r>
            <a:endParaRPr lang="en-US" sz="2000" dirty="0"/>
          </a:p>
        </p:txBody>
      </p:sp>
      <p:pic>
        <p:nvPicPr>
          <p:cNvPr id="15"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9093200"/>
            <a:ext cx="8992724" cy="4622800"/>
          </a:xfrm>
          <a:prstGeom prst="rect">
            <a:avLst/>
          </a:prstGeom>
        </p:spPr>
      </p:pic>
      <p:sp>
        <p:nvSpPr>
          <p:cNvPr id="16" name="Text 13"/>
          <p:cNvSpPr/>
          <p:nvPr/>
        </p:nvSpPr>
        <p:spPr>
          <a:xfrm>
            <a:off x="1524191" y="9982200"/>
            <a:ext cx="2870559"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35%</a:t>
            </a:r>
            <a:endParaRPr lang="en-US" sz="9600" dirty="0"/>
          </a:p>
        </p:txBody>
      </p:sp>
      <p:sp>
        <p:nvSpPr>
          <p:cNvPr id="17" name="Text 14"/>
          <p:cNvSpPr/>
          <p:nvPr/>
        </p:nvSpPr>
        <p:spPr>
          <a:xfrm>
            <a:off x="1524191" y="11811000"/>
            <a:ext cx="136753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Operations</a:t>
            </a:r>
            <a:endParaRPr lang="en-US" sz="2000" dirty="0"/>
          </a:p>
        </p:txBody>
      </p:sp>
      <p:sp>
        <p:nvSpPr>
          <p:cNvPr id="18" name="Text 15"/>
          <p:cNvSpPr/>
          <p:nvPr/>
        </p:nvSpPr>
        <p:spPr>
          <a:xfrm>
            <a:off x="6109464" y="12319000"/>
            <a:ext cx="195181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C5C5">
                    <a:alpha val="100000"/>
                  </a:srgbClr>
                </a:solidFill>
                <a:latin typeface="Inter Regular" pitchFamily="34" charset="0"/>
                <a:ea typeface="Inter Regular" pitchFamily="34" charset="-122"/>
                <a:cs typeface="Inter Regular" pitchFamily="34" charset="-120"/>
              </a:rPr>
              <a:t>vs Industry 30%</a:t>
            </a:r>
            <a:endParaRPr lang="en-US" sz="2000" dirty="0"/>
          </a:p>
        </p:txBody>
      </p:sp>
      <p:sp>
        <p:nvSpPr>
          <p:cNvPr id="21" name="Text 17"/>
          <p:cNvSpPr/>
          <p:nvPr/>
        </p:nvSpPr>
        <p:spPr>
          <a:xfrm>
            <a:off x="1524191" y="2006600"/>
            <a:ext cx="819252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Assessing Current Cost Structures</a:t>
            </a:r>
            <a:endParaRPr lang="en-US" sz="6000" dirty="0"/>
          </a:p>
        </p:txBody>
      </p:sp>
      <p:sp>
        <p:nvSpPr>
          <p:cNvPr id="22" name="Text 18"/>
          <p:cNvSpPr/>
          <p:nvPr/>
        </p:nvSpPr>
        <p:spPr>
          <a:xfrm>
            <a:off x="1524191" y="3708400"/>
            <a:ext cx="7553211"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Understanding our current cost structure helps us pinpoint where optimization will deliver the highest impact.</a:t>
            </a:r>
            <a:endParaRPr lang="en-US" sz="2000" dirty="0"/>
          </a:p>
        </p:txBody>
      </p:sp>
      <p:sp>
        <p:nvSpPr>
          <p:cNvPr id="23" name="Text 19"/>
          <p:cNvSpPr/>
          <p:nvPr/>
        </p:nvSpPr>
        <p:spPr>
          <a:xfrm>
            <a:off x="16334242" y="11785600"/>
            <a:ext cx="6596358"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Let's take a closer look at the existing cost structures and evaluate how they impact our overall budget. This assessment will help us identify areas for potential savings and optimize our financial strategy.</a:t>
            </a:r>
            <a:endParaRPr lang="en-US" sz="1600" dirty="0"/>
          </a:p>
        </p:txBody>
      </p:sp>
      <p:grpSp>
        <p:nvGrpSpPr>
          <p:cNvPr id="25" name="Group 24">
            <a:extLst>
              <a:ext uri="{FF2B5EF4-FFF2-40B4-BE49-F238E27FC236}">
                <a16:creationId xmlns:a16="http://schemas.microsoft.com/office/drawing/2014/main" id="{B398D2D4-683E-4E30-BC74-4D5EAC09817E}"/>
              </a:ext>
            </a:extLst>
          </p:cNvPr>
          <p:cNvGrpSpPr/>
          <p:nvPr/>
        </p:nvGrpSpPr>
        <p:grpSpPr>
          <a:xfrm>
            <a:off x="7976597" y="9550400"/>
            <a:ext cx="558870" cy="558800"/>
            <a:chOff x="7976597" y="9550400"/>
            <a:chExt cx="558870" cy="558800"/>
          </a:xfrm>
        </p:grpSpPr>
        <p:sp>
          <p:nvSpPr>
            <p:cNvPr id="19" name="Shape 16"/>
            <p:cNvSpPr/>
            <p:nvPr/>
          </p:nvSpPr>
          <p:spPr>
            <a:xfrm>
              <a:off x="7976597" y="9550400"/>
              <a:ext cx="558870" cy="558800"/>
            </a:xfrm>
            <a:prstGeom prst="ellipse">
              <a:avLst/>
            </a:prstGeom>
            <a:solidFill>
              <a:srgbClr val="000000">
                <a:alpha val="100000"/>
              </a:srgbClr>
            </a:solidFill>
            <a:ln/>
          </p:spPr>
        </p:sp>
        <p:pic>
          <p:nvPicPr>
            <p:cNvPr id="24" name="Graphic 23">
              <a:extLst>
                <a:ext uri="{FF2B5EF4-FFF2-40B4-BE49-F238E27FC236}">
                  <a16:creationId xmlns:a16="http://schemas.microsoft.com/office/drawing/2014/main" id="{83CA12EF-C253-42CB-BDCE-D12A3CDDC0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2320" y="9602510"/>
              <a:ext cx="447423" cy="44742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4911664" y="2006600"/>
            <a:ext cx="819252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Identifying Cost-Saving Opportunities</a:t>
            </a:r>
            <a:endParaRPr lang="en-US" sz="6000" dirty="0"/>
          </a:p>
        </p:txBody>
      </p:sp>
      <p:sp>
        <p:nvSpPr>
          <p:cNvPr id="3" name="Text 1"/>
          <p:cNvSpPr/>
          <p:nvPr/>
        </p:nvSpPr>
        <p:spPr>
          <a:xfrm>
            <a:off x="14911664" y="3708400"/>
            <a:ext cx="7553211"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Not all savings are equal. We identify and prioritize opportunities based on potential impact and ease of execution.</a:t>
            </a:r>
            <a:endParaRPr lang="en-US" sz="2000" dirty="0"/>
          </a:p>
        </p:txBody>
      </p:sp>
      <p:sp>
        <p:nvSpPr>
          <p:cNvPr id="4" name="Shape 2"/>
          <p:cNvSpPr/>
          <p:nvPr/>
        </p:nvSpPr>
        <p:spPr>
          <a:xfrm rot="10800000">
            <a:off x="17718715" y="9829800"/>
            <a:ext cx="3988298" cy="1676400"/>
          </a:xfrm>
          <a:prstGeom prst="roundRect">
            <a:avLst>
              <a:gd name="adj" fmla="val 9273"/>
            </a:avLst>
          </a:prstGeom>
          <a:solidFill>
            <a:srgbClr val="FF4D4D">
              <a:alpha val="100000"/>
            </a:srgbClr>
          </a:solidFill>
          <a:ln/>
        </p:spPr>
      </p:sp>
      <p:sp>
        <p:nvSpPr>
          <p:cNvPr id="5" name="Text 3"/>
          <p:cNvSpPr/>
          <p:nvPr/>
        </p:nvSpPr>
        <p:spPr>
          <a:xfrm>
            <a:off x="18099762" y="10210800"/>
            <a:ext cx="329394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Highlight quick wins for momentum, and plan long-term gains strategically.</a:t>
            </a:r>
            <a:endParaRPr lang="en-US" sz="1600" dirty="0"/>
          </a:p>
        </p:txBody>
      </p:sp>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911664" y="6705600"/>
            <a:ext cx="3594549" cy="2870200"/>
          </a:xfrm>
          <a:prstGeom prst="rect">
            <a:avLst/>
          </a:prstGeom>
        </p:spPr>
      </p:pic>
      <p:sp>
        <p:nvSpPr>
          <p:cNvPr id="7" name="Shape 4"/>
          <p:cNvSpPr/>
          <p:nvPr/>
        </p:nvSpPr>
        <p:spPr>
          <a:xfrm>
            <a:off x="15559445" y="7391400"/>
            <a:ext cx="203225" cy="203200"/>
          </a:xfrm>
          <a:prstGeom prst="ellipse">
            <a:avLst/>
          </a:prstGeom>
          <a:solidFill>
            <a:srgbClr val="FF4D4D">
              <a:alpha val="100000"/>
            </a:srgbClr>
          </a:solidFill>
          <a:ln/>
        </p:spPr>
      </p:sp>
      <p:sp>
        <p:nvSpPr>
          <p:cNvPr id="8" name="Text 5"/>
          <p:cNvSpPr/>
          <p:nvPr/>
        </p:nvSpPr>
        <p:spPr>
          <a:xfrm>
            <a:off x="15864283" y="7340600"/>
            <a:ext cx="20872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Strategic Investments</a:t>
            </a:r>
            <a:endParaRPr lang="en-US" sz="1600" dirty="0"/>
          </a:p>
        </p:txBody>
      </p:sp>
      <p:sp>
        <p:nvSpPr>
          <p:cNvPr id="9" name="Shape 6"/>
          <p:cNvSpPr/>
          <p:nvPr/>
        </p:nvSpPr>
        <p:spPr>
          <a:xfrm>
            <a:off x="15559445" y="7823200"/>
            <a:ext cx="203225" cy="203200"/>
          </a:xfrm>
          <a:prstGeom prst="ellipse">
            <a:avLst/>
          </a:prstGeom>
          <a:solidFill>
            <a:srgbClr val="FF6464">
              <a:alpha val="100000"/>
            </a:srgbClr>
          </a:solidFill>
          <a:ln/>
        </p:spPr>
      </p:sp>
      <p:sp>
        <p:nvSpPr>
          <p:cNvPr id="10" name="Text 7"/>
          <p:cNvSpPr/>
          <p:nvPr/>
        </p:nvSpPr>
        <p:spPr>
          <a:xfrm>
            <a:off x="15864283" y="7772400"/>
            <a:ext cx="110927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Quick Wins</a:t>
            </a:r>
            <a:endParaRPr lang="en-US" sz="1600" dirty="0"/>
          </a:p>
        </p:txBody>
      </p:sp>
      <p:sp>
        <p:nvSpPr>
          <p:cNvPr id="11" name="Shape 8"/>
          <p:cNvSpPr/>
          <p:nvPr/>
        </p:nvSpPr>
        <p:spPr>
          <a:xfrm>
            <a:off x="15559445" y="8255000"/>
            <a:ext cx="203225" cy="203200"/>
          </a:xfrm>
          <a:prstGeom prst="ellipse">
            <a:avLst/>
          </a:prstGeom>
          <a:solidFill>
            <a:srgbClr val="FF9D9D">
              <a:alpha val="100000"/>
            </a:srgbClr>
          </a:solidFill>
          <a:ln/>
        </p:spPr>
      </p:sp>
      <p:sp>
        <p:nvSpPr>
          <p:cNvPr id="12" name="Text 9"/>
          <p:cNvSpPr/>
          <p:nvPr/>
        </p:nvSpPr>
        <p:spPr>
          <a:xfrm>
            <a:off x="15864283" y="8204200"/>
            <a:ext cx="136330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Minor Tweaks</a:t>
            </a:r>
            <a:endParaRPr lang="en-US" sz="1600" dirty="0"/>
          </a:p>
        </p:txBody>
      </p:sp>
      <p:sp>
        <p:nvSpPr>
          <p:cNvPr id="13" name="Shape 10"/>
          <p:cNvSpPr/>
          <p:nvPr/>
        </p:nvSpPr>
        <p:spPr>
          <a:xfrm>
            <a:off x="15559445" y="8686800"/>
            <a:ext cx="203225" cy="203200"/>
          </a:xfrm>
          <a:prstGeom prst="ellipse">
            <a:avLst/>
          </a:prstGeom>
          <a:solidFill>
            <a:srgbClr val="FFC5C5">
              <a:alpha val="100000"/>
            </a:srgbClr>
          </a:solidFill>
          <a:ln/>
        </p:spPr>
      </p:sp>
      <p:sp>
        <p:nvSpPr>
          <p:cNvPr id="14" name="Text 11"/>
          <p:cNvSpPr/>
          <p:nvPr/>
        </p:nvSpPr>
        <p:spPr>
          <a:xfrm>
            <a:off x="15864283" y="8636000"/>
            <a:ext cx="11727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Low Priority</a:t>
            </a:r>
            <a:endParaRPr lang="en-US" sz="1600" dirty="0"/>
          </a:p>
        </p:txBody>
      </p:sp>
      <p:sp>
        <p:nvSpPr>
          <p:cNvPr id="15" name="Shape 12"/>
          <p:cNvSpPr/>
          <p:nvPr/>
        </p:nvSpPr>
        <p:spPr>
          <a:xfrm>
            <a:off x="15381622" y="6426200"/>
            <a:ext cx="558870" cy="558800"/>
          </a:xfrm>
          <a:prstGeom prst="ellipse">
            <a:avLst/>
          </a:prstGeom>
          <a:solidFill>
            <a:srgbClr val="000000">
              <a:alpha val="100000"/>
            </a:srgbClr>
          </a:solidFill>
          <a:ln/>
        </p:spPr>
      </p:sp>
      <p:pic>
        <p:nvPicPr>
          <p:cNvPr id="16"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83235" y="6527800"/>
            <a:ext cx="359255" cy="359210"/>
          </a:xfrm>
          <a:prstGeom prst="rect">
            <a:avLst/>
          </a:prstGeom>
        </p:spPr>
      </p:pic>
      <p:sp>
        <p:nvSpPr>
          <p:cNvPr id="17" name="Shape 13"/>
          <p:cNvSpPr/>
          <p:nvPr/>
        </p:nvSpPr>
        <p:spPr>
          <a:xfrm>
            <a:off x="2248181" y="1778000"/>
            <a:ext cx="10796349" cy="10795000"/>
          </a:xfrm>
          <a:prstGeom prst="rect">
            <a:avLst/>
          </a:prstGeom>
          <a:noFill/>
          <a:ln/>
        </p:spPr>
      </p:sp>
      <p:sp>
        <p:nvSpPr>
          <p:cNvPr id="18" name="Text 14"/>
          <p:cNvSpPr/>
          <p:nvPr/>
        </p:nvSpPr>
        <p:spPr>
          <a:xfrm rot="16200000">
            <a:off x="1995357" y="6458517"/>
            <a:ext cx="101189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Savings</a:t>
            </a:r>
            <a:endParaRPr lang="en-US" sz="2000" dirty="0"/>
          </a:p>
        </p:txBody>
      </p:sp>
      <p:sp>
        <p:nvSpPr>
          <p:cNvPr id="19" name="Text 15"/>
          <p:cNvSpPr/>
          <p:nvPr/>
        </p:nvSpPr>
        <p:spPr>
          <a:xfrm rot="16200000">
            <a:off x="2522709" y="6452639"/>
            <a:ext cx="102459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Medium</a:t>
            </a:r>
            <a:endParaRPr lang="en-US" sz="2000" dirty="0"/>
          </a:p>
        </p:txBody>
      </p:sp>
      <p:sp>
        <p:nvSpPr>
          <p:cNvPr id="20" name="Text 16"/>
          <p:cNvSpPr/>
          <p:nvPr/>
        </p:nvSpPr>
        <p:spPr>
          <a:xfrm rot="16200000">
            <a:off x="2747873" y="10976978"/>
            <a:ext cx="5800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Low</a:t>
            </a:r>
            <a:endParaRPr lang="en-US" sz="2000" dirty="0"/>
          </a:p>
        </p:txBody>
      </p:sp>
      <p:sp>
        <p:nvSpPr>
          <p:cNvPr id="21" name="Text 17"/>
          <p:cNvSpPr/>
          <p:nvPr/>
        </p:nvSpPr>
        <p:spPr>
          <a:xfrm rot="16200000">
            <a:off x="2745563" y="1926693"/>
            <a:ext cx="63084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High</a:t>
            </a:r>
            <a:endParaRPr lang="en-US" sz="2000" dirty="0"/>
          </a:p>
        </p:txBody>
      </p:sp>
      <p:sp>
        <p:nvSpPr>
          <p:cNvPr id="22" name="Text 18"/>
          <p:cNvSpPr/>
          <p:nvPr/>
        </p:nvSpPr>
        <p:spPr>
          <a:xfrm rot="21600000">
            <a:off x="7708825" y="11628293"/>
            <a:ext cx="102459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Medium</a:t>
            </a:r>
            <a:endParaRPr lang="en-US" sz="2000" dirty="0"/>
          </a:p>
        </p:txBody>
      </p:sp>
      <p:sp>
        <p:nvSpPr>
          <p:cNvPr id="23" name="Text 19"/>
          <p:cNvSpPr/>
          <p:nvPr/>
        </p:nvSpPr>
        <p:spPr>
          <a:xfrm rot="21600000">
            <a:off x="3317287" y="11631180"/>
            <a:ext cx="5800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Low</a:t>
            </a:r>
            <a:endParaRPr lang="en-US" sz="2000" dirty="0"/>
          </a:p>
        </p:txBody>
      </p:sp>
      <p:sp>
        <p:nvSpPr>
          <p:cNvPr id="24" name="Text 20"/>
          <p:cNvSpPr/>
          <p:nvPr/>
        </p:nvSpPr>
        <p:spPr>
          <a:xfrm rot="21600000">
            <a:off x="12495719" y="11654270"/>
            <a:ext cx="63084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Regular" pitchFamily="34" charset="0"/>
                <a:ea typeface="Inter Regular" pitchFamily="34" charset="-122"/>
                <a:cs typeface="Inter Regular" pitchFamily="34" charset="-120"/>
              </a:rPr>
              <a:t>High</a:t>
            </a:r>
            <a:endParaRPr lang="en-US" sz="2000" dirty="0"/>
          </a:p>
        </p:txBody>
      </p:sp>
      <p:sp>
        <p:nvSpPr>
          <p:cNvPr id="25" name="Text 21"/>
          <p:cNvSpPr/>
          <p:nvPr/>
        </p:nvSpPr>
        <p:spPr>
          <a:xfrm rot="21600000">
            <a:off x="7506440" y="12210814"/>
            <a:ext cx="141834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Complexity</a:t>
            </a:r>
            <a:endParaRPr lang="en-US" sz="2000" dirty="0"/>
          </a:p>
        </p:txBody>
      </p:sp>
      <p:sp>
        <p:nvSpPr>
          <p:cNvPr id="26" name="Shape 22"/>
          <p:cNvSpPr/>
          <p:nvPr/>
        </p:nvSpPr>
        <p:spPr>
          <a:xfrm>
            <a:off x="3315114" y="1778000"/>
            <a:ext cx="1621570" cy="1621368"/>
          </a:xfrm>
          <a:prstGeom prst="rect">
            <a:avLst/>
          </a:prstGeom>
          <a:solidFill>
            <a:srgbClr val="FF6464">
              <a:alpha val="100000"/>
            </a:srgbClr>
          </a:solidFill>
          <a:ln/>
        </p:spPr>
      </p:sp>
      <p:sp>
        <p:nvSpPr>
          <p:cNvPr id="27" name="Shape 23"/>
          <p:cNvSpPr/>
          <p:nvPr/>
        </p:nvSpPr>
        <p:spPr>
          <a:xfrm>
            <a:off x="3315114" y="3399365"/>
            <a:ext cx="1621570" cy="1621368"/>
          </a:xfrm>
          <a:prstGeom prst="rect">
            <a:avLst/>
          </a:prstGeom>
          <a:solidFill>
            <a:srgbClr val="FF9D9D">
              <a:alpha val="100000"/>
            </a:srgbClr>
          </a:solidFill>
          <a:ln/>
        </p:spPr>
      </p:sp>
      <p:sp>
        <p:nvSpPr>
          <p:cNvPr id="28" name="Shape 24"/>
          <p:cNvSpPr/>
          <p:nvPr/>
        </p:nvSpPr>
        <p:spPr>
          <a:xfrm>
            <a:off x="3315114" y="5020735"/>
            <a:ext cx="1621570" cy="1621368"/>
          </a:xfrm>
          <a:prstGeom prst="rect">
            <a:avLst/>
          </a:prstGeom>
          <a:solidFill>
            <a:srgbClr val="FFC5C5">
              <a:alpha val="100000"/>
            </a:srgbClr>
          </a:solidFill>
          <a:ln/>
        </p:spPr>
      </p:sp>
      <p:sp>
        <p:nvSpPr>
          <p:cNvPr id="29" name="Shape 25"/>
          <p:cNvSpPr/>
          <p:nvPr/>
        </p:nvSpPr>
        <p:spPr>
          <a:xfrm>
            <a:off x="6558255" y="5020735"/>
            <a:ext cx="1621570" cy="1621368"/>
          </a:xfrm>
          <a:prstGeom prst="rect">
            <a:avLst/>
          </a:prstGeom>
          <a:solidFill>
            <a:srgbClr val="FFDFDF">
              <a:alpha val="100000"/>
            </a:srgbClr>
          </a:solidFill>
          <a:ln/>
        </p:spPr>
      </p:sp>
      <p:sp>
        <p:nvSpPr>
          <p:cNvPr id="30" name="Shape 26"/>
          <p:cNvSpPr/>
          <p:nvPr/>
        </p:nvSpPr>
        <p:spPr>
          <a:xfrm>
            <a:off x="6558255" y="1778000"/>
            <a:ext cx="1621570" cy="1621368"/>
          </a:xfrm>
          <a:prstGeom prst="rect">
            <a:avLst/>
          </a:prstGeom>
          <a:solidFill>
            <a:srgbClr val="FFC5C5">
              <a:alpha val="100000"/>
            </a:srgbClr>
          </a:solidFill>
          <a:ln/>
        </p:spPr>
      </p:sp>
      <p:sp>
        <p:nvSpPr>
          <p:cNvPr id="31" name="Shape 27"/>
          <p:cNvSpPr/>
          <p:nvPr/>
        </p:nvSpPr>
        <p:spPr>
          <a:xfrm>
            <a:off x="9801393" y="1778000"/>
            <a:ext cx="1621570" cy="1621368"/>
          </a:xfrm>
          <a:prstGeom prst="rect">
            <a:avLst/>
          </a:prstGeom>
          <a:solidFill>
            <a:srgbClr val="FF6464">
              <a:alpha val="100000"/>
            </a:srgbClr>
          </a:solidFill>
          <a:ln/>
        </p:spPr>
      </p:sp>
      <p:sp>
        <p:nvSpPr>
          <p:cNvPr id="32" name="Shape 28"/>
          <p:cNvSpPr/>
          <p:nvPr/>
        </p:nvSpPr>
        <p:spPr>
          <a:xfrm>
            <a:off x="8179822" y="1778000"/>
            <a:ext cx="1621570" cy="1621368"/>
          </a:xfrm>
          <a:prstGeom prst="rect">
            <a:avLst/>
          </a:prstGeom>
          <a:solidFill>
            <a:srgbClr val="FF9D9D">
              <a:alpha val="100000"/>
            </a:srgbClr>
          </a:solidFill>
          <a:ln/>
        </p:spPr>
      </p:sp>
      <p:sp>
        <p:nvSpPr>
          <p:cNvPr id="33" name="Shape 29"/>
          <p:cNvSpPr/>
          <p:nvPr/>
        </p:nvSpPr>
        <p:spPr>
          <a:xfrm>
            <a:off x="11422963" y="5020735"/>
            <a:ext cx="1621570" cy="1621368"/>
          </a:xfrm>
          <a:prstGeom prst="rect">
            <a:avLst/>
          </a:prstGeom>
          <a:solidFill>
            <a:srgbClr val="FF9D9D">
              <a:alpha val="100000"/>
            </a:srgbClr>
          </a:solidFill>
          <a:ln/>
        </p:spPr>
      </p:sp>
      <p:sp>
        <p:nvSpPr>
          <p:cNvPr id="34" name="Shape 30"/>
          <p:cNvSpPr/>
          <p:nvPr/>
        </p:nvSpPr>
        <p:spPr>
          <a:xfrm>
            <a:off x="8179822" y="5020735"/>
            <a:ext cx="1621570" cy="1621368"/>
          </a:xfrm>
          <a:prstGeom prst="rect">
            <a:avLst/>
          </a:prstGeom>
          <a:solidFill>
            <a:srgbClr val="FF9D9D">
              <a:alpha val="100000"/>
            </a:srgbClr>
          </a:solidFill>
          <a:ln/>
        </p:spPr>
      </p:sp>
      <p:sp>
        <p:nvSpPr>
          <p:cNvPr id="35" name="Shape 31"/>
          <p:cNvSpPr/>
          <p:nvPr/>
        </p:nvSpPr>
        <p:spPr>
          <a:xfrm>
            <a:off x="8179822" y="5020735"/>
            <a:ext cx="1621570" cy="1621368"/>
          </a:xfrm>
          <a:prstGeom prst="rect">
            <a:avLst/>
          </a:prstGeom>
          <a:solidFill>
            <a:srgbClr val="FF9D9D">
              <a:alpha val="100000"/>
            </a:srgbClr>
          </a:solidFill>
          <a:ln/>
        </p:spPr>
      </p:sp>
      <p:sp>
        <p:nvSpPr>
          <p:cNvPr id="36" name="Shape 32"/>
          <p:cNvSpPr/>
          <p:nvPr/>
        </p:nvSpPr>
        <p:spPr>
          <a:xfrm>
            <a:off x="8179822" y="6642100"/>
            <a:ext cx="1621570" cy="1621368"/>
          </a:xfrm>
          <a:prstGeom prst="rect">
            <a:avLst/>
          </a:prstGeom>
          <a:solidFill>
            <a:srgbClr val="FFC5C5">
              <a:alpha val="100000"/>
            </a:srgbClr>
          </a:solidFill>
          <a:ln/>
        </p:spPr>
      </p:sp>
      <p:sp>
        <p:nvSpPr>
          <p:cNvPr id="37" name="Shape 33"/>
          <p:cNvSpPr/>
          <p:nvPr/>
        </p:nvSpPr>
        <p:spPr>
          <a:xfrm>
            <a:off x="11422963" y="3399365"/>
            <a:ext cx="1621570" cy="1621368"/>
          </a:xfrm>
          <a:prstGeom prst="rect">
            <a:avLst/>
          </a:prstGeom>
          <a:solidFill>
            <a:srgbClr val="FF6464">
              <a:alpha val="100000"/>
            </a:srgbClr>
          </a:solidFill>
          <a:ln/>
        </p:spPr>
      </p:sp>
      <p:sp>
        <p:nvSpPr>
          <p:cNvPr id="38" name="Shape 34"/>
          <p:cNvSpPr/>
          <p:nvPr/>
        </p:nvSpPr>
        <p:spPr>
          <a:xfrm>
            <a:off x="9801393" y="5006132"/>
            <a:ext cx="1621570" cy="1621368"/>
          </a:xfrm>
          <a:prstGeom prst="rect">
            <a:avLst/>
          </a:prstGeom>
          <a:solidFill>
            <a:srgbClr val="FF6464">
              <a:alpha val="100000"/>
            </a:srgbClr>
          </a:solidFill>
          <a:ln/>
        </p:spPr>
      </p:sp>
      <p:sp>
        <p:nvSpPr>
          <p:cNvPr id="39" name="Shape 35"/>
          <p:cNvSpPr/>
          <p:nvPr/>
        </p:nvSpPr>
        <p:spPr>
          <a:xfrm>
            <a:off x="8179822" y="3399365"/>
            <a:ext cx="1621570" cy="1621368"/>
          </a:xfrm>
          <a:prstGeom prst="rect">
            <a:avLst/>
          </a:prstGeom>
          <a:solidFill>
            <a:srgbClr val="FF6464">
              <a:alpha val="100000"/>
            </a:srgbClr>
          </a:solidFill>
          <a:ln/>
        </p:spPr>
      </p:sp>
      <p:sp>
        <p:nvSpPr>
          <p:cNvPr id="40" name="Shape 36"/>
          <p:cNvSpPr/>
          <p:nvPr/>
        </p:nvSpPr>
        <p:spPr>
          <a:xfrm>
            <a:off x="4936685" y="1778000"/>
            <a:ext cx="1621570" cy="1621368"/>
          </a:xfrm>
          <a:prstGeom prst="rect">
            <a:avLst/>
          </a:prstGeom>
          <a:solidFill>
            <a:srgbClr val="FF9D9D">
              <a:alpha val="100000"/>
            </a:srgbClr>
          </a:solidFill>
          <a:ln/>
        </p:spPr>
      </p:sp>
      <p:sp>
        <p:nvSpPr>
          <p:cNvPr id="41" name="Shape 37"/>
          <p:cNvSpPr/>
          <p:nvPr/>
        </p:nvSpPr>
        <p:spPr>
          <a:xfrm>
            <a:off x="6558255" y="3399365"/>
            <a:ext cx="1621570" cy="1621368"/>
          </a:xfrm>
          <a:prstGeom prst="rect">
            <a:avLst/>
          </a:prstGeom>
          <a:solidFill>
            <a:srgbClr val="FF9D9D">
              <a:alpha val="100000"/>
            </a:srgbClr>
          </a:solidFill>
          <a:ln/>
        </p:spPr>
      </p:sp>
      <p:sp>
        <p:nvSpPr>
          <p:cNvPr id="42" name="Shape 38"/>
          <p:cNvSpPr/>
          <p:nvPr/>
        </p:nvSpPr>
        <p:spPr>
          <a:xfrm>
            <a:off x="4936685" y="5006132"/>
            <a:ext cx="1621570" cy="1621368"/>
          </a:xfrm>
          <a:prstGeom prst="rect">
            <a:avLst/>
          </a:prstGeom>
          <a:solidFill>
            <a:srgbClr val="FF9D9D">
              <a:alpha val="100000"/>
            </a:srgbClr>
          </a:solidFill>
          <a:ln/>
        </p:spPr>
      </p:sp>
      <p:sp>
        <p:nvSpPr>
          <p:cNvPr id="43" name="Shape 39"/>
          <p:cNvSpPr/>
          <p:nvPr/>
        </p:nvSpPr>
        <p:spPr>
          <a:xfrm>
            <a:off x="9801393" y="8263477"/>
            <a:ext cx="1621570" cy="1621368"/>
          </a:xfrm>
          <a:prstGeom prst="rect">
            <a:avLst/>
          </a:prstGeom>
          <a:solidFill>
            <a:srgbClr val="FFC5C5">
              <a:alpha val="100000"/>
            </a:srgbClr>
          </a:solidFill>
          <a:ln/>
        </p:spPr>
      </p:sp>
      <p:sp>
        <p:nvSpPr>
          <p:cNvPr id="44" name="Shape 40"/>
          <p:cNvSpPr/>
          <p:nvPr/>
        </p:nvSpPr>
        <p:spPr>
          <a:xfrm>
            <a:off x="3315114" y="9884832"/>
            <a:ext cx="1621570" cy="1621368"/>
          </a:xfrm>
          <a:prstGeom prst="rect">
            <a:avLst/>
          </a:prstGeom>
          <a:solidFill>
            <a:srgbClr val="FFC5C5">
              <a:alpha val="100000"/>
            </a:srgbClr>
          </a:solidFill>
          <a:ln/>
        </p:spPr>
      </p:sp>
      <p:sp>
        <p:nvSpPr>
          <p:cNvPr id="45" name="Shape 41"/>
          <p:cNvSpPr/>
          <p:nvPr/>
        </p:nvSpPr>
        <p:spPr>
          <a:xfrm>
            <a:off x="9801393" y="3399365"/>
            <a:ext cx="1621570" cy="1621368"/>
          </a:xfrm>
          <a:prstGeom prst="rect">
            <a:avLst/>
          </a:prstGeom>
          <a:solidFill>
            <a:srgbClr val="FF4D4D">
              <a:alpha val="100000"/>
            </a:srgbClr>
          </a:solidFill>
          <a:ln/>
        </p:spPr>
      </p:sp>
      <p:sp>
        <p:nvSpPr>
          <p:cNvPr id="46" name="Shape 42"/>
          <p:cNvSpPr/>
          <p:nvPr/>
        </p:nvSpPr>
        <p:spPr>
          <a:xfrm>
            <a:off x="9801393" y="9884832"/>
            <a:ext cx="1621570" cy="1621368"/>
          </a:xfrm>
          <a:prstGeom prst="rect">
            <a:avLst/>
          </a:prstGeom>
          <a:solidFill>
            <a:srgbClr val="FFC5C5">
              <a:alpha val="100000"/>
            </a:srgbClr>
          </a:solidFill>
          <a:ln/>
        </p:spPr>
      </p:sp>
      <p:sp>
        <p:nvSpPr>
          <p:cNvPr id="47" name="Shape 43"/>
          <p:cNvSpPr/>
          <p:nvPr/>
        </p:nvSpPr>
        <p:spPr>
          <a:xfrm>
            <a:off x="4936685" y="8263477"/>
            <a:ext cx="1621570" cy="1621368"/>
          </a:xfrm>
          <a:prstGeom prst="rect">
            <a:avLst/>
          </a:prstGeom>
          <a:solidFill>
            <a:srgbClr val="FFC5C5">
              <a:alpha val="100000"/>
            </a:srgbClr>
          </a:solidFill>
          <a:ln/>
        </p:spPr>
      </p:sp>
      <p:sp>
        <p:nvSpPr>
          <p:cNvPr id="48" name="Shape 44"/>
          <p:cNvSpPr/>
          <p:nvPr/>
        </p:nvSpPr>
        <p:spPr>
          <a:xfrm>
            <a:off x="4936685" y="9884832"/>
            <a:ext cx="1621570" cy="1621368"/>
          </a:xfrm>
          <a:prstGeom prst="rect">
            <a:avLst/>
          </a:prstGeom>
          <a:solidFill>
            <a:srgbClr val="FFDFDF">
              <a:alpha val="100000"/>
            </a:srgbClr>
          </a:solidFill>
          <a:ln/>
        </p:spPr>
      </p:sp>
      <p:sp>
        <p:nvSpPr>
          <p:cNvPr id="49" name="Shape 45"/>
          <p:cNvSpPr/>
          <p:nvPr/>
        </p:nvSpPr>
        <p:spPr>
          <a:xfrm>
            <a:off x="6558255" y="8263477"/>
            <a:ext cx="1621570" cy="1621368"/>
          </a:xfrm>
          <a:prstGeom prst="rect">
            <a:avLst/>
          </a:prstGeom>
          <a:solidFill>
            <a:srgbClr val="FFDFDF">
              <a:alpha val="100000"/>
            </a:srgbClr>
          </a:solidFill>
          <a:ln/>
        </p:spPr>
      </p:sp>
      <p:sp>
        <p:nvSpPr>
          <p:cNvPr id="50" name="Shape 46"/>
          <p:cNvSpPr/>
          <p:nvPr/>
        </p:nvSpPr>
        <p:spPr>
          <a:xfrm>
            <a:off x="8179822" y="8263477"/>
            <a:ext cx="1621570" cy="1621368"/>
          </a:xfrm>
          <a:prstGeom prst="rect">
            <a:avLst/>
          </a:prstGeom>
          <a:solidFill>
            <a:srgbClr val="FFDFDF">
              <a:alpha val="100000"/>
            </a:srgbClr>
          </a:solidFill>
          <a:ln/>
        </p:spPr>
      </p:sp>
      <p:sp>
        <p:nvSpPr>
          <p:cNvPr id="51" name="Shape 47"/>
          <p:cNvSpPr/>
          <p:nvPr/>
        </p:nvSpPr>
        <p:spPr>
          <a:xfrm>
            <a:off x="6558255" y="9884832"/>
            <a:ext cx="1621570" cy="1621368"/>
          </a:xfrm>
          <a:prstGeom prst="rect">
            <a:avLst/>
          </a:prstGeom>
          <a:solidFill>
            <a:srgbClr val="FFF1F1">
              <a:alpha val="100000"/>
            </a:srgbClr>
          </a:solidFill>
          <a:ln/>
        </p:spPr>
      </p:sp>
      <p:sp>
        <p:nvSpPr>
          <p:cNvPr id="52" name="Shape 48"/>
          <p:cNvSpPr/>
          <p:nvPr/>
        </p:nvSpPr>
        <p:spPr>
          <a:xfrm>
            <a:off x="3315114" y="6642100"/>
            <a:ext cx="1621570" cy="1621368"/>
          </a:xfrm>
          <a:prstGeom prst="rect">
            <a:avLst/>
          </a:prstGeom>
          <a:solidFill>
            <a:srgbClr val="FFF1F1">
              <a:alpha val="100000"/>
            </a:srgbClr>
          </a:solidFill>
          <a:ln/>
        </p:spPr>
      </p:sp>
      <p:sp>
        <p:nvSpPr>
          <p:cNvPr id="53" name="Shape 49"/>
          <p:cNvSpPr/>
          <p:nvPr/>
        </p:nvSpPr>
        <p:spPr>
          <a:xfrm>
            <a:off x="4936685" y="6642100"/>
            <a:ext cx="1621570" cy="1621368"/>
          </a:xfrm>
          <a:prstGeom prst="rect">
            <a:avLst/>
          </a:prstGeom>
          <a:solidFill>
            <a:srgbClr val="FFDFDF">
              <a:alpha val="100000"/>
            </a:srgbClr>
          </a:solidFill>
          <a:ln/>
        </p:spPr>
      </p:sp>
      <p:sp>
        <p:nvSpPr>
          <p:cNvPr id="54" name="Shape 50"/>
          <p:cNvSpPr/>
          <p:nvPr/>
        </p:nvSpPr>
        <p:spPr>
          <a:xfrm>
            <a:off x="6558255" y="6642100"/>
            <a:ext cx="1621570" cy="1621368"/>
          </a:xfrm>
          <a:prstGeom prst="rect">
            <a:avLst/>
          </a:prstGeom>
          <a:solidFill>
            <a:srgbClr val="FFF1F1">
              <a:alpha val="100000"/>
            </a:srgbClr>
          </a:solidFill>
          <a:ln/>
        </p:spPr>
      </p:sp>
      <p:sp>
        <p:nvSpPr>
          <p:cNvPr id="55" name="Shape 51"/>
          <p:cNvSpPr/>
          <p:nvPr/>
        </p:nvSpPr>
        <p:spPr>
          <a:xfrm>
            <a:off x="3315114" y="8263477"/>
            <a:ext cx="1621570" cy="1621368"/>
          </a:xfrm>
          <a:prstGeom prst="rect">
            <a:avLst/>
          </a:prstGeom>
          <a:solidFill>
            <a:srgbClr val="FFDFDF">
              <a:alpha val="100000"/>
            </a:srgbClr>
          </a:solidFill>
          <a:ln/>
        </p:spPr>
      </p:sp>
      <p:sp>
        <p:nvSpPr>
          <p:cNvPr id="56" name="Shape 52"/>
          <p:cNvSpPr/>
          <p:nvPr/>
        </p:nvSpPr>
        <p:spPr>
          <a:xfrm>
            <a:off x="11422963" y="1778000"/>
            <a:ext cx="1621570" cy="1621368"/>
          </a:xfrm>
          <a:prstGeom prst="rect">
            <a:avLst/>
          </a:prstGeom>
          <a:solidFill>
            <a:srgbClr val="FF4D4D">
              <a:alpha val="100000"/>
            </a:srgbClr>
          </a:solidFill>
          <a:ln/>
        </p:spPr>
      </p:sp>
      <p:sp>
        <p:nvSpPr>
          <p:cNvPr id="57" name="Shape 53"/>
          <p:cNvSpPr/>
          <p:nvPr/>
        </p:nvSpPr>
        <p:spPr>
          <a:xfrm>
            <a:off x="11422963" y="8263477"/>
            <a:ext cx="1621570" cy="1621368"/>
          </a:xfrm>
          <a:prstGeom prst="rect">
            <a:avLst/>
          </a:prstGeom>
          <a:solidFill>
            <a:srgbClr val="FFC5C5">
              <a:alpha val="100000"/>
            </a:srgbClr>
          </a:solidFill>
          <a:ln/>
        </p:spPr>
      </p:sp>
      <p:sp>
        <p:nvSpPr>
          <p:cNvPr id="58" name="Shape 54"/>
          <p:cNvSpPr/>
          <p:nvPr/>
        </p:nvSpPr>
        <p:spPr>
          <a:xfrm>
            <a:off x="4936685" y="3399365"/>
            <a:ext cx="1621570" cy="1621368"/>
          </a:xfrm>
          <a:prstGeom prst="rect">
            <a:avLst/>
          </a:prstGeom>
          <a:solidFill>
            <a:srgbClr val="FF6464">
              <a:alpha val="100000"/>
            </a:srgbClr>
          </a:solidFill>
          <a:ln/>
        </p:spPr>
      </p:sp>
      <p:sp>
        <p:nvSpPr>
          <p:cNvPr id="59" name="Shape 55"/>
          <p:cNvSpPr/>
          <p:nvPr/>
        </p:nvSpPr>
        <p:spPr>
          <a:xfrm>
            <a:off x="8179822" y="9884832"/>
            <a:ext cx="1621570" cy="1621368"/>
          </a:xfrm>
          <a:prstGeom prst="rect">
            <a:avLst/>
          </a:prstGeom>
          <a:solidFill>
            <a:srgbClr val="FFF1F1">
              <a:alpha val="100000"/>
            </a:srgbClr>
          </a:solidFill>
          <a:ln/>
        </p:spPr>
      </p:sp>
      <p:sp>
        <p:nvSpPr>
          <p:cNvPr id="60" name="Shape 56"/>
          <p:cNvSpPr/>
          <p:nvPr/>
        </p:nvSpPr>
        <p:spPr>
          <a:xfrm>
            <a:off x="11422963" y="6642100"/>
            <a:ext cx="1621570" cy="1621368"/>
          </a:xfrm>
          <a:prstGeom prst="rect">
            <a:avLst/>
          </a:prstGeom>
          <a:solidFill>
            <a:srgbClr val="FFF1F1">
              <a:alpha val="100000"/>
            </a:srgbClr>
          </a:solidFill>
          <a:ln/>
        </p:spPr>
      </p:sp>
      <p:sp>
        <p:nvSpPr>
          <p:cNvPr id="61" name="Shape 57"/>
          <p:cNvSpPr/>
          <p:nvPr/>
        </p:nvSpPr>
        <p:spPr>
          <a:xfrm>
            <a:off x="9801393" y="6642100"/>
            <a:ext cx="1621570" cy="1621368"/>
          </a:xfrm>
          <a:prstGeom prst="rect">
            <a:avLst/>
          </a:prstGeom>
          <a:solidFill>
            <a:srgbClr val="FFDFDF">
              <a:alpha val="100000"/>
            </a:srgbClr>
          </a:solidFill>
          <a:ln/>
        </p:spPr>
      </p:sp>
      <p:sp>
        <p:nvSpPr>
          <p:cNvPr id="62" name="Shape 58"/>
          <p:cNvSpPr/>
          <p:nvPr/>
        </p:nvSpPr>
        <p:spPr>
          <a:xfrm>
            <a:off x="11422963" y="9884832"/>
            <a:ext cx="1621570" cy="1621368"/>
          </a:xfrm>
          <a:prstGeom prst="rect">
            <a:avLst/>
          </a:prstGeom>
          <a:solidFill>
            <a:srgbClr val="FF9D9D">
              <a:alpha val="100000"/>
            </a:srgbClr>
          </a:solidFill>
          <a:ln/>
        </p:spPr>
      </p:sp>
      <p:sp>
        <p:nvSpPr>
          <p:cNvPr id="63" name="Shape 59"/>
          <p:cNvSpPr/>
          <p:nvPr/>
        </p:nvSpPr>
        <p:spPr>
          <a:xfrm>
            <a:off x="3315114" y="5020735"/>
            <a:ext cx="1621570" cy="1621368"/>
          </a:xfrm>
          <a:prstGeom prst="rect">
            <a:avLst/>
          </a:prstGeom>
          <a:noFill/>
          <a:ln w="12700">
            <a:solidFill>
              <a:srgbClr val="FFF1F1"/>
            </a:solidFill>
            <a:prstDash val="solid"/>
          </a:ln>
        </p:spPr>
      </p:sp>
      <p:sp>
        <p:nvSpPr>
          <p:cNvPr id="64" name="Shape 60"/>
          <p:cNvSpPr/>
          <p:nvPr/>
        </p:nvSpPr>
        <p:spPr>
          <a:xfrm>
            <a:off x="3315114" y="3399365"/>
            <a:ext cx="1621570" cy="1621368"/>
          </a:xfrm>
          <a:prstGeom prst="rect">
            <a:avLst/>
          </a:prstGeom>
          <a:noFill/>
          <a:ln w="12700">
            <a:solidFill>
              <a:srgbClr val="FFF1F1"/>
            </a:solidFill>
            <a:prstDash val="solid"/>
          </a:ln>
        </p:spPr>
      </p:sp>
      <p:sp>
        <p:nvSpPr>
          <p:cNvPr id="65" name="Shape 61"/>
          <p:cNvSpPr/>
          <p:nvPr/>
        </p:nvSpPr>
        <p:spPr>
          <a:xfrm>
            <a:off x="4936685" y="3399365"/>
            <a:ext cx="1621570" cy="1621368"/>
          </a:xfrm>
          <a:prstGeom prst="rect">
            <a:avLst/>
          </a:prstGeom>
          <a:noFill/>
          <a:ln w="12700">
            <a:solidFill>
              <a:srgbClr val="FFF1F1"/>
            </a:solidFill>
            <a:prstDash val="solid"/>
          </a:ln>
        </p:spPr>
      </p:sp>
      <p:sp>
        <p:nvSpPr>
          <p:cNvPr id="66" name="Shape 62"/>
          <p:cNvSpPr/>
          <p:nvPr/>
        </p:nvSpPr>
        <p:spPr>
          <a:xfrm>
            <a:off x="3315114" y="8263477"/>
            <a:ext cx="1621570" cy="1621368"/>
          </a:xfrm>
          <a:prstGeom prst="rect">
            <a:avLst/>
          </a:prstGeom>
          <a:noFill/>
          <a:ln w="12700">
            <a:solidFill>
              <a:srgbClr val="FFF1F1"/>
            </a:solidFill>
            <a:prstDash val="solid"/>
          </a:ln>
        </p:spPr>
      </p:sp>
      <p:sp>
        <p:nvSpPr>
          <p:cNvPr id="67" name="Shape 63"/>
          <p:cNvSpPr/>
          <p:nvPr/>
        </p:nvSpPr>
        <p:spPr>
          <a:xfrm>
            <a:off x="6558255" y="1778000"/>
            <a:ext cx="1621570" cy="1621368"/>
          </a:xfrm>
          <a:prstGeom prst="rect">
            <a:avLst/>
          </a:prstGeom>
          <a:noFill/>
          <a:ln w="12700">
            <a:solidFill>
              <a:srgbClr val="FFF1F1"/>
            </a:solidFill>
            <a:prstDash val="solid"/>
          </a:ln>
        </p:spPr>
      </p:sp>
      <p:sp>
        <p:nvSpPr>
          <p:cNvPr id="68" name="Shape 64"/>
          <p:cNvSpPr/>
          <p:nvPr/>
        </p:nvSpPr>
        <p:spPr>
          <a:xfrm>
            <a:off x="6558255" y="5020735"/>
            <a:ext cx="1621570" cy="1621368"/>
          </a:xfrm>
          <a:prstGeom prst="rect">
            <a:avLst/>
          </a:prstGeom>
          <a:noFill/>
          <a:ln w="12700">
            <a:solidFill>
              <a:srgbClr val="FFF1F1"/>
            </a:solidFill>
            <a:prstDash val="solid"/>
          </a:ln>
        </p:spPr>
      </p:sp>
      <p:sp>
        <p:nvSpPr>
          <p:cNvPr id="69" name="Shape 65"/>
          <p:cNvSpPr/>
          <p:nvPr/>
        </p:nvSpPr>
        <p:spPr>
          <a:xfrm>
            <a:off x="6558255" y="8263477"/>
            <a:ext cx="1621570" cy="1621368"/>
          </a:xfrm>
          <a:prstGeom prst="rect">
            <a:avLst/>
          </a:prstGeom>
          <a:noFill/>
          <a:ln w="12700">
            <a:solidFill>
              <a:srgbClr val="FFF1F1"/>
            </a:solidFill>
            <a:prstDash val="solid"/>
          </a:ln>
        </p:spPr>
      </p:sp>
      <p:sp>
        <p:nvSpPr>
          <p:cNvPr id="70" name="Shape 66"/>
          <p:cNvSpPr/>
          <p:nvPr/>
        </p:nvSpPr>
        <p:spPr>
          <a:xfrm>
            <a:off x="4936685" y="8263477"/>
            <a:ext cx="1621570" cy="1621368"/>
          </a:xfrm>
          <a:prstGeom prst="rect">
            <a:avLst/>
          </a:prstGeom>
          <a:noFill/>
          <a:ln w="12700">
            <a:solidFill>
              <a:srgbClr val="FFF1F1"/>
            </a:solidFill>
            <a:prstDash val="solid"/>
          </a:ln>
        </p:spPr>
      </p:sp>
      <p:sp>
        <p:nvSpPr>
          <p:cNvPr id="71" name="Shape 67"/>
          <p:cNvSpPr/>
          <p:nvPr/>
        </p:nvSpPr>
        <p:spPr>
          <a:xfrm>
            <a:off x="9801393" y="1778000"/>
            <a:ext cx="1621570" cy="1621368"/>
          </a:xfrm>
          <a:prstGeom prst="rect">
            <a:avLst/>
          </a:prstGeom>
          <a:noFill/>
          <a:ln w="12700">
            <a:solidFill>
              <a:srgbClr val="FFF1F1"/>
            </a:solidFill>
            <a:prstDash val="solid"/>
          </a:ln>
        </p:spPr>
      </p:sp>
      <p:sp>
        <p:nvSpPr>
          <p:cNvPr id="72" name="Shape 68"/>
          <p:cNvSpPr/>
          <p:nvPr/>
        </p:nvSpPr>
        <p:spPr>
          <a:xfrm>
            <a:off x="9801393" y="5020735"/>
            <a:ext cx="1621570" cy="1621368"/>
          </a:xfrm>
          <a:prstGeom prst="rect">
            <a:avLst/>
          </a:prstGeom>
          <a:noFill/>
          <a:ln w="12700">
            <a:solidFill>
              <a:srgbClr val="FFF1F1"/>
            </a:solidFill>
            <a:prstDash val="solid"/>
          </a:ln>
        </p:spPr>
      </p:sp>
      <p:sp>
        <p:nvSpPr>
          <p:cNvPr id="73" name="Shape 69"/>
          <p:cNvSpPr/>
          <p:nvPr/>
        </p:nvSpPr>
        <p:spPr>
          <a:xfrm>
            <a:off x="3315114" y="1778000"/>
            <a:ext cx="1621570" cy="1621368"/>
          </a:xfrm>
          <a:prstGeom prst="rect">
            <a:avLst/>
          </a:prstGeom>
          <a:noFill/>
          <a:ln w="12700">
            <a:solidFill>
              <a:srgbClr val="FFF1F1"/>
            </a:solidFill>
            <a:prstDash val="solid"/>
          </a:ln>
        </p:spPr>
      </p:sp>
      <p:sp>
        <p:nvSpPr>
          <p:cNvPr id="74" name="Shape 70"/>
          <p:cNvSpPr/>
          <p:nvPr/>
        </p:nvSpPr>
        <p:spPr>
          <a:xfrm>
            <a:off x="4936685" y="1778000"/>
            <a:ext cx="1621570" cy="1621368"/>
          </a:xfrm>
          <a:prstGeom prst="rect">
            <a:avLst/>
          </a:prstGeom>
          <a:noFill/>
          <a:ln w="12700">
            <a:solidFill>
              <a:srgbClr val="FFF1F1"/>
            </a:solidFill>
            <a:prstDash val="solid"/>
          </a:ln>
        </p:spPr>
      </p:sp>
      <p:sp>
        <p:nvSpPr>
          <p:cNvPr id="75" name="Shape 71"/>
          <p:cNvSpPr/>
          <p:nvPr/>
        </p:nvSpPr>
        <p:spPr>
          <a:xfrm>
            <a:off x="3315114" y="6642100"/>
            <a:ext cx="1621570" cy="1621368"/>
          </a:xfrm>
          <a:prstGeom prst="rect">
            <a:avLst/>
          </a:prstGeom>
          <a:noFill/>
          <a:ln w="12700">
            <a:solidFill>
              <a:srgbClr val="FFF1F1"/>
            </a:solidFill>
            <a:prstDash val="solid"/>
          </a:ln>
        </p:spPr>
      </p:sp>
      <p:sp>
        <p:nvSpPr>
          <p:cNvPr id="76" name="Shape 72"/>
          <p:cNvSpPr/>
          <p:nvPr/>
        </p:nvSpPr>
        <p:spPr>
          <a:xfrm>
            <a:off x="6558255" y="3399365"/>
            <a:ext cx="1621570" cy="1621368"/>
          </a:xfrm>
          <a:prstGeom prst="rect">
            <a:avLst/>
          </a:prstGeom>
          <a:noFill/>
          <a:ln w="12700">
            <a:solidFill>
              <a:srgbClr val="FFF1F1"/>
            </a:solidFill>
            <a:prstDash val="solid"/>
          </a:ln>
        </p:spPr>
      </p:sp>
      <p:sp>
        <p:nvSpPr>
          <p:cNvPr id="77" name="Shape 73"/>
          <p:cNvSpPr/>
          <p:nvPr/>
        </p:nvSpPr>
        <p:spPr>
          <a:xfrm>
            <a:off x="6558255" y="6642100"/>
            <a:ext cx="1621570" cy="1621368"/>
          </a:xfrm>
          <a:prstGeom prst="rect">
            <a:avLst/>
          </a:prstGeom>
          <a:noFill/>
          <a:ln w="12700">
            <a:solidFill>
              <a:srgbClr val="FFF1F1"/>
            </a:solidFill>
            <a:prstDash val="solid"/>
          </a:ln>
        </p:spPr>
      </p:sp>
      <p:sp>
        <p:nvSpPr>
          <p:cNvPr id="78" name="Shape 74"/>
          <p:cNvSpPr/>
          <p:nvPr/>
        </p:nvSpPr>
        <p:spPr>
          <a:xfrm>
            <a:off x="6558255" y="9884832"/>
            <a:ext cx="1621570" cy="1621368"/>
          </a:xfrm>
          <a:prstGeom prst="rect">
            <a:avLst/>
          </a:prstGeom>
          <a:noFill/>
          <a:ln w="12700">
            <a:solidFill>
              <a:srgbClr val="FFF1F1"/>
            </a:solidFill>
            <a:prstDash val="solid"/>
          </a:ln>
        </p:spPr>
      </p:sp>
      <p:sp>
        <p:nvSpPr>
          <p:cNvPr id="79" name="Shape 75"/>
          <p:cNvSpPr/>
          <p:nvPr/>
        </p:nvSpPr>
        <p:spPr>
          <a:xfrm>
            <a:off x="4936685" y="9884832"/>
            <a:ext cx="1621570" cy="1621368"/>
          </a:xfrm>
          <a:prstGeom prst="rect">
            <a:avLst/>
          </a:prstGeom>
          <a:noFill/>
          <a:ln w="12700">
            <a:solidFill>
              <a:srgbClr val="FFF1F1"/>
            </a:solidFill>
            <a:prstDash val="solid"/>
          </a:ln>
        </p:spPr>
      </p:sp>
      <p:sp>
        <p:nvSpPr>
          <p:cNvPr id="80" name="Shape 76"/>
          <p:cNvSpPr/>
          <p:nvPr/>
        </p:nvSpPr>
        <p:spPr>
          <a:xfrm>
            <a:off x="3315114" y="9884832"/>
            <a:ext cx="1621570" cy="1621368"/>
          </a:xfrm>
          <a:prstGeom prst="rect">
            <a:avLst/>
          </a:prstGeom>
          <a:noFill/>
          <a:ln w="12700">
            <a:solidFill>
              <a:srgbClr val="FFF1F1"/>
            </a:solidFill>
            <a:prstDash val="solid"/>
          </a:ln>
        </p:spPr>
      </p:sp>
      <p:sp>
        <p:nvSpPr>
          <p:cNvPr id="81" name="Shape 77"/>
          <p:cNvSpPr/>
          <p:nvPr/>
        </p:nvSpPr>
        <p:spPr>
          <a:xfrm>
            <a:off x="9801393" y="6642100"/>
            <a:ext cx="1621570" cy="1621368"/>
          </a:xfrm>
          <a:prstGeom prst="rect">
            <a:avLst/>
          </a:prstGeom>
          <a:noFill/>
          <a:ln w="12700">
            <a:solidFill>
              <a:srgbClr val="FFF1F1"/>
            </a:solidFill>
            <a:prstDash val="solid"/>
          </a:ln>
        </p:spPr>
      </p:sp>
      <p:sp>
        <p:nvSpPr>
          <p:cNvPr id="82" name="Shape 78"/>
          <p:cNvSpPr/>
          <p:nvPr/>
        </p:nvSpPr>
        <p:spPr>
          <a:xfrm>
            <a:off x="9801393" y="8263477"/>
            <a:ext cx="1621570" cy="1621368"/>
          </a:xfrm>
          <a:prstGeom prst="rect">
            <a:avLst/>
          </a:prstGeom>
          <a:noFill/>
          <a:ln w="12700">
            <a:solidFill>
              <a:srgbClr val="FFF1F1"/>
            </a:solidFill>
            <a:prstDash val="solid"/>
          </a:ln>
        </p:spPr>
      </p:sp>
      <p:sp>
        <p:nvSpPr>
          <p:cNvPr id="83" name="Shape 79"/>
          <p:cNvSpPr/>
          <p:nvPr/>
        </p:nvSpPr>
        <p:spPr>
          <a:xfrm>
            <a:off x="9801393" y="9884832"/>
            <a:ext cx="1621570" cy="1621368"/>
          </a:xfrm>
          <a:prstGeom prst="rect">
            <a:avLst/>
          </a:prstGeom>
          <a:noFill/>
          <a:ln w="12700">
            <a:solidFill>
              <a:srgbClr val="FFF1F1"/>
            </a:solidFill>
            <a:prstDash val="solid"/>
          </a:ln>
        </p:spPr>
      </p:sp>
      <p:sp>
        <p:nvSpPr>
          <p:cNvPr id="84" name="Shape 80"/>
          <p:cNvSpPr/>
          <p:nvPr/>
        </p:nvSpPr>
        <p:spPr>
          <a:xfrm>
            <a:off x="11422963" y="6642100"/>
            <a:ext cx="1621570" cy="1621368"/>
          </a:xfrm>
          <a:prstGeom prst="rect">
            <a:avLst/>
          </a:prstGeom>
          <a:noFill/>
          <a:ln w="12700">
            <a:solidFill>
              <a:srgbClr val="FFF1F1"/>
            </a:solidFill>
            <a:prstDash val="solid"/>
          </a:ln>
        </p:spPr>
      </p:sp>
      <p:sp>
        <p:nvSpPr>
          <p:cNvPr id="85" name="Shape 81"/>
          <p:cNvSpPr/>
          <p:nvPr/>
        </p:nvSpPr>
        <p:spPr>
          <a:xfrm>
            <a:off x="11422963" y="8263477"/>
            <a:ext cx="1621570" cy="1621368"/>
          </a:xfrm>
          <a:prstGeom prst="rect">
            <a:avLst/>
          </a:prstGeom>
          <a:noFill/>
          <a:ln w="12700">
            <a:solidFill>
              <a:srgbClr val="FFF1F1"/>
            </a:solidFill>
            <a:prstDash val="solid"/>
          </a:ln>
        </p:spPr>
      </p:sp>
      <p:sp>
        <p:nvSpPr>
          <p:cNvPr id="86" name="Shape 82"/>
          <p:cNvSpPr/>
          <p:nvPr/>
        </p:nvSpPr>
        <p:spPr>
          <a:xfrm>
            <a:off x="11422963" y="9884832"/>
            <a:ext cx="1621570" cy="1621368"/>
          </a:xfrm>
          <a:prstGeom prst="rect">
            <a:avLst/>
          </a:prstGeom>
          <a:noFill/>
          <a:ln w="12700">
            <a:solidFill>
              <a:srgbClr val="FFF1F1"/>
            </a:solidFill>
            <a:prstDash val="solid"/>
          </a:ln>
        </p:spPr>
      </p:sp>
      <p:sp>
        <p:nvSpPr>
          <p:cNvPr id="87" name="Shape 83"/>
          <p:cNvSpPr/>
          <p:nvPr/>
        </p:nvSpPr>
        <p:spPr>
          <a:xfrm>
            <a:off x="4936685" y="5020735"/>
            <a:ext cx="1621570" cy="1621368"/>
          </a:xfrm>
          <a:prstGeom prst="rect">
            <a:avLst/>
          </a:prstGeom>
          <a:noFill/>
          <a:ln w="12700">
            <a:solidFill>
              <a:srgbClr val="FFF1F1"/>
            </a:solidFill>
            <a:prstDash val="solid"/>
          </a:ln>
        </p:spPr>
      </p:sp>
      <p:sp>
        <p:nvSpPr>
          <p:cNvPr id="88" name="Shape 84"/>
          <p:cNvSpPr/>
          <p:nvPr/>
        </p:nvSpPr>
        <p:spPr>
          <a:xfrm>
            <a:off x="8179822" y="1778000"/>
            <a:ext cx="1621570" cy="1621368"/>
          </a:xfrm>
          <a:prstGeom prst="rect">
            <a:avLst/>
          </a:prstGeom>
          <a:noFill/>
          <a:ln w="12700">
            <a:solidFill>
              <a:srgbClr val="FFF1F1"/>
            </a:solidFill>
            <a:prstDash val="solid"/>
          </a:ln>
        </p:spPr>
      </p:sp>
      <p:sp>
        <p:nvSpPr>
          <p:cNvPr id="89" name="Shape 85"/>
          <p:cNvSpPr/>
          <p:nvPr/>
        </p:nvSpPr>
        <p:spPr>
          <a:xfrm>
            <a:off x="11422963" y="1778000"/>
            <a:ext cx="1621570" cy="1621368"/>
          </a:xfrm>
          <a:prstGeom prst="rect">
            <a:avLst/>
          </a:prstGeom>
          <a:noFill/>
          <a:ln w="12700">
            <a:solidFill>
              <a:srgbClr val="FFF1F1"/>
            </a:solidFill>
            <a:prstDash val="solid"/>
          </a:ln>
        </p:spPr>
      </p:sp>
      <p:sp>
        <p:nvSpPr>
          <p:cNvPr id="90" name="Shape 86"/>
          <p:cNvSpPr/>
          <p:nvPr/>
        </p:nvSpPr>
        <p:spPr>
          <a:xfrm>
            <a:off x="8179822" y="5020735"/>
            <a:ext cx="1621570" cy="1621368"/>
          </a:xfrm>
          <a:prstGeom prst="rect">
            <a:avLst/>
          </a:prstGeom>
          <a:noFill/>
          <a:ln w="12700">
            <a:solidFill>
              <a:srgbClr val="FFF1F1"/>
            </a:solidFill>
            <a:prstDash val="solid"/>
          </a:ln>
        </p:spPr>
      </p:sp>
      <p:sp>
        <p:nvSpPr>
          <p:cNvPr id="91" name="Shape 87"/>
          <p:cNvSpPr/>
          <p:nvPr/>
        </p:nvSpPr>
        <p:spPr>
          <a:xfrm>
            <a:off x="8179822" y="8263477"/>
            <a:ext cx="1621570" cy="1621368"/>
          </a:xfrm>
          <a:prstGeom prst="rect">
            <a:avLst/>
          </a:prstGeom>
          <a:noFill/>
          <a:ln w="12700">
            <a:solidFill>
              <a:srgbClr val="FFF1F1"/>
            </a:solidFill>
            <a:prstDash val="solid"/>
          </a:ln>
        </p:spPr>
      </p:sp>
      <p:sp>
        <p:nvSpPr>
          <p:cNvPr id="92" name="Shape 88"/>
          <p:cNvSpPr/>
          <p:nvPr/>
        </p:nvSpPr>
        <p:spPr>
          <a:xfrm>
            <a:off x="8179822" y="9884832"/>
            <a:ext cx="1621570" cy="1621368"/>
          </a:xfrm>
          <a:prstGeom prst="rect">
            <a:avLst/>
          </a:prstGeom>
          <a:noFill/>
          <a:ln w="12700">
            <a:solidFill>
              <a:srgbClr val="FFF1F1"/>
            </a:solidFill>
            <a:prstDash val="solid"/>
          </a:ln>
        </p:spPr>
      </p:sp>
      <p:sp>
        <p:nvSpPr>
          <p:cNvPr id="93" name="Shape 89"/>
          <p:cNvSpPr/>
          <p:nvPr/>
        </p:nvSpPr>
        <p:spPr>
          <a:xfrm>
            <a:off x="11422963" y="5020735"/>
            <a:ext cx="1621570" cy="1621368"/>
          </a:xfrm>
          <a:prstGeom prst="rect">
            <a:avLst/>
          </a:prstGeom>
          <a:noFill/>
          <a:ln w="12700">
            <a:solidFill>
              <a:srgbClr val="FFF1F1"/>
            </a:solidFill>
            <a:prstDash val="solid"/>
          </a:ln>
        </p:spPr>
      </p:sp>
      <p:sp>
        <p:nvSpPr>
          <p:cNvPr id="94" name="Shape 90"/>
          <p:cNvSpPr/>
          <p:nvPr/>
        </p:nvSpPr>
        <p:spPr>
          <a:xfrm>
            <a:off x="4936685" y="6642100"/>
            <a:ext cx="1621570" cy="1621368"/>
          </a:xfrm>
          <a:prstGeom prst="rect">
            <a:avLst/>
          </a:prstGeom>
          <a:noFill/>
          <a:ln w="12700">
            <a:solidFill>
              <a:srgbClr val="FFF1F1"/>
            </a:solidFill>
            <a:prstDash val="solid"/>
          </a:ln>
        </p:spPr>
      </p:sp>
      <p:sp>
        <p:nvSpPr>
          <p:cNvPr id="95" name="Shape 91"/>
          <p:cNvSpPr/>
          <p:nvPr/>
        </p:nvSpPr>
        <p:spPr>
          <a:xfrm>
            <a:off x="8179822" y="3399365"/>
            <a:ext cx="1621570" cy="1621368"/>
          </a:xfrm>
          <a:prstGeom prst="rect">
            <a:avLst/>
          </a:prstGeom>
          <a:noFill/>
          <a:ln w="12700">
            <a:solidFill>
              <a:srgbClr val="FFF1F1"/>
            </a:solidFill>
            <a:prstDash val="solid"/>
          </a:ln>
        </p:spPr>
      </p:sp>
      <p:sp>
        <p:nvSpPr>
          <p:cNvPr id="96" name="Shape 92"/>
          <p:cNvSpPr/>
          <p:nvPr/>
        </p:nvSpPr>
        <p:spPr>
          <a:xfrm>
            <a:off x="9801393" y="3399365"/>
            <a:ext cx="1621570" cy="1621368"/>
          </a:xfrm>
          <a:prstGeom prst="rect">
            <a:avLst/>
          </a:prstGeom>
          <a:noFill/>
          <a:ln w="12700">
            <a:solidFill>
              <a:srgbClr val="FFF1F1"/>
            </a:solidFill>
            <a:prstDash val="solid"/>
          </a:ln>
        </p:spPr>
      </p:sp>
      <p:sp>
        <p:nvSpPr>
          <p:cNvPr id="97" name="Shape 93"/>
          <p:cNvSpPr/>
          <p:nvPr/>
        </p:nvSpPr>
        <p:spPr>
          <a:xfrm>
            <a:off x="11422963" y="3399365"/>
            <a:ext cx="1621570" cy="1621368"/>
          </a:xfrm>
          <a:prstGeom prst="rect">
            <a:avLst/>
          </a:prstGeom>
          <a:noFill/>
          <a:ln w="12700">
            <a:solidFill>
              <a:srgbClr val="FFF1F1"/>
            </a:solidFill>
            <a:prstDash val="solid"/>
          </a:ln>
        </p:spPr>
      </p:sp>
      <p:sp>
        <p:nvSpPr>
          <p:cNvPr id="98" name="Shape 94"/>
          <p:cNvSpPr/>
          <p:nvPr/>
        </p:nvSpPr>
        <p:spPr>
          <a:xfrm>
            <a:off x="8179822" y="6642100"/>
            <a:ext cx="1621570" cy="1621368"/>
          </a:xfrm>
          <a:prstGeom prst="rect">
            <a:avLst/>
          </a:prstGeom>
          <a:noFill/>
          <a:ln w="12700">
            <a:solidFill>
              <a:srgbClr val="FFF1F1"/>
            </a:solidFill>
            <a:prstDash val="solid"/>
          </a:ln>
        </p:spPr>
      </p:sp>
      <p:sp>
        <p:nvSpPr>
          <p:cNvPr id="99" name="Text 95"/>
          <p:cNvSpPr/>
          <p:nvPr/>
        </p:nvSpPr>
        <p:spPr>
          <a:xfrm rot="21600000">
            <a:off x="3462252" y="2122199"/>
            <a:ext cx="1350602"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Renegotiating vendor contracts</a:t>
            </a:r>
            <a:endParaRPr lang="en-US" sz="1600" dirty="0"/>
          </a:p>
        </p:txBody>
      </p:sp>
      <p:sp>
        <p:nvSpPr>
          <p:cNvPr id="100" name="Text 96"/>
          <p:cNvSpPr/>
          <p:nvPr/>
        </p:nvSpPr>
        <p:spPr>
          <a:xfrm rot="21600000">
            <a:off x="11561117" y="2137063"/>
            <a:ext cx="1350602"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Process automation with AI tools</a:t>
            </a:r>
            <a:endParaRPr lang="en-US" sz="1600" dirty="0"/>
          </a:p>
        </p:txBody>
      </p:sp>
      <p:sp>
        <p:nvSpPr>
          <p:cNvPr id="101" name="Text 97"/>
          <p:cNvSpPr/>
          <p:nvPr/>
        </p:nvSpPr>
        <p:spPr>
          <a:xfrm rot="21600000">
            <a:off x="9886108" y="3933537"/>
            <a:ext cx="135060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Supply chain restructuring</a:t>
            </a:r>
            <a:endParaRPr lang="en-US" sz="1600" dirty="0"/>
          </a:p>
        </p:txBody>
      </p:sp>
      <p:sp>
        <p:nvSpPr>
          <p:cNvPr id="102" name="Text 98"/>
          <p:cNvSpPr/>
          <p:nvPr/>
        </p:nvSpPr>
        <p:spPr>
          <a:xfrm rot="21600000">
            <a:off x="5084905" y="3920837"/>
            <a:ext cx="135060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Reducing energy waste</a:t>
            </a:r>
            <a:endParaRPr lang="en-US" sz="1600" dirty="0"/>
          </a:p>
        </p:txBody>
      </p:sp>
      <p:sp>
        <p:nvSpPr>
          <p:cNvPr id="103" name="Text 99"/>
          <p:cNvSpPr/>
          <p:nvPr/>
        </p:nvSpPr>
        <p:spPr>
          <a:xfrm rot="21600000">
            <a:off x="3463714" y="10408227"/>
            <a:ext cx="135060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Office supply optimization</a:t>
            </a:r>
            <a:endParaRPr lang="en-US" sz="1600" dirty="0"/>
          </a:p>
        </p:txBody>
      </p:sp>
      <p:sp>
        <p:nvSpPr>
          <p:cNvPr id="104" name="Text 100"/>
          <p:cNvSpPr/>
          <p:nvPr/>
        </p:nvSpPr>
        <p:spPr>
          <a:xfrm rot="21600000">
            <a:off x="11565614" y="10259436"/>
            <a:ext cx="1350602"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Complete system migration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4546600"/>
            <a:ext cx="16054807" cy="3632200"/>
          </a:xfrm>
          <a:prstGeom prst="rect">
            <a:avLst/>
          </a:prstGeom>
          <a:noFill/>
          <a:ln/>
        </p:spPr>
      </p:sp>
      <p:sp>
        <p:nvSpPr>
          <p:cNvPr id="3" name="Shape 1"/>
          <p:cNvSpPr/>
          <p:nvPr/>
        </p:nvSpPr>
        <p:spPr>
          <a:xfrm>
            <a:off x="1524191" y="4546600"/>
            <a:ext cx="16054807" cy="787400"/>
          </a:xfrm>
          <a:prstGeom prst="rect">
            <a:avLst/>
          </a:prstGeom>
          <a:noFill/>
          <a:ln/>
        </p:spPr>
      </p:sp>
      <p:sp>
        <p:nvSpPr>
          <p:cNvPr id="4" name="Shape 2"/>
          <p:cNvSpPr/>
          <p:nvPr/>
        </p:nvSpPr>
        <p:spPr>
          <a:xfrm>
            <a:off x="1524191" y="4546600"/>
            <a:ext cx="2502213" cy="787400"/>
          </a:xfrm>
          <a:prstGeom prst="roundRect">
            <a:avLst>
              <a:gd name="adj" fmla="val 58065"/>
            </a:avLst>
          </a:prstGeom>
          <a:solidFill>
            <a:srgbClr val="000000">
              <a:alpha val="100000"/>
            </a:srgbClr>
          </a:solidFill>
          <a:ln/>
        </p:spPr>
      </p:sp>
      <p:sp>
        <p:nvSpPr>
          <p:cNvPr id="5" name="Text 3"/>
          <p:cNvSpPr/>
          <p:nvPr/>
        </p:nvSpPr>
        <p:spPr>
          <a:xfrm>
            <a:off x="1981448" y="4749800"/>
            <a:ext cx="16850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Supply Chain</a:t>
            </a:r>
            <a:endParaRPr lang="en-US" sz="2000" dirty="0"/>
          </a:p>
        </p:txBody>
      </p:sp>
      <p:sp>
        <p:nvSpPr>
          <p:cNvPr id="6" name="Shape 4"/>
          <p:cNvSpPr/>
          <p:nvPr/>
        </p:nvSpPr>
        <p:spPr>
          <a:xfrm>
            <a:off x="4026403" y="4546600"/>
            <a:ext cx="3086486" cy="787400"/>
          </a:xfrm>
          <a:prstGeom prst="roundRect">
            <a:avLst>
              <a:gd name="adj" fmla="val 58065"/>
            </a:avLst>
          </a:prstGeom>
          <a:solidFill>
            <a:srgbClr val="E7E7E7">
              <a:alpha val="100000"/>
            </a:srgbClr>
          </a:solidFill>
          <a:ln/>
        </p:spPr>
      </p:sp>
      <p:sp>
        <p:nvSpPr>
          <p:cNvPr id="7" name="Text 5"/>
          <p:cNvSpPr/>
          <p:nvPr/>
        </p:nvSpPr>
        <p:spPr>
          <a:xfrm>
            <a:off x="4559870" y="4749800"/>
            <a:ext cx="20280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Order placement</a:t>
            </a:r>
            <a:endParaRPr lang="en-US" sz="2000" dirty="0"/>
          </a:p>
        </p:txBody>
      </p:sp>
      <p:sp>
        <p:nvSpPr>
          <p:cNvPr id="8" name="Shape 6"/>
          <p:cNvSpPr/>
          <p:nvPr/>
        </p:nvSpPr>
        <p:spPr>
          <a:xfrm>
            <a:off x="7112889" y="4546600"/>
            <a:ext cx="3416727" cy="787400"/>
          </a:xfrm>
          <a:prstGeom prst="roundRect">
            <a:avLst>
              <a:gd name="adj" fmla="val 58065"/>
            </a:avLst>
          </a:prstGeom>
          <a:solidFill>
            <a:srgbClr val="FF4D4D">
              <a:alpha val="100000"/>
            </a:srgbClr>
          </a:solidFill>
          <a:ln/>
        </p:spPr>
      </p:sp>
      <p:sp>
        <p:nvSpPr>
          <p:cNvPr id="9" name="Text 7"/>
          <p:cNvSpPr/>
          <p:nvPr/>
        </p:nvSpPr>
        <p:spPr>
          <a:xfrm>
            <a:off x="7646356" y="4749800"/>
            <a:ext cx="243447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Vendor confirmation</a:t>
            </a:r>
            <a:endParaRPr lang="en-US" sz="2000" dirty="0"/>
          </a:p>
        </p:txBody>
      </p:sp>
      <p:sp>
        <p:nvSpPr>
          <p:cNvPr id="10" name="Shape 8"/>
          <p:cNvSpPr/>
          <p:nvPr/>
        </p:nvSpPr>
        <p:spPr>
          <a:xfrm>
            <a:off x="10529616" y="4546600"/>
            <a:ext cx="2070359" cy="787400"/>
          </a:xfrm>
          <a:prstGeom prst="roundRect">
            <a:avLst>
              <a:gd name="adj" fmla="val 58065"/>
            </a:avLst>
          </a:prstGeom>
          <a:solidFill>
            <a:srgbClr val="E7E7E7">
              <a:alpha val="100000"/>
            </a:srgbClr>
          </a:solidFill>
          <a:ln/>
        </p:spPr>
      </p:sp>
      <p:sp>
        <p:nvSpPr>
          <p:cNvPr id="11" name="Text 9"/>
          <p:cNvSpPr/>
          <p:nvPr/>
        </p:nvSpPr>
        <p:spPr>
          <a:xfrm>
            <a:off x="11063083" y="4749800"/>
            <a:ext cx="110080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Shipping</a:t>
            </a:r>
            <a:endParaRPr lang="en-US" sz="2000" dirty="0"/>
          </a:p>
        </p:txBody>
      </p:sp>
      <p:sp>
        <p:nvSpPr>
          <p:cNvPr id="12" name="Shape 10"/>
          <p:cNvSpPr/>
          <p:nvPr/>
        </p:nvSpPr>
        <p:spPr>
          <a:xfrm>
            <a:off x="12599975" y="4546600"/>
            <a:ext cx="1968746" cy="787400"/>
          </a:xfrm>
          <a:prstGeom prst="roundRect">
            <a:avLst>
              <a:gd name="adj" fmla="val 58065"/>
            </a:avLst>
          </a:prstGeom>
          <a:solidFill>
            <a:srgbClr val="E7E7E7">
              <a:alpha val="100000"/>
            </a:srgbClr>
          </a:solidFill>
          <a:ln/>
        </p:spPr>
      </p:sp>
      <p:sp>
        <p:nvSpPr>
          <p:cNvPr id="13" name="Text 11"/>
          <p:cNvSpPr/>
          <p:nvPr/>
        </p:nvSpPr>
        <p:spPr>
          <a:xfrm>
            <a:off x="13133441" y="4749800"/>
            <a:ext cx="102459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Delivery</a:t>
            </a:r>
            <a:endParaRPr lang="en-US" sz="2000" dirty="0"/>
          </a:p>
        </p:txBody>
      </p:sp>
      <p:sp>
        <p:nvSpPr>
          <p:cNvPr id="14" name="Shape 12"/>
          <p:cNvSpPr/>
          <p:nvPr/>
        </p:nvSpPr>
        <p:spPr>
          <a:xfrm>
            <a:off x="14568721" y="4546600"/>
            <a:ext cx="3010276" cy="787400"/>
          </a:xfrm>
          <a:prstGeom prst="roundRect">
            <a:avLst>
              <a:gd name="adj" fmla="val 58065"/>
            </a:avLst>
          </a:prstGeom>
          <a:solidFill>
            <a:srgbClr val="E7E7E7">
              <a:alpha val="100000"/>
            </a:srgbClr>
          </a:solidFill>
          <a:ln/>
        </p:spPr>
      </p:sp>
      <p:sp>
        <p:nvSpPr>
          <p:cNvPr id="15" name="Text 13"/>
          <p:cNvSpPr/>
          <p:nvPr/>
        </p:nvSpPr>
        <p:spPr>
          <a:xfrm>
            <a:off x="15102188" y="4749800"/>
            <a:ext cx="193910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Inventory check</a:t>
            </a:r>
            <a:endParaRPr lang="en-US" sz="2000" dirty="0"/>
          </a:p>
        </p:txBody>
      </p:sp>
      <p:sp>
        <p:nvSpPr>
          <p:cNvPr id="16" name="Shape 14"/>
          <p:cNvSpPr/>
          <p:nvPr/>
        </p:nvSpPr>
        <p:spPr>
          <a:xfrm>
            <a:off x="1524191" y="7391400"/>
            <a:ext cx="12320540" cy="787400"/>
          </a:xfrm>
          <a:prstGeom prst="rect">
            <a:avLst/>
          </a:prstGeom>
          <a:noFill/>
          <a:ln/>
        </p:spPr>
      </p:sp>
      <p:sp>
        <p:nvSpPr>
          <p:cNvPr id="17" name="Shape 15"/>
          <p:cNvSpPr/>
          <p:nvPr/>
        </p:nvSpPr>
        <p:spPr>
          <a:xfrm>
            <a:off x="1524191" y="7391400"/>
            <a:ext cx="1282860" cy="787400"/>
          </a:xfrm>
          <a:prstGeom prst="roundRect">
            <a:avLst>
              <a:gd name="adj" fmla="val 58065"/>
            </a:avLst>
          </a:prstGeom>
          <a:solidFill>
            <a:srgbClr val="000000">
              <a:alpha val="100000"/>
            </a:srgbClr>
          </a:solidFill>
          <a:ln/>
        </p:spPr>
      </p:sp>
      <p:sp>
        <p:nvSpPr>
          <p:cNvPr id="18" name="Text 16"/>
          <p:cNvSpPr/>
          <p:nvPr/>
        </p:nvSpPr>
        <p:spPr>
          <a:xfrm>
            <a:off x="1994149" y="7594600"/>
            <a:ext cx="44032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HR</a:t>
            </a:r>
            <a:endParaRPr lang="en-US" sz="2000" dirty="0"/>
          </a:p>
        </p:txBody>
      </p:sp>
      <p:sp>
        <p:nvSpPr>
          <p:cNvPr id="19" name="Shape 17"/>
          <p:cNvSpPr/>
          <p:nvPr/>
        </p:nvSpPr>
        <p:spPr>
          <a:xfrm>
            <a:off x="2807051" y="7391400"/>
            <a:ext cx="2768946" cy="787400"/>
          </a:xfrm>
          <a:prstGeom prst="roundRect">
            <a:avLst>
              <a:gd name="adj" fmla="val 58065"/>
            </a:avLst>
          </a:prstGeom>
          <a:solidFill>
            <a:srgbClr val="E7E7E7">
              <a:alpha val="100000"/>
            </a:srgbClr>
          </a:solidFill>
          <a:ln/>
        </p:spPr>
      </p:sp>
      <p:sp>
        <p:nvSpPr>
          <p:cNvPr id="20" name="Text 18"/>
          <p:cNvSpPr/>
          <p:nvPr/>
        </p:nvSpPr>
        <p:spPr>
          <a:xfrm>
            <a:off x="3340518" y="7594600"/>
            <a:ext cx="171048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Hiring request</a:t>
            </a:r>
            <a:endParaRPr lang="en-US" sz="2000" dirty="0"/>
          </a:p>
        </p:txBody>
      </p:sp>
      <p:sp>
        <p:nvSpPr>
          <p:cNvPr id="21" name="Shape 19"/>
          <p:cNvSpPr/>
          <p:nvPr/>
        </p:nvSpPr>
        <p:spPr>
          <a:xfrm>
            <a:off x="5575997" y="7391400"/>
            <a:ext cx="3531041" cy="787400"/>
          </a:xfrm>
          <a:prstGeom prst="roundRect">
            <a:avLst>
              <a:gd name="adj" fmla="val 58065"/>
            </a:avLst>
          </a:prstGeom>
          <a:solidFill>
            <a:srgbClr val="FF4D4D">
              <a:alpha val="100000"/>
            </a:srgbClr>
          </a:solidFill>
          <a:ln/>
        </p:spPr>
      </p:sp>
      <p:sp>
        <p:nvSpPr>
          <p:cNvPr id="22" name="Text 20"/>
          <p:cNvSpPr/>
          <p:nvPr/>
        </p:nvSpPr>
        <p:spPr>
          <a:xfrm>
            <a:off x="6109464" y="7594600"/>
            <a:ext cx="24725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Candidate screening</a:t>
            </a:r>
            <a:endParaRPr lang="en-US" sz="2000" dirty="0"/>
          </a:p>
        </p:txBody>
      </p:sp>
      <p:sp>
        <p:nvSpPr>
          <p:cNvPr id="23" name="Shape 21"/>
          <p:cNvSpPr/>
          <p:nvPr/>
        </p:nvSpPr>
        <p:spPr>
          <a:xfrm>
            <a:off x="9107038" y="7391400"/>
            <a:ext cx="2273584" cy="787400"/>
          </a:xfrm>
          <a:prstGeom prst="roundRect">
            <a:avLst>
              <a:gd name="adj" fmla="val 58065"/>
            </a:avLst>
          </a:prstGeom>
          <a:solidFill>
            <a:srgbClr val="E7E7E7">
              <a:alpha val="100000"/>
            </a:srgbClr>
          </a:solidFill>
          <a:ln/>
        </p:spPr>
      </p:sp>
      <p:sp>
        <p:nvSpPr>
          <p:cNvPr id="24" name="Text 22"/>
          <p:cNvSpPr/>
          <p:nvPr/>
        </p:nvSpPr>
        <p:spPr>
          <a:xfrm>
            <a:off x="9640505" y="7594600"/>
            <a:ext cx="12913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Interviews</a:t>
            </a:r>
            <a:endParaRPr lang="en-US" sz="2000" dirty="0"/>
          </a:p>
        </p:txBody>
      </p:sp>
      <p:sp>
        <p:nvSpPr>
          <p:cNvPr id="25" name="Shape 23"/>
          <p:cNvSpPr/>
          <p:nvPr/>
        </p:nvSpPr>
        <p:spPr>
          <a:xfrm>
            <a:off x="11380622" y="7391400"/>
            <a:ext cx="2464108" cy="787400"/>
          </a:xfrm>
          <a:prstGeom prst="roundRect">
            <a:avLst>
              <a:gd name="adj" fmla="val 58065"/>
            </a:avLst>
          </a:prstGeom>
          <a:solidFill>
            <a:srgbClr val="E7E7E7">
              <a:alpha val="100000"/>
            </a:srgbClr>
          </a:solidFill>
          <a:ln/>
        </p:spPr>
      </p:sp>
      <p:sp>
        <p:nvSpPr>
          <p:cNvPr id="26" name="Text 24"/>
          <p:cNvSpPr/>
          <p:nvPr/>
        </p:nvSpPr>
        <p:spPr>
          <a:xfrm>
            <a:off x="11914089" y="7594600"/>
            <a:ext cx="145644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Onboarding</a:t>
            </a:r>
            <a:endParaRPr lang="en-US" sz="2000" dirty="0"/>
          </a:p>
        </p:txBody>
      </p:sp>
      <p:sp>
        <p:nvSpPr>
          <p:cNvPr id="27" name="Shape 25"/>
          <p:cNvSpPr/>
          <p:nvPr/>
        </p:nvSpPr>
        <p:spPr>
          <a:xfrm>
            <a:off x="1524191" y="5969000"/>
            <a:ext cx="13387473" cy="787400"/>
          </a:xfrm>
          <a:prstGeom prst="rect">
            <a:avLst/>
          </a:prstGeom>
          <a:noFill/>
          <a:ln/>
        </p:spPr>
      </p:sp>
      <p:sp>
        <p:nvSpPr>
          <p:cNvPr id="28" name="Shape 26"/>
          <p:cNvSpPr/>
          <p:nvPr/>
        </p:nvSpPr>
        <p:spPr>
          <a:xfrm>
            <a:off x="1524191" y="5969000"/>
            <a:ext cx="2286286" cy="787400"/>
          </a:xfrm>
          <a:prstGeom prst="roundRect">
            <a:avLst>
              <a:gd name="adj" fmla="val 58065"/>
            </a:avLst>
          </a:prstGeom>
          <a:solidFill>
            <a:srgbClr val="000000">
              <a:alpha val="100000"/>
            </a:srgbClr>
          </a:solidFill>
          <a:ln/>
        </p:spPr>
      </p:sp>
      <p:sp>
        <p:nvSpPr>
          <p:cNvPr id="29" name="Text 27"/>
          <p:cNvSpPr/>
          <p:nvPr/>
        </p:nvSpPr>
        <p:spPr>
          <a:xfrm>
            <a:off x="1994149" y="6172200"/>
            <a:ext cx="141834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Production</a:t>
            </a:r>
            <a:endParaRPr lang="en-US" sz="2000" dirty="0"/>
          </a:p>
        </p:txBody>
      </p:sp>
      <p:sp>
        <p:nvSpPr>
          <p:cNvPr id="30" name="Shape 28"/>
          <p:cNvSpPr/>
          <p:nvPr/>
        </p:nvSpPr>
        <p:spPr>
          <a:xfrm>
            <a:off x="3810476" y="5969000"/>
            <a:ext cx="3302413" cy="787400"/>
          </a:xfrm>
          <a:prstGeom prst="roundRect">
            <a:avLst>
              <a:gd name="adj" fmla="val 58065"/>
            </a:avLst>
          </a:prstGeom>
          <a:solidFill>
            <a:srgbClr val="E7E7E7">
              <a:alpha val="100000"/>
            </a:srgbClr>
          </a:solidFill>
          <a:ln/>
        </p:spPr>
      </p:sp>
      <p:sp>
        <p:nvSpPr>
          <p:cNvPr id="31" name="Text 29"/>
          <p:cNvSpPr/>
          <p:nvPr/>
        </p:nvSpPr>
        <p:spPr>
          <a:xfrm>
            <a:off x="4343943" y="6172200"/>
            <a:ext cx="234556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Raw material intake</a:t>
            </a:r>
            <a:endParaRPr lang="en-US" sz="2000" dirty="0"/>
          </a:p>
        </p:txBody>
      </p:sp>
      <p:sp>
        <p:nvSpPr>
          <p:cNvPr id="32" name="Shape 30"/>
          <p:cNvSpPr/>
          <p:nvPr/>
        </p:nvSpPr>
        <p:spPr>
          <a:xfrm>
            <a:off x="7112889" y="5969000"/>
            <a:ext cx="2743543" cy="787400"/>
          </a:xfrm>
          <a:prstGeom prst="roundRect">
            <a:avLst>
              <a:gd name="adj" fmla="val 58065"/>
            </a:avLst>
          </a:prstGeom>
          <a:solidFill>
            <a:srgbClr val="E7E7E7">
              <a:alpha val="100000"/>
            </a:srgbClr>
          </a:solidFill>
          <a:ln/>
        </p:spPr>
      </p:sp>
      <p:sp>
        <p:nvSpPr>
          <p:cNvPr id="33" name="Text 31"/>
          <p:cNvSpPr/>
          <p:nvPr/>
        </p:nvSpPr>
        <p:spPr>
          <a:xfrm>
            <a:off x="7646356" y="6172200"/>
            <a:ext cx="176128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Manufacturing</a:t>
            </a:r>
            <a:endParaRPr lang="en-US" sz="2000" dirty="0"/>
          </a:p>
        </p:txBody>
      </p:sp>
      <p:sp>
        <p:nvSpPr>
          <p:cNvPr id="34" name="Shape 32"/>
          <p:cNvSpPr/>
          <p:nvPr/>
        </p:nvSpPr>
        <p:spPr>
          <a:xfrm>
            <a:off x="9856432" y="5969000"/>
            <a:ext cx="2718140" cy="787400"/>
          </a:xfrm>
          <a:prstGeom prst="roundRect">
            <a:avLst>
              <a:gd name="adj" fmla="val 58065"/>
            </a:avLst>
          </a:prstGeom>
          <a:solidFill>
            <a:srgbClr val="FF4D4D">
              <a:alpha val="100000"/>
            </a:srgbClr>
          </a:solidFill>
          <a:ln/>
        </p:spPr>
      </p:sp>
      <p:sp>
        <p:nvSpPr>
          <p:cNvPr id="35" name="Text 33"/>
          <p:cNvSpPr/>
          <p:nvPr/>
        </p:nvSpPr>
        <p:spPr>
          <a:xfrm>
            <a:off x="10389899" y="6172200"/>
            <a:ext cx="165967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Quality check</a:t>
            </a:r>
            <a:endParaRPr lang="en-US" sz="2000" dirty="0"/>
          </a:p>
        </p:txBody>
      </p:sp>
      <p:sp>
        <p:nvSpPr>
          <p:cNvPr id="36" name="Shape 34"/>
          <p:cNvSpPr/>
          <p:nvPr/>
        </p:nvSpPr>
        <p:spPr>
          <a:xfrm>
            <a:off x="12574572" y="5969000"/>
            <a:ext cx="2337092" cy="787400"/>
          </a:xfrm>
          <a:prstGeom prst="roundRect">
            <a:avLst>
              <a:gd name="adj" fmla="val 58065"/>
            </a:avLst>
          </a:prstGeom>
          <a:solidFill>
            <a:srgbClr val="E7E7E7">
              <a:alpha val="100000"/>
            </a:srgbClr>
          </a:solidFill>
          <a:ln/>
        </p:spPr>
      </p:sp>
      <p:sp>
        <p:nvSpPr>
          <p:cNvPr id="37" name="Text 35"/>
          <p:cNvSpPr/>
          <p:nvPr/>
        </p:nvSpPr>
        <p:spPr>
          <a:xfrm>
            <a:off x="13108038" y="6172200"/>
            <a:ext cx="12913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Packaging</a:t>
            </a:r>
            <a:endParaRPr lang="en-US" sz="2000" dirty="0"/>
          </a:p>
        </p:txBody>
      </p:sp>
      <p:sp>
        <p:nvSpPr>
          <p:cNvPr id="38" name="Shape 36"/>
          <p:cNvSpPr/>
          <p:nvPr/>
        </p:nvSpPr>
        <p:spPr>
          <a:xfrm>
            <a:off x="1524191" y="9829800"/>
            <a:ext cx="5309264" cy="1676400"/>
          </a:xfrm>
          <a:prstGeom prst="rect">
            <a:avLst/>
          </a:prstGeom>
          <a:noFill/>
          <a:ln/>
        </p:spPr>
      </p:sp>
      <p:sp>
        <p:nvSpPr>
          <p:cNvPr id="39" name="Shape 37"/>
          <p:cNvSpPr/>
          <p:nvPr/>
        </p:nvSpPr>
        <p:spPr>
          <a:xfrm rot="10800000">
            <a:off x="1524191" y="9829800"/>
            <a:ext cx="5309264" cy="1676400"/>
          </a:xfrm>
          <a:prstGeom prst="roundRect">
            <a:avLst>
              <a:gd name="adj" fmla="val 9273"/>
            </a:avLst>
          </a:prstGeom>
          <a:solidFill>
            <a:srgbClr val="FF4D4D">
              <a:alpha val="100000"/>
            </a:srgbClr>
          </a:solidFill>
          <a:ln/>
        </p:spPr>
      </p:sp>
      <p:sp>
        <p:nvSpPr>
          <p:cNvPr id="40" name="Text 38"/>
          <p:cNvSpPr/>
          <p:nvPr/>
        </p:nvSpPr>
        <p:spPr>
          <a:xfrm>
            <a:off x="1905238" y="10236200"/>
            <a:ext cx="21492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Target Improvements</a:t>
            </a:r>
            <a:endParaRPr lang="en-US" sz="1600" dirty="0"/>
          </a:p>
        </p:txBody>
      </p:sp>
      <p:sp>
        <p:nvSpPr>
          <p:cNvPr id="41" name="Text 39"/>
          <p:cNvSpPr/>
          <p:nvPr/>
        </p:nvSpPr>
        <p:spPr>
          <a:xfrm>
            <a:off x="1905238" y="10795000"/>
            <a:ext cx="472922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Automate tedious repetitive tasks</a:t>
            </a:r>
            <a:endParaRPr lang="en-US" sz="1600" dirty="0"/>
          </a:p>
        </p:txBody>
      </p:sp>
      <p:sp>
        <p:nvSpPr>
          <p:cNvPr id="42" name="Shape 40"/>
          <p:cNvSpPr/>
          <p:nvPr/>
        </p:nvSpPr>
        <p:spPr>
          <a:xfrm>
            <a:off x="6122041" y="10083800"/>
            <a:ext cx="447928" cy="447872"/>
          </a:xfrm>
          <a:prstGeom prst="ellipse">
            <a:avLst/>
          </a:prstGeom>
          <a:solidFill>
            <a:srgbClr val="000000">
              <a:alpha val="100000"/>
            </a:srgbClr>
          </a:solidFill>
          <a:ln/>
        </p:spPr>
      </p:sp>
      <p:sp>
        <p:nvSpPr>
          <p:cNvPr id="44" name="Shape 41"/>
          <p:cNvSpPr/>
          <p:nvPr/>
        </p:nvSpPr>
        <p:spPr>
          <a:xfrm>
            <a:off x="7087486" y="9829800"/>
            <a:ext cx="5309264" cy="1676400"/>
          </a:xfrm>
          <a:prstGeom prst="rect">
            <a:avLst/>
          </a:prstGeom>
          <a:noFill/>
          <a:ln/>
        </p:spPr>
      </p:sp>
      <p:pic>
        <p:nvPicPr>
          <p:cNvPr id="45"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7486" y="9829800"/>
            <a:ext cx="5309264" cy="1676400"/>
          </a:xfrm>
          <a:prstGeom prst="rect">
            <a:avLst/>
          </a:prstGeom>
        </p:spPr>
      </p:pic>
      <p:sp>
        <p:nvSpPr>
          <p:cNvPr id="46" name="Text 42"/>
          <p:cNvSpPr/>
          <p:nvPr/>
        </p:nvSpPr>
        <p:spPr>
          <a:xfrm>
            <a:off x="7468533" y="10236200"/>
            <a:ext cx="21492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Target Improvements</a:t>
            </a:r>
            <a:endParaRPr lang="en-US" sz="1600" dirty="0"/>
          </a:p>
        </p:txBody>
      </p:sp>
      <p:sp>
        <p:nvSpPr>
          <p:cNvPr id="47" name="Text 43"/>
          <p:cNvSpPr/>
          <p:nvPr/>
        </p:nvSpPr>
        <p:spPr>
          <a:xfrm>
            <a:off x="7468533" y="10795000"/>
            <a:ext cx="472922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Reduce unnecessary approval layers</a:t>
            </a:r>
            <a:endParaRPr lang="en-US" sz="1600" dirty="0"/>
          </a:p>
        </p:txBody>
      </p:sp>
      <p:sp>
        <p:nvSpPr>
          <p:cNvPr id="48" name="Shape 44"/>
          <p:cNvSpPr/>
          <p:nvPr/>
        </p:nvSpPr>
        <p:spPr>
          <a:xfrm>
            <a:off x="12650781" y="9829800"/>
            <a:ext cx="5309264" cy="1676400"/>
          </a:xfrm>
          <a:prstGeom prst="rect">
            <a:avLst/>
          </a:prstGeom>
          <a:noFill/>
          <a:ln/>
        </p:spPr>
      </p:sp>
      <p:pic>
        <p:nvPicPr>
          <p:cNvPr id="49" name="Image 2" descr=" "/>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2650781" y="9829800"/>
            <a:ext cx="5309264" cy="1676400"/>
          </a:xfrm>
          <a:prstGeom prst="rect">
            <a:avLst/>
          </a:prstGeom>
        </p:spPr>
      </p:pic>
      <p:sp>
        <p:nvSpPr>
          <p:cNvPr id="50" name="Text 45"/>
          <p:cNvSpPr/>
          <p:nvPr/>
        </p:nvSpPr>
        <p:spPr>
          <a:xfrm>
            <a:off x="13031829" y="10236200"/>
            <a:ext cx="21492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Target Improvements</a:t>
            </a:r>
            <a:endParaRPr lang="en-US" sz="1600" dirty="0"/>
          </a:p>
        </p:txBody>
      </p:sp>
      <p:sp>
        <p:nvSpPr>
          <p:cNvPr id="51" name="Text 46"/>
          <p:cNvSpPr/>
          <p:nvPr/>
        </p:nvSpPr>
        <p:spPr>
          <a:xfrm>
            <a:off x="13031829" y="10795000"/>
            <a:ext cx="472922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Integrate cross-department communication tools</a:t>
            </a:r>
            <a:endParaRPr lang="en-US" sz="1600" dirty="0"/>
          </a:p>
        </p:txBody>
      </p:sp>
      <p:sp>
        <p:nvSpPr>
          <p:cNvPr id="52" name="Text 47"/>
          <p:cNvSpPr/>
          <p:nvPr/>
        </p:nvSpPr>
        <p:spPr>
          <a:xfrm>
            <a:off x="1524191" y="2006600"/>
            <a:ext cx="8662483"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Streamlining Operations for Efficiency</a:t>
            </a:r>
            <a:endParaRPr lang="en-US" sz="6000" dirty="0"/>
          </a:p>
        </p:txBody>
      </p:sp>
      <p:sp>
        <p:nvSpPr>
          <p:cNvPr id="53" name="Text 48"/>
          <p:cNvSpPr/>
          <p:nvPr/>
        </p:nvSpPr>
        <p:spPr>
          <a:xfrm>
            <a:off x="15025978" y="2006600"/>
            <a:ext cx="7934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By mapping processes across departments, we can identify and address bottlenecks that drive unnecessary costs.</a:t>
            </a:r>
            <a:endParaRPr lang="en-US" sz="2000" dirty="0"/>
          </a:p>
        </p:txBody>
      </p:sp>
      <p:pic>
        <p:nvPicPr>
          <p:cNvPr id="54" name="Graphic 53">
            <a:extLst>
              <a:ext uri="{FF2B5EF4-FFF2-40B4-BE49-F238E27FC236}">
                <a16:creationId xmlns:a16="http://schemas.microsoft.com/office/drawing/2014/main" id="{99E10F5E-EC15-48FC-8678-9A1F0720C4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52759" y="10114490"/>
            <a:ext cx="386492" cy="3864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8013700"/>
            <a:ext cx="7849581" cy="46863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8013700"/>
            <a:ext cx="7849581" cy="4686300"/>
          </a:xfrm>
          <a:prstGeom prst="rect">
            <a:avLst/>
          </a:prstGeom>
        </p:spPr>
      </p:pic>
      <p:sp>
        <p:nvSpPr>
          <p:cNvPr id="4" name="Text 1"/>
          <p:cNvSpPr/>
          <p:nvPr/>
        </p:nvSpPr>
        <p:spPr>
          <a:xfrm rot="16200000">
            <a:off x="1005159" y="9755969"/>
            <a:ext cx="173165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Productivity Index</a:t>
            </a:r>
            <a:endParaRPr lang="en-US" sz="1600" dirty="0"/>
          </a:p>
        </p:txBody>
      </p:sp>
      <p:sp>
        <p:nvSpPr>
          <p:cNvPr id="5" name="Text 2"/>
          <p:cNvSpPr/>
          <p:nvPr/>
        </p:nvSpPr>
        <p:spPr>
          <a:xfrm rot="21600000">
            <a:off x="5317404" y="11685155"/>
            <a:ext cx="53770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Time</a:t>
            </a:r>
            <a:endParaRPr lang="en-US" sz="1600" dirty="0"/>
          </a:p>
        </p:txBody>
      </p:sp>
      <p:sp>
        <p:nvSpPr>
          <p:cNvPr id="8" name="Shape 3"/>
          <p:cNvSpPr/>
          <p:nvPr/>
        </p:nvSpPr>
        <p:spPr>
          <a:xfrm>
            <a:off x="2032254" y="12141200"/>
            <a:ext cx="1562295" cy="304800"/>
          </a:xfrm>
          <a:prstGeom prst="rect">
            <a:avLst/>
          </a:prstGeom>
          <a:noFill/>
          <a:ln/>
        </p:spPr>
      </p:sp>
      <p:sp>
        <p:nvSpPr>
          <p:cNvPr id="9" name="Shape 4"/>
          <p:cNvSpPr/>
          <p:nvPr/>
        </p:nvSpPr>
        <p:spPr>
          <a:xfrm>
            <a:off x="2032254" y="12141200"/>
            <a:ext cx="787498" cy="304800"/>
          </a:xfrm>
          <a:prstGeom prst="rect">
            <a:avLst/>
          </a:prstGeom>
          <a:noFill/>
          <a:ln/>
        </p:spPr>
      </p:sp>
      <p:sp>
        <p:nvSpPr>
          <p:cNvPr id="10" name="Shape 5"/>
          <p:cNvSpPr/>
          <p:nvPr/>
        </p:nvSpPr>
        <p:spPr>
          <a:xfrm>
            <a:off x="2032254" y="12179300"/>
            <a:ext cx="101613" cy="228600"/>
          </a:xfrm>
          <a:prstGeom prst="roundRect">
            <a:avLst>
              <a:gd name="adj" fmla="val 125984"/>
            </a:avLst>
          </a:prstGeom>
          <a:solidFill>
            <a:srgbClr val="6D6D6D">
              <a:alpha val="100000"/>
            </a:srgbClr>
          </a:solidFill>
          <a:ln/>
        </p:spPr>
      </p:sp>
      <p:sp>
        <p:nvSpPr>
          <p:cNvPr id="11" name="Text 6"/>
          <p:cNvSpPr/>
          <p:nvPr/>
        </p:nvSpPr>
        <p:spPr>
          <a:xfrm>
            <a:off x="2197375" y="12141200"/>
            <a:ext cx="69012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Before</a:t>
            </a:r>
            <a:endParaRPr lang="en-US" sz="1600" dirty="0"/>
          </a:p>
        </p:txBody>
      </p:sp>
      <p:sp>
        <p:nvSpPr>
          <p:cNvPr id="12" name="Shape 7"/>
          <p:cNvSpPr/>
          <p:nvPr/>
        </p:nvSpPr>
        <p:spPr>
          <a:xfrm>
            <a:off x="2946768" y="12141200"/>
            <a:ext cx="647781" cy="304800"/>
          </a:xfrm>
          <a:prstGeom prst="rect">
            <a:avLst/>
          </a:prstGeom>
          <a:noFill/>
          <a:ln/>
        </p:spPr>
      </p:sp>
      <p:sp>
        <p:nvSpPr>
          <p:cNvPr id="13" name="Shape 8"/>
          <p:cNvSpPr/>
          <p:nvPr/>
        </p:nvSpPr>
        <p:spPr>
          <a:xfrm>
            <a:off x="2946768" y="12179300"/>
            <a:ext cx="101613" cy="228600"/>
          </a:xfrm>
          <a:prstGeom prst="roundRect">
            <a:avLst>
              <a:gd name="adj" fmla="val 125984"/>
            </a:avLst>
          </a:prstGeom>
          <a:solidFill>
            <a:srgbClr val="FF4D4D">
              <a:alpha val="100000"/>
            </a:srgbClr>
          </a:solidFill>
          <a:ln/>
        </p:spPr>
      </p:sp>
      <p:graphicFrame>
        <p:nvGraphicFramePr>
          <p:cNvPr id="79" name="Chart 78">
            <a:extLst>
              <a:ext uri="{FF2B5EF4-FFF2-40B4-BE49-F238E27FC236}">
                <a16:creationId xmlns:a16="http://schemas.microsoft.com/office/drawing/2014/main" id="{073B65DA-9805-4A54-AC46-5C871B1FC7EA}"/>
              </a:ext>
            </a:extLst>
          </p:cNvPr>
          <p:cNvGraphicFramePr/>
          <p:nvPr>
            <p:extLst>
              <p:ext uri="{D42A27DB-BD31-4B8C-83A1-F6EECF244321}">
                <p14:modId xmlns:p14="http://schemas.microsoft.com/office/powerpoint/2010/main" val="3513096456"/>
              </p:ext>
            </p:extLst>
          </p:nvPr>
        </p:nvGraphicFramePr>
        <p:xfrm>
          <a:off x="1902063" y="8492898"/>
          <a:ext cx="7093836" cy="3169805"/>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9"/>
          <p:cNvSpPr/>
          <p:nvPr/>
        </p:nvSpPr>
        <p:spPr>
          <a:xfrm>
            <a:off x="3111889" y="12141200"/>
            <a:ext cx="55040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After</a:t>
            </a:r>
            <a:endParaRPr lang="en-US" sz="1600" dirty="0"/>
          </a:p>
        </p:txBody>
      </p:sp>
      <p:pic>
        <p:nvPicPr>
          <p:cNvPr id="17" name="Image 5"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5903" y="8521700"/>
            <a:ext cx="6992224" cy="3041650"/>
          </a:xfrm>
          <a:prstGeom prst="rect">
            <a:avLst/>
          </a:prstGeom>
        </p:spPr>
      </p:pic>
      <p:pic>
        <p:nvPicPr>
          <p:cNvPr id="18" name="Image 6"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164695" y="0"/>
            <a:ext cx="13222353" cy="13716000"/>
          </a:xfrm>
          <a:prstGeom prst="rect">
            <a:avLst/>
          </a:prstGeom>
        </p:spPr>
      </p:pic>
      <p:pic>
        <p:nvPicPr>
          <p:cNvPr id="19" name="Image 7"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158345" y="0"/>
            <a:ext cx="12702" cy="13716000"/>
          </a:xfrm>
          <a:prstGeom prst="rect">
            <a:avLst/>
          </a:prstGeom>
        </p:spPr>
      </p:pic>
      <p:sp>
        <p:nvSpPr>
          <p:cNvPr id="20" name="Shape 10"/>
          <p:cNvSpPr/>
          <p:nvPr/>
        </p:nvSpPr>
        <p:spPr>
          <a:xfrm>
            <a:off x="12290224" y="3632200"/>
            <a:ext cx="10796349" cy="7137400"/>
          </a:xfrm>
          <a:prstGeom prst="rect">
            <a:avLst/>
          </a:prstGeom>
          <a:noFill/>
          <a:ln/>
        </p:spPr>
      </p:sp>
      <p:sp>
        <p:nvSpPr>
          <p:cNvPr id="23" name="Shape 13"/>
          <p:cNvSpPr/>
          <p:nvPr/>
        </p:nvSpPr>
        <p:spPr>
          <a:xfrm>
            <a:off x="12076864" y="10287000"/>
            <a:ext cx="1752819" cy="482600"/>
          </a:xfrm>
          <a:prstGeom prst="roundRect">
            <a:avLst>
              <a:gd name="adj" fmla="val 94737"/>
            </a:avLst>
          </a:prstGeom>
          <a:solidFill>
            <a:srgbClr val="000000">
              <a:alpha val="100000"/>
            </a:srgbClr>
          </a:solidFill>
          <a:ln/>
        </p:spPr>
      </p:sp>
      <p:sp>
        <p:nvSpPr>
          <p:cNvPr id="27" name="Shape 17"/>
          <p:cNvSpPr/>
          <p:nvPr/>
        </p:nvSpPr>
        <p:spPr>
          <a:xfrm>
            <a:off x="14429186" y="10287000"/>
            <a:ext cx="1752819" cy="482600"/>
          </a:xfrm>
          <a:prstGeom prst="roundRect">
            <a:avLst>
              <a:gd name="adj" fmla="val 94737"/>
            </a:avLst>
          </a:prstGeom>
          <a:solidFill>
            <a:srgbClr val="000000">
              <a:alpha val="100000"/>
            </a:srgbClr>
          </a:solidFill>
          <a:ln/>
        </p:spPr>
      </p:sp>
      <p:sp>
        <p:nvSpPr>
          <p:cNvPr id="31" name="Shape 21"/>
          <p:cNvSpPr/>
          <p:nvPr/>
        </p:nvSpPr>
        <p:spPr>
          <a:xfrm>
            <a:off x="16811989" y="10287000"/>
            <a:ext cx="1752819" cy="482600"/>
          </a:xfrm>
          <a:prstGeom prst="roundRect">
            <a:avLst>
              <a:gd name="adj" fmla="val 94737"/>
            </a:avLst>
          </a:prstGeom>
          <a:solidFill>
            <a:srgbClr val="000000">
              <a:alpha val="100000"/>
            </a:srgbClr>
          </a:solidFill>
          <a:ln/>
        </p:spPr>
      </p:sp>
      <p:sp>
        <p:nvSpPr>
          <p:cNvPr id="35" name="Shape 25"/>
          <p:cNvSpPr/>
          <p:nvPr/>
        </p:nvSpPr>
        <p:spPr>
          <a:xfrm>
            <a:off x="19143209" y="10287000"/>
            <a:ext cx="1752819" cy="482600"/>
          </a:xfrm>
          <a:prstGeom prst="roundRect">
            <a:avLst>
              <a:gd name="adj" fmla="val 94737"/>
            </a:avLst>
          </a:prstGeom>
          <a:solidFill>
            <a:srgbClr val="000000">
              <a:alpha val="100000"/>
            </a:srgbClr>
          </a:solidFill>
          <a:ln/>
        </p:spPr>
      </p:sp>
      <p:sp>
        <p:nvSpPr>
          <p:cNvPr id="39" name="Shape 29"/>
          <p:cNvSpPr/>
          <p:nvPr/>
        </p:nvSpPr>
        <p:spPr>
          <a:xfrm>
            <a:off x="21474430" y="10287000"/>
            <a:ext cx="1752819" cy="482600"/>
          </a:xfrm>
          <a:prstGeom prst="roundRect">
            <a:avLst>
              <a:gd name="adj" fmla="val 94737"/>
            </a:avLst>
          </a:prstGeom>
          <a:solidFill>
            <a:srgbClr val="000000">
              <a:alpha val="100000"/>
            </a:srgbClr>
          </a:solidFill>
          <a:ln/>
        </p:spPr>
      </p:sp>
      <p:sp>
        <p:nvSpPr>
          <p:cNvPr id="41" name="Text 31"/>
          <p:cNvSpPr/>
          <p:nvPr/>
        </p:nvSpPr>
        <p:spPr>
          <a:xfrm>
            <a:off x="1524191" y="1524000"/>
            <a:ext cx="942457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Optimizing Resource Allocation</a:t>
            </a:r>
            <a:endParaRPr lang="en-US" sz="6000" dirty="0"/>
          </a:p>
        </p:txBody>
      </p:sp>
      <p:sp>
        <p:nvSpPr>
          <p:cNvPr id="42" name="Text 32"/>
          <p:cNvSpPr/>
          <p:nvPr/>
        </p:nvSpPr>
        <p:spPr>
          <a:xfrm>
            <a:off x="1524191" y="3200400"/>
            <a:ext cx="7934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Allocating resources based on return potential ensures maximum efficiency and sustained growth.</a:t>
            </a:r>
            <a:endParaRPr lang="en-US" sz="2000" dirty="0"/>
          </a:p>
        </p:txBody>
      </p:sp>
      <p:sp>
        <p:nvSpPr>
          <p:cNvPr id="43" name="Shape 33"/>
          <p:cNvSpPr/>
          <p:nvPr/>
        </p:nvSpPr>
        <p:spPr>
          <a:xfrm rot="10800000">
            <a:off x="1524191" y="4648200"/>
            <a:ext cx="4242330" cy="2870200"/>
          </a:xfrm>
          <a:prstGeom prst="roundRect">
            <a:avLst>
              <a:gd name="adj" fmla="val 4460"/>
            </a:avLst>
          </a:prstGeom>
          <a:solidFill>
            <a:srgbClr val="FF4D4D">
              <a:alpha val="100000"/>
            </a:srgbClr>
          </a:solidFill>
          <a:ln/>
        </p:spPr>
      </p:sp>
      <p:sp>
        <p:nvSpPr>
          <p:cNvPr id="44" name="Shape 34"/>
          <p:cNvSpPr/>
          <p:nvPr/>
        </p:nvSpPr>
        <p:spPr>
          <a:xfrm>
            <a:off x="4839305" y="4368800"/>
            <a:ext cx="558870" cy="558800"/>
          </a:xfrm>
          <a:prstGeom prst="ellipse">
            <a:avLst/>
          </a:prstGeom>
          <a:solidFill>
            <a:srgbClr val="000000">
              <a:alpha val="100000"/>
            </a:srgbClr>
          </a:solidFill>
          <a:ln/>
        </p:spPr>
      </p:sp>
      <p:pic>
        <p:nvPicPr>
          <p:cNvPr id="45" name="Image 8"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40917" y="4470400"/>
            <a:ext cx="359255" cy="359210"/>
          </a:xfrm>
          <a:prstGeom prst="rect">
            <a:avLst/>
          </a:prstGeom>
        </p:spPr>
      </p:pic>
      <p:sp>
        <p:nvSpPr>
          <p:cNvPr id="46" name="Text 35"/>
          <p:cNvSpPr/>
          <p:nvPr/>
        </p:nvSpPr>
        <p:spPr>
          <a:xfrm>
            <a:off x="2032254" y="5156200"/>
            <a:ext cx="2286286"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+30%</a:t>
            </a:r>
            <a:endParaRPr lang="en-US" sz="6000" dirty="0"/>
          </a:p>
        </p:txBody>
      </p:sp>
      <p:sp>
        <p:nvSpPr>
          <p:cNvPr id="47" name="Text 36"/>
          <p:cNvSpPr/>
          <p:nvPr/>
        </p:nvSpPr>
        <p:spPr>
          <a:xfrm>
            <a:off x="2032254" y="6248400"/>
            <a:ext cx="345059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Got maximum efficiency and sustained growth.</a:t>
            </a:r>
            <a:endParaRPr lang="en-US" sz="2000" dirty="0"/>
          </a:p>
        </p:txBody>
      </p:sp>
      <p:graphicFrame>
        <p:nvGraphicFramePr>
          <p:cNvPr id="50" name="Chart 49">
            <a:extLst>
              <a:ext uri="{FF2B5EF4-FFF2-40B4-BE49-F238E27FC236}">
                <a16:creationId xmlns:a16="http://schemas.microsoft.com/office/drawing/2014/main" id="{7956C0D5-5439-4052-A5BA-4ECAA54774D3}"/>
              </a:ext>
            </a:extLst>
          </p:cNvPr>
          <p:cNvGraphicFramePr/>
          <p:nvPr>
            <p:extLst>
              <p:ext uri="{D42A27DB-BD31-4B8C-83A1-F6EECF244321}">
                <p14:modId xmlns:p14="http://schemas.microsoft.com/office/powerpoint/2010/main" val="3472017531"/>
              </p:ext>
            </p:extLst>
          </p:nvPr>
        </p:nvGraphicFramePr>
        <p:xfrm>
          <a:off x="11591637" y="2473960"/>
          <a:ext cx="12114053" cy="8230085"/>
        </p:xfrm>
        <a:graphic>
          <a:graphicData uri="http://schemas.openxmlformats.org/drawingml/2006/chart">
            <c:chart xmlns:c="http://schemas.openxmlformats.org/drawingml/2006/chart" xmlns:r="http://schemas.openxmlformats.org/officeDocument/2006/relationships" r:id="rId1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graphicFrame>
        <p:nvGraphicFramePr>
          <p:cNvPr id="53" name="Chart 52">
            <a:extLst>
              <a:ext uri="{FF2B5EF4-FFF2-40B4-BE49-F238E27FC236}">
                <a16:creationId xmlns:a16="http://schemas.microsoft.com/office/drawing/2014/main" id="{782F2BA6-398E-4E5B-9BEC-6CA45E50BF7B}"/>
              </a:ext>
            </a:extLst>
          </p:cNvPr>
          <p:cNvGraphicFramePr/>
          <p:nvPr>
            <p:extLst>
              <p:ext uri="{D42A27DB-BD31-4B8C-83A1-F6EECF244321}">
                <p14:modId xmlns:p14="http://schemas.microsoft.com/office/powerpoint/2010/main" val="2124313538"/>
              </p:ext>
            </p:extLst>
          </p:nvPr>
        </p:nvGraphicFramePr>
        <p:xfrm>
          <a:off x="1992973" y="3483992"/>
          <a:ext cx="10143541" cy="8230085"/>
        </p:xfrm>
        <a:graphic>
          <a:graphicData uri="http://schemas.openxmlformats.org/drawingml/2006/chart">
            <c:chart xmlns:c="http://schemas.openxmlformats.org/drawingml/2006/chart" xmlns:r="http://schemas.openxmlformats.org/officeDocument/2006/relationships" r:id="rId3"/>
          </a:graphicData>
        </a:graphic>
      </p:graphicFrame>
      <p:sp>
        <p:nvSpPr>
          <p:cNvPr id="2" name="Shape 0"/>
          <p:cNvSpPr/>
          <p:nvPr/>
        </p:nvSpPr>
        <p:spPr>
          <a:xfrm>
            <a:off x="1524191" y="4686300"/>
            <a:ext cx="11317114" cy="6997700"/>
          </a:xfrm>
          <a:prstGeom prst="rect">
            <a:avLst/>
          </a:prstGeom>
          <a:noFill/>
          <a:ln/>
        </p:spPr>
      </p:sp>
      <p:sp>
        <p:nvSpPr>
          <p:cNvPr id="5" name="Text 3"/>
          <p:cNvSpPr/>
          <p:nvPr/>
        </p:nvSpPr>
        <p:spPr>
          <a:xfrm rot="16200000">
            <a:off x="1044563" y="7709488"/>
            <a:ext cx="137600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Annual Spend</a:t>
            </a:r>
            <a:endParaRPr lang="en-US" sz="1600" dirty="0"/>
          </a:p>
        </p:txBody>
      </p:sp>
      <p:sp>
        <p:nvSpPr>
          <p:cNvPr id="6" name="Text 4"/>
          <p:cNvSpPr/>
          <p:nvPr/>
        </p:nvSpPr>
        <p:spPr>
          <a:xfrm rot="16200000">
            <a:off x="11780797" y="7704575"/>
            <a:ext cx="188406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Performance Score</a:t>
            </a:r>
            <a:endParaRPr lang="en-US" sz="1600" dirty="0"/>
          </a:p>
        </p:txBody>
      </p:sp>
      <p:pic>
        <p:nvPicPr>
          <p:cNvPr id="15" name="Image 4"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6044" y="7029450"/>
            <a:ext cx="10364495" cy="12700"/>
          </a:xfrm>
          <a:prstGeom prst="rect">
            <a:avLst/>
          </a:prstGeom>
        </p:spPr>
      </p:pic>
      <p:sp>
        <p:nvSpPr>
          <p:cNvPr id="16" name="Shape 9"/>
          <p:cNvSpPr/>
          <p:nvPr/>
        </p:nvSpPr>
        <p:spPr>
          <a:xfrm>
            <a:off x="11431429" y="4749800"/>
            <a:ext cx="635079" cy="635000"/>
          </a:xfrm>
          <a:prstGeom prst="ellipse">
            <a:avLst/>
          </a:prstGeom>
          <a:solidFill>
            <a:srgbClr val="E7E7E7">
              <a:alpha val="100000"/>
            </a:srgbClr>
          </a:solidFill>
          <a:ln/>
        </p:spPr>
      </p:sp>
      <p:pic>
        <p:nvPicPr>
          <p:cNvPr id="18" name="Image 6"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56044" y="11220450"/>
            <a:ext cx="10364495" cy="12700"/>
          </a:xfrm>
          <a:prstGeom prst="rect">
            <a:avLst/>
          </a:prstGeom>
        </p:spPr>
      </p:pic>
      <p:pic>
        <p:nvPicPr>
          <p:cNvPr id="19" name="Image 7"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49694" y="4749800"/>
            <a:ext cx="12702" cy="6477000"/>
          </a:xfrm>
          <a:prstGeom prst="rect">
            <a:avLst/>
          </a:prstGeom>
        </p:spPr>
      </p:pic>
      <p:pic>
        <p:nvPicPr>
          <p:cNvPr id="20" name="Image 8" descr=" "/>
          <p:cNvPicPr>
            <a:picLocks noChangeAspect="1"/>
          </p:cNvPicPr>
          <p:nvPr/>
        </p:nvPicPr>
        <p:blipFill>
          <a:blip r:embed="rId8">
            <a:extLst>
              <a:ext uri="{96DAC541-7B7A-43D3-8B79-37D633B846F1}">
                <asvg:svgBlip xmlns:asvg="http://schemas.microsoft.com/office/drawing/2016/SVG/main" r:embed="rId10"/>
              </a:ext>
            </a:extLst>
          </a:blip>
          <a:stretch>
            <a:fillRect/>
          </a:stretch>
        </p:blipFill>
        <p:spPr>
          <a:xfrm>
            <a:off x="12314189" y="4749800"/>
            <a:ext cx="12702" cy="6477000"/>
          </a:xfrm>
          <a:prstGeom prst="rect">
            <a:avLst/>
          </a:prstGeom>
        </p:spPr>
      </p:pic>
      <p:sp>
        <p:nvSpPr>
          <p:cNvPr id="27" name="Shape 15"/>
          <p:cNvSpPr/>
          <p:nvPr/>
        </p:nvSpPr>
        <p:spPr>
          <a:xfrm>
            <a:off x="8446556" y="6781800"/>
            <a:ext cx="1397175" cy="508000"/>
          </a:xfrm>
          <a:prstGeom prst="roundRect">
            <a:avLst>
              <a:gd name="adj" fmla="val 64800"/>
            </a:avLst>
          </a:prstGeom>
          <a:solidFill>
            <a:srgbClr val="FF6464">
              <a:alpha val="100000"/>
            </a:srgbClr>
          </a:solidFill>
          <a:ln/>
        </p:spPr>
      </p:sp>
      <p:sp>
        <p:nvSpPr>
          <p:cNvPr id="28" name="Text 16"/>
          <p:cNvSpPr/>
          <p:nvPr/>
        </p:nvSpPr>
        <p:spPr>
          <a:xfrm>
            <a:off x="8751394" y="6883400"/>
            <a:ext cx="8425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Average</a:t>
            </a:r>
            <a:endParaRPr lang="en-US" sz="1600" dirty="0"/>
          </a:p>
        </p:txBody>
      </p:sp>
      <p:sp>
        <p:nvSpPr>
          <p:cNvPr id="29" name="Shape 17"/>
          <p:cNvSpPr/>
          <p:nvPr/>
        </p:nvSpPr>
        <p:spPr>
          <a:xfrm>
            <a:off x="14632229" y="8407400"/>
            <a:ext cx="7354219" cy="3276600"/>
          </a:xfrm>
          <a:prstGeom prst="rect">
            <a:avLst/>
          </a:prstGeom>
          <a:noFill/>
          <a:ln/>
        </p:spPr>
      </p:sp>
      <p:pic>
        <p:nvPicPr>
          <p:cNvPr id="30"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632229" y="8407400"/>
            <a:ext cx="7354219" cy="3276600"/>
          </a:xfrm>
          <a:prstGeom prst="rect">
            <a:avLst/>
          </a:prstGeom>
        </p:spPr>
      </p:pic>
      <p:pic>
        <p:nvPicPr>
          <p:cNvPr id="31" name="Image 11"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013276" y="8788400"/>
            <a:ext cx="2514914" cy="2514600"/>
          </a:xfrm>
          <a:prstGeom prst="rect">
            <a:avLst/>
          </a:prstGeom>
        </p:spPr>
      </p:pic>
      <p:graphicFrame>
        <p:nvGraphicFramePr>
          <p:cNvPr id="51" name="Chart 50">
            <a:extLst>
              <a:ext uri="{FF2B5EF4-FFF2-40B4-BE49-F238E27FC236}">
                <a16:creationId xmlns:a16="http://schemas.microsoft.com/office/drawing/2014/main" id="{0648EABC-B35E-46A8-BC20-0B46D3F5F8B2}"/>
              </a:ext>
            </a:extLst>
          </p:cNvPr>
          <p:cNvGraphicFramePr/>
          <p:nvPr>
            <p:extLst>
              <p:ext uri="{D42A27DB-BD31-4B8C-83A1-F6EECF244321}">
                <p14:modId xmlns:p14="http://schemas.microsoft.com/office/powerpoint/2010/main" val="2411944884"/>
              </p:ext>
            </p:extLst>
          </p:nvPr>
        </p:nvGraphicFramePr>
        <p:xfrm>
          <a:off x="15013276" y="8619744"/>
          <a:ext cx="2516276" cy="2849372"/>
        </p:xfrm>
        <a:graphic>
          <a:graphicData uri="http://schemas.openxmlformats.org/drawingml/2006/chart">
            <c:chart xmlns:c="http://schemas.openxmlformats.org/drawingml/2006/chart" xmlns:r="http://schemas.openxmlformats.org/officeDocument/2006/relationships" r:id="rId15"/>
          </a:graphicData>
        </a:graphic>
      </p:graphicFrame>
      <p:sp>
        <p:nvSpPr>
          <p:cNvPr id="35" name="Text 18"/>
          <p:cNvSpPr/>
          <p:nvPr/>
        </p:nvSpPr>
        <p:spPr>
          <a:xfrm>
            <a:off x="15474767" y="9588500"/>
            <a:ext cx="1579231"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Procurement Savings Breakdown</a:t>
            </a:r>
            <a:endParaRPr lang="en-US" sz="1600" dirty="0"/>
          </a:p>
        </p:txBody>
      </p:sp>
      <p:sp>
        <p:nvSpPr>
          <p:cNvPr id="36" name="Shape 19"/>
          <p:cNvSpPr/>
          <p:nvPr/>
        </p:nvSpPr>
        <p:spPr>
          <a:xfrm>
            <a:off x="16664483" y="8788400"/>
            <a:ext cx="635079" cy="635000"/>
          </a:xfrm>
          <a:prstGeom prst="ellipse">
            <a:avLst/>
          </a:prstGeom>
          <a:solidFill>
            <a:srgbClr val="E7E7E7">
              <a:alpha val="100000"/>
            </a:srgbClr>
          </a:solidFill>
          <a:ln/>
        </p:spPr>
      </p:sp>
      <p:sp>
        <p:nvSpPr>
          <p:cNvPr id="38" name="Shape 20"/>
          <p:cNvSpPr/>
          <p:nvPr/>
        </p:nvSpPr>
        <p:spPr>
          <a:xfrm>
            <a:off x="18315689" y="9398000"/>
            <a:ext cx="101613" cy="228600"/>
          </a:xfrm>
          <a:prstGeom prst="roundRect">
            <a:avLst>
              <a:gd name="adj" fmla="val 125984"/>
            </a:avLst>
          </a:prstGeom>
          <a:solidFill>
            <a:srgbClr val="FF4D4D">
              <a:alpha val="100000"/>
            </a:srgbClr>
          </a:solidFill>
          <a:ln/>
        </p:spPr>
      </p:sp>
      <p:sp>
        <p:nvSpPr>
          <p:cNvPr id="39" name="Text 21"/>
          <p:cNvSpPr/>
          <p:nvPr/>
        </p:nvSpPr>
        <p:spPr>
          <a:xfrm>
            <a:off x="18480810" y="9359900"/>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40%</a:t>
            </a:r>
            <a:endParaRPr lang="en-US" sz="1600" dirty="0"/>
          </a:p>
        </p:txBody>
      </p:sp>
      <p:sp>
        <p:nvSpPr>
          <p:cNvPr id="40" name="Text 22"/>
          <p:cNvSpPr/>
          <p:nvPr/>
        </p:nvSpPr>
        <p:spPr>
          <a:xfrm>
            <a:off x="18976172" y="9359900"/>
            <a:ext cx="234132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Negotiating Better Deals</a:t>
            </a:r>
            <a:endParaRPr lang="en-US" sz="1600" dirty="0"/>
          </a:p>
        </p:txBody>
      </p:sp>
      <p:sp>
        <p:nvSpPr>
          <p:cNvPr id="41" name="Shape 23"/>
          <p:cNvSpPr/>
          <p:nvPr/>
        </p:nvSpPr>
        <p:spPr>
          <a:xfrm>
            <a:off x="18315689" y="9931400"/>
            <a:ext cx="101613" cy="228600"/>
          </a:xfrm>
          <a:prstGeom prst="roundRect">
            <a:avLst>
              <a:gd name="adj" fmla="val 125984"/>
            </a:avLst>
          </a:prstGeom>
          <a:solidFill>
            <a:srgbClr val="FF9D9D">
              <a:alpha val="100000"/>
            </a:srgbClr>
          </a:solidFill>
          <a:ln/>
        </p:spPr>
      </p:sp>
      <p:sp>
        <p:nvSpPr>
          <p:cNvPr id="42" name="Text 24"/>
          <p:cNvSpPr/>
          <p:nvPr/>
        </p:nvSpPr>
        <p:spPr>
          <a:xfrm>
            <a:off x="18480810" y="98933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35%</a:t>
            </a:r>
            <a:endParaRPr lang="en-US" sz="1600" dirty="0"/>
          </a:p>
        </p:txBody>
      </p:sp>
      <p:sp>
        <p:nvSpPr>
          <p:cNvPr id="43" name="Text 25"/>
          <p:cNvSpPr/>
          <p:nvPr/>
        </p:nvSpPr>
        <p:spPr>
          <a:xfrm>
            <a:off x="18963470" y="9893300"/>
            <a:ext cx="149032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Bulk Purchases</a:t>
            </a:r>
            <a:endParaRPr lang="en-US" sz="1600" dirty="0"/>
          </a:p>
        </p:txBody>
      </p:sp>
      <p:sp>
        <p:nvSpPr>
          <p:cNvPr id="44" name="Shape 26"/>
          <p:cNvSpPr/>
          <p:nvPr/>
        </p:nvSpPr>
        <p:spPr>
          <a:xfrm>
            <a:off x="18315689" y="10464800"/>
            <a:ext cx="101613" cy="228600"/>
          </a:xfrm>
          <a:prstGeom prst="roundRect">
            <a:avLst>
              <a:gd name="adj" fmla="val 125984"/>
            </a:avLst>
          </a:prstGeom>
          <a:solidFill>
            <a:srgbClr val="FFDFDF">
              <a:alpha val="100000"/>
            </a:srgbClr>
          </a:solidFill>
          <a:ln/>
        </p:spPr>
      </p:sp>
      <p:sp>
        <p:nvSpPr>
          <p:cNvPr id="45" name="Text 27"/>
          <p:cNvSpPr/>
          <p:nvPr/>
        </p:nvSpPr>
        <p:spPr>
          <a:xfrm>
            <a:off x="18480810" y="104267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25%</a:t>
            </a:r>
            <a:endParaRPr lang="en-US" sz="1600" dirty="0"/>
          </a:p>
        </p:txBody>
      </p:sp>
      <p:sp>
        <p:nvSpPr>
          <p:cNvPr id="46" name="Text 28"/>
          <p:cNvSpPr/>
          <p:nvPr/>
        </p:nvSpPr>
        <p:spPr>
          <a:xfrm>
            <a:off x="18963470" y="10426700"/>
            <a:ext cx="178245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Strategic Sourcing</a:t>
            </a:r>
            <a:endParaRPr lang="en-US" sz="1600" dirty="0"/>
          </a:p>
        </p:txBody>
      </p:sp>
      <p:sp>
        <p:nvSpPr>
          <p:cNvPr id="47" name="Text 29"/>
          <p:cNvSpPr/>
          <p:nvPr/>
        </p:nvSpPr>
        <p:spPr>
          <a:xfrm>
            <a:off x="14632229" y="2222500"/>
            <a:ext cx="8484660" cy="2540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Improving Supplier Relations and Procurement</a:t>
            </a:r>
            <a:endParaRPr lang="en-US" sz="6000" dirty="0"/>
          </a:p>
        </p:txBody>
      </p:sp>
      <p:sp>
        <p:nvSpPr>
          <p:cNvPr id="48" name="Text 30"/>
          <p:cNvSpPr/>
          <p:nvPr/>
        </p:nvSpPr>
        <p:spPr>
          <a:xfrm>
            <a:off x="14632229" y="4762500"/>
            <a:ext cx="8315306"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Building robust supplier partnerships and implementing innovative procurement strategies not only help in cutting down costs but also enhance the reliability of the supply chain.</a:t>
            </a:r>
            <a:endParaRPr lang="en-US" sz="2000" dirty="0"/>
          </a:p>
        </p:txBody>
      </p:sp>
      <p:sp>
        <p:nvSpPr>
          <p:cNvPr id="49" name="Text 31"/>
          <p:cNvSpPr/>
          <p:nvPr/>
        </p:nvSpPr>
        <p:spPr>
          <a:xfrm>
            <a:off x="2078793" y="2274295"/>
            <a:ext cx="127862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BM Plex Mono Bold" pitchFamily="34" charset="0"/>
                <a:ea typeface="IBM Plex Mono Bold" pitchFamily="34" charset="-122"/>
                <a:cs typeface="IBM Plex Mono Bold" pitchFamily="34" charset="-120"/>
              </a:rPr>
              <a:t>Saffront</a:t>
            </a:r>
            <a:endParaRPr lang="en-US" sz="2000" dirty="0"/>
          </a:p>
        </p:txBody>
      </p:sp>
      <p:pic>
        <p:nvPicPr>
          <p:cNvPr id="50" name="Image 16"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21338" y="2252749"/>
            <a:ext cx="356041" cy="424089"/>
          </a:xfrm>
          <a:prstGeom prst="rect">
            <a:avLst/>
          </a:prstGeom>
        </p:spPr>
      </p:pic>
      <p:pic>
        <p:nvPicPr>
          <p:cNvPr id="54" name="Image 0" descr=" ">
            <a:extLst>
              <a:ext uri="{FF2B5EF4-FFF2-40B4-BE49-F238E27FC236}">
                <a16:creationId xmlns:a16="http://schemas.microsoft.com/office/drawing/2014/main" id="{F3FF50EB-C0D6-4564-B8B9-1189F69631E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577578" y="4894609"/>
            <a:ext cx="359255" cy="359210"/>
          </a:xfrm>
          <a:prstGeom prst="rect">
            <a:avLst/>
          </a:prstGeom>
        </p:spPr>
      </p:pic>
      <p:pic>
        <p:nvPicPr>
          <p:cNvPr id="55" name="Image 0" descr=" ">
            <a:extLst>
              <a:ext uri="{FF2B5EF4-FFF2-40B4-BE49-F238E27FC236}">
                <a16:creationId xmlns:a16="http://schemas.microsoft.com/office/drawing/2014/main" id="{AA3DCB13-B4F1-4832-9A0A-55D259FC589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813969" y="8919057"/>
            <a:ext cx="359255" cy="359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graphicFrame>
        <p:nvGraphicFramePr>
          <p:cNvPr id="40" name="Chart 39">
            <a:extLst>
              <a:ext uri="{FF2B5EF4-FFF2-40B4-BE49-F238E27FC236}">
                <a16:creationId xmlns:a16="http://schemas.microsoft.com/office/drawing/2014/main" id="{488BB487-7667-4F9A-BAF1-7CF80D92533B}"/>
              </a:ext>
            </a:extLst>
          </p:cNvPr>
          <p:cNvGraphicFramePr/>
          <p:nvPr>
            <p:extLst>
              <p:ext uri="{D42A27DB-BD31-4B8C-83A1-F6EECF244321}">
                <p14:modId xmlns:p14="http://schemas.microsoft.com/office/powerpoint/2010/main" val="1299562981"/>
              </p:ext>
            </p:extLst>
          </p:nvPr>
        </p:nvGraphicFramePr>
        <p:xfrm>
          <a:off x="1262484" y="4501662"/>
          <a:ext cx="10931103" cy="733864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0"/>
          <p:cNvSpPr/>
          <p:nvPr/>
        </p:nvSpPr>
        <p:spPr>
          <a:xfrm>
            <a:off x="1524191" y="2159000"/>
            <a:ext cx="819252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Leveraging Technology for Cost Reduction</a:t>
            </a:r>
            <a:endParaRPr lang="en-US" sz="6000" dirty="0"/>
          </a:p>
        </p:txBody>
      </p:sp>
      <p:sp>
        <p:nvSpPr>
          <p:cNvPr id="3" name="Text 1"/>
          <p:cNvSpPr/>
          <p:nvPr/>
        </p:nvSpPr>
        <p:spPr>
          <a:xfrm>
            <a:off x="13793924" y="2349500"/>
            <a:ext cx="7667525"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Investing in modern technologies like AI, automation, and cloud solutions leads to operational efficiency, reduced errors, and lower long-term costs.</a:t>
            </a:r>
            <a:endParaRPr lang="en-US" sz="2000" dirty="0"/>
          </a:p>
        </p:txBody>
      </p:sp>
      <p:sp>
        <p:nvSpPr>
          <p:cNvPr id="4" name="Shape 2"/>
          <p:cNvSpPr/>
          <p:nvPr/>
        </p:nvSpPr>
        <p:spPr>
          <a:xfrm>
            <a:off x="1524191" y="4876800"/>
            <a:ext cx="10542318" cy="6769100"/>
          </a:xfrm>
          <a:prstGeom prst="rect">
            <a:avLst/>
          </a:prstGeom>
          <a:noFill/>
          <a:ln/>
        </p:spPr>
      </p:sp>
      <p:grpSp>
        <p:nvGrpSpPr>
          <p:cNvPr id="44" name="Group 43">
            <a:extLst>
              <a:ext uri="{FF2B5EF4-FFF2-40B4-BE49-F238E27FC236}">
                <a16:creationId xmlns:a16="http://schemas.microsoft.com/office/drawing/2014/main" id="{7AEC2323-BCF6-4FB0-A02B-31F392080520}"/>
              </a:ext>
            </a:extLst>
          </p:cNvPr>
          <p:cNvGrpSpPr/>
          <p:nvPr/>
        </p:nvGrpSpPr>
        <p:grpSpPr>
          <a:xfrm>
            <a:off x="1524191" y="5821680"/>
            <a:ext cx="2493745" cy="1134533"/>
            <a:chOff x="1524191" y="5562600"/>
            <a:chExt cx="2493745" cy="1134533"/>
          </a:xfrm>
        </p:grpSpPr>
        <p:sp>
          <p:nvSpPr>
            <p:cNvPr id="6" name="Text 3"/>
            <p:cNvSpPr/>
            <p:nvPr/>
          </p:nvSpPr>
          <p:spPr>
            <a:xfrm>
              <a:off x="1524191" y="5562600"/>
              <a:ext cx="18078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Customer Support</a:t>
              </a:r>
              <a:endParaRPr lang="en-US" sz="1600" dirty="0"/>
            </a:p>
          </p:txBody>
        </p:sp>
        <p:sp>
          <p:nvSpPr>
            <p:cNvPr id="7" name="Text 4"/>
            <p:cNvSpPr/>
            <p:nvPr/>
          </p:nvSpPr>
          <p:spPr>
            <a:xfrm>
              <a:off x="1524191" y="5969000"/>
              <a:ext cx="1706247"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$350K</a:t>
              </a:r>
              <a:endParaRPr lang="en-US" sz="4000" dirty="0"/>
            </a:p>
          </p:txBody>
        </p:sp>
        <p:sp>
          <p:nvSpPr>
            <p:cNvPr id="8" name="Text 5"/>
            <p:cNvSpPr/>
            <p:nvPr/>
          </p:nvSpPr>
          <p:spPr>
            <a:xfrm>
              <a:off x="3518340" y="6197600"/>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30%</a:t>
              </a:r>
              <a:endParaRPr lang="en-US" sz="1600" dirty="0"/>
            </a:p>
          </p:txBody>
        </p:sp>
      </p:grpSp>
      <p:grpSp>
        <p:nvGrpSpPr>
          <p:cNvPr id="43" name="Group 42">
            <a:extLst>
              <a:ext uri="{FF2B5EF4-FFF2-40B4-BE49-F238E27FC236}">
                <a16:creationId xmlns:a16="http://schemas.microsoft.com/office/drawing/2014/main" id="{2AB734E0-9D4D-4769-B96A-F6D6384ACCB3}"/>
              </a:ext>
            </a:extLst>
          </p:cNvPr>
          <p:cNvGrpSpPr/>
          <p:nvPr/>
        </p:nvGrpSpPr>
        <p:grpSpPr>
          <a:xfrm>
            <a:off x="4199149" y="7035800"/>
            <a:ext cx="2506446" cy="1134533"/>
            <a:chOff x="4229629" y="6426200"/>
            <a:chExt cx="2506446" cy="1134533"/>
          </a:xfrm>
        </p:grpSpPr>
        <p:sp>
          <p:nvSpPr>
            <p:cNvPr id="10" name="Text 6"/>
            <p:cNvSpPr/>
            <p:nvPr/>
          </p:nvSpPr>
          <p:spPr>
            <a:xfrm>
              <a:off x="4229629" y="6832600"/>
              <a:ext cx="1617335"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$180K</a:t>
              </a:r>
              <a:endParaRPr lang="en-US" sz="4000" dirty="0"/>
            </a:p>
          </p:txBody>
        </p:sp>
        <p:sp>
          <p:nvSpPr>
            <p:cNvPr id="12" name="Text 7"/>
            <p:cNvSpPr/>
            <p:nvPr/>
          </p:nvSpPr>
          <p:spPr>
            <a:xfrm>
              <a:off x="4229629" y="6426200"/>
              <a:ext cx="160463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Data Processing</a:t>
              </a:r>
              <a:endParaRPr lang="en-US" sz="1600" dirty="0"/>
            </a:p>
          </p:txBody>
        </p:sp>
        <p:sp>
          <p:nvSpPr>
            <p:cNvPr id="13" name="Text 8"/>
            <p:cNvSpPr/>
            <p:nvPr/>
          </p:nvSpPr>
          <p:spPr>
            <a:xfrm>
              <a:off x="6236479" y="7086600"/>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40%</a:t>
              </a:r>
              <a:endParaRPr lang="en-US" sz="1600" dirty="0"/>
            </a:p>
          </p:txBody>
        </p:sp>
      </p:grpSp>
      <p:grpSp>
        <p:nvGrpSpPr>
          <p:cNvPr id="41" name="Group 40">
            <a:extLst>
              <a:ext uri="{FF2B5EF4-FFF2-40B4-BE49-F238E27FC236}">
                <a16:creationId xmlns:a16="http://schemas.microsoft.com/office/drawing/2014/main" id="{71DF915F-912E-49C1-9CD1-DDC07C5A1846}"/>
              </a:ext>
            </a:extLst>
          </p:cNvPr>
          <p:cNvGrpSpPr/>
          <p:nvPr/>
        </p:nvGrpSpPr>
        <p:grpSpPr>
          <a:xfrm>
            <a:off x="6871568" y="4739640"/>
            <a:ext cx="2493746" cy="1134533"/>
            <a:chOff x="6947768" y="4876800"/>
            <a:chExt cx="2493746" cy="1134533"/>
          </a:xfrm>
        </p:grpSpPr>
        <p:sp>
          <p:nvSpPr>
            <p:cNvPr id="15" name="Text 9"/>
            <p:cNvSpPr/>
            <p:nvPr/>
          </p:nvSpPr>
          <p:spPr>
            <a:xfrm>
              <a:off x="6947768" y="5283200"/>
              <a:ext cx="1706247"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$420K</a:t>
              </a:r>
              <a:endParaRPr lang="en-US" sz="4000" dirty="0"/>
            </a:p>
          </p:txBody>
        </p:sp>
        <p:sp>
          <p:nvSpPr>
            <p:cNvPr id="18" name="Text 11"/>
            <p:cNvSpPr/>
            <p:nvPr/>
          </p:nvSpPr>
          <p:spPr>
            <a:xfrm>
              <a:off x="6947768" y="4876800"/>
              <a:ext cx="157923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IT Infrastructure</a:t>
              </a:r>
              <a:endParaRPr lang="en-US" sz="1600" dirty="0"/>
            </a:p>
          </p:txBody>
        </p:sp>
        <p:sp>
          <p:nvSpPr>
            <p:cNvPr id="19" name="Text 12"/>
            <p:cNvSpPr/>
            <p:nvPr/>
          </p:nvSpPr>
          <p:spPr>
            <a:xfrm>
              <a:off x="8941918" y="5537200"/>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30%</a:t>
              </a:r>
              <a:endParaRPr lang="en-US" sz="1600" dirty="0"/>
            </a:p>
          </p:txBody>
        </p:sp>
      </p:grpSp>
      <p:grpSp>
        <p:nvGrpSpPr>
          <p:cNvPr id="42" name="Group 41">
            <a:extLst>
              <a:ext uri="{FF2B5EF4-FFF2-40B4-BE49-F238E27FC236}">
                <a16:creationId xmlns:a16="http://schemas.microsoft.com/office/drawing/2014/main" id="{62FBF5A5-18F9-4449-8177-9065A28B5F70}"/>
              </a:ext>
            </a:extLst>
          </p:cNvPr>
          <p:cNvGrpSpPr/>
          <p:nvPr/>
        </p:nvGrpSpPr>
        <p:grpSpPr>
          <a:xfrm>
            <a:off x="9490643" y="8234680"/>
            <a:ext cx="2481044" cy="1134533"/>
            <a:chOff x="9627803" y="8585200"/>
            <a:chExt cx="2481044" cy="1134533"/>
          </a:xfrm>
        </p:grpSpPr>
        <p:sp>
          <p:nvSpPr>
            <p:cNvPr id="21" name="Text 13"/>
            <p:cNvSpPr/>
            <p:nvPr/>
          </p:nvSpPr>
          <p:spPr>
            <a:xfrm>
              <a:off x="9627803" y="8991600"/>
              <a:ext cx="1693545"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$200K</a:t>
              </a:r>
              <a:endParaRPr lang="en-US" sz="4000" dirty="0"/>
            </a:p>
          </p:txBody>
        </p:sp>
        <p:sp>
          <p:nvSpPr>
            <p:cNvPr id="22" name="Text 14"/>
            <p:cNvSpPr/>
            <p:nvPr/>
          </p:nvSpPr>
          <p:spPr>
            <a:xfrm>
              <a:off x="9627803" y="8585200"/>
              <a:ext cx="12870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Procurement</a:t>
              </a:r>
              <a:endParaRPr lang="en-US" sz="1600" dirty="0"/>
            </a:p>
          </p:txBody>
        </p:sp>
        <p:sp>
          <p:nvSpPr>
            <p:cNvPr id="24" name="Text 15"/>
            <p:cNvSpPr/>
            <p:nvPr/>
          </p:nvSpPr>
          <p:spPr>
            <a:xfrm>
              <a:off x="11621953" y="92456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20%</a:t>
              </a:r>
              <a:endParaRPr lang="en-US" sz="1600" dirty="0"/>
            </a:p>
          </p:txBody>
        </p:sp>
      </p:grpSp>
      <p:sp>
        <p:nvSpPr>
          <p:cNvPr id="26" name="Shape 16"/>
          <p:cNvSpPr/>
          <p:nvPr/>
        </p:nvSpPr>
        <p:spPr>
          <a:xfrm>
            <a:off x="13793924" y="6273800"/>
            <a:ext cx="6058657" cy="1562100"/>
          </a:xfrm>
          <a:prstGeom prst="rect">
            <a:avLst/>
          </a:prstGeom>
          <a:noFill/>
          <a:ln/>
        </p:spPr>
      </p:sp>
      <p:sp>
        <p:nvSpPr>
          <p:cNvPr id="27" name="Shape 17"/>
          <p:cNvSpPr/>
          <p:nvPr/>
        </p:nvSpPr>
        <p:spPr>
          <a:xfrm rot="10800000">
            <a:off x="13793930" y="6273800"/>
            <a:ext cx="6058657" cy="1562100"/>
          </a:xfrm>
          <a:prstGeom prst="roundRect">
            <a:avLst>
              <a:gd name="adj" fmla="val 9951"/>
            </a:avLst>
          </a:prstGeom>
          <a:solidFill>
            <a:srgbClr val="FF4D4D">
              <a:alpha val="100000"/>
            </a:srgbClr>
          </a:solidFill>
          <a:ln/>
        </p:spPr>
      </p:sp>
      <p:sp>
        <p:nvSpPr>
          <p:cNvPr id="28" name="Text 18"/>
          <p:cNvSpPr/>
          <p:nvPr/>
        </p:nvSpPr>
        <p:spPr>
          <a:xfrm>
            <a:off x="14174972" y="66548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AI &amp; Machine Learning</a:t>
            </a:r>
            <a:endParaRPr lang="en-US" sz="2000" dirty="0"/>
          </a:p>
        </p:txBody>
      </p:sp>
      <p:sp>
        <p:nvSpPr>
          <p:cNvPr id="29" name="Text 19"/>
          <p:cNvSpPr/>
          <p:nvPr/>
        </p:nvSpPr>
        <p:spPr>
          <a:xfrm>
            <a:off x="14174972" y="71289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FFDFDF">
                    <a:alpha val="100000"/>
                  </a:srgbClr>
                </a:solidFill>
                <a:latin typeface="Inter Regular" pitchFamily="34" charset="0"/>
                <a:ea typeface="Inter Regular" pitchFamily="34" charset="-122"/>
                <a:cs typeface="Inter Regular" pitchFamily="34" charset="-120"/>
              </a:rPr>
              <a:t>Predictive maintenance, demand forecasting</a:t>
            </a:r>
            <a:endParaRPr lang="en-US" sz="1600" dirty="0"/>
          </a:p>
        </p:txBody>
      </p:sp>
      <p:sp>
        <p:nvSpPr>
          <p:cNvPr id="31" name="Shape 20"/>
          <p:cNvSpPr/>
          <p:nvPr/>
        </p:nvSpPr>
        <p:spPr>
          <a:xfrm>
            <a:off x="13793924" y="8178800"/>
            <a:ext cx="6058657" cy="1562100"/>
          </a:xfrm>
          <a:prstGeom prst="rect">
            <a:avLst/>
          </a:prstGeom>
          <a:noFill/>
          <a:ln/>
        </p:spPr>
      </p:sp>
      <p:pic>
        <p:nvPicPr>
          <p:cNvPr id="32" name="Image 9"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793930" y="8178800"/>
            <a:ext cx="6058657" cy="1562100"/>
          </a:xfrm>
          <a:prstGeom prst="rect">
            <a:avLst/>
          </a:prstGeom>
        </p:spPr>
      </p:pic>
      <p:sp>
        <p:nvSpPr>
          <p:cNvPr id="33" name="Text 21"/>
          <p:cNvSpPr/>
          <p:nvPr/>
        </p:nvSpPr>
        <p:spPr>
          <a:xfrm>
            <a:off x="14174972" y="85598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Automation Tools</a:t>
            </a:r>
            <a:endParaRPr lang="en-US" sz="2000" dirty="0"/>
          </a:p>
        </p:txBody>
      </p:sp>
      <p:sp>
        <p:nvSpPr>
          <p:cNvPr id="34" name="Text 22"/>
          <p:cNvSpPr/>
          <p:nvPr/>
        </p:nvSpPr>
        <p:spPr>
          <a:xfrm>
            <a:off x="14174972" y="90339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Robotic process automation (RPA), workflow automation</a:t>
            </a:r>
            <a:endParaRPr lang="en-US" sz="1600" dirty="0"/>
          </a:p>
        </p:txBody>
      </p:sp>
      <p:sp>
        <p:nvSpPr>
          <p:cNvPr id="35" name="Shape 23"/>
          <p:cNvSpPr/>
          <p:nvPr/>
        </p:nvSpPr>
        <p:spPr>
          <a:xfrm>
            <a:off x="13793924" y="10083800"/>
            <a:ext cx="6058657" cy="1562100"/>
          </a:xfrm>
          <a:prstGeom prst="rect">
            <a:avLst/>
          </a:prstGeom>
          <a:noFill/>
          <a:ln/>
        </p:spPr>
      </p:sp>
      <p:pic>
        <p:nvPicPr>
          <p:cNvPr id="36" name="Image 10" descr=" "/>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13793930" y="10083800"/>
            <a:ext cx="6058657" cy="1562100"/>
          </a:xfrm>
          <a:prstGeom prst="rect">
            <a:avLst/>
          </a:prstGeom>
        </p:spPr>
      </p:pic>
      <p:sp>
        <p:nvSpPr>
          <p:cNvPr id="37" name="Text 24"/>
          <p:cNvSpPr/>
          <p:nvPr/>
        </p:nvSpPr>
        <p:spPr>
          <a:xfrm>
            <a:off x="14174972" y="104648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Cloud Solutions</a:t>
            </a:r>
            <a:endParaRPr lang="en-US" sz="2000" dirty="0"/>
          </a:p>
        </p:txBody>
      </p:sp>
      <p:sp>
        <p:nvSpPr>
          <p:cNvPr id="38" name="Text 25"/>
          <p:cNvSpPr/>
          <p:nvPr/>
        </p:nvSpPr>
        <p:spPr>
          <a:xfrm>
            <a:off x="14174972" y="109389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Cloud hosting and SaaS replace on-premise systems.</a:t>
            </a:r>
            <a:endParaRPr lang="en-US" sz="1600" dirty="0"/>
          </a:p>
        </p:txBody>
      </p:sp>
      <p:grpSp>
        <p:nvGrpSpPr>
          <p:cNvPr id="47" name="Group 46">
            <a:extLst>
              <a:ext uri="{FF2B5EF4-FFF2-40B4-BE49-F238E27FC236}">
                <a16:creationId xmlns:a16="http://schemas.microsoft.com/office/drawing/2014/main" id="{DDEDCF4D-CEE7-4DF5-88C8-FE5FB3F6CAA5}"/>
              </a:ext>
            </a:extLst>
          </p:cNvPr>
          <p:cNvGrpSpPr/>
          <p:nvPr/>
        </p:nvGrpSpPr>
        <p:grpSpPr>
          <a:xfrm>
            <a:off x="19288807" y="6441306"/>
            <a:ext cx="372580" cy="372533"/>
            <a:chOff x="4839305" y="4368800"/>
            <a:chExt cx="558870" cy="558800"/>
          </a:xfrm>
        </p:grpSpPr>
        <p:sp>
          <p:nvSpPr>
            <p:cNvPr id="45" name="Shape 34">
              <a:extLst>
                <a:ext uri="{FF2B5EF4-FFF2-40B4-BE49-F238E27FC236}">
                  <a16:creationId xmlns:a16="http://schemas.microsoft.com/office/drawing/2014/main" id="{5549DF83-ACA9-4C09-9654-AEB0B0D30220}"/>
                </a:ext>
              </a:extLst>
            </p:cNvPr>
            <p:cNvSpPr/>
            <p:nvPr/>
          </p:nvSpPr>
          <p:spPr>
            <a:xfrm>
              <a:off x="4839305" y="4368800"/>
              <a:ext cx="558870" cy="558800"/>
            </a:xfrm>
            <a:prstGeom prst="ellipse">
              <a:avLst/>
            </a:prstGeom>
            <a:solidFill>
              <a:srgbClr val="000000">
                <a:alpha val="100000"/>
              </a:srgbClr>
            </a:solidFill>
            <a:ln/>
          </p:spPr>
        </p:sp>
        <p:pic>
          <p:nvPicPr>
            <p:cNvPr id="46" name="Image 8" descr=" ">
              <a:extLst>
                <a:ext uri="{FF2B5EF4-FFF2-40B4-BE49-F238E27FC236}">
                  <a16:creationId xmlns:a16="http://schemas.microsoft.com/office/drawing/2014/main" id="{39253CE4-D602-4DD6-ABC3-E682D603BD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40917" y="4470400"/>
              <a:ext cx="359255" cy="359210"/>
            </a:xfrm>
            <a:prstGeom prst="rect">
              <a:avLst/>
            </a:prstGeom>
          </p:spPr>
        </p:pic>
      </p:grpSp>
      <p:pic>
        <p:nvPicPr>
          <p:cNvPr id="48" name="Image 8" descr=" ">
            <a:extLst>
              <a:ext uri="{FF2B5EF4-FFF2-40B4-BE49-F238E27FC236}">
                <a16:creationId xmlns:a16="http://schemas.microsoft.com/office/drawing/2014/main" id="{664FE54E-4910-4705-A915-1FB8BD226BB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a:off x="11285220" y="8965061"/>
            <a:ext cx="171670" cy="175016"/>
          </a:xfrm>
          <a:prstGeom prst="rect">
            <a:avLst/>
          </a:prstGeom>
        </p:spPr>
      </p:pic>
      <p:pic>
        <p:nvPicPr>
          <p:cNvPr id="50" name="Image 8" descr=" ">
            <a:extLst>
              <a:ext uri="{FF2B5EF4-FFF2-40B4-BE49-F238E27FC236}">
                <a16:creationId xmlns:a16="http://schemas.microsoft.com/office/drawing/2014/main" id="{D50E67A5-F92A-43A4-B369-3D37A45831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a:off x="8652805" y="5464318"/>
            <a:ext cx="171670" cy="175016"/>
          </a:xfrm>
          <a:prstGeom prst="rect">
            <a:avLst/>
          </a:prstGeom>
        </p:spPr>
      </p:pic>
      <p:pic>
        <p:nvPicPr>
          <p:cNvPr id="51" name="Image 8" descr=" ">
            <a:extLst>
              <a:ext uri="{FF2B5EF4-FFF2-40B4-BE49-F238E27FC236}">
                <a16:creationId xmlns:a16="http://schemas.microsoft.com/office/drawing/2014/main" id="{729DA820-E70B-4289-AAAF-D4BA136888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a:off x="6009501" y="7778873"/>
            <a:ext cx="171670" cy="175016"/>
          </a:xfrm>
          <a:prstGeom prst="rect">
            <a:avLst/>
          </a:prstGeom>
        </p:spPr>
      </p:pic>
      <p:pic>
        <p:nvPicPr>
          <p:cNvPr id="53" name="Image 8" descr=" ">
            <a:extLst>
              <a:ext uri="{FF2B5EF4-FFF2-40B4-BE49-F238E27FC236}">
                <a16:creationId xmlns:a16="http://schemas.microsoft.com/office/drawing/2014/main" id="{40FD55E0-46AD-4DBA-B320-AFE25FA70E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a:off x="3305427" y="6519223"/>
            <a:ext cx="171670" cy="1750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graphicFrame>
        <p:nvGraphicFramePr>
          <p:cNvPr id="48" name="Chart 47">
            <a:extLst>
              <a:ext uri="{FF2B5EF4-FFF2-40B4-BE49-F238E27FC236}">
                <a16:creationId xmlns:a16="http://schemas.microsoft.com/office/drawing/2014/main" id="{C2E70F25-EBB7-4193-B716-99D46DE16020}"/>
              </a:ext>
            </a:extLst>
          </p:cNvPr>
          <p:cNvGraphicFramePr/>
          <p:nvPr>
            <p:extLst>
              <p:ext uri="{D42A27DB-BD31-4B8C-83A1-F6EECF244321}">
                <p14:modId xmlns:p14="http://schemas.microsoft.com/office/powerpoint/2010/main" val="578127582"/>
              </p:ext>
            </p:extLst>
          </p:nvPr>
        </p:nvGraphicFramePr>
        <p:xfrm>
          <a:off x="1301773" y="5168900"/>
          <a:ext cx="13247755" cy="7438672"/>
        </p:xfrm>
        <a:graphic>
          <a:graphicData uri="http://schemas.openxmlformats.org/drawingml/2006/chart">
            <c:chart xmlns:c="http://schemas.openxmlformats.org/drawingml/2006/chart" xmlns:r="http://schemas.openxmlformats.org/officeDocument/2006/relationships" r:id="rId3"/>
          </a:graphicData>
        </a:graphic>
      </p:graphicFrame>
      <p:sp>
        <p:nvSpPr>
          <p:cNvPr id="2" name="Shape 0"/>
          <p:cNvSpPr/>
          <p:nvPr/>
        </p:nvSpPr>
        <p:spPr>
          <a:xfrm>
            <a:off x="1524191" y="5270500"/>
            <a:ext cx="13247756" cy="7175500"/>
          </a:xfrm>
          <a:prstGeom prst="rect">
            <a:avLst/>
          </a:prstGeom>
          <a:noFill/>
          <a:ln/>
        </p:spPr>
      </p:sp>
      <p:sp>
        <p:nvSpPr>
          <p:cNvPr id="7" name="Shape 4"/>
          <p:cNvSpPr/>
          <p:nvPr/>
        </p:nvSpPr>
        <p:spPr>
          <a:xfrm>
            <a:off x="1524191" y="7611426"/>
            <a:ext cx="2413302" cy="482600"/>
          </a:xfrm>
          <a:prstGeom prst="roundRect">
            <a:avLst>
              <a:gd name="adj" fmla="val 53053"/>
            </a:avLst>
          </a:prstGeom>
          <a:solidFill>
            <a:srgbClr val="000000">
              <a:alpha val="100000"/>
            </a:srgbClr>
          </a:solidFill>
          <a:ln/>
        </p:spPr>
      </p:sp>
      <p:sp>
        <p:nvSpPr>
          <p:cNvPr id="8" name="Text 5"/>
          <p:cNvSpPr/>
          <p:nvPr/>
        </p:nvSpPr>
        <p:spPr>
          <a:xfrm>
            <a:off x="1854432" y="7700326"/>
            <a:ext cx="18078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Customer Support</a:t>
            </a:r>
            <a:endParaRPr lang="en-US" sz="1600" dirty="0"/>
          </a:p>
        </p:txBody>
      </p:sp>
      <p:sp>
        <p:nvSpPr>
          <p:cNvPr id="13" name="Shape 9"/>
          <p:cNvSpPr/>
          <p:nvPr/>
        </p:nvSpPr>
        <p:spPr>
          <a:xfrm>
            <a:off x="6786783" y="5270500"/>
            <a:ext cx="1714714" cy="482600"/>
          </a:xfrm>
          <a:prstGeom prst="roundRect">
            <a:avLst>
              <a:gd name="adj" fmla="val 53053"/>
            </a:avLst>
          </a:prstGeom>
          <a:solidFill>
            <a:srgbClr val="000000">
              <a:alpha val="100000"/>
            </a:srgbClr>
          </a:solidFill>
          <a:ln/>
        </p:spPr>
      </p:sp>
      <p:sp>
        <p:nvSpPr>
          <p:cNvPr id="14" name="Text 10"/>
          <p:cNvSpPr/>
          <p:nvPr/>
        </p:nvSpPr>
        <p:spPr>
          <a:xfrm>
            <a:off x="7117024" y="5359400"/>
            <a:ext cx="109657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Production</a:t>
            </a:r>
            <a:endParaRPr lang="en-US" sz="1600" dirty="0"/>
          </a:p>
        </p:txBody>
      </p:sp>
      <p:sp>
        <p:nvSpPr>
          <p:cNvPr id="19" name="Shape 14"/>
          <p:cNvSpPr/>
          <p:nvPr/>
        </p:nvSpPr>
        <p:spPr>
          <a:xfrm>
            <a:off x="9381354" y="9018376"/>
            <a:ext cx="1422578" cy="482600"/>
          </a:xfrm>
          <a:prstGeom prst="roundRect">
            <a:avLst>
              <a:gd name="adj" fmla="val 53053"/>
            </a:avLst>
          </a:prstGeom>
          <a:solidFill>
            <a:srgbClr val="000000">
              <a:alpha val="100000"/>
            </a:srgbClr>
          </a:solidFill>
          <a:ln/>
        </p:spPr>
      </p:sp>
      <p:sp>
        <p:nvSpPr>
          <p:cNvPr id="20" name="Text 15"/>
          <p:cNvSpPr/>
          <p:nvPr/>
        </p:nvSpPr>
        <p:spPr>
          <a:xfrm>
            <a:off x="9711596" y="9107276"/>
            <a:ext cx="81713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Finance</a:t>
            </a:r>
            <a:endParaRPr lang="en-US" sz="1600" dirty="0"/>
          </a:p>
        </p:txBody>
      </p:sp>
      <p:sp>
        <p:nvSpPr>
          <p:cNvPr id="25" name="Shape 19"/>
          <p:cNvSpPr/>
          <p:nvPr/>
        </p:nvSpPr>
        <p:spPr>
          <a:xfrm>
            <a:off x="4229629" y="9602234"/>
            <a:ext cx="1028829" cy="482600"/>
          </a:xfrm>
          <a:prstGeom prst="roundRect">
            <a:avLst>
              <a:gd name="adj" fmla="val 53053"/>
            </a:avLst>
          </a:prstGeom>
          <a:solidFill>
            <a:srgbClr val="000000">
              <a:alpha val="100000"/>
            </a:srgbClr>
          </a:solidFill>
          <a:ln/>
        </p:spPr>
      </p:sp>
      <p:sp>
        <p:nvSpPr>
          <p:cNvPr id="26" name="Text 20"/>
          <p:cNvSpPr/>
          <p:nvPr/>
        </p:nvSpPr>
        <p:spPr>
          <a:xfrm>
            <a:off x="4610676" y="9691134"/>
            <a:ext cx="3471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HR</a:t>
            </a:r>
            <a:endParaRPr lang="en-US" sz="1600" dirty="0"/>
          </a:p>
        </p:txBody>
      </p:sp>
      <p:sp>
        <p:nvSpPr>
          <p:cNvPr id="31" name="Shape 24"/>
          <p:cNvSpPr/>
          <p:nvPr/>
        </p:nvSpPr>
        <p:spPr>
          <a:xfrm>
            <a:off x="11975235" y="8582116"/>
            <a:ext cx="1028829" cy="482600"/>
          </a:xfrm>
          <a:prstGeom prst="roundRect">
            <a:avLst>
              <a:gd name="adj" fmla="val 53053"/>
            </a:avLst>
          </a:prstGeom>
          <a:solidFill>
            <a:srgbClr val="000000">
              <a:alpha val="100000"/>
            </a:srgbClr>
          </a:solidFill>
          <a:ln/>
        </p:spPr>
      </p:sp>
      <p:sp>
        <p:nvSpPr>
          <p:cNvPr id="32" name="Text 25"/>
          <p:cNvSpPr/>
          <p:nvPr/>
        </p:nvSpPr>
        <p:spPr>
          <a:xfrm>
            <a:off x="12394387" y="8671016"/>
            <a:ext cx="25826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IT</a:t>
            </a:r>
            <a:endParaRPr lang="en-US" sz="1600" dirty="0"/>
          </a:p>
        </p:txBody>
      </p:sp>
      <p:sp>
        <p:nvSpPr>
          <p:cNvPr id="33" name="Text 26"/>
          <p:cNvSpPr/>
          <p:nvPr/>
        </p:nvSpPr>
        <p:spPr>
          <a:xfrm>
            <a:off x="1524191" y="2044700"/>
            <a:ext cx="8497362"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Labor Cost Optimization</a:t>
            </a:r>
            <a:endParaRPr lang="en-US" sz="6000" dirty="0"/>
          </a:p>
        </p:txBody>
      </p:sp>
      <p:sp>
        <p:nvSpPr>
          <p:cNvPr id="34" name="Text 27"/>
          <p:cNvSpPr/>
          <p:nvPr/>
        </p:nvSpPr>
        <p:spPr>
          <a:xfrm>
            <a:off x="1524191" y="2984500"/>
            <a:ext cx="832800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Targeted automation and process improvements can significantly reduce labor costs without compromising productivity.</a:t>
            </a:r>
            <a:endParaRPr lang="en-US" sz="2000" dirty="0"/>
          </a:p>
        </p:txBody>
      </p:sp>
      <p:sp>
        <p:nvSpPr>
          <p:cNvPr id="35" name="Text 28"/>
          <p:cNvSpPr/>
          <p:nvPr/>
        </p:nvSpPr>
        <p:spPr>
          <a:xfrm>
            <a:off x="16677184" y="11836400"/>
            <a:ext cx="625341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Optimizing labor costs boosts efficiency and profits. Analyzing workforce allocation reduces expenses while keeping productivity.</a:t>
            </a:r>
            <a:endParaRPr lang="en-US" sz="1600" dirty="0"/>
          </a:p>
        </p:txBody>
      </p:sp>
      <p:pic>
        <p:nvPicPr>
          <p:cNvPr id="36" name="Image 5"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97749" y="11887200"/>
            <a:ext cx="203225" cy="203200"/>
          </a:xfrm>
          <a:prstGeom prst="rect">
            <a:avLst/>
          </a:prstGeom>
        </p:spPr>
      </p:pic>
      <p:sp>
        <p:nvSpPr>
          <p:cNvPr id="37" name="Shape 29"/>
          <p:cNvSpPr/>
          <p:nvPr/>
        </p:nvSpPr>
        <p:spPr>
          <a:xfrm rot="10800000">
            <a:off x="15152994" y="2298700"/>
            <a:ext cx="5855432" cy="3962400"/>
          </a:xfrm>
          <a:prstGeom prst="roundRect">
            <a:avLst>
              <a:gd name="adj" fmla="val 3231"/>
            </a:avLst>
          </a:prstGeom>
          <a:solidFill>
            <a:srgbClr val="FF4D4D">
              <a:alpha val="100000"/>
            </a:srgbClr>
          </a:solidFill>
          <a:ln/>
        </p:spPr>
      </p:sp>
      <p:sp>
        <p:nvSpPr>
          <p:cNvPr id="38" name="Shape 30"/>
          <p:cNvSpPr/>
          <p:nvPr/>
        </p:nvSpPr>
        <p:spPr>
          <a:xfrm>
            <a:off x="20195524" y="2044700"/>
            <a:ext cx="558870" cy="558800"/>
          </a:xfrm>
          <a:prstGeom prst="ellipse">
            <a:avLst/>
          </a:prstGeom>
          <a:solidFill>
            <a:srgbClr val="000000">
              <a:alpha val="100000"/>
            </a:srgbClr>
          </a:solidFill>
          <a:ln/>
        </p:spPr>
      </p:sp>
      <p:pic>
        <p:nvPicPr>
          <p:cNvPr id="39" name="Image 6"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97136" y="2146300"/>
            <a:ext cx="359255" cy="359210"/>
          </a:xfrm>
          <a:prstGeom prst="rect">
            <a:avLst/>
          </a:prstGeom>
        </p:spPr>
      </p:pic>
      <p:pic>
        <p:nvPicPr>
          <p:cNvPr id="40" name="Image 7"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88073" y="2933700"/>
            <a:ext cx="254032" cy="254000"/>
          </a:xfrm>
          <a:prstGeom prst="rect">
            <a:avLst/>
          </a:prstGeom>
        </p:spPr>
      </p:pic>
      <p:pic>
        <p:nvPicPr>
          <p:cNvPr id="41" name="Image 8"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88073" y="3949700"/>
            <a:ext cx="254032" cy="254000"/>
          </a:xfrm>
          <a:prstGeom prst="rect">
            <a:avLst/>
          </a:prstGeom>
        </p:spPr>
      </p:pic>
      <p:pic>
        <p:nvPicPr>
          <p:cNvPr id="42" name="Image 9"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88073" y="4965700"/>
            <a:ext cx="254032" cy="254000"/>
          </a:xfrm>
          <a:prstGeom prst="rect">
            <a:avLst/>
          </a:prstGeom>
        </p:spPr>
      </p:pic>
      <p:sp>
        <p:nvSpPr>
          <p:cNvPr id="43" name="Text 31"/>
          <p:cNvSpPr/>
          <p:nvPr/>
        </p:nvSpPr>
        <p:spPr>
          <a:xfrm>
            <a:off x="16169121" y="4914900"/>
            <a:ext cx="4288903"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Productivity gains vary by department due to process maturity</a:t>
            </a:r>
            <a:endParaRPr lang="en-US" sz="2000" dirty="0"/>
          </a:p>
        </p:txBody>
      </p:sp>
      <p:sp>
        <p:nvSpPr>
          <p:cNvPr id="44" name="Text 32"/>
          <p:cNvSpPr/>
          <p:nvPr/>
        </p:nvSpPr>
        <p:spPr>
          <a:xfrm>
            <a:off x="16169121" y="3898900"/>
            <a:ext cx="4288903"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Savings correlate with automation adoption levels</a:t>
            </a:r>
            <a:endParaRPr lang="en-US" sz="2000" dirty="0"/>
          </a:p>
        </p:txBody>
      </p:sp>
      <p:sp>
        <p:nvSpPr>
          <p:cNvPr id="45" name="Text 33"/>
          <p:cNvSpPr/>
          <p:nvPr/>
        </p:nvSpPr>
        <p:spPr>
          <a:xfrm>
            <a:off x="16169121" y="2882900"/>
            <a:ext cx="4288903"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Highest savings achieved in Customer Support and Production</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2044700"/>
            <a:ext cx="8497362"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Cost Reduction through Process Automation</a:t>
            </a:r>
            <a:endParaRPr lang="en-US" sz="6000" dirty="0"/>
          </a:p>
        </p:txBody>
      </p:sp>
      <p:sp>
        <p:nvSpPr>
          <p:cNvPr id="3" name="Text 1"/>
          <p:cNvSpPr/>
          <p:nvPr/>
        </p:nvSpPr>
        <p:spPr>
          <a:xfrm>
            <a:off x="14759245" y="2235200"/>
            <a:ext cx="8188290"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Automation enhances workflows by reducing errors and saving costs and time. Automated solutions boost efficiency, letting teams focus on strategic tasks.</a:t>
            </a:r>
            <a:endParaRPr lang="en-US" sz="2000" dirty="0"/>
          </a:p>
        </p:txBody>
      </p:sp>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442705" y="4025900"/>
            <a:ext cx="4420152" cy="4419600"/>
          </a:xfrm>
          <a:prstGeom prst="rect">
            <a:avLst/>
          </a:prstGeom>
        </p:spPr>
      </p:pic>
      <p:sp>
        <p:nvSpPr>
          <p:cNvPr id="5" name="Text 2"/>
          <p:cNvSpPr/>
          <p:nvPr/>
        </p:nvSpPr>
        <p:spPr>
          <a:xfrm>
            <a:off x="19776372" y="5956300"/>
            <a:ext cx="183326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Before Automation</a:t>
            </a:r>
            <a:endParaRPr lang="en-US" sz="1600" dirty="0"/>
          </a:p>
        </p:txBody>
      </p:sp>
      <p:sp>
        <p:nvSpPr>
          <p:cNvPr id="6" name="Text 3"/>
          <p:cNvSpPr/>
          <p:nvPr/>
        </p:nvSpPr>
        <p:spPr>
          <a:xfrm>
            <a:off x="19145526" y="6388100"/>
            <a:ext cx="3014510"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Multiple manual steps, approvals, and data entries</a:t>
            </a:r>
            <a:endParaRPr lang="en-US" sz="1600" dirty="0"/>
          </a:p>
        </p:txBody>
      </p:sp>
      <p:pic>
        <p:nvPicPr>
          <p:cNvPr id="7"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462257" y="5473700"/>
            <a:ext cx="381048" cy="381000"/>
          </a:xfrm>
          <a:prstGeom prst="rect">
            <a:avLst/>
          </a:prstGeom>
        </p:spPr>
      </p:pic>
      <p:sp>
        <p:nvSpPr>
          <p:cNvPr id="8" name="Shape 4"/>
          <p:cNvSpPr/>
          <p:nvPr/>
        </p:nvSpPr>
        <p:spPr>
          <a:xfrm>
            <a:off x="14759245" y="4025900"/>
            <a:ext cx="4420152" cy="4419600"/>
          </a:xfrm>
          <a:prstGeom prst="ellipse">
            <a:avLst/>
          </a:prstGeom>
          <a:solidFill>
            <a:srgbClr val="FF4D4D">
              <a:alpha val="100000"/>
            </a:srgbClr>
          </a:solidFill>
          <a:ln/>
        </p:spPr>
      </p:sp>
      <p:sp>
        <p:nvSpPr>
          <p:cNvPr id="9" name="Text 5"/>
          <p:cNvSpPr/>
          <p:nvPr/>
        </p:nvSpPr>
        <p:spPr>
          <a:xfrm>
            <a:off x="16156419" y="5956300"/>
            <a:ext cx="168084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After Automation</a:t>
            </a:r>
            <a:endParaRPr lang="en-US" sz="1600" dirty="0"/>
          </a:p>
        </p:txBody>
      </p:sp>
      <p:sp>
        <p:nvSpPr>
          <p:cNvPr id="10" name="Text 6"/>
          <p:cNvSpPr/>
          <p:nvPr/>
        </p:nvSpPr>
        <p:spPr>
          <a:xfrm>
            <a:off x="15462066" y="6388100"/>
            <a:ext cx="3014510"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Consolidated steps, auto-approvals, integrated systems</a:t>
            </a:r>
            <a:endParaRPr lang="en-US" sz="1600" dirty="0"/>
          </a:p>
        </p:txBody>
      </p:sp>
      <p:pic>
        <p:nvPicPr>
          <p:cNvPr id="11"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78797" y="5473700"/>
            <a:ext cx="381048" cy="381000"/>
          </a:xfrm>
          <a:prstGeom prst="rect">
            <a:avLst/>
          </a:prstGeom>
        </p:spPr>
      </p:pic>
      <p:sp>
        <p:nvSpPr>
          <p:cNvPr id="12" name="Shape 7"/>
          <p:cNvSpPr/>
          <p:nvPr/>
        </p:nvSpPr>
        <p:spPr>
          <a:xfrm>
            <a:off x="1524191" y="4711700"/>
            <a:ext cx="8103613" cy="5892801"/>
          </a:xfrm>
          <a:prstGeom prst="rect">
            <a:avLst/>
          </a:prstGeom>
          <a:noFill/>
          <a:ln/>
        </p:spPr>
      </p:sp>
      <p:pic>
        <p:nvPicPr>
          <p:cNvPr id="13"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4705350"/>
            <a:ext cx="8103613" cy="12700"/>
          </a:xfrm>
          <a:prstGeom prst="rect">
            <a:avLst/>
          </a:prstGeom>
        </p:spPr>
      </p:pic>
      <p:pic>
        <p:nvPicPr>
          <p:cNvPr id="14"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6178550"/>
            <a:ext cx="8103613" cy="12700"/>
          </a:xfrm>
          <a:prstGeom prst="rect">
            <a:avLst/>
          </a:prstGeom>
        </p:spPr>
      </p:pic>
      <p:pic>
        <p:nvPicPr>
          <p:cNvPr id="15"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7651750"/>
            <a:ext cx="8103613" cy="12700"/>
          </a:xfrm>
          <a:prstGeom prst="rect">
            <a:avLst/>
          </a:prstGeom>
        </p:spPr>
      </p:pic>
      <p:pic>
        <p:nvPicPr>
          <p:cNvPr id="16" name="Image 6"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9124950"/>
            <a:ext cx="8103613" cy="12700"/>
          </a:xfrm>
          <a:prstGeom prst="rect">
            <a:avLst/>
          </a:prstGeom>
        </p:spPr>
      </p:pic>
      <p:pic>
        <p:nvPicPr>
          <p:cNvPr id="17"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10598150"/>
            <a:ext cx="8103613" cy="12700"/>
          </a:xfrm>
          <a:prstGeom prst="rect">
            <a:avLst/>
          </a:prstGeom>
        </p:spPr>
      </p:pic>
      <p:sp>
        <p:nvSpPr>
          <p:cNvPr id="18" name="Text 8"/>
          <p:cNvSpPr/>
          <p:nvPr/>
        </p:nvSpPr>
        <p:spPr>
          <a:xfrm>
            <a:off x="1956044" y="5016500"/>
            <a:ext cx="219314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Customer Service</a:t>
            </a:r>
            <a:endParaRPr lang="en-US" sz="2000" dirty="0"/>
          </a:p>
        </p:txBody>
      </p:sp>
      <p:sp>
        <p:nvSpPr>
          <p:cNvPr id="19" name="Text 9"/>
          <p:cNvSpPr/>
          <p:nvPr/>
        </p:nvSpPr>
        <p:spPr>
          <a:xfrm>
            <a:off x="1956044" y="5499100"/>
            <a:ext cx="732458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AI chatbots reduce response time &amp; staffing costs</a:t>
            </a:r>
            <a:endParaRPr lang="en-US" sz="2000" dirty="0"/>
          </a:p>
        </p:txBody>
      </p:sp>
      <p:pic>
        <p:nvPicPr>
          <p:cNvPr id="20"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5080000"/>
            <a:ext cx="254032" cy="254000"/>
          </a:xfrm>
          <a:prstGeom prst="rect">
            <a:avLst/>
          </a:prstGeom>
        </p:spPr>
      </p:pic>
      <p:sp>
        <p:nvSpPr>
          <p:cNvPr id="21" name="Text 10"/>
          <p:cNvSpPr/>
          <p:nvPr/>
        </p:nvSpPr>
        <p:spPr>
          <a:xfrm>
            <a:off x="1956044" y="6489700"/>
            <a:ext cx="280281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Inventory Management</a:t>
            </a:r>
            <a:endParaRPr lang="en-US" sz="2000" dirty="0"/>
          </a:p>
        </p:txBody>
      </p:sp>
      <p:sp>
        <p:nvSpPr>
          <p:cNvPr id="22" name="Text 11"/>
          <p:cNvSpPr/>
          <p:nvPr/>
        </p:nvSpPr>
        <p:spPr>
          <a:xfrm>
            <a:off x="1956044" y="6972300"/>
            <a:ext cx="605442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Automated tracking prevents overstock &amp; stockouts</a:t>
            </a:r>
            <a:endParaRPr lang="en-US" sz="2000" dirty="0"/>
          </a:p>
        </p:txBody>
      </p:sp>
      <p:pic>
        <p:nvPicPr>
          <p:cNvPr id="23" name="Image 9"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6553200"/>
            <a:ext cx="254032" cy="254000"/>
          </a:xfrm>
          <a:prstGeom prst="rect">
            <a:avLst/>
          </a:prstGeom>
        </p:spPr>
      </p:pic>
      <p:sp>
        <p:nvSpPr>
          <p:cNvPr id="24" name="Text 12"/>
          <p:cNvSpPr/>
          <p:nvPr/>
        </p:nvSpPr>
        <p:spPr>
          <a:xfrm>
            <a:off x="1956044" y="7962900"/>
            <a:ext cx="211693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Order Processing</a:t>
            </a:r>
            <a:endParaRPr lang="en-US" sz="2000" dirty="0"/>
          </a:p>
        </p:txBody>
      </p:sp>
      <p:sp>
        <p:nvSpPr>
          <p:cNvPr id="25" name="Text 13"/>
          <p:cNvSpPr/>
          <p:nvPr/>
        </p:nvSpPr>
        <p:spPr>
          <a:xfrm>
            <a:off x="1956044" y="8445500"/>
            <a:ext cx="578769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RPA speeds order entry and reduces human error</a:t>
            </a:r>
            <a:endParaRPr lang="en-US" sz="2000" dirty="0"/>
          </a:p>
        </p:txBody>
      </p:sp>
      <p:pic>
        <p:nvPicPr>
          <p:cNvPr id="26"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8026400"/>
            <a:ext cx="254032" cy="254000"/>
          </a:xfrm>
          <a:prstGeom prst="rect">
            <a:avLst/>
          </a:prstGeom>
        </p:spPr>
      </p:pic>
      <p:sp>
        <p:nvSpPr>
          <p:cNvPr id="27" name="Text 14"/>
          <p:cNvSpPr/>
          <p:nvPr/>
        </p:nvSpPr>
        <p:spPr>
          <a:xfrm>
            <a:off x="1956044" y="94361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Payroll</a:t>
            </a:r>
            <a:endParaRPr lang="en-US" sz="2000" dirty="0"/>
          </a:p>
        </p:txBody>
      </p:sp>
      <p:sp>
        <p:nvSpPr>
          <p:cNvPr id="28" name="Text 15"/>
          <p:cNvSpPr/>
          <p:nvPr/>
        </p:nvSpPr>
        <p:spPr>
          <a:xfrm>
            <a:off x="1956044" y="9918700"/>
            <a:ext cx="51272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Automated payroll runs reduce admin hours</a:t>
            </a:r>
            <a:endParaRPr lang="en-US" sz="2000" dirty="0"/>
          </a:p>
        </p:txBody>
      </p:sp>
      <p:pic>
        <p:nvPicPr>
          <p:cNvPr id="29"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9499600"/>
            <a:ext cx="254032" cy="254000"/>
          </a:xfrm>
          <a:prstGeom prst="rect">
            <a:avLst/>
          </a:prstGeom>
        </p:spPr>
      </p:pic>
      <p:sp>
        <p:nvSpPr>
          <p:cNvPr id="30" name="Text 16"/>
          <p:cNvSpPr/>
          <p:nvPr/>
        </p:nvSpPr>
        <p:spPr>
          <a:xfrm>
            <a:off x="1746530" y="11480800"/>
            <a:ext cx="498954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Automating processes lowers costs by streamlining operations and reducing errors.</a:t>
            </a:r>
            <a:endParaRPr lang="en-US" sz="1600" dirty="0"/>
          </a:p>
        </p:txBody>
      </p:sp>
      <p:pic>
        <p:nvPicPr>
          <p:cNvPr id="31"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24191" y="11542576"/>
            <a:ext cx="181280" cy="181256"/>
          </a:xfrm>
          <a:prstGeom prst="rect">
            <a:avLst/>
          </a:prstGeom>
        </p:spPr>
      </p:pic>
      <p:pic>
        <p:nvPicPr>
          <p:cNvPr id="32" name="Image 13"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4771946" y="9004300"/>
            <a:ext cx="8090911" cy="3543300"/>
          </a:xfrm>
          <a:prstGeom prst="rect">
            <a:avLst/>
          </a:prstGeom>
        </p:spPr>
      </p:pic>
      <p:sp>
        <p:nvSpPr>
          <p:cNvPr id="33" name="Shape 17"/>
          <p:cNvSpPr/>
          <p:nvPr/>
        </p:nvSpPr>
        <p:spPr>
          <a:xfrm>
            <a:off x="21935642" y="8724900"/>
            <a:ext cx="558870" cy="558800"/>
          </a:xfrm>
          <a:prstGeom prst="ellipse">
            <a:avLst/>
          </a:prstGeom>
          <a:solidFill>
            <a:srgbClr val="000000">
              <a:alpha val="100000"/>
            </a:srgbClr>
          </a:solidFill>
          <a:ln/>
        </p:spPr>
      </p:sp>
      <p:pic>
        <p:nvPicPr>
          <p:cNvPr id="34" name="Image 14"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037254" y="8826500"/>
            <a:ext cx="359255" cy="359210"/>
          </a:xfrm>
          <a:prstGeom prst="rect">
            <a:avLst/>
          </a:prstGeom>
        </p:spPr>
      </p:pic>
      <p:graphicFrame>
        <p:nvGraphicFramePr>
          <p:cNvPr id="47" name="Chart 46">
            <a:extLst>
              <a:ext uri="{FF2B5EF4-FFF2-40B4-BE49-F238E27FC236}">
                <a16:creationId xmlns:a16="http://schemas.microsoft.com/office/drawing/2014/main" id="{4D86A0E7-4818-432F-BE0E-16C55AC220A2}"/>
              </a:ext>
            </a:extLst>
          </p:cNvPr>
          <p:cNvGraphicFramePr/>
          <p:nvPr>
            <p:extLst>
              <p:ext uri="{D42A27DB-BD31-4B8C-83A1-F6EECF244321}">
                <p14:modId xmlns:p14="http://schemas.microsoft.com/office/powerpoint/2010/main" val="4114117997"/>
              </p:ext>
            </p:extLst>
          </p:nvPr>
        </p:nvGraphicFramePr>
        <p:xfrm>
          <a:off x="15011400" y="9283700"/>
          <a:ext cx="7629245" cy="2980890"/>
        </p:xfrm>
        <a:graphic>
          <a:graphicData uri="http://schemas.openxmlformats.org/drawingml/2006/chart">
            <c:chart xmlns:c="http://schemas.openxmlformats.org/drawingml/2006/chart" xmlns:r="http://schemas.openxmlformats.org/officeDocument/2006/relationships" r:id="rId19"/>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066508" cy="13716000"/>
          </a:xfrm>
          <a:prstGeom prst="rect">
            <a:avLst/>
          </a:prstGeom>
        </p:spPr>
      </p:pic>
      <p:sp>
        <p:nvSpPr>
          <p:cNvPr id="3" name="Text 0"/>
          <p:cNvSpPr/>
          <p:nvPr/>
        </p:nvSpPr>
        <p:spPr>
          <a:xfrm>
            <a:off x="1524191" y="1524000"/>
            <a:ext cx="942457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Lean Management for Operational Excellence</a:t>
            </a:r>
            <a:endParaRPr lang="en-US" sz="6000" dirty="0"/>
          </a:p>
        </p:txBody>
      </p:sp>
      <p:sp>
        <p:nvSpPr>
          <p:cNvPr id="4" name="Text 1"/>
          <p:cNvSpPr/>
          <p:nvPr/>
        </p:nvSpPr>
        <p:spPr>
          <a:xfrm>
            <a:off x="1524191" y="3200400"/>
            <a:ext cx="7934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By applying lean principles, we eliminate non-value-adding activities, reduce delays, and create a smoother process flow.</a:t>
            </a:r>
            <a:endParaRPr lang="en-US" sz="2000" dirty="0"/>
          </a:p>
        </p:txBody>
      </p:sp>
      <p:pic>
        <p:nvPicPr>
          <p:cNvPr id="5"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66508" y="7207250"/>
            <a:ext cx="12320540" cy="12700"/>
          </a:xfrm>
          <a:prstGeom prst="rect">
            <a:avLst/>
          </a:prstGeom>
        </p:spPr>
      </p:pic>
      <p:pic>
        <p:nvPicPr>
          <p:cNvPr id="6"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66508" y="8680450"/>
            <a:ext cx="12320540" cy="12700"/>
          </a:xfrm>
          <a:prstGeom prst="rect">
            <a:avLst/>
          </a:prstGeom>
        </p:spPr>
      </p:pic>
      <p:pic>
        <p:nvPicPr>
          <p:cNvPr id="7"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66508" y="10153650"/>
            <a:ext cx="12320540" cy="12700"/>
          </a:xfrm>
          <a:prstGeom prst="rect">
            <a:avLst/>
          </a:prstGeom>
        </p:spPr>
      </p:pic>
      <p:pic>
        <p:nvPicPr>
          <p:cNvPr id="8"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66508" y="11626850"/>
            <a:ext cx="12320540" cy="12700"/>
          </a:xfrm>
          <a:prstGeom prst="rect">
            <a:avLst/>
          </a:prstGeom>
        </p:spPr>
      </p:pic>
      <p:sp>
        <p:nvSpPr>
          <p:cNvPr id="9" name="Text 2"/>
          <p:cNvSpPr/>
          <p:nvPr/>
        </p:nvSpPr>
        <p:spPr>
          <a:xfrm>
            <a:off x="13590699" y="7518400"/>
            <a:ext cx="233285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Value Identification</a:t>
            </a:r>
            <a:endParaRPr lang="en-US" sz="2000" dirty="0"/>
          </a:p>
        </p:txBody>
      </p:sp>
      <p:sp>
        <p:nvSpPr>
          <p:cNvPr id="21" name="Shape 11"/>
          <p:cNvSpPr/>
          <p:nvPr/>
        </p:nvSpPr>
        <p:spPr>
          <a:xfrm>
            <a:off x="1524191" y="11963400"/>
            <a:ext cx="1752819" cy="482600"/>
          </a:xfrm>
          <a:prstGeom prst="roundRect">
            <a:avLst>
              <a:gd name="adj" fmla="val 94737"/>
            </a:avLst>
          </a:prstGeom>
          <a:solidFill>
            <a:srgbClr val="000000">
              <a:alpha val="100000"/>
            </a:srgbClr>
          </a:solidFill>
          <a:ln/>
        </p:spPr>
      </p:sp>
      <p:sp>
        <p:nvSpPr>
          <p:cNvPr id="10" name="Text 3"/>
          <p:cNvSpPr/>
          <p:nvPr/>
        </p:nvSpPr>
        <p:spPr>
          <a:xfrm>
            <a:off x="13590699" y="8001000"/>
            <a:ext cx="732458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Focus only on activities that deliver customer value</a:t>
            </a:r>
            <a:endParaRPr lang="en-US" sz="2000" dirty="0"/>
          </a:p>
        </p:txBody>
      </p:sp>
      <p:pic>
        <p:nvPicPr>
          <p:cNvPr id="11" name="Image 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201185" y="7625079"/>
            <a:ext cx="167663" cy="167639"/>
          </a:xfrm>
          <a:prstGeom prst="rect">
            <a:avLst/>
          </a:prstGeom>
        </p:spPr>
      </p:pic>
      <p:sp>
        <p:nvSpPr>
          <p:cNvPr id="12" name="Text 4"/>
          <p:cNvSpPr/>
          <p:nvPr/>
        </p:nvSpPr>
        <p:spPr>
          <a:xfrm>
            <a:off x="13590699" y="8991600"/>
            <a:ext cx="215503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Waste Elimination</a:t>
            </a:r>
            <a:endParaRPr lang="en-US" sz="2000" dirty="0"/>
          </a:p>
        </p:txBody>
      </p:sp>
      <p:sp>
        <p:nvSpPr>
          <p:cNvPr id="13" name="Text 5"/>
          <p:cNvSpPr/>
          <p:nvPr/>
        </p:nvSpPr>
        <p:spPr>
          <a:xfrm>
            <a:off x="13590699" y="9474200"/>
            <a:ext cx="430160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Remove redundant steps and delays</a:t>
            </a:r>
            <a:endParaRPr lang="en-US" sz="2000" dirty="0"/>
          </a:p>
        </p:txBody>
      </p:sp>
      <p:sp>
        <p:nvSpPr>
          <p:cNvPr id="29" name="Shape 19"/>
          <p:cNvSpPr/>
          <p:nvPr/>
        </p:nvSpPr>
        <p:spPr>
          <a:xfrm>
            <a:off x="3785073" y="11963400"/>
            <a:ext cx="1752819" cy="482600"/>
          </a:xfrm>
          <a:prstGeom prst="roundRect">
            <a:avLst>
              <a:gd name="adj" fmla="val 94737"/>
            </a:avLst>
          </a:prstGeom>
          <a:solidFill>
            <a:srgbClr val="000000">
              <a:alpha val="100000"/>
            </a:srgbClr>
          </a:solidFill>
          <a:ln/>
        </p:spPr>
      </p:sp>
      <p:pic>
        <p:nvPicPr>
          <p:cNvPr id="14"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201185" y="9098279"/>
            <a:ext cx="167663" cy="167639"/>
          </a:xfrm>
          <a:prstGeom prst="rect">
            <a:avLst/>
          </a:prstGeom>
        </p:spPr>
      </p:pic>
      <p:sp>
        <p:nvSpPr>
          <p:cNvPr id="15" name="Text 6"/>
          <p:cNvSpPr/>
          <p:nvPr/>
        </p:nvSpPr>
        <p:spPr>
          <a:xfrm>
            <a:off x="13590699" y="10464800"/>
            <a:ext cx="304414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Continuous Improvement</a:t>
            </a:r>
            <a:endParaRPr lang="en-US" sz="2000" dirty="0"/>
          </a:p>
        </p:txBody>
      </p:sp>
      <p:sp>
        <p:nvSpPr>
          <p:cNvPr id="35" name="Shape 25"/>
          <p:cNvSpPr/>
          <p:nvPr/>
        </p:nvSpPr>
        <p:spPr>
          <a:xfrm>
            <a:off x="6045956" y="11963400"/>
            <a:ext cx="1752819" cy="482600"/>
          </a:xfrm>
          <a:prstGeom prst="roundRect">
            <a:avLst>
              <a:gd name="adj" fmla="val 94737"/>
            </a:avLst>
          </a:prstGeom>
          <a:solidFill>
            <a:srgbClr val="000000">
              <a:alpha val="100000"/>
            </a:srgbClr>
          </a:solidFill>
          <a:ln/>
        </p:spPr>
      </p:sp>
      <p:sp>
        <p:nvSpPr>
          <p:cNvPr id="16" name="Text 7"/>
          <p:cNvSpPr/>
          <p:nvPr/>
        </p:nvSpPr>
        <p:spPr>
          <a:xfrm>
            <a:off x="13590699" y="10947400"/>
            <a:ext cx="412378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Ongoing adjustments for efficiency</a:t>
            </a:r>
            <a:endParaRPr lang="en-US" sz="2000" dirty="0"/>
          </a:p>
        </p:txBody>
      </p:sp>
      <p:pic>
        <p:nvPicPr>
          <p:cNvPr id="17" name="Image 7"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201185" y="10571479"/>
            <a:ext cx="167663" cy="167642"/>
          </a:xfrm>
          <a:prstGeom prst="rect">
            <a:avLst/>
          </a:prstGeom>
        </p:spPr>
      </p:pic>
      <p:sp>
        <p:nvSpPr>
          <p:cNvPr id="41" name="Shape 31"/>
          <p:cNvSpPr/>
          <p:nvPr/>
        </p:nvSpPr>
        <p:spPr>
          <a:xfrm>
            <a:off x="8306838" y="11963400"/>
            <a:ext cx="1752819" cy="482600"/>
          </a:xfrm>
          <a:prstGeom prst="roundRect">
            <a:avLst>
              <a:gd name="adj" fmla="val 94737"/>
            </a:avLst>
          </a:prstGeom>
          <a:solidFill>
            <a:srgbClr val="000000">
              <a:alpha val="100000"/>
            </a:srgbClr>
          </a:solidFill>
          <a:ln/>
        </p:spPr>
      </p:sp>
      <p:graphicFrame>
        <p:nvGraphicFramePr>
          <p:cNvPr id="59" name="Chart 58">
            <a:extLst>
              <a:ext uri="{FF2B5EF4-FFF2-40B4-BE49-F238E27FC236}">
                <a16:creationId xmlns:a16="http://schemas.microsoft.com/office/drawing/2014/main" id="{6B252542-6975-43C1-B09B-C26476AF6418}"/>
              </a:ext>
            </a:extLst>
          </p:cNvPr>
          <p:cNvGraphicFramePr/>
          <p:nvPr>
            <p:extLst>
              <p:ext uri="{D42A27DB-BD31-4B8C-83A1-F6EECF244321}">
                <p14:modId xmlns:p14="http://schemas.microsoft.com/office/powerpoint/2010/main" val="2037835859"/>
              </p:ext>
            </p:extLst>
          </p:nvPr>
        </p:nvGraphicFramePr>
        <p:xfrm>
          <a:off x="1062682" y="4169590"/>
          <a:ext cx="9424578" cy="8230085"/>
        </p:xfrm>
        <a:graphic>
          <a:graphicData uri="http://schemas.openxmlformats.org/drawingml/2006/chart">
            <c:chart xmlns:c="http://schemas.openxmlformats.org/drawingml/2006/chart" xmlns:r="http://schemas.openxmlformats.org/officeDocument/2006/relationships" r:id="rId9"/>
          </a:graphicData>
        </a:graphic>
      </p:graphicFrame>
      <p:sp>
        <p:nvSpPr>
          <p:cNvPr id="18" name="Shape 8"/>
          <p:cNvSpPr/>
          <p:nvPr/>
        </p:nvSpPr>
        <p:spPr>
          <a:xfrm>
            <a:off x="1524191" y="4876800"/>
            <a:ext cx="8535467" cy="7569200"/>
          </a:xfrm>
          <a:prstGeom prst="rect">
            <a:avLst/>
          </a:prstGeom>
          <a:noFill/>
          <a:ln/>
        </p:spPr>
      </p:sp>
      <p:sp>
        <p:nvSpPr>
          <p:cNvPr id="23" name="Text 13"/>
          <p:cNvSpPr/>
          <p:nvPr/>
        </p:nvSpPr>
        <p:spPr>
          <a:xfrm>
            <a:off x="1524191" y="8725746"/>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2 Days</a:t>
            </a:r>
            <a:endParaRPr lang="en-US" sz="1600" dirty="0"/>
          </a:p>
        </p:txBody>
      </p:sp>
      <p:sp>
        <p:nvSpPr>
          <p:cNvPr id="24" name="Text 14"/>
          <p:cNvSpPr/>
          <p:nvPr/>
        </p:nvSpPr>
        <p:spPr>
          <a:xfrm>
            <a:off x="2428760" y="10646389"/>
            <a:ext cx="86794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0.5 days</a:t>
            </a:r>
            <a:endParaRPr lang="en-US" sz="1600" dirty="0"/>
          </a:p>
        </p:txBody>
      </p:sp>
      <p:sp>
        <p:nvSpPr>
          <p:cNvPr id="25" name="Text 15"/>
          <p:cNvSpPr/>
          <p:nvPr/>
        </p:nvSpPr>
        <p:spPr>
          <a:xfrm>
            <a:off x="3785073" y="4978400"/>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5 Days</a:t>
            </a:r>
            <a:endParaRPr lang="en-US" sz="1600" dirty="0"/>
          </a:p>
        </p:txBody>
      </p:sp>
      <p:sp>
        <p:nvSpPr>
          <p:cNvPr id="26" name="Text 16"/>
          <p:cNvSpPr/>
          <p:nvPr/>
        </p:nvSpPr>
        <p:spPr>
          <a:xfrm>
            <a:off x="4788498" y="6278033"/>
            <a:ext cx="72822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4 Days</a:t>
            </a:r>
            <a:endParaRPr lang="en-US" sz="1600" dirty="0"/>
          </a:p>
        </p:txBody>
      </p:sp>
      <p:sp>
        <p:nvSpPr>
          <p:cNvPr id="31" name="Text 21"/>
          <p:cNvSpPr/>
          <p:nvPr/>
        </p:nvSpPr>
        <p:spPr>
          <a:xfrm>
            <a:off x="6045956" y="8746341"/>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2 Days</a:t>
            </a:r>
            <a:endParaRPr lang="en-US" sz="1600" dirty="0"/>
          </a:p>
        </p:txBody>
      </p:sp>
      <p:sp>
        <p:nvSpPr>
          <p:cNvPr id="32" name="Text 22"/>
          <p:cNvSpPr/>
          <p:nvPr/>
        </p:nvSpPr>
        <p:spPr>
          <a:xfrm>
            <a:off x="7098809" y="10016067"/>
            <a:ext cx="57580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1 Day</a:t>
            </a:r>
            <a:endParaRPr lang="en-US" sz="1600" dirty="0"/>
          </a:p>
        </p:txBody>
      </p:sp>
      <p:sp>
        <p:nvSpPr>
          <p:cNvPr id="37" name="Text 27"/>
          <p:cNvSpPr/>
          <p:nvPr/>
        </p:nvSpPr>
        <p:spPr>
          <a:xfrm>
            <a:off x="8356266" y="7497917"/>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3 Days</a:t>
            </a:r>
            <a:endParaRPr lang="en-US" sz="1600" dirty="0"/>
          </a:p>
        </p:txBody>
      </p:sp>
      <p:sp>
        <p:nvSpPr>
          <p:cNvPr id="38" name="Text 28"/>
          <p:cNvSpPr/>
          <p:nvPr/>
        </p:nvSpPr>
        <p:spPr>
          <a:xfrm>
            <a:off x="9359690" y="8746340"/>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2 Days</a:t>
            </a:r>
            <a:endParaRPr lang="en-US" sz="1600" dirty="0"/>
          </a:p>
        </p:txBody>
      </p:sp>
      <p:sp>
        <p:nvSpPr>
          <p:cNvPr id="43" name="Shape 33"/>
          <p:cNvSpPr/>
          <p:nvPr/>
        </p:nvSpPr>
        <p:spPr>
          <a:xfrm>
            <a:off x="13679610" y="1752600"/>
            <a:ext cx="8103613" cy="4419600"/>
          </a:xfrm>
          <a:prstGeom prst="rect">
            <a:avLst/>
          </a:prstGeom>
          <a:noFill/>
          <a:ln/>
        </p:spPr>
      </p:sp>
      <p:pic>
        <p:nvPicPr>
          <p:cNvPr id="44" name="Image 8"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363070" y="1752600"/>
            <a:ext cx="4420152" cy="4419600"/>
          </a:xfrm>
          <a:prstGeom prst="rect">
            <a:avLst/>
          </a:prstGeom>
        </p:spPr>
      </p:pic>
      <p:pic>
        <p:nvPicPr>
          <p:cNvPr id="68" name="Graphic 67">
            <a:extLst>
              <a:ext uri="{FF2B5EF4-FFF2-40B4-BE49-F238E27FC236}">
                <a16:creationId xmlns:a16="http://schemas.microsoft.com/office/drawing/2014/main" id="{58721E2C-D955-4537-8BD8-E2A18FB523D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370737" y="3188208"/>
            <a:ext cx="403225" cy="403225"/>
          </a:xfrm>
          <a:prstGeom prst="rect">
            <a:avLst/>
          </a:prstGeom>
        </p:spPr>
      </p:pic>
      <p:sp>
        <p:nvSpPr>
          <p:cNvPr id="46" name="Text 34"/>
          <p:cNvSpPr/>
          <p:nvPr/>
        </p:nvSpPr>
        <p:spPr>
          <a:xfrm>
            <a:off x="18180206" y="3733800"/>
            <a:ext cx="2773180" cy="3725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Before Lean</a:t>
            </a:r>
            <a:endParaRPr lang="en-US" sz="1600" dirty="0"/>
          </a:p>
        </p:txBody>
      </p:sp>
      <p:sp>
        <p:nvSpPr>
          <p:cNvPr id="47" name="Text 35"/>
          <p:cNvSpPr/>
          <p:nvPr/>
        </p:nvSpPr>
        <p:spPr>
          <a:xfrm>
            <a:off x="18065891" y="4114800"/>
            <a:ext cx="3014510"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Multiple delays, rework loops, unnecessary approvals</a:t>
            </a:r>
            <a:endParaRPr lang="en-US" sz="1600" dirty="0"/>
          </a:p>
        </p:txBody>
      </p:sp>
      <p:sp>
        <p:nvSpPr>
          <p:cNvPr id="48" name="Shape 36"/>
          <p:cNvSpPr/>
          <p:nvPr/>
        </p:nvSpPr>
        <p:spPr>
          <a:xfrm>
            <a:off x="13679610" y="1752600"/>
            <a:ext cx="4420152" cy="4419600"/>
          </a:xfrm>
          <a:prstGeom prst="ellipse">
            <a:avLst/>
          </a:prstGeom>
          <a:solidFill>
            <a:srgbClr val="FF4D4D">
              <a:alpha val="100000"/>
            </a:srgbClr>
          </a:solidFill>
          <a:ln/>
        </p:spPr>
      </p:sp>
      <p:pic>
        <p:nvPicPr>
          <p:cNvPr id="70" name="Graphic 69">
            <a:extLst>
              <a:ext uri="{FF2B5EF4-FFF2-40B4-BE49-F238E27FC236}">
                <a16:creationId xmlns:a16="http://schemas.microsoft.com/office/drawing/2014/main" id="{9309C27A-D211-4763-940F-37AA3DB23A3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723719" y="3222392"/>
            <a:ext cx="334475" cy="334475"/>
          </a:xfrm>
          <a:prstGeom prst="rect">
            <a:avLst/>
          </a:prstGeom>
        </p:spPr>
      </p:pic>
      <p:sp>
        <p:nvSpPr>
          <p:cNvPr id="50" name="Text 37"/>
          <p:cNvSpPr/>
          <p:nvPr/>
        </p:nvSpPr>
        <p:spPr>
          <a:xfrm>
            <a:off x="14598358" y="3683000"/>
            <a:ext cx="2595358" cy="3725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After Lean</a:t>
            </a:r>
            <a:endParaRPr lang="en-US" sz="1600" dirty="0"/>
          </a:p>
        </p:txBody>
      </p:sp>
      <p:sp>
        <p:nvSpPr>
          <p:cNvPr id="51" name="Text 38"/>
          <p:cNvSpPr/>
          <p:nvPr/>
        </p:nvSpPr>
        <p:spPr>
          <a:xfrm>
            <a:off x="14382431" y="4114800"/>
            <a:ext cx="3014510"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Direct, streamlined process flow with minimal handoffs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06600"/>
            <a:ext cx="22862858" cy="11709400"/>
          </a:xfrm>
          <a:prstGeom prst="rect">
            <a:avLst/>
          </a:prstGeom>
          <a:noFill/>
          <a:ln/>
        </p:spPr>
      </p:sp>
      <p:sp>
        <p:nvSpPr>
          <p:cNvPr id="3" name="Shape 1"/>
          <p:cNvSpPr/>
          <p:nvPr/>
        </p:nvSpPr>
        <p:spPr>
          <a:xfrm rot="10800000">
            <a:off x="9627803" y="5283200"/>
            <a:ext cx="3810476" cy="3810000"/>
          </a:xfrm>
          <a:prstGeom prst="roundRect">
            <a:avLst>
              <a:gd name="adj" fmla="val 6000"/>
            </a:avLst>
          </a:prstGeom>
          <a:solidFill>
            <a:srgbClr val="000000">
              <a:alpha val="100000"/>
            </a:srgbClr>
          </a:solidFill>
          <a:ln/>
        </p:spPr>
      </p:sp>
      <p:sp>
        <p:nvSpPr>
          <p:cNvPr id="4" name="Text 2"/>
          <p:cNvSpPr/>
          <p:nvPr/>
        </p:nvSpPr>
        <p:spPr>
          <a:xfrm>
            <a:off x="10300987" y="6083300"/>
            <a:ext cx="283245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25%</a:t>
            </a:r>
            <a:endParaRPr lang="en-US" sz="9600" dirty="0"/>
          </a:p>
        </p:txBody>
      </p:sp>
      <p:sp>
        <p:nvSpPr>
          <p:cNvPr id="5" name="Text 3"/>
          <p:cNvSpPr/>
          <p:nvPr/>
        </p:nvSpPr>
        <p:spPr>
          <a:xfrm>
            <a:off x="11101187" y="7912100"/>
            <a:ext cx="9483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Utilities</a:t>
            </a:r>
            <a:endParaRPr lang="en-US" sz="2000" dirty="0"/>
          </a:p>
        </p:txBody>
      </p:sp>
      <p:sp>
        <p:nvSpPr>
          <p:cNvPr id="6" name="Shape 4"/>
          <p:cNvSpPr/>
          <p:nvPr/>
        </p:nvSpPr>
        <p:spPr>
          <a:xfrm rot="10800000">
            <a:off x="14073359" y="2006600"/>
            <a:ext cx="3810476" cy="3810000"/>
          </a:xfrm>
          <a:prstGeom prst="roundRect">
            <a:avLst>
              <a:gd name="adj" fmla="val 6000"/>
            </a:avLst>
          </a:prstGeom>
          <a:solidFill>
            <a:srgbClr val="D1D1D1">
              <a:alpha val="100000"/>
            </a:srgbClr>
          </a:solidFill>
          <a:ln/>
        </p:spPr>
      </p:sp>
      <p:sp>
        <p:nvSpPr>
          <p:cNvPr id="7" name="Text 5"/>
          <p:cNvSpPr/>
          <p:nvPr/>
        </p:nvSpPr>
        <p:spPr>
          <a:xfrm>
            <a:off x="14848156" y="2806700"/>
            <a:ext cx="2667333"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6D6D6D">
                    <a:alpha val="100000"/>
                  </a:srgbClr>
                </a:solidFill>
                <a:latin typeface="Inter Regular" pitchFamily="34" charset="0"/>
                <a:ea typeface="Inter Regular" pitchFamily="34" charset="-122"/>
                <a:cs typeface="Inter Regular" pitchFamily="34" charset="-120"/>
              </a:rPr>
              <a:t>15%</a:t>
            </a:r>
            <a:endParaRPr lang="en-US" sz="9600" dirty="0"/>
          </a:p>
        </p:txBody>
      </p:sp>
      <p:sp>
        <p:nvSpPr>
          <p:cNvPr id="8" name="Text 6"/>
          <p:cNvSpPr/>
          <p:nvPr/>
        </p:nvSpPr>
        <p:spPr>
          <a:xfrm>
            <a:off x="15508638" y="4635500"/>
            <a:ext cx="9991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Salaries</a:t>
            </a:r>
            <a:endParaRPr lang="en-US" sz="2000" dirty="0"/>
          </a:p>
        </p:txBody>
      </p:sp>
      <p:sp>
        <p:nvSpPr>
          <p:cNvPr id="9" name="Shape 7"/>
          <p:cNvSpPr/>
          <p:nvPr/>
        </p:nvSpPr>
        <p:spPr>
          <a:xfrm rot="10800000">
            <a:off x="18518915" y="5181600"/>
            <a:ext cx="2540318" cy="2540000"/>
          </a:xfrm>
          <a:prstGeom prst="roundRect">
            <a:avLst>
              <a:gd name="adj" fmla="val 9000"/>
            </a:avLst>
          </a:prstGeom>
          <a:solidFill>
            <a:srgbClr val="E7E7E7">
              <a:alpha val="100000"/>
            </a:srgbClr>
          </a:solidFill>
          <a:ln/>
        </p:spPr>
      </p:sp>
      <p:sp>
        <p:nvSpPr>
          <p:cNvPr id="10" name="Text 8"/>
          <p:cNvSpPr/>
          <p:nvPr/>
        </p:nvSpPr>
        <p:spPr>
          <a:xfrm>
            <a:off x="19077784" y="5803900"/>
            <a:ext cx="1676610"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10%</a:t>
            </a:r>
            <a:endParaRPr lang="en-US" sz="6000" dirty="0"/>
          </a:p>
        </p:txBody>
      </p:sp>
      <p:sp>
        <p:nvSpPr>
          <p:cNvPr id="11" name="Text 9"/>
          <p:cNvSpPr/>
          <p:nvPr/>
        </p:nvSpPr>
        <p:spPr>
          <a:xfrm>
            <a:off x="18912664" y="6705600"/>
            <a:ext cx="183749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Office Supplies</a:t>
            </a:r>
            <a:endParaRPr lang="en-US" sz="2000" dirty="0"/>
          </a:p>
        </p:txBody>
      </p:sp>
      <p:sp>
        <p:nvSpPr>
          <p:cNvPr id="12" name="Shape 10"/>
          <p:cNvSpPr/>
          <p:nvPr/>
        </p:nvSpPr>
        <p:spPr>
          <a:xfrm rot="10800000">
            <a:off x="20322540" y="2006600"/>
            <a:ext cx="2540318" cy="2540000"/>
          </a:xfrm>
          <a:prstGeom prst="roundRect">
            <a:avLst>
              <a:gd name="adj" fmla="val 9000"/>
            </a:avLst>
          </a:prstGeom>
          <a:solidFill>
            <a:srgbClr val="F6F6F6">
              <a:alpha val="100000"/>
            </a:srgbClr>
          </a:solidFill>
          <a:ln/>
        </p:spPr>
      </p:sp>
      <p:sp>
        <p:nvSpPr>
          <p:cNvPr id="13" name="Text 11"/>
          <p:cNvSpPr/>
          <p:nvPr/>
        </p:nvSpPr>
        <p:spPr>
          <a:xfrm>
            <a:off x="20881410" y="2628900"/>
            <a:ext cx="1663908"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6D6D6D">
                    <a:alpha val="100000"/>
                  </a:srgbClr>
                </a:solidFill>
                <a:latin typeface="Inter Medium" pitchFamily="34" charset="0"/>
                <a:ea typeface="Inter Medium" pitchFamily="34" charset="-122"/>
                <a:cs typeface="Inter Medium" pitchFamily="34" charset="-120"/>
              </a:rPr>
              <a:t>15%</a:t>
            </a:r>
            <a:endParaRPr lang="en-US" sz="6000" dirty="0"/>
          </a:p>
        </p:txBody>
      </p:sp>
      <p:sp>
        <p:nvSpPr>
          <p:cNvPr id="14" name="Text 12"/>
          <p:cNvSpPr/>
          <p:nvPr/>
        </p:nvSpPr>
        <p:spPr>
          <a:xfrm>
            <a:off x="21249756" y="3530600"/>
            <a:ext cx="75786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Other</a:t>
            </a:r>
            <a:endParaRPr lang="en-US" sz="2000" dirty="0"/>
          </a:p>
        </p:txBody>
      </p:sp>
      <p:pic>
        <p:nvPicPr>
          <p:cNvPr id="15"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9093200"/>
            <a:ext cx="8992724" cy="4622800"/>
          </a:xfrm>
          <a:prstGeom prst="rect">
            <a:avLst/>
          </a:prstGeom>
        </p:spPr>
      </p:pic>
      <p:sp>
        <p:nvSpPr>
          <p:cNvPr id="16" name="Text 13"/>
          <p:cNvSpPr/>
          <p:nvPr/>
        </p:nvSpPr>
        <p:spPr>
          <a:xfrm>
            <a:off x="1524191" y="9982200"/>
            <a:ext cx="2870559"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35%</a:t>
            </a:r>
            <a:endParaRPr lang="en-US" sz="9600" dirty="0"/>
          </a:p>
        </p:txBody>
      </p:sp>
      <p:sp>
        <p:nvSpPr>
          <p:cNvPr id="17" name="Text 14"/>
          <p:cNvSpPr/>
          <p:nvPr/>
        </p:nvSpPr>
        <p:spPr>
          <a:xfrm>
            <a:off x="1524191" y="11811000"/>
            <a:ext cx="191370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Rent &amp; Facilities</a:t>
            </a:r>
            <a:endParaRPr lang="en-US" sz="2000" dirty="0"/>
          </a:p>
        </p:txBody>
      </p:sp>
      <p:sp>
        <p:nvSpPr>
          <p:cNvPr id="20" name="Text 16"/>
          <p:cNvSpPr/>
          <p:nvPr/>
        </p:nvSpPr>
        <p:spPr>
          <a:xfrm>
            <a:off x="1524191" y="1524000"/>
            <a:ext cx="8484660"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Analyzing and Reducing Overhead Costs</a:t>
            </a:r>
            <a:endParaRPr lang="en-US" sz="6000" dirty="0"/>
          </a:p>
        </p:txBody>
      </p:sp>
      <p:sp>
        <p:nvSpPr>
          <p:cNvPr id="21" name="Text 17"/>
          <p:cNvSpPr/>
          <p:nvPr/>
        </p:nvSpPr>
        <p:spPr>
          <a:xfrm>
            <a:off x="1524191" y="3200400"/>
            <a:ext cx="8315306"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By breaking down overhead costs, we can target the largest and most controllable expenses for reduction.</a:t>
            </a:r>
            <a:endParaRPr lang="en-US" sz="2000" dirty="0"/>
          </a:p>
        </p:txBody>
      </p:sp>
      <p:pic>
        <p:nvPicPr>
          <p:cNvPr id="22"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9594" y="4775200"/>
            <a:ext cx="5372772" cy="3517900"/>
          </a:xfrm>
          <a:prstGeom prst="rect">
            <a:avLst/>
          </a:prstGeom>
        </p:spPr>
      </p:pic>
      <p:sp>
        <p:nvSpPr>
          <p:cNvPr id="23" name="Text 18"/>
          <p:cNvSpPr/>
          <p:nvPr/>
        </p:nvSpPr>
        <p:spPr>
          <a:xfrm>
            <a:off x="2489511" y="5410200"/>
            <a:ext cx="155382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Rent &amp; Facilities</a:t>
            </a:r>
            <a:endParaRPr lang="en-US" sz="1600" dirty="0"/>
          </a:p>
        </p:txBody>
      </p:sp>
      <p:sp>
        <p:nvSpPr>
          <p:cNvPr id="25" name="Text 19"/>
          <p:cNvSpPr/>
          <p:nvPr/>
        </p:nvSpPr>
        <p:spPr>
          <a:xfrm>
            <a:off x="2489511" y="6223000"/>
            <a:ext cx="77903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Utilities</a:t>
            </a:r>
            <a:endParaRPr lang="en-US" sz="1600" dirty="0"/>
          </a:p>
        </p:txBody>
      </p:sp>
      <p:pic>
        <p:nvPicPr>
          <p:cNvPr id="26"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59270" y="6275388"/>
            <a:ext cx="228635" cy="200025"/>
          </a:xfrm>
          <a:prstGeom prst="rect">
            <a:avLst/>
          </a:prstGeom>
        </p:spPr>
      </p:pic>
      <p:sp>
        <p:nvSpPr>
          <p:cNvPr id="27" name="Text 20"/>
          <p:cNvSpPr/>
          <p:nvPr/>
        </p:nvSpPr>
        <p:spPr>
          <a:xfrm>
            <a:off x="2489511" y="7035800"/>
            <a:ext cx="99495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Insurance</a:t>
            </a:r>
            <a:endParaRPr lang="en-US" sz="1600" dirty="0"/>
          </a:p>
        </p:txBody>
      </p:sp>
      <p:pic>
        <p:nvPicPr>
          <p:cNvPr id="28"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73559" y="7074613"/>
            <a:ext cx="200050" cy="223208"/>
          </a:xfrm>
          <a:prstGeom prst="rect">
            <a:avLst/>
          </a:prstGeom>
        </p:spPr>
      </p:pic>
      <p:sp>
        <p:nvSpPr>
          <p:cNvPr id="29" name="Text 21"/>
          <p:cNvSpPr/>
          <p:nvPr/>
        </p:nvSpPr>
        <p:spPr>
          <a:xfrm>
            <a:off x="2489511" y="5765800"/>
            <a:ext cx="389092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renegotiate leases, optimize space usage</a:t>
            </a:r>
            <a:endParaRPr lang="en-US" sz="1600" dirty="0"/>
          </a:p>
        </p:txBody>
      </p:sp>
      <p:sp>
        <p:nvSpPr>
          <p:cNvPr id="30" name="Text 22"/>
          <p:cNvSpPr/>
          <p:nvPr/>
        </p:nvSpPr>
        <p:spPr>
          <a:xfrm>
            <a:off x="2489511" y="6578600"/>
            <a:ext cx="33701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implement energy-saving measures</a:t>
            </a:r>
            <a:endParaRPr lang="en-US" sz="1600" dirty="0"/>
          </a:p>
        </p:txBody>
      </p:sp>
      <p:sp>
        <p:nvSpPr>
          <p:cNvPr id="31" name="Text 23"/>
          <p:cNvSpPr/>
          <p:nvPr/>
        </p:nvSpPr>
        <p:spPr>
          <a:xfrm>
            <a:off x="2489511" y="7391400"/>
            <a:ext cx="282398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re-bid policies for better rates </a:t>
            </a:r>
            <a:endParaRPr lang="en-US" sz="1600" dirty="0"/>
          </a:p>
        </p:txBody>
      </p:sp>
      <p:sp>
        <p:nvSpPr>
          <p:cNvPr id="32" name="Shape 24"/>
          <p:cNvSpPr/>
          <p:nvPr/>
        </p:nvSpPr>
        <p:spPr>
          <a:xfrm>
            <a:off x="2019552" y="4495800"/>
            <a:ext cx="558870" cy="558800"/>
          </a:xfrm>
          <a:prstGeom prst="ellipse">
            <a:avLst/>
          </a:prstGeom>
          <a:solidFill>
            <a:srgbClr val="000000">
              <a:alpha val="100000"/>
            </a:srgbClr>
          </a:solidFill>
          <a:ln/>
        </p:spPr>
      </p:sp>
      <p:pic>
        <p:nvPicPr>
          <p:cNvPr id="33"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21165" y="4597400"/>
            <a:ext cx="359255" cy="359210"/>
          </a:xfrm>
          <a:prstGeom prst="rect">
            <a:avLst/>
          </a:prstGeom>
        </p:spPr>
      </p:pic>
      <p:sp>
        <p:nvSpPr>
          <p:cNvPr id="34" name="Text 25"/>
          <p:cNvSpPr/>
          <p:nvPr/>
        </p:nvSpPr>
        <p:spPr>
          <a:xfrm>
            <a:off x="16677184" y="11836400"/>
            <a:ext cx="625341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Optimizing labor costs boosts efficiency and profits. Analyzing workforce allocation reduces expenses while keeping productivity.</a:t>
            </a:r>
            <a:endParaRPr lang="en-US" sz="1600" dirty="0"/>
          </a:p>
        </p:txBody>
      </p:sp>
      <p:pic>
        <p:nvPicPr>
          <p:cNvPr id="35"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397749" y="11887200"/>
            <a:ext cx="203225" cy="203200"/>
          </a:xfrm>
          <a:prstGeom prst="rect">
            <a:avLst/>
          </a:prstGeom>
        </p:spPr>
      </p:pic>
      <p:grpSp>
        <p:nvGrpSpPr>
          <p:cNvPr id="39" name="Group 38">
            <a:extLst>
              <a:ext uri="{FF2B5EF4-FFF2-40B4-BE49-F238E27FC236}">
                <a16:creationId xmlns:a16="http://schemas.microsoft.com/office/drawing/2014/main" id="{4B2891ED-7696-4029-BE9C-F691850CFAB2}"/>
              </a:ext>
            </a:extLst>
          </p:cNvPr>
          <p:cNvGrpSpPr/>
          <p:nvPr/>
        </p:nvGrpSpPr>
        <p:grpSpPr>
          <a:xfrm>
            <a:off x="7976597" y="9558867"/>
            <a:ext cx="558870" cy="558800"/>
            <a:chOff x="7976597" y="9550400"/>
            <a:chExt cx="558870" cy="558800"/>
          </a:xfrm>
        </p:grpSpPr>
        <p:sp>
          <p:nvSpPr>
            <p:cNvPr id="40" name="Shape 16">
              <a:extLst>
                <a:ext uri="{FF2B5EF4-FFF2-40B4-BE49-F238E27FC236}">
                  <a16:creationId xmlns:a16="http://schemas.microsoft.com/office/drawing/2014/main" id="{11F62FBA-ADF1-4A75-8BA7-72A2BB101139}"/>
                </a:ext>
              </a:extLst>
            </p:cNvPr>
            <p:cNvSpPr/>
            <p:nvPr/>
          </p:nvSpPr>
          <p:spPr>
            <a:xfrm>
              <a:off x="7976597" y="9550400"/>
              <a:ext cx="558870" cy="558800"/>
            </a:xfrm>
            <a:prstGeom prst="ellipse">
              <a:avLst/>
            </a:prstGeom>
            <a:solidFill>
              <a:srgbClr val="000000">
                <a:alpha val="100000"/>
              </a:srgbClr>
            </a:solidFill>
            <a:ln/>
          </p:spPr>
        </p:sp>
        <p:pic>
          <p:nvPicPr>
            <p:cNvPr id="41" name="Graphic 40">
              <a:extLst>
                <a:ext uri="{FF2B5EF4-FFF2-40B4-BE49-F238E27FC236}">
                  <a16:creationId xmlns:a16="http://schemas.microsoft.com/office/drawing/2014/main" id="{4DF1BFE9-DF48-45E0-A63C-8DBCEE2763C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32320" y="9602510"/>
              <a:ext cx="447423" cy="447423"/>
            </a:xfrm>
            <a:prstGeom prst="rect">
              <a:avLst/>
            </a:prstGeom>
          </p:spPr>
        </p:pic>
      </p:grpSp>
      <p:pic>
        <p:nvPicPr>
          <p:cNvPr id="43" name="Graphic 42">
            <a:extLst>
              <a:ext uri="{FF2B5EF4-FFF2-40B4-BE49-F238E27FC236}">
                <a16:creationId xmlns:a16="http://schemas.microsoft.com/office/drawing/2014/main" id="{AE562BA6-617A-4F7F-ABB3-4725B7B02C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59270" y="5447553"/>
            <a:ext cx="228635" cy="2286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9296400"/>
            <a:ext cx="24387048" cy="3149600"/>
          </a:xfrm>
          <a:prstGeom prst="rect">
            <a:avLst/>
          </a:prstGeom>
          <a:noFill/>
          <a:ln/>
        </p:spPr>
      </p:sp>
      <p:sp>
        <p:nvSpPr>
          <p:cNvPr id="3" name="Text 1"/>
          <p:cNvSpPr/>
          <p:nvPr/>
        </p:nvSpPr>
        <p:spPr>
          <a:xfrm>
            <a:off x="4470959" y="9436100"/>
            <a:ext cx="59274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SEO</a:t>
            </a:r>
            <a:endParaRPr lang="en-US" sz="2000" dirty="0"/>
          </a:p>
        </p:txBody>
      </p:sp>
      <p:sp>
        <p:nvSpPr>
          <p:cNvPr id="4" name="Text 2"/>
          <p:cNvSpPr/>
          <p:nvPr/>
        </p:nvSpPr>
        <p:spPr>
          <a:xfrm>
            <a:off x="9094337" y="9436100"/>
            <a:ext cx="61814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SEM</a:t>
            </a:r>
            <a:endParaRPr lang="en-US" sz="2000" dirty="0"/>
          </a:p>
        </p:txBody>
      </p:sp>
      <p:sp>
        <p:nvSpPr>
          <p:cNvPr id="5" name="Text 3"/>
          <p:cNvSpPr/>
          <p:nvPr/>
        </p:nvSpPr>
        <p:spPr>
          <a:xfrm>
            <a:off x="4064508" y="9893300"/>
            <a:ext cx="1083869"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$50</a:t>
            </a:r>
            <a:endParaRPr lang="en-US" sz="4000" dirty="0"/>
          </a:p>
        </p:txBody>
      </p:sp>
      <p:sp>
        <p:nvSpPr>
          <p:cNvPr id="6" name="Text 4"/>
          <p:cNvSpPr/>
          <p:nvPr/>
        </p:nvSpPr>
        <p:spPr>
          <a:xfrm>
            <a:off x="8713289" y="9893300"/>
            <a:ext cx="1083869"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$80</a:t>
            </a:r>
            <a:endParaRPr lang="en-US" sz="4000" dirty="0"/>
          </a:p>
        </p:txBody>
      </p:sp>
      <p:sp>
        <p:nvSpPr>
          <p:cNvPr id="7" name="Text 5"/>
          <p:cNvSpPr/>
          <p:nvPr/>
        </p:nvSpPr>
        <p:spPr>
          <a:xfrm>
            <a:off x="13323965" y="9893300"/>
            <a:ext cx="109657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$60</a:t>
            </a:r>
            <a:endParaRPr lang="en-US" sz="4000" dirty="0"/>
          </a:p>
        </p:txBody>
      </p:sp>
      <p:sp>
        <p:nvSpPr>
          <p:cNvPr id="8" name="Text 6"/>
          <p:cNvSpPr/>
          <p:nvPr/>
        </p:nvSpPr>
        <p:spPr>
          <a:xfrm>
            <a:off x="17972746" y="9893300"/>
            <a:ext cx="109657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$40</a:t>
            </a:r>
            <a:endParaRPr lang="en-US" sz="4000" dirty="0"/>
          </a:p>
        </p:txBody>
      </p:sp>
      <p:sp>
        <p:nvSpPr>
          <p:cNvPr id="9" name="Text 7"/>
          <p:cNvSpPr/>
          <p:nvPr/>
        </p:nvSpPr>
        <p:spPr>
          <a:xfrm>
            <a:off x="12777797" y="9436100"/>
            <a:ext cx="155806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Social Media</a:t>
            </a:r>
            <a:endParaRPr lang="en-US" sz="2000" dirty="0"/>
          </a:p>
        </p:txBody>
      </p:sp>
      <p:sp>
        <p:nvSpPr>
          <p:cNvPr id="10" name="Text 8"/>
          <p:cNvSpPr/>
          <p:nvPr/>
        </p:nvSpPr>
        <p:spPr>
          <a:xfrm>
            <a:off x="18277584" y="9436100"/>
            <a:ext cx="7070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Email</a:t>
            </a:r>
            <a:endParaRPr lang="en-US" sz="2000" dirty="0"/>
          </a:p>
        </p:txBody>
      </p:sp>
      <p:sp>
        <p:nvSpPr>
          <p:cNvPr id="11" name="Shape 9"/>
          <p:cNvSpPr/>
          <p:nvPr/>
        </p:nvSpPr>
        <p:spPr>
          <a:xfrm rot="10800000">
            <a:off x="0" y="10883900"/>
            <a:ext cx="5233054" cy="1562100"/>
          </a:xfrm>
          <a:prstGeom prst="rect">
            <a:avLst/>
          </a:prstGeom>
          <a:solidFill>
            <a:srgbClr val="FFDFDF">
              <a:alpha val="100000"/>
            </a:srgbClr>
          </a:solidFill>
          <a:ln/>
        </p:spPr>
      </p:sp>
      <p:sp>
        <p:nvSpPr>
          <p:cNvPr id="12" name="Shape 10"/>
          <p:cNvSpPr/>
          <p:nvPr/>
        </p:nvSpPr>
        <p:spPr>
          <a:xfrm rot="10800000">
            <a:off x="19153994" y="10883900"/>
            <a:ext cx="5233054" cy="1562100"/>
          </a:xfrm>
          <a:prstGeom prst="rect">
            <a:avLst/>
          </a:prstGeom>
          <a:solidFill>
            <a:srgbClr val="FF4D4D">
              <a:alpha val="100000"/>
            </a:srgbClr>
          </a:solidFill>
          <a:ln/>
        </p:spPr>
      </p:sp>
      <p:sp>
        <p:nvSpPr>
          <p:cNvPr id="13" name="Shape 11"/>
          <p:cNvSpPr/>
          <p:nvPr/>
        </p:nvSpPr>
        <p:spPr>
          <a:xfrm rot="10800000">
            <a:off x="5233054" y="10883900"/>
            <a:ext cx="4648781" cy="1562100"/>
          </a:xfrm>
          <a:prstGeom prst="rect">
            <a:avLst/>
          </a:prstGeom>
          <a:solidFill>
            <a:srgbClr val="FFC5C5">
              <a:alpha val="100000"/>
            </a:srgbClr>
          </a:solidFill>
          <a:ln/>
        </p:spPr>
      </p:sp>
      <p:sp>
        <p:nvSpPr>
          <p:cNvPr id="14" name="Shape 12"/>
          <p:cNvSpPr/>
          <p:nvPr/>
        </p:nvSpPr>
        <p:spPr>
          <a:xfrm rot="10800000">
            <a:off x="9881835" y="10883900"/>
            <a:ext cx="4623378" cy="1562100"/>
          </a:xfrm>
          <a:prstGeom prst="rect">
            <a:avLst/>
          </a:prstGeom>
          <a:solidFill>
            <a:srgbClr val="FF9D9D">
              <a:alpha val="100000"/>
            </a:srgbClr>
          </a:solidFill>
          <a:ln/>
        </p:spPr>
      </p:sp>
      <p:sp>
        <p:nvSpPr>
          <p:cNvPr id="15" name="Shape 13"/>
          <p:cNvSpPr/>
          <p:nvPr/>
        </p:nvSpPr>
        <p:spPr>
          <a:xfrm rot="10800000">
            <a:off x="14505213" y="10883900"/>
            <a:ext cx="4648781" cy="1562100"/>
          </a:xfrm>
          <a:prstGeom prst="rect">
            <a:avLst/>
          </a:prstGeom>
          <a:solidFill>
            <a:srgbClr val="FF6464">
              <a:alpha val="100000"/>
            </a:srgbClr>
          </a:solidFill>
          <a:ln/>
        </p:spPr>
      </p:sp>
      <p:pic>
        <p:nvPicPr>
          <p:cNvPr id="1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6703" y="9296400"/>
            <a:ext cx="12702" cy="3149600"/>
          </a:xfrm>
          <a:prstGeom prst="rect">
            <a:avLst/>
          </a:prstGeom>
        </p:spPr>
      </p:pic>
      <p:pic>
        <p:nvPicPr>
          <p:cNvPr id="17"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75484" y="9296400"/>
            <a:ext cx="12702" cy="3149600"/>
          </a:xfrm>
          <a:prstGeom prst="rect">
            <a:avLst/>
          </a:prstGeom>
        </p:spPr>
      </p:pic>
      <p:pic>
        <p:nvPicPr>
          <p:cNvPr id="18"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98862" y="9296400"/>
            <a:ext cx="12702" cy="3149600"/>
          </a:xfrm>
          <a:prstGeom prst="rect">
            <a:avLst/>
          </a:prstGeom>
        </p:spPr>
      </p:pic>
      <p:pic>
        <p:nvPicPr>
          <p:cNvPr id="19"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47643" y="9296400"/>
            <a:ext cx="12702" cy="3149600"/>
          </a:xfrm>
          <a:prstGeom prst="rect">
            <a:avLst/>
          </a:prstGeom>
        </p:spPr>
      </p:pic>
      <p:sp>
        <p:nvSpPr>
          <p:cNvPr id="20" name="Shape 14"/>
          <p:cNvSpPr/>
          <p:nvPr/>
        </p:nvSpPr>
        <p:spPr>
          <a:xfrm rot="10800000">
            <a:off x="1524191" y="4648200"/>
            <a:ext cx="3251606" cy="2362200"/>
          </a:xfrm>
          <a:prstGeom prst="roundRect">
            <a:avLst>
              <a:gd name="adj" fmla="val 5419"/>
            </a:avLst>
          </a:prstGeom>
          <a:solidFill>
            <a:srgbClr val="FF4D4D">
              <a:alpha val="100000"/>
            </a:srgbClr>
          </a:solidFill>
          <a:ln/>
        </p:spPr>
      </p:sp>
      <p:sp>
        <p:nvSpPr>
          <p:cNvPr id="21" name="Shape 15"/>
          <p:cNvSpPr/>
          <p:nvPr/>
        </p:nvSpPr>
        <p:spPr>
          <a:xfrm>
            <a:off x="3848581" y="4368800"/>
            <a:ext cx="558870" cy="558800"/>
          </a:xfrm>
          <a:prstGeom prst="ellipse">
            <a:avLst/>
          </a:prstGeom>
          <a:solidFill>
            <a:srgbClr val="000000">
              <a:alpha val="100000"/>
            </a:srgbClr>
          </a:solidFill>
          <a:ln/>
        </p:spPr>
      </p:sp>
      <p:sp>
        <p:nvSpPr>
          <p:cNvPr id="22" name="Text 16"/>
          <p:cNvSpPr/>
          <p:nvPr/>
        </p:nvSpPr>
        <p:spPr>
          <a:xfrm>
            <a:off x="2057657" y="5664200"/>
            <a:ext cx="2006851"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$100</a:t>
            </a:r>
            <a:endParaRPr lang="en-US" sz="6000" dirty="0"/>
          </a:p>
        </p:txBody>
      </p:sp>
      <p:sp>
        <p:nvSpPr>
          <p:cNvPr id="23" name="Text 17"/>
          <p:cNvSpPr/>
          <p:nvPr/>
        </p:nvSpPr>
        <p:spPr>
          <a:xfrm>
            <a:off x="2057657" y="51562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Events</a:t>
            </a:r>
            <a:endParaRPr lang="en-US" sz="2000" dirty="0"/>
          </a:p>
        </p:txBody>
      </p:sp>
      <p:pic>
        <p:nvPicPr>
          <p:cNvPr id="24"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42614" y="4562810"/>
            <a:ext cx="174413" cy="174389"/>
          </a:xfrm>
          <a:prstGeom prst="rect">
            <a:avLst/>
          </a:prstGeom>
        </p:spPr>
      </p:pic>
      <p:sp>
        <p:nvSpPr>
          <p:cNvPr id="25" name="Text 18"/>
          <p:cNvSpPr/>
          <p:nvPr/>
        </p:nvSpPr>
        <p:spPr>
          <a:xfrm>
            <a:off x="1524191" y="2184400"/>
            <a:ext cx="9996149"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Optimizing Marketing Spend</a:t>
            </a:r>
            <a:endParaRPr lang="en-US" sz="6000" dirty="0"/>
          </a:p>
        </p:txBody>
      </p:sp>
      <p:sp>
        <p:nvSpPr>
          <p:cNvPr id="26" name="Text 19"/>
          <p:cNvSpPr/>
          <p:nvPr/>
        </p:nvSpPr>
        <p:spPr>
          <a:xfrm>
            <a:off x="1524191" y="3098800"/>
            <a:ext cx="9204417"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By tracking performance and ROI across marketing channels, we can reallocate spend to maximize efficiency and reduce cost per acquisition.</a:t>
            </a:r>
            <a:endParaRPr lang="en-US" sz="2000" dirty="0"/>
          </a:p>
        </p:txBody>
      </p:sp>
      <p:sp>
        <p:nvSpPr>
          <p:cNvPr id="27" name="Shape 20"/>
          <p:cNvSpPr/>
          <p:nvPr/>
        </p:nvSpPr>
        <p:spPr>
          <a:xfrm>
            <a:off x="16804200" y="2184400"/>
            <a:ext cx="6058657" cy="5346700"/>
          </a:xfrm>
          <a:prstGeom prst="rect">
            <a:avLst/>
          </a:prstGeom>
          <a:noFill/>
          <a:ln/>
        </p:spPr>
      </p:sp>
      <p:sp>
        <p:nvSpPr>
          <p:cNvPr id="28" name="Shape 21"/>
          <p:cNvSpPr/>
          <p:nvPr/>
        </p:nvSpPr>
        <p:spPr>
          <a:xfrm>
            <a:off x="16804200" y="2184400"/>
            <a:ext cx="6058657" cy="1562100"/>
          </a:xfrm>
          <a:prstGeom prst="rect">
            <a:avLst/>
          </a:prstGeom>
          <a:noFill/>
          <a:ln/>
        </p:spPr>
      </p:sp>
      <p:sp>
        <p:nvSpPr>
          <p:cNvPr id="29" name="Shape 22"/>
          <p:cNvSpPr/>
          <p:nvPr/>
        </p:nvSpPr>
        <p:spPr>
          <a:xfrm rot="10800000">
            <a:off x="16804206" y="2184400"/>
            <a:ext cx="6058657" cy="1562100"/>
          </a:xfrm>
          <a:prstGeom prst="roundRect">
            <a:avLst>
              <a:gd name="adj" fmla="val 9951"/>
            </a:avLst>
          </a:prstGeom>
          <a:solidFill>
            <a:srgbClr val="FF4D4D">
              <a:alpha val="100000"/>
            </a:srgbClr>
          </a:solidFill>
          <a:ln/>
        </p:spPr>
      </p:sp>
      <p:sp>
        <p:nvSpPr>
          <p:cNvPr id="30" name="Text 23"/>
          <p:cNvSpPr/>
          <p:nvPr/>
        </p:nvSpPr>
        <p:spPr>
          <a:xfrm>
            <a:off x="17185248" y="25654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Email and Seo</a:t>
            </a:r>
            <a:endParaRPr lang="en-US" sz="2000" dirty="0"/>
          </a:p>
        </p:txBody>
      </p:sp>
      <p:sp>
        <p:nvSpPr>
          <p:cNvPr id="31" name="Text 24"/>
          <p:cNvSpPr/>
          <p:nvPr/>
        </p:nvSpPr>
        <p:spPr>
          <a:xfrm>
            <a:off x="17185248" y="30395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FFDFDF">
                    <a:alpha val="100000"/>
                  </a:srgbClr>
                </a:solidFill>
                <a:latin typeface="Inter Regular" pitchFamily="34" charset="0"/>
                <a:ea typeface="Inter Regular" pitchFamily="34" charset="-122"/>
                <a:cs typeface="Inter Regular" pitchFamily="34" charset="-120"/>
              </a:rPr>
              <a:t>Email and SEO have the lowest CPA and highest efficiency</a:t>
            </a:r>
            <a:endParaRPr lang="en-US" sz="1600" dirty="0"/>
          </a:p>
        </p:txBody>
      </p:sp>
      <p:sp>
        <p:nvSpPr>
          <p:cNvPr id="33" name="Shape 25"/>
          <p:cNvSpPr/>
          <p:nvPr/>
        </p:nvSpPr>
        <p:spPr>
          <a:xfrm>
            <a:off x="16804200" y="4076700"/>
            <a:ext cx="6058657" cy="1562100"/>
          </a:xfrm>
          <a:prstGeom prst="rect">
            <a:avLst/>
          </a:prstGeom>
          <a:noFill/>
          <a:ln/>
        </p:spPr>
      </p:sp>
      <p:pic>
        <p:nvPicPr>
          <p:cNvPr id="34"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804206" y="4076700"/>
            <a:ext cx="6058657" cy="1562100"/>
          </a:xfrm>
          <a:prstGeom prst="rect">
            <a:avLst/>
          </a:prstGeom>
        </p:spPr>
      </p:pic>
      <p:sp>
        <p:nvSpPr>
          <p:cNvPr id="35" name="Text 26"/>
          <p:cNvSpPr/>
          <p:nvPr/>
        </p:nvSpPr>
        <p:spPr>
          <a:xfrm>
            <a:off x="17185248" y="44577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Reduce Spend</a:t>
            </a:r>
            <a:endParaRPr lang="en-US" sz="2000" dirty="0"/>
          </a:p>
        </p:txBody>
      </p:sp>
      <p:sp>
        <p:nvSpPr>
          <p:cNvPr id="36" name="Text 27"/>
          <p:cNvSpPr/>
          <p:nvPr/>
        </p:nvSpPr>
        <p:spPr>
          <a:xfrm>
            <a:off x="17185248" y="49318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Events have the lowest efficiency and highest CPA</a:t>
            </a:r>
            <a:endParaRPr lang="en-US" sz="1600" dirty="0"/>
          </a:p>
        </p:txBody>
      </p:sp>
      <p:sp>
        <p:nvSpPr>
          <p:cNvPr id="37" name="Shape 28"/>
          <p:cNvSpPr/>
          <p:nvPr/>
        </p:nvSpPr>
        <p:spPr>
          <a:xfrm>
            <a:off x="16804200" y="5969000"/>
            <a:ext cx="6058657" cy="1562100"/>
          </a:xfrm>
          <a:prstGeom prst="rect">
            <a:avLst/>
          </a:prstGeom>
          <a:noFill/>
          <a:ln/>
        </p:spPr>
      </p:sp>
      <p:pic>
        <p:nvPicPr>
          <p:cNvPr id="38" name="Image 7" descr=" "/>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16804206" y="5969000"/>
            <a:ext cx="6058657" cy="1562100"/>
          </a:xfrm>
          <a:prstGeom prst="rect">
            <a:avLst/>
          </a:prstGeom>
        </p:spPr>
      </p:pic>
      <p:sp>
        <p:nvSpPr>
          <p:cNvPr id="39" name="Text 29"/>
          <p:cNvSpPr/>
          <p:nvPr/>
        </p:nvSpPr>
        <p:spPr>
          <a:xfrm>
            <a:off x="17185248" y="6350000"/>
            <a:ext cx="3699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SEM Performance</a:t>
            </a:r>
            <a:endParaRPr lang="en-US" sz="2000" dirty="0"/>
          </a:p>
        </p:txBody>
      </p:sp>
      <p:sp>
        <p:nvSpPr>
          <p:cNvPr id="40" name="Text 30"/>
          <p:cNvSpPr/>
          <p:nvPr/>
        </p:nvSpPr>
        <p:spPr>
          <a:xfrm>
            <a:off x="17185248" y="6824133"/>
            <a:ext cx="5512723"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SEM performance improves with better targeting</a:t>
            </a:r>
            <a:endParaRPr lang="en-US" sz="1600" dirty="0"/>
          </a:p>
        </p:txBody>
      </p:sp>
      <p:grpSp>
        <p:nvGrpSpPr>
          <p:cNvPr id="41" name="Group 40">
            <a:extLst>
              <a:ext uri="{FF2B5EF4-FFF2-40B4-BE49-F238E27FC236}">
                <a16:creationId xmlns:a16="http://schemas.microsoft.com/office/drawing/2014/main" id="{F0B771E7-F0AC-4A53-AA5C-0F6AC2C06AE5}"/>
              </a:ext>
            </a:extLst>
          </p:cNvPr>
          <p:cNvGrpSpPr/>
          <p:nvPr/>
        </p:nvGrpSpPr>
        <p:grpSpPr>
          <a:xfrm>
            <a:off x="22303990" y="2379133"/>
            <a:ext cx="372580" cy="372533"/>
            <a:chOff x="4839305" y="4368800"/>
            <a:chExt cx="558870" cy="558800"/>
          </a:xfrm>
        </p:grpSpPr>
        <p:sp>
          <p:nvSpPr>
            <p:cNvPr id="42" name="Shape 34">
              <a:extLst>
                <a:ext uri="{FF2B5EF4-FFF2-40B4-BE49-F238E27FC236}">
                  <a16:creationId xmlns:a16="http://schemas.microsoft.com/office/drawing/2014/main" id="{D8CB4424-5EBA-4B3E-BE97-03B9A171102E}"/>
                </a:ext>
              </a:extLst>
            </p:cNvPr>
            <p:cNvSpPr/>
            <p:nvPr/>
          </p:nvSpPr>
          <p:spPr>
            <a:xfrm>
              <a:off x="4839305" y="4368800"/>
              <a:ext cx="558870" cy="558800"/>
            </a:xfrm>
            <a:prstGeom prst="ellipse">
              <a:avLst/>
            </a:prstGeom>
            <a:solidFill>
              <a:srgbClr val="000000">
                <a:alpha val="100000"/>
              </a:srgbClr>
            </a:solidFill>
            <a:ln/>
          </p:spPr>
        </p:sp>
        <p:pic>
          <p:nvPicPr>
            <p:cNvPr id="43" name="Image 8" descr=" ">
              <a:extLst>
                <a:ext uri="{FF2B5EF4-FFF2-40B4-BE49-F238E27FC236}">
                  <a16:creationId xmlns:a16="http://schemas.microsoft.com/office/drawing/2014/main" id="{7F7BE539-288D-4A80-819F-3EF5DC19BA5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40917" y="4470400"/>
              <a:ext cx="359255" cy="35921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graphicFrame>
        <p:nvGraphicFramePr>
          <p:cNvPr id="50" name="Chart 49">
            <a:extLst>
              <a:ext uri="{FF2B5EF4-FFF2-40B4-BE49-F238E27FC236}">
                <a16:creationId xmlns:a16="http://schemas.microsoft.com/office/drawing/2014/main" id="{718A419C-C5A1-4103-9B6E-FDC18576E5B0}"/>
              </a:ext>
            </a:extLst>
          </p:cNvPr>
          <p:cNvGraphicFramePr/>
          <p:nvPr>
            <p:extLst>
              <p:ext uri="{D42A27DB-BD31-4B8C-83A1-F6EECF244321}">
                <p14:modId xmlns:p14="http://schemas.microsoft.com/office/powerpoint/2010/main" val="712456698"/>
              </p:ext>
            </p:extLst>
          </p:nvPr>
        </p:nvGraphicFramePr>
        <p:xfrm>
          <a:off x="12093700" y="5284278"/>
          <a:ext cx="10878550" cy="7438672"/>
        </p:xfrm>
        <a:graphic>
          <a:graphicData uri="http://schemas.openxmlformats.org/drawingml/2006/chart">
            <c:chart xmlns:c="http://schemas.openxmlformats.org/drawingml/2006/chart" xmlns:r="http://schemas.openxmlformats.org/officeDocument/2006/relationships" r:id="rId3"/>
          </a:graphicData>
        </a:graphic>
      </p:graphicFrame>
      <p:sp>
        <p:nvSpPr>
          <p:cNvPr id="2" name="Shape 0"/>
          <p:cNvSpPr/>
          <p:nvPr/>
        </p:nvSpPr>
        <p:spPr>
          <a:xfrm>
            <a:off x="12320540" y="5143500"/>
            <a:ext cx="10555019" cy="7429500"/>
          </a:xfrm>
          <a:prstGeom prst="rect">
            <a:avLst/>
          </a:prstGeom>
          <a:noFill/>
          <a:ln/>
        </p:spPr>
      </p:sp>
      <p:grpSp>
        <p:nvGrpSpPr>
          <p:cNvPr id="59" name="Group 58">
            <a:extLst>
              <a:ext uri="{FF2B5EF4-FFF2-40B4-BE49-F238E27FC236}">
                <a16:creationId xmlns:a16="http://schemas.microsoft.com/office/drawing/2014/main" id="{03A6D0EA-0499-4BBA-BD58-6B3F51D1DCBD}"/>
              </a:ext>
            </a:extLst>
          </p:cNvPr>
          <p:cNvGrpSpPr/>
          <p:nvPr/>
        </p:nvGrpSpPr>
        <p:grpSpPr>
          <a:xfrm>
            <a:off x="12320540" y="9367743"/>
            <a:ext cx="1508811" cy="1032933"/>
            <a:chOff x="12320540" y="6718300"/>
            <a:chExt cx="1508811" cy="1032933"/>
          </a:xfrm>
        </p:grpSpPr>
        <p:sp>
          <p:nvSpPr>
            <p:cNvPr id="7" name="Text 4"/>
            <p:cNvSpPr/>
            <p:nvPr/>
          </p:nvSpPr>
          <p:spPr>
            <a:xfrm>
              <a:off x="12320540" y="6718300"/>
              <a:ext cx="82983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Lighting</a:t>
              </a:r>
              <a:endParaRPr lang="en-US" sz="1600" dirty="0"/>
            </a:p>
          </p:txBody>
        </p:sp>
        <p:pic>
          <p:nvPicPr>
            <p:cNvPr id="51" name="Image 8" descr=" ">
              <a:extLst>
                <a:ext uri="{FF2B5EF4-FFF2-40B4-BE49-F238E27FC236}">
                  <a16:creationId xmlns:a16="http://schemas.microsoft.com/office/drawing/2014/main" id="{4D836540-DA1D-417E-8482-121995D9EA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a:off x="12346306" y="7034398"/>
              <a:ext cx="277738" cy="283152"/>
            </a:xfrm>
            <a:prstGeom prst="rect">
              <a:avLst/>
            </a:prstGeom>
          </p:spPr>
        </p:pic>
        <p:sp>
          <p:nvSpPr>
            <p:cNvPr id="8" name="Text 5"/>
            <p:cNvSpPr/>
            <p:nvPr/>
          </p:nvSpPr>
          <p:spPr>
            <a:xfrm>
              <a:off x="12656571" y="7023100"/>
              <a:ext cx="117278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50%</a:t>
              </a:r>
              <a:endParaRPr lang="en-US" sz="4000" dirty="0"/>
            </a:p>
          </p:txBody>
        </p:sp>
      </p:grpSp>
      <p:grpSp>
        <p:nvGrpSpPr>
          <p:cNvPr id="57" name="Group 56">
            <a:extLst>
              <a:ext uri="{FF2B5EF4-FFF2-40B4-BE49-F238E27FC236}">
                <a16:creationId xmlns:a16="http://schemas.microsoft.com/office/drawing/2014/main" id="{3C5CD084-9F29-4935-BA9F-77667F23447A}"/>
              </a:ext>
            </a:extLst>
          </p:cNvPr>
          <p:cNvGrpSpPr/>
          <p:nvPr/>
        </p:nvGrpSpPr>
        <p:grpSpPr>
          <a:xfrm>
            <a:off x="15117418" y="7354453"/>
            <a:ext cx="1496109" cy="1032933"/>
            <a:chOff x="15025978" y="5778500"/>
            <a:chExt cx="1496109" cy="1032933"/>
          </a:xfrm>
        </p:grpSpPr>
        <p:sp>
          <p:nvSpPr>
            <p:cNvPr id="14" name="Text 9"/>
            <p:cNvSpPr/>
            <p:nvPr/>
          </p:nvSpPr>
          <p:spPr>
            <a:xfrm>
              <a:off x="15025978" y="5778500"/>
              <a:ext cx="62661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HVAC</a:t>
              </a:r>
              <a:endParaRPr lang="en-US" sz="1600" dirty="0"/>
            </a:p>
          </p:txBody>
        </p:sp>
        <p:sp>
          <p:nvSpPr>
            <p:cNvPr id="15" name="Text 10"/>
            <p:cNvSpPr/>
            <p:nvPr/>
          </p:nvSpPr>
          <p:spPr>
            <a:xfrm>
              <a:off x="15362009" y="6083300"/>
              <a:ext cx="1160078"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25%</a:t>
              </a:r>
              <a:endParaRPr lang="en-US" sz="4000" dirty="0"/>
            </a:p>
          </p:txBody>
        </p:sp>
        <p:pic>
          <p:nvPicPr>
            <p:cNvPr id="52" name="Image 8" descr=" ">
              <a:extLst>
                <a:ext uri="{FF2B5EF4-FFF2-40B4-BE49-F238E27FC236}">
                  <a16:creationId xmlns:a16="http://schemas.microsoft.com/office/drawing/2014/main" id="{A0CB7C27-DB14-417A-AED1-92D2B534D1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a:off x="15048775" y="6103164"/>
              <a:ext cx="277738" cy="283152"/>
            </a:xfrm>
            <a:prstGeom prst="rect">
              <a:avLst/>
            </a:prstGeom>
          </p:spPr>
        </p:pic>
      </p:grpSp>
      <p:grpSp>
        <p:nvGrpSpPr>
          <p:cNvPr id="56" name="Group 55">
            <a:extLst>
              <a:ext uri="{FF2B5EF4-FFF2-40B4-BE49-F238E27FC236}">
                <a16:creationId xmlns:a16="http://schemas.microsoft.com/office/drawing/2014/main" id="{1CE848C6-1A58-48F3-9736-4112B59D9883}"/>
              </a:ext>
            </a:extLst>
          </p:cNvPr>
          <p:cNvGrpSpPr/>
          <p:nvPr/>
        </p:nvGrpSpPr>
        <p:grpSpPr>
          <a:xfrm>
            <a:off x="17731416" y="4777740"/>
            <a:ext cx="1432601" cy="1032933"/>
            <a:chOff x="17731416" y="5143500"/>
            <a:chExt cx="1432601" cy="1032933"/>
          </a:xfrm>
        </p:grpSpPr>
        <p:pic>
          <p:nvPicPr>
            <p:cNvPr id="53" name="Image 8" descr=" ">
              <a:extLst>
                <a:ext uri="{FF2B5EF4-FFF2-40B4-BE49-F238E27FC236}">
                  <a16:creationId xmlns:a16="http://schemas.microsoft.com/office/drawing/2014/main" id="{C4D17BB2-E2EE-44CC-AED7-602D068DBF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a:off x="17754213" y="5461664"/>
              <a:ext cx="277738" cy="283152"/>
            </a:xfrm>
            <a:prstGeom prst="rect">
              <a:avLst/>
            </a:prstGeom>
          </p:spPr>
        </p:pic>
        <p:sp>
          <p:nvSpPr>
            <p:cNvPr id="21" name="Text 14"/>
            <p:cNvSpPr/>
            <p:nvPr/>
          </p:nvSpPr>
          <p:spPr>
            <a:xfrm>
              <a:off x="17731416" y="5143500"/>
              <a:ext cx="10711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Machinery</a:t>
              </a:r>
              <a:endParaRPr lang="en-US" sz="1600" dirty="0"/>
            </a:p>
          </p:txBody>
        </p:sp>
        <p:sp>
          <p:nvSpPr>
            <p:cNvPr id="22" name="Text 15"/>
            <p:cNvSpPr/>
            <p:nvPr/>
          </p:nvSpPr>
          <p:spPr>
            <a:xfrm>
              <a:off x="18067447" y="5448300"/>
              <a:ext cx="109657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10%</a:t>
              </a:r>
              <a:endParaRPr lang="en-US" sz="4000" dirty="0"/>
            </a:p>
          </p:txBody>
        </p:sp>
      </p:grpSp>
      <p:grpSp>
        <p:nvGrpSpPr>
          <p:cNvPr id="55" name="Group 54">
            <a:extLst>
              <a:ext uri="{FF2B5EF4-FFF2-40B4-BE49-F238E27FC236}">
                <a16:creationId xmlns:a16="http://schemas.microsoft.com/office/drawing/2014/main" id="{D5F6902B-A729-48C7-8940-D8F2D99DFA15}"/>
              </a:ext>
            </a:extLst>
          </p:cNvPr>
          <p:cNvGrpSpPr/>
          <p:nvPr/>
        </p:nvGrpSpPr>
        <p:grpSpPr>
          <a:xfrm>
            <a:off x="20449556" y="9428703"/>
            <a:ext cx="1508811" cy="1032933"/>
            <a:chOff x="20449556" y="7315200"/>
            <a:chExt cx="1508811" cy="1032933"/>
          </a:xfrm>
        </p:grpSpPr>
        <p:sp>
          <p:nvSpPr>
            <p:cNvPr id="28" name="Text 19"/>
            <p:cNvSpPr/>
            <p:nvPr/>
          </p:nvSpPr>
          <p:spPr>
            <a:xfrm>
              <a:off x="20449556" y="7315200"/>
              <a:ext cx="131249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IT Equipment</a:t>
              </a:r>
              <a:endParaRPr lang="en-US" sz="1600" dirty="0"/>
            </a:p>
          </p:txBody>
        </p:sp>
        <p:sp>
          <p:nvSpPr>
            <p:cNvPr id="29" name="Text 20"/>
            <p:cNvSpPr/>
            <p:nvPr/>
          </p:nvSpPr>
          <p:spPr>
            <a:xfrm>
              <a:off x="20785587" y="7620000"/>
              <a:ext cx="117278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20%</a:t>
              </a:r>
              <a:endParaRPr lang="en-US" sz="4000" dirty="0"/>
            </a:p>
          </p:txBody>
        </p:sp>
        <p:pic>
          <p:nvPicPr>
            <p:cNvPr id="54" name="Image 8" descr=" ">
              <a:extLst>
                <a:ext uri="{FF2B5EF4-FFF2-40B4-BE49-F238E27FC236}">
                  <a16:creationId xmlns:a16="http://schemas.microsoft.com/office/drawing/2014/main" id="{6AD34F8D-89F7-4761-B4E2-F1B4FF3CE1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a:off x="20472353" y="7640070"/>
              <a:ext cx="277738" cy="283152"/>
            </a:xfrm>
            <a:prstGeom prst="rect">
              <a:avLst/>
            </a:prstGeom>
          </p:spPr>
        </p:pic>
      </p:grpSp>
      <p:sp>
        <p:nvSpPr>
          <p:cNvPr id="31" name="Shape 21"/>
          <p:cNvSpPr/>
          <p:nvPr/>
        </p:nvSpPr>
        <p:spPr>
          <a:xfrm>
            <a:off x="1486086" y="4292600"/>
            <a:ext cx="7849581" cy="4279900"/>
          </a:xfrm>
          <a:prstGeom prst="rect">
            <a:avLst/>
          </a:prstGeom>
          <a:noFill/>
          <a:ln/>
        </p:spPr>
      </p:sp>
      <p:pic>
        <p:nvPicPr>
          <p:cNvPr id="32" name="Image 8"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86086" y="4292600"/>
            <a:ext cx="7849581" cy="4279900"/>
          </a:xfrm>
          <a:prstGeom prst="rect">
            <a:avLst/>
          </a:prstGeom>
        </p:spPr>
      </p:pic>
      <p:sp>
        <p:nvSpPr>
          <p:cNvPr id="33" name="Text 22"/>
          <p:cNvSpPr/>
          <p:nvPr/>
        </p:nvSpPr>
        <p:spPr>
          <a:xfrm rot="16200000">
            <a:off x="644317" y="6061134"/>
            <a:ext cx="243023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Operational Energy Costs</a:t>
            </a:r>
            <a:endParaRPr lang="en-US" sz="1600" dirty="0"/>
          </a:p>
        </p:txBody>
      </p:sp>
      <p:graphicFrame>
        <p:nvGraphicFramePr>
          <p:cNvPr id="61" name="Chart 60">
            <a:extLst>
              <a:ext uri="{FF2B5EF4-FFF2-40B4-BE49-F238E27FC236}">
                <a16:creationId xmlns:a16="http://schemas.microsoft.com/office/drawing/2014/main" id="{A2113F99-E908-4A97-85AA-00AD083CD15C}"/>
              </a:ext>
            </a:extLst>
          </p:cNvPr>
          <p:cNvGraphicFramePr/>
          <p:nvPr>
            <p:extLst>
              <p:ext uri="{D42A27DB-BD31-4B8C-83A1-F6EECF244321}">
                <p14:modId xmlns:p14="http://schemas.microsoft.com/office/powerpoint/2010/main" val="959006317"/>
              </p:ext>
            </p:extLst>
          </p:nvPr>
        </p:nvGraphicFramePr>
        <p:xfrm>
          <a:off x="1883216" y="4443656"/>
          <a:ext cx="7093836" cy="3571195"/>
        </p:xfrm>
        <a:graphic>
          <a:graphicData uri="http://schemas.openxmlformats.org/drawingml/2006/chart">
            <c:chart xmlns:c="http://schemas.openxmlformats.org/drawingml/2006/chart" xmlns:r="http://schemas.openxmlformats.org/officeDocument/2006/relationships" r:id="rId8"/>
          </a:graphicData>
        </a:graphic>
      </p:graphicFrame>
      <p:sp>
        <p:nvSpPr>
          <p:cNvPr id="34" name="Text 23"/>
          <p:cNvSpPr/>
          <p:nvPr/>
        </p:nvSpPr>
        <p:spPr>
          <a:xfrm rot="21600000">
            <a:off x="5304700" y="8014853"/>
            <a:ext cx="53770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Time</a:t>
            </a:r>
            <a:endParaRPr lang="en-US" sz="1600" dirty="0"/>
          </a:p>
        </p:txBody>
      </p:sp>
      <p:pic>
        <p:nvPicPr>
          <p:cNvPr id="36" name="Image 10"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13202" y="4851400"/>
            <a:ext cx="6992224" cy="3041650"/>
          </a:xfrm>
          <a:prstGeom prst="rect">
            <a:avLst/>
          </a:prstGeom>
        </p:spPr>
      </p:pic>
      <p:sp>
        <p:nvSpPr>
          <p:cNvPr id="37" name="Text 24"/>
          <p:cNvSpPr/>
          <p:nvPr/>
        </p:nvSpPr>
        <p:spPr>
          <a:xfrm>
            <a:off x="1524191" y="1524000"/>
            <a:ext cx="9996149"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Energy and Sustainability Initiatives for Cost Reduction</a:t>
            </a:r>
            <a:endParaRPr lang="en-US" sz="6000" dirty="0"/>
          </a:p>
        </p:txBody>
      </p:sp>
      <p:sp>
        <p:nvSpPr>
          <p:cNvPr id="38" name="Text 25"/>
          <p:cNvSpPr/>
          <p:nvPr/>
        </p:nvSpPr>
        <p:spPr>
          <a:xfrm>
            <a:off x="15064083" y="1911350"/>
            <a:ext cx="7883452" cy="8339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Implementing energy-efficient solutions not only reduces environmental impact but also delivers long-term cost savings.</a:t>
            </a:r>
            <a:endParaRPr lang="en-US" sz="2000" dirty="0"/>
          </a:p>
        </p:txBody>
      </p:sp>
      <p:pic>
        <p:nvPicPr>
          <p:cNvPr id="39"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86086" y="9702800"/>
            <a:ext cx="4293137" cy="2870200"/>
          </a:xfrm>
          <a:prstGeom prst="rect">
            <a:avLst/>
          </a:prstGeom>
        </p:spPr>
      </p:pic>
      <p:sp>
        <p:nvSpPr>
          <p:cNvPr id="40" name="Text 26"/>
          <p:cNvSpPr/>
          <p:nvPr/>
        </p:nvSpPr>
        <p:spPr>
          <a:xfrm>
            <a:off x="2489511" y="10337800"/>
            <a:ext cx="22143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LED lighting installation</a:t>
            </a:r>
            <a:endParaRPr lang="en-US" sz="1600" dirty="0"/>
          </a:p>
        </p:txBody>
      </p:sp>
      <p:pic>
        <p:nvPicPr>
          <p:cNvPr id="41"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55037" y="10384365"/>
            <a:ext cx="211694" cy="211665"/>
          </a:xfrm>
          <a:prstGeom prst="rect">
            <a:avLst/>
          </a:prstGeom>
        </p:spPr>
      </p:pic>
      <p:sp>
        <p:nvSpPr>
          <p:cNvPr id="42" name="Text 27"/>
          <p:cNvSpPr/>
          <p:nvPr/>
        </p:nvSpPr>
        <p:spPr>
          <a:xfrm>
            <a:off x="2489511" y="10769600"/>
            <a:ext cx="24937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HVAC efficiency upgrades</a:t>
            </a:r>
            <a:endParaRPr lang="en-US" sz="1600" dirty="0"/>
          </a:p>
        </p:txBody>
      </p:sp>
      <p:pic>
        <p:nvPicPr>
          <p:cNvPr id="43" name="Image 13"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55037" y="10816165"/>
            <a:ext cx="211694" cy="211665"/>
          </a:xfrm>
          <a:prstGeom prst="rect">
            <a:avLst/>
          </a:prstGeom>
        </p:spPr>
      </p:pic>
      <p:sp>
        <p:nvSpPr>
          <p:cNvPr id="44" name="Text 28"/>
          <p:cNvSpPr/>
          <p:nvPr/>
        </p:nvSpPr>
        <p:spPr>
          <a:xfrm>
            <a:off x="2489511" y="11201400"/>
            <a:ext cx="258265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Energy-efficient machinery</a:t>
            </a:r>
            <a:endParaRPr lang="en-US" sz="1600" dirty="0"/>
          </a:p>
        </p:txBody>
      </p:sp>
      <p:pic>
        <p:nvPicPr>
          <p:cNvPr id="45" name="Image 14"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55037" y="11247965"/>
            <a:ext cx="211694" cy="211665"/>
          </a:xfrm>
          <a:prstGeom prst="rect">
            <a:avLst/>
          </a:prstGeom>
        </p:spPr>
      </p:pic>
      <p:sp>
        <p:nvSpPr>
          <p:cNvPr id="46" name="Text 29"/>
          <p:cNvSpPr/>
          <p:nvPr/>
        </p:nvSpPr>
        <p:spPr>
          <a:xfrm>
            <a:off x="2489511" y="11633200"/>
            <a:ext cx="26080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Server &amp; cloud optimization</a:t>
            </a:r>
            <a:endParaRPr lang="en-US" sz="1600" dirty="0"/>
          </a:p>
        </p:txBody>
      </p:sp>
      <p:pic>
        <p:nvPicPr>
          <p:cNvPr id="47" name="Image 1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55037" y="11679765"/>
            <a:ext cx="211694" cy="211665"/>
          </a:xfrm>
          <a:prstGeom prst="rect">
            <a:avLst/>
          </a:prstGeom>
        </p:spPr>
      </p:pic>
      <p:sp>
        <p:nvSpPr>
          <p:cNvPr id="48" name="Shape 30"/>
          <p:cNvSpPr/>
          <p:nvPr/>
        </p:nvSpPr>
        <p:spPr>
          <a:xfrm>
            <a:off x="1956044" y="9423400"/>
            <a:ext cx="558870" cy="558800"/>
          </a:xfrm>
          <a:prstGeom prst="ellipse">
            <a:avLst/>
          </a:prstGeom>
          <a:solidFill>
            <a:srgbClr val="000000">
              <a:alpha val="100000"/>
            </a:srgbClr>
          </a:solidFill>
          <a:ln/>
        </p:spPr>
      </p:sp>
      <p:pic>
        <p:nvPicPr>
          <p:cNvPr id="49" name="Image 1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57657" y="9525000"/>
            <a:ext cx="359255" cy="3592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7731416" y="6400800"/>
            <a:ext cx="5241522"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Tracking key financial KPIs ensures that cost optimization efforts are delivering measurable business value.</a:t>
            </a:r>
            <a:endParaRPr lang="en-US" sz="2000" dirty="0"/>
          </a:p>
        </p:txBody>
      </p:sp>
      <p:sp>
        <p:nvSpPr>
          <p:cNvPr id="3" name="Shape 1"/>
          <p:cNvSpPr/>
          <p:nvPr/>
        </p:nvSpPr>
        <p:spPr>
          <a:xfrm>
            <a:off x="1524191" y="1524000"/>
            <a:ext cx="7849581" cy="10972800"/>
          </a:xfrm>
          <a:prstGeom prst="roundRect">
            <a:avLst>
              <a:gd name="adj" fmla="val 3262"/>
            </a:avLst>
          </a:prstGeom>
          <a:solidFill>
            <a:srgbClr val="FF4D4D">
              <a:alpha val="100000"/>
            </a:srgbClr>
          </a:solidFill>
          <a:ln/>
        </p:spPr>
      </p:sp>
      <p:sp>
        <p:nvSpPr>
          <p:cNvPr id="4" name="Text 2"/>
          <p:cNvSpPr/>
          <p:nvPr/>
        </p:nvSpPr>
        <p:spPr>
          <a:xfrm>
            <a:off x="2032254" y="2032000"/>
            <a:ext cx="6909664" cy="2540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Financial Metrics for Cost Optimization</a:t>
            </a:r>
            <a:endParaRPr lang="en-US" sz="6000" dirty="0"/>
          </a:p>
        </p:txBody>
      </p:sp>
      <p:sp>
        <p:nvSpPr>
          <p:cNvPr id="5" name="Text 3"/>
          <p:cNvSpPr/>
          <p:nvPr/>
        </p:nvSpPr>
        <p:spPr>
          <a:xfrm>
            <a:off x="2032254" y="8166100"/>
            <a:ext cx="277741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Cost Savings Achieved</a:t>
            </a:r>
            <a:endParaRPr lang="en-US" sz="2000" dirty="0"/>
          </a:p>
        </p:txBody>
      </p:sp>
      <p:sp>
        <p:nvSpPr>
          <p:cNvPr id="6" name="Text 4"/>
          <p:cNvSpPr/>
          <p:nvPr/>
        </p:nvSpPr>
        <p:spPr>
          <a:xfrm>
            <a:off x="2368288" y="8648700"/>
            <a:ext cx="1528424"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FFFFFF">
                    <a:alpha val="100000"/>
                  </a:srgbClr>
                </a:solidFill>
                <a:latin typeface="Inter Regular" pitchFamily="34" charset="0"/>
                <a:ea typeface="Inter Regular" pitchFamily="34" charset="-122"/>
                <a:cs typeface="Inter Regular" pitchFamily="34" charset="-120"/>
              </a:rPr>
              <a:t>$1.2M</a:t>
            </a:r>
            <a:endParaRPr lang="en-US" sz="4000" dirty="0"/>
          </a:p>
        </p:txBody>
      </p:sp>
      <p:pic>
        <p:nvPicPr>
          <p:cNvPr id="7"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2254" y="8648700"/>
            <a:ext cx="323332" cy="323292"/>
          </a:xfrm>
          <a:prstGeom prst="rect">
            <a:avLst/>
          </a:prstGeom>
        </p:spPr>
      </p:pic>
      <p:sp>
        <p:nvSpPr>
          <p:cNvPr id="8" name="Text 5"/>
          <p:cNvSpPr/>
          <p:nvPr/>
        </p:nvSpPr>
        <p:spPr>
          <a:xfrm>
            <a:off x="7100187" y="8166100"/>
            <a:ext cx="16850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C5C5">
                    <a:alpha val="100000"/>
                  </a:srgbClr>
                </a:solidFill>
                <a:latin typeface="Inter Medium" pitchFamily="34" charset="0"/>
                <a:ea typeface="Inter Medium" pitchFamily="34" charset="-122"/>
                <a:cs typeface="Inter Medium" pitchFamily="34" charset="-120"/>
              </a:rPr>
              <a:t>Target: $1.5M</a:t>
            </a:r>
            <a:endParaRPr lang="en-US" sz="2000" dirty="0"/>
          </a:p>
        </p:txBody>
      </p:sp>
      <p:sp>
        <p:nvSpPr>
          <p:cNvPr id="9" name="Text 6"/>
          <p:cNvSpPr/>
          <p:nvPr/>
        </p:nvSpPr>
        <p:spPr>
          <a:xfrm>
            <a:off x="7029771" y="8648700"/>
            <a:ext cx="174435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C5C5">
                    <a:alpha val="100000"/>
                  </a:srgbClr>
                </a:solidFill>
                <a:latin typeface="Inter Regular" pitchFamily="34" charset="0"/>
                <a:ea typeface="Inter Regular" pitchFamily="34" charset="-122"/>
                <a:cs typeface="Inter Regular" pitchFamily="34" charset="-120"/>
              </a:rPr>
              <a:t>20% Under Target</a:t>
            </a:r>
            <a:endParaRPr lang="en-US" sz="1600" dirty="0"/>
          </a:p>
        </p:txBody>
      </p:sp>
      <p:pic>
        <p:nvPicPr>
          <p:cNvPr id="10"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93737" y="8648700"/>
            <a:ext cx="323332" cy="323292"/>
          </a:xfrm>
          <a:prstGeom prst="rect">
            <a:avLst/>
          </a:prstGeom>
        </p:spPr>
      </p:pic>
      <p:pic>
        <p:nvPicPr>
          <p:cNvPr id="20"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27803" y="1524000"/>
            <a:ext cx="7849581" cy="4622800"/>
          </a:xfrm>
          <a:prstGeom prst="rect">
            <a:avLst/>
          </a:prstGeom>
        </p:spPr>
      </p:pic>
      <p:grpSp>
        <p:nvGrpSpPr>
          <p:cNvPr id="76" name="Group 75">
            <a:extLst>
              <a:ext uri="{FF2B5EF4-FFF2-40B4-BE49-F238E27FC236}">
                <a16:creationId xmlns:a16="http://schemas.microsoft.com/office/drawing/2014/main" id="{83C4E34D-BEAE-4F28-9A3D-106025991EB5}"/>
              </a:ext>
            </a:extLst>
          </p:cNvPr>
          <p:cNvGrpSpPr/>
          <p:nvPr/>
        </p:nvGrpSpPr>
        <p:grpSpPr>
          <a:xfrm>
            <a:off x="10402600" y="3238499"/>
            <a:ext cx="6299986" cy="2209801"/>
            <a:chOff x="10402600" y="3238499"/>
            <a:chExt cx="6299986" cy="2209801"/>
          </a:xfrm>
        </p:grpSpPr>
        <p:pic>
          <p:nvPicPr>
            <p:cNvPr id="22"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02600" y="3238499"/>
              <a:ext cx="1295561" cy="2152699"/>
            </a:xfrm>
            <a:prstGeom prst="rect">
              <a:avLst/>
            </a:prstGeom>
          </p:spPr>
        </p:pic>
        <p:pic>
          <p:nvPicPr>
            <p:cNvPr id="24" name="Image 4" descr=" "/>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2077701" y="3238500"/>
              <a:ext cx="1282064" cy="2209800"/>
            </a:xfrm>
            <a:prstGeom prst="rect">
              <a:avLst/>
            </a:prstGeom>
          </p:spPr>
        </p:pic>
        <p:pic>
          <p:nvPicPr>
            <p:cNvPr id="26" name="Image 5" descr=" "/>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13739304" y="3238500"/>
              <a:ext cx="1295561" cy="2209800"/>
            </a:xfrm>
            <a:prstGeom prst="rect">
              <a:avLst/>
            </a:prstGeom>
          </p:spPr>
        </p:pic>
        <p:pic>
          <p:nvPicPr>
            <p:cNvPr id="28" name="Image 7" descr=" "/>
            <p:cNvPicPr>
              <a:picLocks noChangeAspect="1"/>
            </p:cNvPicPr>
            <p:nvPr/>
          </p:nvPicPr>
          <p:blipFill>
            <a:blip r:embed="rId9">
              <a:extLst>
                <a:ext uri="{96DAC541-7B7A-43D3-8B79-37D633B846F1}">
                  <asvg:svgBlip xmlns:asvg="http://schemas.microsoft.com/office/drawing/2016/SVG/main" r:embed="rId13"/>
                </a:ext>
              </a:extLst>
            </a:blip>
            <a:stretch>
              <a:fillRect/>
            </a:stretch>
          </p:blipFill>
          <p:spPr>
            <a:xfrm>
              <a:off x="15414403" y="3238500"/>
              <a:ext cx="1288183" cy="2209800"/>
            </a:xfrm>
            <a:prstGeom prst="rect">
              <a:avLst/>
            </a:prstGeom>
          </p:spPr>
        </p:pic>
      </p:grpSp>
      <p:sp>
        <p:nvSpPr>
          <p:cNvPr id="21" name="Shape 16"/>
          <p:cNvSpPr/>
          <p:nvPr/>
        </p:nvSpPr>
        <p:spPr>
          <a:xfrm>
            <a:off x="10402600" y="3238500"/>
            <a:ext cx="6299987" cy="2209800"/>
          </a:xfrm>
          <a:prstGeom prst="rect">
            <a:avLst/>
          </a:prstGeom>
          <a:noFill/>
          <a:ln/>
        </p:spPr>
      </p:sp>
      <p:graphicFrame>
        <p:nvGraphicFramePr>
          <p:cNvPr id="75" name="Chart 74">
            <a:extLst>
              <a:ext uri="{FF2B5EF4-FFF2-40B4-BE49-F238E27FC236}">
                <a16:creationId xmlns:a16="http://schemas.microsoft.com/office/drawing/2014/main" id="{7BC16967-FC4D-4963-A63C-54F51A0ABFFB}"/>
              </a:ext>
            </a:extLst>
          </p:cNvPr>
          <p:cNvGraphicFramePr/>
          <p:nvPr>
            <p:extLst>
              <p:ext uri="{D42A27DB-BD31-4B8C-83A1-F6EECF244321}">
                <p14:modId xmlns:p14="http://schemas.microsoft.com/office/powerpoint/2010/main" val="3465297246"/>
              </p:ext>
            </p:extLst>
          </p:nvPr>
        </p:nvGraphicFramePr>
        <p:xfrm>
          <a:off x="10064218" y="3235225"/>
          <a:ext cx="6974248" cy="2330139"/>
        </p:xfrm>
        <a:graphic>
          <a:graphicData uri="http://schemas.openxmlformats.org/drawingml/2006/chart">
            <c:chart xmlns:c="http://schemas.openxmlformats.org/drawingml/2006/chart" xmlns:r="http://schemas.openxmlformats.org/officeDocument/2006/relationships" r:id="rId14"/>
          </a:graphicData>
        </a:graphic>
      </p:graphicFrame>
      <p:sp>
        <p:nvSpPr>
          <p:cNvPr id="30" name="Text 20"/>
          <p:cNvSpPr/>
          <p:nvPr/>
        </p:nvSpPr>
        <p:spPr>
          <a:xfrm>
            <a:off x="10389899" y="2286000"/>
            <a:ext cx="159616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Profit Margin</a:t>
            </a:r>
            <a:endParaRPr lang="en-US" sz="2000" dirty="0"/>
          </a:p>
        </p:txBody>
      </p:sp>
      <p:sp>
        <p:nvSpPr>
          <p:cNvPr id="31" name="Text 21"/>
          <p:cNvSpPr/>
          <p:nvPr/>
        </p:nvSpPr>
        <p:spPr>
          <a:xfrm>
            <a:off x="15305413" y="2286000"/>
            <a:ext cx="1172780"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28%</a:t>
            </a:r>
            <a:endParaRPr lang="en-US" sz="4000" dirty="0"/>
          </a:p>
        </p:txBody>
      </p:sp>
      <p:pic>
        <p:nvPicPr>
          <p:cNvPr id="32" name="Image 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359645" y="2286000"/>
            <a:ext cx="323332" cy="323292"/>
          </a:xfrm>
          <a:prstGeom prst="rect">
            <a:avLst/>
          </a:prstGeom>
        </p:spPr>
      </p:pic>
      <p:pic>
        <p:nvPicPr>
          <p:cNvPr id="33" name="Image 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627803" y="6400800"/>
            <a:ext cx="7849581" cy="4635500"/>
          </a:xfrm>
          <a:prstGeom prst="rect">
            <a:avLst/>
          </a:prstGeom>
        </p:spPr>
      </p:pic>
      <p:sp>
        <p:nvSpPr>
          <p:cNvPr id="34" name="Text 22"/>
          <p:cNvSpPr/>
          <p:nvPr/>
        </p:nvSpPr>
        <p:spPr>
          <a:xfrm>
            <a:off x="10415302" y="7188200"/>
            <a:ext cx="33997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Operational Efficiency Score</a:t>
            </a:r>
            <a:endParaRPr lang="en-US" sz="2000" dirty="0"/>
          </a:p>
        </p:txBody>
      </p:sp>
      <p:sp>
        <p:nvSpPr>
          <p:cNvPr id="35" name="Text 23"/>
          <p:cNvSpPr/>
          <p:nvPr/>
        </p:nvSpPr>
        <p:spPr>
          <a:xfrm>
            <a:off x="15102188" y="7188200"/>
            <a:ext cx="1757053"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B0B0B0">
                    <a:alpha val="100000"/>
                  </a:srgbClr>
                </a:solidFill>
                <a:latin typeface="Inter Regular" pitchFamily="34" charset="0"/>
                <a:ea typeface="Inter Regular" pitchFamily="34" charset="-122"/>
                <a:cs typeface="Inter Regular" pitchFamily="34" charset="-120"/>
              </a:rPr>
              <a:t>88</a:t>
            </a:r>
            <a:r>
              <a:rPr lang="en-US" sz="4000" kern="0" spc="-160" dirty="0">
                <a:solidFill>
                  <a:srgbClr val="000000">
                    <a:alpha val="100000"/>
                  </a:srgbClr>
                </a:solidFill>
                <a:latin typeface="Inter Regular" pitchFamily="34" charset="0"/>
                <a:ea typeface="Inter Regular" pitchFamily="34" charset="-122"/>
                <a:cs typeface="Inter Regular" pitchFamily="34" charset="-120"/>
              </a:rPr>
              <a:t>/100</a:t>
            </a:r>
            <a:endParaRPr lang="en-US" sz="4000" dirty="0"/>
          </a:p>
        </p:txBody>
      </p:sp>
      <p:sp>
        <p:nvSpPr>
          <p:cNvPr id="36" name="Shape 24"/>
          <p:cNvSpPr/>
          <p:nvPr/>
        </p:nvSpPr>
        <p:spPr>
          <a:xfrm>
            <a:off x="10478810" y="8318500"/>
            <a:ext cx="6198375" cy="1930400"/>
          </a:xfrm>
          <a:prstGeom prst="rect">
            <a:avLst/>
          </a:prstGeom>
          <a:noFill/>
          <a:ln/>
        </p:spPr>
      </p:sp>
      <p:pic>
        <p:nvPicPr>
          <p:cNvPr id="37" name="Image 10"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478810" y="9740900"/>
            <a:ext cx="508063" cy="508000"/>
          </a:xfrm>
          <a:prstGeom prst="rect">
            <a:avLst/>
          </a:prstGeom>
        </p:spPr>
      </p:pic>
      <p:pic>
        <p:nvPicPr>
          <p:cNvPr id="38" name="Image 11"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478810" y="9029700"/>
            <a:ext cx="508063" cy="508000"/>
          </a:xfrm>
          <a:prstGeom prst="rect">
            <a:avLst/>
          </a:prstGeom>
        </p:spPr>
      </p:pic>
      <p:pic>
        <p:nvPicPr>
          <p:cNvPr id="39" name="Image 12" descr=" "/>
          <p:cNvPicPr>
            <a:picLocks noChangeAspect="1"/>
          </p:cNvPicPr>
          <p:nvPr/>
        </p:nvPicPr>
        <p:blipFill>
          <a:blip r:embed="rId21">
            <a:extLst>
              <a:ext uri="{96DAC541-7B7A-43D3-8B79-37D633B846F1}">
                <asvg:svgBlip xmlns:asvg="http://schemas.microsoft.com/office/drawing/2016/SVG/main" r:embed="rId23"/>
              </a:ext>
            </a:extLst>
          </a:blip>
          <a:stretch>
            <a:fillRect/>
          </a:stretch>
        </p:blipFill>
        <p:spPr>
          <a:xfrm>
            <a:off x="10478810" y="8318500"/>
            <a:ext cx="508063" cy="508000"/>
          </a:xfrm>
          <a:prstGeom prst="rect">
            <a:avLst/>
          </a:prstGeom>
        </p:spPr>
      </p:pic>
      <p:pic>
        <p:nvPicPr>
          <p:cNvPr id="40" name="Image 13"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190099" y="9740900"/>
            <a:ext cx="508063" cy="508000"/>
          </a:xfrm>
          <a:prstGeom prst="rect">
            <a:avLst/>
          </a:prstGeom>
        </p:spPr>
      </p:pic>
      <p:pic>
        <p:nvPicPr>
          <p:cNvPr id="41" name="Image 14" descr=" "/>
          <p:cNvPicPr>
            <a:picLocks noChangeAspect="1"/>
          </p:cNvPicPr>
          <p:nvPr/>
        </p:nvPicPr>
        <p:blipFill>
          <a:blip r:embed="rId21">
            <a:extLst>
              <a:ext uri="{96DAC541-7B7A-43D3-8B79-37D633B846F1}">
                <asvg:svgBlip xmlns:asvg="http://schemas.microsoft.com/office/drawing/2016/SVG/main" r:embed="rId26"/>
              </a:ext>
            </a:extLst>
          </a:blip>
          <a:stretch>
            <a:fillRect/>
          </a:stretch>
        </p:blipFill>
        <p:spPr>
          <a:xfrm>
            <a:off x="11190099" y="9029700"/>
            <a:ext cx="508063" cy="508000"/>
          </a:xfrm>
          <a:prstGeom prst="rect">
            <a:avLst/>
          </a:prstGeom>
        </p:spPr>
      </p:pic>
      <p:pic>
        <p:nvPicPr>
          <p:cNvPr id="42" name="Image 15" descr=" "/>
          <p:cNvPicPr>
            <a:picLocks noChangeAspect="1"/>
          </p:cNvPicPr>
          <p:nvPr/>
        </p:nvPicPr>
        <p:blipFill>
          <a:blip r:embed="rId21">
            <a:extLst>
              <a:ext uri="{96DAC541-7B7A-43D3-8B79-37D633B846F1}">
                <asvg:svgBlip xmlns:asvg="http://schemas.microsoft.com/office/drawing/2016/SVG/main" r:embed="rId27"/>
              </a:ext>
            </a:extLst>
          </a:blip>
          <a:stretch>
            <a:fillRect/>
          </a:stretch>
        </p:blipFill>
        <p:spPr>
          <a:xfrm>
            <a:off x="11190099" y="8318500"/>
            <a:ext cx="508063" cy="508000"/>
          </a:xfrm>
          <a:prstGeom prst="rect">
            <a:avLst/>
          </a:prstGeom>
        </p:spPr>
      </p:pic>
      <p:pic>
        <p:nvPicPr>
          <p:cNvPr id="43" name="Image 16" descr=" "/>
          <p:cNvPicPr>
            <a:picLocks noChangeAspect="1"/>
          </p:cNvPicPr>
          <p:nvPr/>
        </p:nvPicPr>
        <p:blipFill>
          <a:blip r:embed="rId24">
            <a:extLst>
              <a:ext uri="{96DAC541-7B7A-43D3-8B79-37D633B846F1}">
                <asvg:svgBlip xmlns:asvg="http://schemas.microsoft.com/office/drawing/2016/SVG/main" r:embed="rId28"/>
              </a:ext>
            </a:extLst>
          </a:blip>
          <a:stretch>
            <a:fillRect/>
          </a:stretch>
        </p:blipFill>
        <p:spPr>
          <a:xfrm>
            <a:off x="11901387" y="9740900"/>
            <a:ext cx="508063" cy="508000"/>
          </a:xfrm>
          <a:prstGeom prst="rect">
            <a:avLst/>
          </a:prstGeom>
        </p:spPr>
      </p:pic>
      <p:pic>
        <p:nvPicPr>
          <p:cNvPr id="44" name="Image 17"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901387" y="9029700"/>
            <a:ext cx="508063" cy="508000"/>
          </a:xfrm>
          <a:prstGeom prst="rect">
            <a:avLst/>
          </a:prstGeom>
        </p:spPr>
      </p:pic>
      <p:pic>
        <p:nvPicPr>
          <p:cNvPr id="45" name="Image 18" descr=" "/>
          <p:cNvPicPr>
            <a:picLocks noChangeAspect="1"/>
          </p:cNvPicPr>
          <p:nvPr/>
        </p:nvPicPr>
        <p:blipFill>
          <a:blip r:embed="rId21">
            <a:extLst>
              <a:ext uri="{96DAC541-7B7A-43D3-8B79-37D633B846F1}">
                <asvg:svgBlip xmlns:asvg="http://schemas.microsoft.com/office/drawing/2016/SVG/main" r:embed="rId31"/>
              </a:ext>
            </a:extLst>
          </a:blip>
          <a:stretch>
            <a:fillRect/>
          </a:stretch>
        </p:blipFill>
        <p:spPr>
          <a:xfrm>
            <a:off x="11901387" y="8318500"/>
            <a:ext cx="508063" cy="508000"/>
          </a:xfrm>
          <a:prstGeom prst="rect">
            <a:avLst/>
          </a:prstGeom>
        </p:spPr>
      </p:pic>
      <p:pic>
        <p:nvPicPr>
          <p:cNvPr id="46" name="Image 19" descr=" "/>
          <p:cNvPicPr>
            <a:picLocks noChangeAspect="1"/>
          </p:cNvPicPr>
          <p:nvPr/>
        </p:nvPicPr>
        <p:blipFill>
          <a:blip r:embed="rId24">
            <a:extLst>
              <a:ext uri="{96DAC541-7B7A-43D3-8B79-37D633B846F1}">
                <asvg:svgBlip xmlns:asvg="http://schemas.microsoft.com/office/drawing/2016/SVG/main" r:embed="rId32"/>
              </a:ext>
            </a:extLst>
          </a:blip>
          <a:stretch>
            <a:fillRect/>
          </a:stretch>
        </p:blipFill>
        <p:spPr>
          <a:xfrm>
            <a:off x="12612676" y="9740900"/>
            <a:ext cx="508063" cy="508000"/>
          </a:xfrm>
          <a:prstGeom prst="rect">
            <a:avLst/>
          </a:prstGeom>
        </p:spPr>
      </p:pic>
      <p:pic>
        <p:nvPicPr>
          <p:cNvPr id="47" name="Image 20" descr=" "/>
          <p:cNvPicPr>
            <a:picLocks noChangeAspect="1"/>
          </p:cNvPicPr>
          <p:nvPr/>
        </p:nvPicPr>
        <p:blipFill>
          <a:blip r:embed="rId29">
            <a:extLst>
              <a:ext uri="{96DAC541-7B7A-43D3-8B79-37D633B846F1}">
                <asvg:svgBlip xmlns:asvg="http://schemas.microsoft.com/office/drawing/2016/SVG/main" r:embed="rId33"/>
              </a:ext>
            </a:extLst>
          </a:blip>
          <a:stretch>
            <a:fillRect/>
          </a:stretch>
        </p:blipFill>
        <p:spPr>
          <a:xfrm>
            <a:off x="12612676" y="9029700"/>
            <a:ext cx="508063" cy="508000"/>
          </a:xfrm>
          <a:prstGeom prst="rect">
            <a:avLst/>
          </a:prstGeom>
        </p:spPr>
      </p:pic>
      <p:pic>
        <p:nvPicPr>
          <p:cNvPr id="48" name="Image 21" descr=" "/>
          <p:cNvPicPr>
            <a:picLocks noChangeAspect="1"/>
          </p:cNvPicPr>
          <p:nvPr/>
        </p:nvPicPr>
        <p:blipFill>
          <a:blip r:embed="rId21">
            <a:extLst>
              <a:ext uri="{96DAC541-7B7A-43D3-8B79-37D633B846F1}">
                <asvg:svgBlip xmlns:asvg="http://schemas.microsoft.com/office/drawing/2016/SVG/main" r:embed="rId34"/>
              </a:ext>
            </a:extLst>
          </a:blip>
          <a:stretch>
            <a:fillRect/>
          </a:stretch>
        </p:blipFill>
        <p:spPr>
          <a:xfrm>
            <a:off x="12612676" y="8318500"/>
            <a:ext cx="508063" cy="508000"/>
          </a:xfrm>
          <a:prstGeom prst="rect">
            <a:avLst/>
          </a:prstGeom>
        </p:spPr>
      </p:pic>
      <p:pic>
        <p:nvPicPr>
          <p:cNvPr id="49" name="Image 22" descr=" "/>
          <p:cNvPicPr>
            <a:picLocks noChangeAspect="1"/>
          </p:cNvPicPr>
          <p:nvPr/>
        </p:nvPicPr>
        <p:blipFill>
          <a:blip r:embed="rId24">
            <a:extLst>
              <a:ext uri="{96DAC541-7B7A-43D3-8B79-37D633B846F1}">
                <asvg:svgBlip xmlns:asvg="http://schemas.microsoft.com/office/drawing/2016/SVG/main" r:embed="rId35"/>
              </a:ext>
            </a:extLst>
          </a:blip>
          <a:stretch>
            <a:fillRect/>
          </a:stretch>
        </p:blipFill>
        <p:spPr>
          <a:xfrm>
            <a:off x="13323965" y="9740900"/>
            <a:ext cx="508063" cy="508000"/>
          </a:xfrm>
          <a:prstGeom prst="rect">
            <a:avLst/>
          </a:prstGeom>
        </p:spPr>
      </p:pic>
      <p:pic>
        <p:nvPicPr>
          <p:cNvPr id="50" name="Image 23" descr=" "/>
          <p:cNvPicPr>
            <a:picLocks noChangeAspect="1"/>
          </p:cNvPicPr>
          <p:nvPr/>
        </p:nvPicPr>
        <p:blipFill>
          <a:blip r:embed="rId24">
            <a:extLst>
              <a:ext uri="{96DAC541-7B7A-43D3-8B79-37D633B846F1}">
                <asvg:svgBlip xmlns:asvg="http://schemas.microsoft.com/office/drawing/2016/SVG/main" r:embed="rId36"/>
              </a:ext>
            </a:extLst>
          </a:blip>
          <a:stretch>
            <a:fillRect/>
          </a:stretch>
        </p:blipFill>
        <p:spPr>
          <a:xfrm>
            <a:off x="13323965" y="9029700"/>
            <a:ext cx="508063" cy="508000"/>
          </a:xfrm>
          <a:prstGeom prst="rect">
            <a:avLst/>
          </a:prstGeom>
        </p:spPr>
      </p:pic>
      <p:pic>
        <p:nvPicPr>
          <p:cNvPr id="51" name="Image 24" descr=" "/>
          <p:cNvPicPr>
            <a:picLocks noChangeAspect="1"/>
          </p:cNvPicPr>
          <p:nvPr/>
        </p:nvPicPr>
        <p:blipFill>
          <a:blip r:embed="rId21">
            <a:extLst>
              <a:ext uri="{96DAC541-7B7A-43D3-8B79-37D633B846F1}">
                <asvg:svgBlip xmlns:asvg="http://schemas.microsoft.com/office/drawing/2016/SVG/main" r:embed="rId37"/>
              </a:ext>
            </a:extLst>
          </a:blip>
          <a:stretch>
            <a:fillRect/>
          </a:stretch>
        </p:blipFill>
        <p:spPr>
          <a:xfrm>
            <a:off x="13323965" y="8318500"/>
            <a:ext cx="508063" cy="508000"/>
          </a:xfrm>
          <a:prstGeom prst="rect">
            <a:avLst/>
          </a:prstGeom>
        </p:spPr>
      </p:pic>
      <p:pic>
        <p:nvPicPr>
          <p:cNvPr id="52" name="Image 25" descr=" "/>
          <p:cNvPicPr>
            <a:picLocks noChangeAspect="1"/>
          </p:cNvPicPr>
          <p:nvPr/>
        </p:nvPicPr>
        <p:blipFill>
          <a:blip r:embed="rId24">
            <a:extLst>
              <a:ext uri="{96DAC541-7B7A-43D3-8B79-37D633B846F1}">
                <asvg:svgBlip xmlns:asvg="http://schemas.microsoft.com/office/drawing/2016/SVG/main" r:embed="rId38"/>
              </a:ext>
            </a:extLst>
          </a:blip>
          <a:stretch>
            <a:fillRect/>
          </a:stretch>
        </p:blipFill>
        <p:spPr>
          <a:xfrm>
            <a:off x="14035254" y="9740900"/>
            <a:ext cx="508063" cy="508000"/>
          </a:xfrm>
          <a:prstGeom prst="rect">
            <a:avLst/>
          </a:prstGeom>
        </p:spPr>
      </p:pic>
      <p:pic>
        <p:nvPicPr>
          <p:cNvPr id="53" name="Image 26" descr=" "/>
          <p:cNvPicPr>
            <a:picLocks noChangeAspect="1"/>
          </p:cNvPicPr>
          <p:nvPr/>
        </p:nvPicPr>
        <p:blipFill>
          <a:blip r:embed="rId24">
            <a:extLst>
              <a:ext uri="{96DAC541-7B7A-43D3-8B79-37D633B846F1}">
                <asvg:svgBlip xmlns:asvg="http://schemas.microsoft.com/office/drawing/2016/SVG/main" r:embed="rId39"/>
              </a:ext>
            </a:extLst>
          </a:blip>
          <a:stretch>
            <a:fillRect/>
          </a:stretch>
        </p:blipFill>
        <p:spPr>
          <a:xfrm>
            <a:off x="14746543" y="9740900"/>
            <a:ext cx="508063" cy="508000"/>
          </a:xfrm>
          <a:prstGeom prst="rect">
            <a:avLst/>
          </a:prstGeom>
        </p:spPr>
      </p:pic>
      <p:pic>
        <p:nvPicPr>
          <p:cNvPr id="54" name="Image 27" descr=" "/>
          <p:cNvPicPr>
            <a:picLocks noChangeAspect="1"/>
          </p:cNvPicPr>
          <p:nvPr/>
        </p:nvPicPr>
        <p:blipFill>
          <a:blip r:embed="rId24">
            <a:extLst>
              <a:ext uri="{96DAC541-7B7A-43D3-8B79-37D633B846F1}">
                <asvg:svgBlip xmlns:asvg="http://schemas.microsoft.com/office/drawing/2016/SVG/main" r:embed="rId40"/>
              </a:ext>
            </a:extLst>
          </a:blip>
          <a:stretch>
            <a:fillRect/>
          </a:stretch>
        </p:blipFill>
        <p:spPr>
          <a:xfrm>
            <a:off x="15457832" y="9740900"/>
            <a:ext cx="508063" cy="508000"/>
          </a:xfrm>
          <a:prstGeom prst="rect">
            <a:avLst/>
          </a:prstGeom>
        </p:spPr>
      </p:pic>
      <p:pic>
        <p:nvPicPr>
          <p:cNvPr id="55" name="Image 28" descr=" "/>
          <p:cNvPicPr>
            <a:picLocks noChangeAspect="1"/>
          </p:cNvPicPr>
          <p:nvPr/>
        </p:nvPicPr>
        <p:blipFill>
          <a:blip r:embed="rId24">
            <a:extLst>
              <a:ext uri="{96DAC541-7B7A-43D3-8B79-37D633B846F1}">
                <asvg:svgBlip xmlns:asvg="http://schemas.microsoft.com/office/drawing/2016/SVG/main" r:embed="rId41"/>
              </a:ext>
            </a:extLst>
          </a:blip>
          <a:stretch>
            <a:fillRect/>
          </a:stretch>
        </p:blipFill>
        <p:spPr>
          <a:xfrm>
            <a:off x="16169121" y="9740900"/>
            <a:ext cx="508063" cy="508000"/>
          </a:xfrm>
          <a:prstGeom prst="rect">
            <a:avLst/>
          </a:prstGeom>
        </p:spPr>
      </p:pic>
      <p:pic>
        <p:nvPicPr>
          <p:cNvPr id="56" name="Image 29" descr=" "/>
          <p:cNvPicPr>
            <a:picLocks noChangeAspect="1"/>
          </p:cNvPicPr>
          <p:nvPr/>
        </p:nvPicPr>
        <p:blipFill>
          <a:blip r:embed="rId24">
            <a:extLst>
              <a:ext uri="{96DAC541-7B7A-43D3-8B79-37D633B846F1}">
                <asvg:svgBlip xmlns:asvg="http://schemas.microsoft.com/office/drawing/2016/SVG/main" r:embed="rId42"/>
              </a:ext>
            </a:extLst>
          </a:blip>
          <a:stretch>
            <a:fillRect/>
          </a:stretch>
        </p:blipFill>
        <p:spPr>
          <a:xfrm>
            <a:off x="14035254" y="9029700"/>
            <a:ext cx="508063" cy="508000"/>
          </a:xfrm>
          <a:prstGeom prst="rect">
            <a:avLst/>
          </a:prstGeom>
        </p:spPr>
      </p:pic>
      <p:pic>
        <p:nvPicPr>
          <p:cNvPr id="57" name="Image 30" descr=" "/>
          <p:cNvPicPr>
            <a:picLocks noChangeAspect="1"/>
          </p:cNvPicPr>
          <p:nvPr/>
        </p:nvPicPr>
        <p:blipFill>
          <a:blip r:embed="rId24">
            <a:extLst>
              <a:ext uri="{96DAC541-7B7A-43D3-8B79-37D633B846F1}">
                <asvg:svgBlip xmlns:asvg="http://schemas.microsoft.com/office/drawing/2016/SVG/main" r:embed="rId43"/>
              </a:ext>
            </a:extLst>
          </a:blip>
          <a:stretch>
            <a:fillRect/>
          </a:stretch>
        </p:blipFill>
        <p:spPr>
          <a:xfrm>
            <a:off x="14746543" y="9029700"/>
            <a:ext cx="508063" cy="508000"/>
          </a:xfrm>
          <a:prstGeom prst="rect">
            <a:avLst/>
          </a:prstGeom>
        </p:spPr>
      </p:pic>
      <p:pic>
        <p:nvPicPr>
          <p:cNvPr id="58" name="Image 31" descr=" "/>
          <p:cNvPicPr>
            <a:picLocks noChangeAspect="1"/>
          </p:cNvPicPr>
          <p:nvPr/>
        </p:nvPicPr>
        <p:blipFill>
          <a:blip r:embed="rId24">
            <a:extLst>
              <a:ext uri="{96DAC541-7B7A-43D3-8B79-37D633B846F1}">
                <asvg:svgBlip xmlns:asvg="http://schemas.microsoft.com/office/drawing/2016/SVG/main" r:embed="rId44"/>
              </a:ext>
            </a:extLst>
          </a:blip>
          <a:stretch>
            <a:fillRect/>
          </a:stretch>
        </p:blipFill>
        <p:spPr>
          <a:xfrm>
            <a:off x="15457832" y="9029700"/>
            <a:ext cx="508063" cy="508000"/>
          </a:xfrm>
          <a:prstGeom prst="rect">
            <a:avLst/>
          </a:prstGeom>
        </p:spPr>
      </p:pic>
      <p:pic>
        <p:nvPicPr>
          <p:cNvPr id="59" name="Image 32" descr=" "/>
          <p:cNvPicPr>
            <a:picLocks noChangeAspect="1"/>
          </p:cNvPicPr>
          <p:nvPr/>
        </p:nvPicPr>
        <p:blipFill>
          <a:blip r:embed="rId24">
            <a:extLst>
              <a:ext uri="{96DAC541-7B7A-43D3-8B79-37D633B846F1}">
                <asvg:svgBlip xmlns:asvg="http://schemas.microsoft.com/office/drawing/2016/SVG/main" r:embed="rId45"/>
              </a:ext>
            </a:extLst>
          </a:blip>
          <a:stretch>
            <a:fillRect/>
          </a:stretch>
        </p:blipFill>
        <p:spPr>
          <a:xfrm>
            <a:off x="16169121" y="9029700"/>
            <a:ext cx="508063" cy="508000"/>
          </a:xfrm>
          <a:prstGeom prst="rect">
            <a:avLst/>
          </a:prstGeom>
        </p:spPr>
      </p:pic>
      <p:pic>
        <p:nvPicPr>
          <p:cNvPr id="60" name="Image 33" descr=" "/>
          <p:cNvPicPr>
            <a:picLocks noChangeAspect="1"/>
          </p:cNvPicPr>
          <p:nvPr/>
        </p:nvPicPr>
        <p:blipFill>
          <a:blip r:embed="rId29">
            <a:extLst>
              <a:ext uri="{96DAC541-7B7A-43D3-8B79-37D633B846F1}">
                <asvg:svgBlip xmlns:asvg="http://schemas.microsoft.com/office/drawing/2016/SVG/main" r:embed="rId46"/>
              </a:ext>
            </a:extLst>
          </a:blip>
          <a:stretch>
            <a:fillRect/>
          </a:stretch>
        </p:blipFill>
        <p:spPr>
          <a:xfrm>
            <a:off x="14035254" y="8318500"/>
            <a:ext cx="508063" cy="508000"/>
          </a:xfrm>
          <a:prstGeom prst="rect">
            <a:avLst/>
          </a:prstGeom>
        </p:spPr>
      </p:pic>
      <p:pic>
        <p:nvPicPr>
          <p:cNvPr id="61" name="Image 34" descr=" "/>
          <p:cNvPicPr>
            <a:picLocks noChangeAspect="1"/>
          </p:cNvPicPr>
          <p:nvPr/>
        </p:nvPicPr>
        <p:blipFill>
          <a:blip r:embed="rId29">
            <a:extLst>
              <a:ext uri="{96DAC541-7B7A-43D3-8B79-37D633B846F1}">
                <asvg:svgBlip xmlns:asvg="http://schemas.microsoft.com/office/drawing/2016/SVG/main" r:embed="rId47"/>
              </a:ext>
            </a:extLst>
          </a:blip>
          <a:stretch>
            <a:fillRect/>
          </a:stretch>
        </p:blipFill>
        <p:spPr>
          <a:xfrm>
            <a:off x="14746543" y="8318500"/>
            <a:ext cx="508063" cy="508000"/>
          </a:xfrm>
          <a:prstGeom prst="rect">
            <a:avLst/>
          </a:prstGeom>
        </p:spPr>
      </p:pic>
      <p:pic>
        <p:nvPicPr>
          <p:cNvPr id="62" name="Image 35" descr=" "/>
          <p:cNvPicPr>
            <a:picLocks noChangeAspect="1"/>
          </p:cNvPicPr>
          <p:nvPr/>
        </p:nvPicPr>
        <p:blipFill>
          <a:blip r:embed="rId24">
            <a:extLst>
              <a:ext uri="{96DAC541-7B7A-43D3-8B79-37D633B846F1}">
                <asvg:svgBlip xmlns:asvg="http://schemas.microsoft.com/office/drawing/2016/SVG/main" r:embed="rId48"/>
              </a:ext>
            </a:extLst>
          </a:blip>
          <a:stretch>
            <a:fillRect/>
          </a:stretch>
        </p:blipFill>
        <p:spPr>
          <a:xfrm>
            <a:off x="15457832" y="8318500"/>
            <a:ext cx="508063" cy="508000"/>
          </a:xfrm>
          <a:prstGeom prst="rect">
            <a:avLst/>
          </a:prstGeom>
        </p:spPr>
      </p:pic>
      <p:pic>
        <p:nvPicPr>
          <p:cNvPr id="63" name="Image 36" descr=" "/>
          <p:cNvPicPr>
            <a:picLocks noChangeAspect="1"/>
          </p:cNvPicPr>
          <p:nvPr/>
        </p:nvPicPr>
        <p:blipFill>
          <a:blip r:embed="rId24">
            <a:extLst>
              <a:ext uri="{96DAC541-7B7A-43D3-8B79-37D633B846F1}">
                <asvg:svgBlip xmlns:asvg="http://schemas.microsoft.com/office/drawing/2016/SVG/main" r:embed="rId49"/>
              </a:ext>
            </a:extLst>
          </a:blip>
          <a:stretch>
            <a:fillRect/>
          </a:stretch>
        </p:blipFill>
        <p:spPr>
          <a:xfrm>
            <a:off x="16169121" y="8318500"/>
            <a:ext cx="508063" cy="508000"/>
          </a:xfrm>
          <a:prstGeom prst="rect">
            <a:avLst/>
          </a:prstGeom>
        </p:spPr>
      </p:pic>
      <p:pic>
        <p:nvPicPr>
          <p:cNvPr id="64" name="Image 37" descr=" "/>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7731416" y="1524000"/>
            <a:ext cx="5131441" cy="4622800"/>
          </a:xfrm>
          <a:prstGeom prst="rect">
            <a:avLst/>
          </a:prstGeom>
        </p:spPr>
      </p:pic>
      <p:graphicFrame>
        <p:nvGraphicFramePr>
          <p:cNvPr id="73" name="Chart 72">
            <a:extLst>
              <a:ext uri="{FF2B5EF4-FFF2-40B4-BE49-F238E27FC236}">
                <a16:creationId xmlns:a16="http://schemas.microsoft.com/office/drawing/2014/main" id="{DDB43911-11E6-4829-A0A9-0C4166448E4A}"/>
              </a:ext>
            </a:extLst>
          </p:cNvPr>
          <p:cNvGraphicFramePr/>
          <p:nvPr>
            <p:extLst>
              <p:ext uri="{D42A27DB-BD31-4B8C-83A1-F6EECF244321}">
                <p14:modId xmlns:p14="http://schemas.microsoft.com/office/powerpoint/2010/main" val="3371169048"/>
              </p:ext>
            </p:extLst>
          </p:nvPr>
        </p:nvGraphicFramePr>
        <p:xfrm>
          <a:off x="18375572" y="3235225"/>
          <a:ext cx="3843127" cy="4351867"/>
        </p:xfrm>
        <a:graphic>
          <a:graphicData uri="http://schemas.openxmlformats.org/drawingml/2006/chart">
            <c:chart xmlns:c="http://schemas.openxmlformats.org/drawingml/2006/chart" xmlns:r="http://schemas.openxmlformats.org/officeDocument/2006/relationships" r:id="rId52"/>
          </a:graphicData>
        </a:graphic>
      </p:graphicFrame>
      <p:sp>
        <p:nvSpPr>
          <p:cNvPr id="65" name="Shape 25"/>
          <p:cNvSpPr/>
          <p:nvPr/>
        </p:nvSpPr>
        <p:spPr>
          <a:xfrm>
            <a:off x="18493511" y="3632200"/>
            <a:ext cx="3619952" cy="3619500"/>
          </a:xfrm>
          <a:prstGeom prst="rect">
            <a:avLst/>
          </a:prstGeom>
          <a:noFill/>
          <a:ln/>
        </p:spPr>
      </p:sp>
      <p:pic>
        <p:nvPicPr>
          <p:cNvPr id="69" name="Image 41" descr=" "/>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20427793" y="4942495"/>
            <a:ext cx="630676" cy="448704"/>
          </a:xfrm>
          <a:prstGeom prst="rect">
            <a:avLst/>
          </a:prstGeom>
        </p:spPr>
      </p:pic>
      <p:pic>
        <p:nvPicPr>
          <p:cNvPr id="70" name="Image 42" descr=" "/>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19846230" y="4991100"/>
            <a:ext cx="914514" cy="457200"/>
          </a:xfrm>
          <a:prstGeom prst="rect">
            <a:avLst/>
          </a:prstGeom>
        </p:spPr>
      </p:pic>
      <p:sp>
        <p:nvSpPr>
          <p:cNvPr id="71" name="Text 26"/>
          <p:cNvSpPr/>
          <p:nvPr/>
        </p:nvSpPr>
        <p:spPr>
          <a:xfrm>
            <a:off x="18493511" y="2286000"/>
            <a:ext cx="1761287"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ROI from Optimization</a:t>
            </a:r>
            <a:endParaRPr lang="en-US" sz="2000" dirty="0"/>
          </a:p>
        </p:txBody>
      </p:sp>
      <p:sp>
        <p:nvSpPr>
          <p:cNvPr id="72" name="Text 27"/>
          <p:cNvSpPr/>
          <p:nvPr/>
        </p:nvSpPr>
        <p:spPr>
          <a:xfrm>
            <a:off x="21122740" y="2387600"/>
            <a:ext cx="1388707"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6D6D6D">
                    <a:alpha val="100000"/>
                  </a:srgbClr>
                </a:solidFill>
                <a:latin typeface="Inter Regular" pitchFamily="34" charset="0"/>
                <a:ea typeface="Inter Regular" pitchFamily="34" charset="-122"/>
                <a:cs typeface="Inter Regular" pitchFamily="34" charset="-120"/>
              </a:rPr>
              <a:t>185%</a:t>
            </a:r>
            <a:endParaRPr lang="en-US" sz="4000" dirty="0"/>
          </a:p>
        </p:txBody>
      </p:sp>
      <p:graphicFrame>
        <p:nvGraphicFramePr>
          <p:cNvPr id="77" name="Chart 76">
            <a:extLst>
              <a:ext uri="{FF2B5EF4-FFF2-40B4-BE49-F238E27FC236}">
                <a16:creationId xmlns:a16="http://schemas.microsoft.com/office/drawing/2014/main" id="{B2ADE5DF-CD54-490A-AC81-3D047452D6F3}"/>
              </a:ext>
            </a:extLst>
          </p:cNvPr>
          <p:cNvGraphicFramePr/>
          <p:nvPr>
            <p:extLst>
              <p:ext uri="{D42A27DB-BD31-4B8C-83A1-F6EECF244321}">
                <p14:modId xmlns:p14="http://schemas.microsoft.com/office/powerpoint/2010/main" val="2915630142"/>
              </p:ext>
            </p:extLst>
          </p:nvPr>
        </p:nvGraphicFramePr>
        <p:xfrm>
          <a:off x="1695584" y="8920202"/>
          <a:ext cx="7471565" cy="2980890"/>
        </p:xfrm>
        <a:graphic>
          <a:graphicData uri="http://schemas.openxmlformats.org/drawingml/2006/chart">
            <c:chart xmlns:c="http://schemas.openxmlformats.org/drawingml/2006/chart" xmlns:r="http://schemas.openxmlformats.org/officeDocument/2006/relationships" r:id="rId57"/>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1930400"/>
            <a:ext cx="942457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Cost-Saving Initiatives Case Study</a:t>
            </a:r>
            <a:endParaRPr lang="en-US" sz="6000" dirty="0"/>
          </a:p>
        </p:txBody>
      </p:sp>
      <p:sp>
        <p:nvSpPr>
          <p:cNvPr id="3" name="Text 1"/>
          <p:cNvSpPr/>
          <p:nvPr/>
        </p:nvSpPr>
        <p:spPr>
          <a:xfrm>
            <a:off x="15025978" y="2120900"/>
            <a:ext cx="7934258"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This detailed case study highlights the significant impact of implementing targeted changes, </a:t>
            </a:r>
            <a:r>
              <a:rPr lang="en-US" sz="2000" kern="0" spc="-40" dirty="0">
                <a:solidFill>
                  <a:srgbClr val="6D6D6D">
                    <a:alpha val="100000"/>
                  </a:srgbClr>
                </a:solidFill>
                <a:latin typeface="Inter Regular" pitchFamily="34" charset="0"/>
                <a:ea typeface="Inter Regular" pitchFamily="34" charset="-122"/>
                <a:cs typeface="Inter Regular" pitchFamily="34" charset="-120"/>
              </a:rPr>
              <a:t>which resulted in measurable cost reductions while maintaining optimal performance levels.</a:t>
            </a:r>
            <a:endParaRPr lang="en-US" sz="2000" dirty="0"/>
          </a:p>
        </p:txBody>
      </p:sp>
      <p:sp>
        <p:nvSpPr>
          <p:cNvPr id="4" name="Shape 2"/>
          <p:cNvSpPr/>
          <p:nvPr/>
        </p:nvSpPr>
        <p:spPr>
          <a:xfrm rot="10800000">
            <a:off x="1524191" y="9169400"/>
            <a:ext cx="2997575" cy="2489200"/>
          </a:xfrm>
          <a:prstGeom prst="roundRect">
            <a:avLst>
              <a:gd name="adj" fmla="val 5143"/>
            </a:avLst>
          </a:prstGeom>
          <a:solidFill>
            <a:srgbClr val="FF4D4D">
              <a:alpha val="100000"/>
            </a:srgbClr>
          </a:solidFill>
          <a:ln/>
        </p:spPr>
      </p:sp>
      <p:sp>
        <p:nvSpPr>
          <p:cNvPr id="5" name="Shape 3"/>
          <p:cNvSpPr/>
          <p:nvPr/>
        </p:nvSpPr>
        <p:spPr>
          <a:xfrm>
            <a:off x="4191524" y="8890000"/>
            <a:ext cx="558870" cy="558800"/>
          </a:xfrm>
          <a:prstGeom prst="ellipse">
            <a:avLst/>
          </a:prstGeom>
          <a:solidFill>
            <a:srgbClr val="000000">
              <a:alpha val="100000"/>
            </a:srgbClr>
          </a:solidFill>
          <a:ln/>
        </p:spPr>
      </p:sp>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3136" y="8991600"/>
            <a:ext cx="359255" cy="359210"/>
          </a:xfrm>
          <a:prstGeom prst="rect">
            <a:avLst/>
          </a:prstGeom>
        </p:spPr>
      </p:pic>
      <p:sp>
        <p:nvSpPr>
          <p:cNvPr id="7" name="Text 4"/>
          <p:cNvSpPr/>
          <p:nvPr/>
        </p:nvSpPr>
        <p:spPr>
          <a:xfrm>
            <a:off x="2032254" y="9779000"/>
            <a:ext cx="2235479"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+37%</a:t>
            </a:r>
            <a:endParaRPr lang="en-US" sz="6000" dirty="0"/>
          </a:p>
        </p:txBody>
      </p:sp>
      <p:sp>
        <p:nvSpPr>
          <p:cNvPr id="8" name="Text 5"/>
          <p:cNvSpPr/>
          <p:nvPr/>
        </p:nvSpPr>
        <p:spPr>
          <a:xfrm>
            <a:off x="2083060" y="10668000"/>
            <a:ext cx="196451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Cost Categories</a:t>
            </a:r>
            <a:endParaRPr lang="en-US" sz="2000" dirty="0"/>
          </a:p>
        </p:txBody>
      </p:sp>
      <p:pic>
        <p:nvPicPr>
          <p:cNvPr id="9"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53006" y="4622800"/>
            <a:ext cx="5144143" cy="3517900"/>
          </a:xfrm>
          <a:prstGeom prst="rect">
            <a:avLst/>
          </a:prstGeom>
        </p:spPr>
      </p:pic>
      <p:sp>
        <p:nvSpPr>
          <p:cNvPr id="10" name="Text 6"/>
          <p:cNvSpPr/>
          <p:nvPr/>
        </p:nvSpPr>
        <p:spPr>
          <a:xfrm>
            <a:off x="9234054" y="5003800"/>
            <a:ext cx="85947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Before</a:t>
            </a:r>
            <a:endParaRPr lang="en-US" sz="2000" dirty="0"/>
          </a:p>
        </p:txBody>
      </p:sp>
      <p:sp>
        <p:nvSpPr>
          <p:cNvPr id="11" name="Text 7"/>
          <p:cNvSpPr/>
          <p:nvPr/>
        </p:nvSpPr>
        <p:spPr>
          <a:xfrm>
            <a:off x="11914089" y="5892800"/>
            <a:ext cx="1037296"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888888">
                    <a:alpha val="100000"/>
                  </a:srgbClr>
                </a:solidFill>
                <a:latin typeface="Inter Medium" pitchFamily="34" charset="0"/>
                <a:ea typeface="Inter Medium" pitchFamily="34" charset="-122"/>
                <a:cs typeface="Inter Medium" pitchFamily="34" charset="-120"/>
              </a:rPr>
              <a:t>Annual spend</a:t>
            </a:r>
            <a:endParaRPr lang="en-US" sz="2000" dirty="0"/>
          </a:p>
        </p:txBody>
      </p:sp>
      <p:sp>
        <p:nvSpPr>
          <p:cNvPr id="12" name="Shape 8"/>
          <p:cNvSpPr/>
          <p:nvPr/>
        </p:nvSpPr>
        <p:spPr>
          <a:xfrm>
            <a:off x="9234054" y="7442200"/>
            <a:ext cx="254032" cy="254000"/>
          </a:xfrm>
          <a:prstGeom prst="ellipse">
            <a:avLst/>
          </a:prstGeom>
          <a:solidFill>
            <a:srgbClr val="B0B0B0">
              <a:alpha val="100000"/>
            </a:srgbClr>
          </a:solidFill>
          <a:ln/>
        </p:spPr>
      </p:sp>
      <p:pic>
        <p:nvPicPr>
          <p:cNvPr id="13"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59457" y="7467600"/>
            <a:ext cx="203225" cy="203200"/>
          </a:xfrm>
          <a:prstGeom prst="rect">
            <a:avLst/>
          </a:prstGeom>
        </p:spPr>
      </p:pic>
      <p:sp>
        <p:nvSpPr>
          <p:cNvPr id="14" name="Text 9"/>
          <p:cNvSpPr/>
          <p:nvPr/>
        </p:nvSpPr>
        <p:spPr>
          <a:xfrm>
            <a:off x="9589699" y="7378700"/>
            <a:ext cx="33489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inconsistent delivery times</a:t>
            </a:r>
            <a:endParaRPr lang="en-US" sz="2000" dirty="0"/>
          </a:p>
        </p:txBody>
      </p:sp>
      <p:sp>
        <p:nvSpPr>
          <p:cNvPr id="15" name="Text 10"/>
          <p:cNvSpPr/>
          <p:nvPr/>
        </p:nvSpPr>
        <p:spPr>
          <a:xfrm>
            <a:off x="9234054" y="5486400"/>
            <a:ext cx="2959470"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888888">
                    <a:alpha val="100000"/>
                  </a:srgbClr>
                </a:solidFill>
                <a:latin typeface="Inter Regular" pitchFamily="34" charset="0"/>
                <a:ea typeface="Inter Regular" pitchFamily="34" charset="-122"/>
                <a:cs typeface="Inter Regular" pitchFamily="34" charset="-120"/>
              </a:rPr>
              <a:t>$2M</a:t>
            </a:r>
            <a:endParaRPr lang="en-US" sz="9600" dirty="0"/>
          </a:p>
        </p:txBody>
      </p:sp>
      <p:pic>
        <p:nvPicPr>
          <p:cNvPr id="16"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4191" y="4622800"/>
            <a:ext cx="6795349" cy="4013200"/>
          </a:xfrm>
          <a:prstGeom prst="rect">
            <a:avLst/>
          </a:prstGeom>
        </p:spPr>
      </p:pic>
      <p:sp>
        <p:nvSpPr>
          <p:cNvPr id="17" name="Text 11"/>
          <p:cNvSpPr/>
          <p:nvPr/>
        </p:nvSpPr>
        <p:spPr>
          <a:xfrm>
            <a:off x="2032254" y="5130800"/>
            <a:ext cx="68165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After</a:t>
            </a:r>
            <a:endParaRPr lang="en-US" sz="2000" dirty="0"/>
          </a:p>
        </p:txBody>
      </p:sp>
      <p:sp>
        <p:nvSpPr>
          <p:cNvPr id="18" name="Shape 12"/>
          <p:cNvSpPr/>
          <p:nvPr/>
        </p:nvSpPr>
        <p:spPr>
          <a:xfrm>
            <a:off x="2095762" y="7581900"/>
            <a:ext cx="254032" cy="254000"/>
          </a:xfrm>
          <a:prstGeom prst="ellipse">
            <a:avLst/>
          </a:prstGeom>
          <a:solidFill>
            <a:srgbClr val="B0B0B0">
              <a:alpha val="100000"/>
            </a:srgbClr>
          </a:solidFill>
          <a:ln/>
        </p:spPr>
      </p:sp>
      <p:pic>
        <p:nvPicPr>
          <p:cNvPr id="19" name="Image 4" descr=" "/>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2121165" y="7607300"/>
            <a:ext cx="203225" cy="203200"/>
          </a:xfrm>
          <a:prstGeom prst="rect">
            <a:avLst/>
          </a:prstGeom>
        </p:spPr>
      </p:pic>
      <p:sp>
        <p:nvSpPr>
          <p:cNvPr id="20" name="Text 13"/>
          <p:cNvSpPr/>
          <p:nvPr/>
        </p:nvSpPr>
        <p:spPr>
          <a:xfrm>
            <a:off x="2451406" y="7518400"/>
            <a:ext cx="33489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improved delivery schedule</a:t>
            </a:r>
            <a:endParaRPr lang="en-US" sz="2000" dirty="0"/>
          </a:p>
        </p:txBody>
      </p:sp>
      <p:sp>
        <p:nvSpPr>
          <p:cNvPr id="21" name="Text 14"/>
          <p:cNvSpPr/>
          <p:nvPr/>
        </p:nvSpPr>
        <p:spPr>
          <a:xfrm>
            <a:off x="2032254" y="5613400"/>
            <a:ext cx="3759670"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4D4D">
                    <a:alpha val="100000"/>
                  </a:srgbClr>
                </a:solidFill>
                <a:latin typeface="Inter Regular" pitchFamily="34" charset="0"/>
                <a:ea typeface="Inter Regular" pitchFamily="34" charset="-122"/>
                <a:cs typeface="Inter Regular" pitchFamily="34" charset="-120"/>
              </a:rPr>
              <a:t>$1.6M</a:t>
            </a:r>
            <a:endParaRPr lang="en-US" sz="9600" dirty="0"/>
          </a:p>
        </p:txBody>
      </p:sp>
      <p:sp>
        <p:nvSpPr>
          <p:cNvPr id="22" name="Text 15"/>
          <p:cNvSpPr/>
          <p:nvPr/>
        </p:nvSpPr>
        <p:spPr>
          <a:xfrm>
            <a:off x="5499787" y="6019800"/>
            <a:ext cx="1697779"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Annual spend reduced</a:t>
            </a:r>
            <a:endParaRPr lang="en-US" sz="2000" dirty="0"/>
          </a:p>
        </p:txBody>
      </p:sp>
      <p:pic>
        <p:nvPicPr>
          <p:cNvPr id="23" name="Image 5"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6397" y="6019800"/>
            <a:ext cx="323332" cy="323292"/>
          </a:xfrm>
          <a:prstGeom prst="rect">
            <a:avLst/>
          </a:prstGeom>
        </p:spPr>
      </p:pic>
      <p:pic>
        <p:nvPicPr>
          <p:cNvPr id="24" name="Image 6"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000575" y="4616450"/>
            <a:ext cx="9386473" cy="12700"/>
          </a:xfrm>
          <a:prstGeom prst="rect">
            <a:avLst/>
          </a:prstGeom>
        </p:spPr>
      </p:pic>
      <p:sp>
        <p:nvSpPr>
          <p:cNvPr id="25" name="Text 16"/>
          <p:cNvSpPr/>
          <p:nvPr/>
        </p:nvSpPr>
        <p:spPr>
          <a:xfrm>
            <a:off x="15330816" y="5054600"/>
            <a:ext cx="323467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$450K</a:t>
            </a:r>
            <a:r>
              <a:rPr lang="en-US" sz="2000" kern="0" spc="-40" dirty="0">
                <a:solidFill>
                  <a:srgbClr val="6D6D6D">
                    <a:alpha val="100000"/>
                  </a:srgbClr>
                </a:solidFill>
                <a:latin typeface="Inter Regular" pitchFamily="34" charset="0"/>
                <a:ea typeface="Inter Regular" pitchFamily="34" charset="-122"/>
                <a:cs typeface="Inter Regular" pitchFamily="34" charset="-120"/>
              </a:rPr>
              <a:t> total annual savings</a:t>
            </a:r>
            <a:endParaRPr lang="en-US" sz="2000" dirty="0"/>
          </a:p>
        </p:txBody>
      </p:sp>
      <p:sp>
        <p:nvSpPr>
          <p:cNvPr id="26" name="Text 17"/>
          <p:cNvSpPr/>
          <p:nvPr/>
        </p:nvSpPr>
        <p:spPr>
          <a:xfrm>
            <a:off x="15330816" y="5537200"/>
            <a:ext cx="7616719" cy="1227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This significant amount reflects the potential financial benefits that our solutions can bring to your organization, allowing you to allocate resources more effectively and invest in future growth.</a:t>
            </a:r>
            <a:endParaRPr lang="en-US" sz="2000" dirty="0"/>
          </a:p>
        </p:txBody>
      </p:sp>
      <p:pic>
        <p:nvPicPr>
          <p:cNvPr id="27" name="Image 7"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029153" y="5149850"/>
            <a:ext cx="171471" cy="200025"/>
          </a:xfrm>
          <a:prstGeom prst="rect">
            <a:avLst/>
          </a:prstGeom>
        </p:spPr>
      </p:pic>
      <p:pic>
        <p:nvPicPr>
          <p:cNvPr id="28" name="Image 8"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000575" y="7105650"/>
            <a:ext cx="9386473" cy="12700"/>
          </a:xfrm>
          <a:prstGeom prst="rect">
            <a:avLst/>
          </a:prstGeom>
        </p:spPr>
      </p:pic>
      <p:sp>
        <p:nvSpPr>
          <p:cNvPr id="29" name="Text 18"/>
          <p:cNvSpPr/>
          <p:nvPr/>
        </p:nvSpPr>
        <p:spPr>
          <a:xfrm>
            <a:off x="15330816" y="7543800"/>
            <a:ext cx="329817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Improved supplier reliability</a:t>
            </a:r>
            <a:endParaRPr lang="en-US" sz="2000" dirty="0"/>
          </a:p>
        </p:txBody>
      </p:sp>
      <p:sp>
        <p:nvSpPr>
          <p:cNvPr id="30" name="Text 19"/>
          <p:cNvSpPr/>
          <p:nvPr/>
        </p:nvSpPr>
        <p:spPr>
          <a:xfrm>
            <a:off x="15330816" y="8026400"/>
            <a:ext cx="7616719"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Enhanced supplier reliability has led to a 15% increase in on-time deliveries, significantly improving our overall efficiency.</a:t>
            </a:r>
            <a:endParaRPr lang="en-US" sz="2000" dirty="0"/>
          </a:p>
        </p:txBody>
      </p:sp>
      <p:pic>
        <p:nvPicPr>
          <p:cNvPr id="32" name="Image 10"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000575" y="9213850"/>
            <a:ext cx="9386473" cy="12700"/>
          </a:xfrm>
          <a:prstGeom prst="rect">
            <a:avLst/>
          </a:prstGeom>
        </p:spPr>
      </p:pic>
      <p:sp>
        <p:nvSpPr>
          <p:cNvPr id="33" name="Text 20"/>
          <p:cNvSpPr/>
          <p:nvPr/>
        </p:nvSpPr>
        <p:spPr>
          <a:xfrm>
            <a:off x="15330816" y="9652000"/>
            <a:ext cx="26503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3%</a:t>
            </a:r>
            <a:r>
              <a:rPr lang="en-US" sz="2000" kern="0" spc="-40" dirty="0">
                <a:solidFill>
                  <a:srgbClr val="6D6D6D">
                    <a:alpha val="100000"/>
                  </a:srgbClr>
                </a:solidFill>
                <a:latin typeface="Inter Regular" pitchFamily="34" charset="0"/>
                <a:ea typeface="Inter Regular" pitchFamily="34" charset="-122"/>
                <a:cs typeface="Inter Regular" pitchFamily="34" charset="-120"/>
              </a:rPr>
              <a:t> Reduced Stockout</a:t>
            </a:r>
            <a:endParaRPr lang="en-US" sz="2000" dirty="0"/>
          </a:p>
        </p:txBody>
      </p:sp>
      <p:sp>
        <p:nvSpPr>
          <p:cNvPr id="34" name="Text 21"/>
          <p:cNvSpPr/>
          <p:nvPr/>
        </p:nvSpPr>
        <p:spPr>
          <a:xfrm>
            <a:off x="15330816" y="10134600"/>
            <a:ext cx="7616719"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We successfully reduced stockouts from 8% to just 3%, significantly improving our inventory management.</a:t>
            </a:r>
            <a:endParaRPr lang="en-US" sz="2000" dirty="0"/>
          </a:p>
        </p:txBody>
      </p:sp>
      <p:pic>
        <p:nvPicPr>
          <p:cNvPr id="35" name="Image 11"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019627" y="9747250"/>
            <a:ext cx="190524" cy="190500"/>
          </a:xfrm>
          <a:prstGeom prst="rect">
            <a:avLst/>
          </a:prstGeom>
        </p:spPr>
      </p:pic>
      <p:pic>
        <p:nvPicPr>
          <p:cNvPr id="36" name="Image 12"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000575" y="11322050"/>
            <a:ext cx="9386473" cy="12700"/>
          </a:xfrm>
          <a:prstGeom prst="rect">
            <a:avLst/>
          </a:prstGeom>
        </p:spPr>
      </p:pic>
      <p:pic>
        <p:nvPicPr>
          <p:cNvPr id="39" name="Graphic 38">
            <a:extLst>
              <a:ext uri="{FF2B5EF4-FFF2-40B4-BE49-F238E27FC236}">
                <a16:creationId xmlns:a16="http://schemas.microsoft.com/office/drawing/2014/main" id="{FF1FF361-C89F-4D59-BF8F-2330881CCC7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009912" y="7646035"/>
            <a:ext cx="171450" cy="171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124700"/>
            <a:ext cx="24387048" cy="5321300"/>
          </a:xfrm>
          <a:prstGeom prst="rect">
            <a:avLst/>
          </a:prstGeom>
          <a:noFill/>
          <a:ln/>
        </p:spPr>
      </p:sp>
      <p:sp>
        <p:nvSpPr>
          <p:cNvPr id="3" name="Text 1"/>
          <p:cNvSpPr/>
          <p:nvPr/>
        </p:nvSpPr>
        <p:spPr>
          <a:xfrm>
            <a:off x="4661483" y="9436100"/>
            <a:ext cx="40221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Q1</a:t>
            </a:r>
            <a:endParaRPr lang="en-US" sz="2000" dirty="0"/>
          </a:p>
        </p:txBody>
      </p:sp>
      <p:sp>
        <p:nvSpPr>
          <p:cNvPr id="4" name="Text 2"/>
          <p:cNvSpPr/>
          <p:nvPr/>
        </p:nvSpPr>
        <p:spPr>
          <a:xfrm>
            <a:off x="3531041" y="9893300"/>
            <a:ext cx="1617335"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$150K</a:t>
            </a:r>
            <a:endParaRPr lang="en-US" sz="4000" dirty="0"/>
          </a:p>
        </p:txBody>
      </p:sp>
      <p:sp>
        <p:nvSpPr>
          <p:cNvPr id="5" name="Text 3"/>
          <p:cNvSpPr/>
          <p:nvPr/>
        </p:nvSpPr>
        <p:spPr>
          <a:xfrm>
            <a:off x="9310264" y="8737600"/>
            <a:ext cx="4276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Q2</a:t>
            </a:r>
            <a:endParaRPr lang="en-US" sz="2000" dirty="0"/>
          </a:p>
        </p:txBody>
      </p:sp>
      <p:sp>
        <p:nvSpPr>
          <p:cNvPr id="6" name="Text 4"/>
          <p:cNvSpPr/>
          <p:nvPr/>
        </p:nvSpPr>
        <p:spPr>
          <a:xfrm>
            <a:off x="8103613" y="9194800"/>
            <a:ext cx="1693545"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$320K</a:t>
            </a:r>
            <a:endParaRPr lang="en-US" sz="4000" dirty="0"/>
          </a:p>
        </p:txBody>
      </p:sp>
      <p:sp>
        <p:nvSpPr>
          <p:cNvPr id="7" name="Text 5"/>
          <p:cNvSpPr/>
          <p:nvPr/>
        </p:nvSpPr>
        <p:spPr>
          <a:xfrm>
            <a:off x="13895537" y="8039100"/>
            <a:ext cx="44032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Q3</a:t>
            </a:r>
            <a:endParaRPr lang="en-US" sz="2000" dirty="0"/>
          </a:p>
        </p:txBody>
      </p:sp>
      <p:sp>
        <p:nvSpPr>
          <p:cNvPr id="8" name="Text 6"/>
          <p:cNvSpPr/>
          <p:nvPr/>
        </p:nvSpPr>
        <p:spPr>
          <a:xfrm>
            <a:off x="12726991" y="8496300"/>
            <a:ext cx="1693545"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$500K</a:t>
            </a:r>
            <a:endParaRPr lang="en-US" sz="4000" dirty="0"/>
          </a:p>
        </p:txBody>
      </p:sp>
      <p:sp>
        <p:nvSpPr>
          <p:cNvPr id="9" name="Text 7"/>
          <p:cNvSpPr/>
          <p:nvPr/>
        </p:nvSpPr>
        <p:spPr>
          <a:xfrm>
            <a:off x="18544318" y="7264400"/>
            <a:ext cx="44032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Q4</a:t>
            </a:r>
            <a:endParaRPr lang="en-US" sz="2000" dirty="0"/>
          </a:p>
        </p:txBody>
      </p:sp>
      <p:sp>
        <p:nvSpPr>
          <p:cNvPr id="10" name="Text 8"/>
          <p:cNvSpPr/>
          <p:nvPr/>
        </p:nvSpPr>
        <p:spPr>
          <a:xfrm>
            <a:off x="17401175" y="7721600"/>
            <a:ext cx="1668142" cy="728133"/>
          </a:xfrm>
          <a:prstGeom prst="rect">
            <a:avLst/>
          </a:prstGeom>
          <a:noFill/>
          <a:ln/>
        </p:spPr>
        <p:txBody>
          <a:bodyPr wrap="square" lIns="0" tIns="0" rIns="0" bIns="0" rtlCol="0" anchor="t"/>
          <a:lstStyle/>
          <a:p>
            <a:pPr marL="0" indent="0" algn="l">
              <a:lnSpc>
                <a:spcPts val="4400"/>
              </a:lnSpc>
              <a:buNone/>
            </a:pPr>
            <a:r>
              <a:rPr lang="en-US" sz="4000" kern="0" spc="-160" dirty="0">
                <a:solidFill>
                  <a:srgbClr val="000000">
                    <a:alpha val="100000"/>
                  </a:srgbClr>
                </a:solidFill>
                <a:latin typeface="Inter Regular" pitchFamily="34" charset="0"/>
                <a:ea typeface="Inter Regular" pitchFamily="34" charset="-122"/>
                <a:cs typeface="Inter Regular" pitchFamily="34" charset="-120"/>
              </a:rPr>
              <a:t>$700K</a:t>
            </a:r>
            <a:endParaRPr lang="en-US" sz="4000" dirty="0"/>
          </a:p>
        </p:txBody>
      </p:sp>
      <p:sp>
        <p:nvSpPr>
          <p:cNvPr id="11" name="Shape 9"/>
          <p:cNvSpPr/>
          <p:nvPr/>
        </p:nvSpPr>
        <p:spPr>
          <a:xfrm rot="10800000">
            <a:off x="0" y="10883900"/>
            <a:ext cx="5233054" cy="1562100"/>
          </a:xfrm>
          <a:prstGeom prst="rect">
            <a:avLst/>
          </a:prstGeom>
          <a:solidFill>
            <a:srgbClr val="FFDFDF">
              <a:alpha val="100000"/>
            </a:srgbClr>
          </a:solidFill>
          <a:ln/>
        </p:spPr>
      </p:sp>
      <p:sp>
        <p:nvSpPr>
          <p:cNvPr id="12" name="Shape 10"/>
          <p:cNvSpPr/>
          <p:nvPr/>
        </p:nvSpPr>
        <p:spPr>
          <a:xfrm rot="10800000">
            <a:off x="19153994" y="7734300"/>
            <a:ext cx="5233054" cy="1562100"/>
          </a:xfrm>
          <a:prstGeom prst="rect">
            <a:avLst/>
          </a:prstGeom>
          <a:solidFill>
            <a:srgbClr val="FF4D4D">
              <a:alpha val="100000"/>
            </a:srgbClr>
          </a:solidFill>
          <a:ln/>
        </p:spPr>
      </p:sp>
      <p:sp>
        <p:nvSpPr>
          <p:cNvPr id="13" name="Shape 11"/>
          <p:cNvSpPr/>
          <p:nvPr/>
        </p:nvSpPr>
        <p:spPr>
          <a:xfrm rot="10800000">
            <a:off x="5233054" y="10185400"/>
            <a:ext cx="4648781" cy="1562100"/>
          </a:xfrm>
          <a:prstGeom prst="rect">
            <a:avLst/>
          </a:prstGeom>
          <a:solidFill>
            <a:srgbClr val="FFC5C5">
              <a:alpha val="100000"/>
            </a:srgbClr>
          </a:solidFill>
          <a:ln/>
        </p:spPr>
      </p:sp>
      <p:sp>
        <p:nvSpPr>
          <p:cNvPr id="14" name="Shape 12"/>
          <p:cNvSpPr/>
          <p:nvPr/>
        </p:nvSpPr>
        <p:spPr>
          <a:xfrm rot="10800000">
            <a:off x="9881835" y="9486900"/>
            <a:ext cx="4623378" cy="1562100"/>
          </a:xfrm>
          <a:prstGeom prst="rect">
            <a:avLst/>
          </a:prstGeom>
          <a:solidFill>
            <a:srgbClr val="FF9D9D">
              <a:alpha val="100000"/>
            </a:srgbClr>
          </a:solidFill>
          <a:ln/>
        </p:spPr>
      </p:sp>
      <p:sp>
        <p:nvSpPr>
          <p:cNvPr id="15" name="Shape 13"/>
          <p:cNvSpPr/>
          <p:nvPr/>
        </p:nvSpPr>
        <p:spPr>
          <a:xfrm rot="10800000">
            <a:off x="14505213" y="8712200"/>
            <a:ext cx="4648781" cy="1562100"/>
          </a:xfrm>
          <a:prstGeom prst="rect">
            <a:avLst/>
          </a:prstGeom>
          <a:solidFill>
            <a:srgbClr val="FF6464">
              <a:alpha val="100000"/>
            </a:srgbClr>
          </a:solidFill>
          <a:ln/>
        </p:spPr>
      </p:sp>
      <p:pic>
        <p:nvPicPr>
          <p:cNvPr id="1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6703" y="9296400"/>
            <a:ext cx="12702" cy="3149600"/>
          </a:xfrm>
          <a:prstGeom prst="rect">
            <a:avLst/>
          </a:prstGeom>
        </p:spPr>
      </p:pic>
      <p:pic>
        <p:nvPicPr>
          <p:cNvPr id="17"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75484" y="8597900"/>
            <a:ext cx="12702" cy="3149600"/>
          </a:xfrm>
          <a:prstGeom prst="rect">
            <a:avLst/>
          </a:prstGeom>
        </p:spPr>
      </p:pic>
      <p:pic>
        <p:nvPicPr>
          <p:cNvPr id="18"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98862" y="7899400"/>
            <a:ext cx="12702" cy="3149600"/>
          </a:xfrm>
          <a:prstGeom prst="rect">
            <a:avLst/>
          </a:prstGeom>
        </p:spPr>
      </p:pic>
      <p:pic>
        <p:nvPicPr>
          <p:cNvPr id="19"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47643" y="7124700"/>
            <a:ext cx="12702" cy="3149600"/>
          </a:xfrm>
          <a:prstGeom prst="rect">
            <a:avLst/>
          </a:prstGeom>
        </p:spPr>
      </p:pic>
      <p:sp>
        <p:nvSpPr>
          <p:cNvPr id="20" name="Text 14"/>
          <p:cNvSpPr/>
          <p:nvPr/>
        </p:nvSpPr>
        <p:spPr>
          <a:xfrm>
            <a:off x="1524191" y="1930400"/>
            <a:ext cx="8103613"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Tracking &amp; Monitoring Cost Savings</a:t>
            </a:r>
            <a:endParaRPr lang="en-US" sz="6000" dirty="0"/>
          </a:p>
        </p:txBody>
      </p:sp>
      <p:sp>
        <p:nvSpPr>
          <p:cNvPr id="21" name="Text 15"/>
          <p:cNvSpPr/>
          <p:nvPr/>
        </p:nvSpPr>
        <p:spPr>
          <a:xfrm>
            <a:off x="1524191" y="3632200"/>
            <a:ext cx="7934258" cy="1989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By implementing continuous tracking, organizations can not only maintain their cost savings but also uncover new opportunities for further reductions. </a:t>
            </a:r>
            <a:r>
              <a:rPr lang="en-US" sz="2000" kern="0" spc="-40" dirty="0">
                <a:solidFill>
                  <a:srgbClr val="6D6D6D">
                    <a:alpha val="100000"/>
                  </a:srgbClr>
                </a:solidFill>
                <a:latin typeface="Inter Regular" pitchFamily="34" charset="0"/>
                <a:ea typeface="Inter Regular" pitchFamily="34" charset="-122"/>
                <a:cs typeface="Inter Regular" pitchFamily="34" charset="-120"/>
              </a:rPr>
              <a:t>This proactive approach allows for early identification of potential savings, ensuring that financial efficiency is maximized over time.</a:t>
            </a:r>
            <a:endParaRPr lang="en-US" sz="2000" dirty="0"/>
          </a:p>
        </p:txBody>
      </p:sp>
      <p:sp>
        <p:nvSpPr>
          <p:cNvPr id="22" name="Shape 16"/>
          <p:cNvSpPr/>
          <p:nvPr/>
        </p:nvSpPr>
        <p:spPr>
          <a:xfrm rot="10800000">
            <a:off x="18620527" y="2311400"/>
            <a:ext cx="4242330" cy="2590800"/>
          </a:xfrm>
          <a:prstGeom prst="roundRect">
            <a:avLst>
              <a:gd name="adj" fmla="val 4941"/>
            </a:avLst>
          </a:prstGeom>
          <a:solidFill>
            <a:srgbClr val="FF4D4D">
              <a:alpha val="100000"/>
            </a:srgbClr>
          </a:solidFill>
          <a:ln/>
        </p:spPr>
      </p:sp>
      <p:sp>
        <p:nvSpPr>
          <p:cNvPr id="23" name="Shape 17"/>
          <p:cNvSpPr/>
          <p:nvPr/>
        </p:nvSpPr>
        <p:spPr>
          <a:xfrm>
            <a:off x="21935642" y="2032000"/>
            <a:ext cx="558870" cy="558800"/>
          </a:xfrm>
          <a:prstGeom prst="ellipse">
            <a:avLst/>
          </a:prstGeom>
          <a:solidFill>
            <a:srgbClr val="000000">
              <a:alpha val="100000"/>
            </a:srgbClr>
          </a:solidFill>
          <a:ln/>
        </p:spPr>
      </p:sp>
      <p:pic>
        <p:nvPicPr>
          <p:cNvPr id="24"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37254" y="2133600"/>
            <a:ext cx="359266" cy="359210"/>
          </a:xfrm>
          <a:prstGeom prst="rect">
            <a:avLst/>
          </a:prstGeom>
        </p:spPr>
      </p:pic>
      <p:sp>
        <p:nvSpPr>
          <p:cNvPr id="25" name="Text 18"/>
          <p:cNvSpPr/>
          <p:nvPr/>
        </p:nvSpPr>
        <p:spPr>
          <a:xfrm>
            <a:off x="19128591" y="2819400"/>
            <a:ext cx="2286286"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+30%</a:t>
            </a:r>
            <a:endParaRPr lang="en-US" sz="6000" dirty="0"/>
          </a:p>
        </p:txBody>
      </p:sp>
      <p:sp>
        <p:nvSpPr>
          <p:cNvPr id="26" name="Text 19"/>
          <p:cNvSpPr/>
          <p:nvPr/>
        </p:nvSpPr>
        <p:spPr>
          <a:xfrm>
            <a:off x="19128591" y="3911600"/>
            <a:ext cx="34505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Saved from the target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10871200"/>
            <a:ext cx="9056232" cy="1828800"/>
          </a:xfrm>
          <a:prstGeom prst="rect">
            <a:avLst/>
          </a:prstGeom>
          <a:noFill/>
          <a:ln/>
        </p:spPr>
      </p:sp>
      <p:sp>
        <p:nvSpPr>
          <p:cNvPr id="3" name="Shape 1"/>
          <p:cNvSpPr/>
          <p:nvPr/>
        </p:nvSpPr>
        <p:spPr>
          <a:xfrm>
            <a:off x="1574997" y="10871200"/>
            <a:ext cx="2146568" cy="787400"/>
          </a:xfrm>
          <a:prstGeom prst="roundRect">
            <a:avLst>
              <a:gd name="adj" fmla="val 58065"/>
            </a:avLst>
          </a:prstGeom>
          <a:solidFill>
            <a:srgbClr val="000000">
              <a:alpha val="100000"/>
            </a:srgbClr>
          </a:solidFill>
          <a:ln/>
        </p:spPr>
      </p:sp>
      <p:sp>
        <p:nvSpPr>
          <p:cNvPr id="4" name="Text 2"/>
          <p:cNvSpPr/>
          <p:nvPr/>
        </p:nvSpPr>
        <p:spPr>
          <a:xfrm>
            <a:off x="2032254" y="11074400"/>
            <a:ext cx="12913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Efficiency</a:t>
            </a:r>
            <a:endParaRPr lang="en-US" sz="2000" dirty="0"/>
          </a:p>
        </p:txBody>
      </p:sp>
      <p:sp>
        <p:nvSpPr>
          <p:cNvPr id="5" name="Shape 3"/>
          <p:cNvSpPr/>
          <p:nvPr/>
        </p:nvSpPr>
        <p:spPr>
          <a:xfrm>
            <a:off x="6858857" y="10871200"/>
            <a:ext cx="1981448" cy="787400"/>
          </a:xfrm>
          <a:prstGeom prst="roundRect">
            <a:avLst>
              <a:gd name="adj" fmla="val 58065"/>
            </a:avLst>
          </a:prstGeom>
          <a:solidFill>
            <a:srgbClr val="E7E7E7">
              <a:alpha val="100000"/>
            </a:srgbClr>
          </a:solidFill>
          <a:ln/>
        </p:spPr>
      </p:sp>
      <p:sp>
        <p:nvSpPr>
          <p:cNvPr id="6" name="Text 4"/>
          <p:cNvSpPr/>
          <p:nvPr/>
        </p:nvSpPr>
        <p:spPr>
          <a:xfrm>
            <a:off x="7392324" y="11074400"/>
            <a:ext cx="9991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Savings</a:t>
            </a:r>
            <a:endParaRPr lang="en-US" sz="2000" dirty="0"/>
          </a:p>
        </p:txBody>
      </p:sp>
      <p:sp>
        <p:nvSpPr>
          <p:cNvPr id="7" name="Shape 5"/>
          <p:cNvSpPr/>
          <p:nvPr/>
        </p:nvSpPr>
        <p:spPr>
          <a:xfrm>
            <a:off x="9094337" y="10871200"/>
            <a:ext cx="1486086" cy="787400"/>
          </a:xfrm>
          <a:prstGeom prst="roundRect">
            <a:avLst>
              <a:gd name="adj" fmla="val 58065"/>
            </a:avLst>
          </a:prstGeom>
          <a:solidFill>
            <a:srgbClr val="E7E7E7">
              <a:alpha val="100000"/>
            </a:srgbClr>
          </a:solidFill>
          <a:ln/>
        </p:spPr>
      </p:sp>
      <p:sp>
        <p:nvSpPr>
          <p:cNvPr id="8" name="Text 6"/>
          <p:cNvSpPr/>
          <p:nvPr/>
        </p:nvSpPr>
        <p:spPr>
          <a:xfrm>
            <a:off x="9627803" y="11074400"/>
            <a:ext cx="50383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ROI</a:t>
            </a:r>
            <a:endParaRPr lang="en-US" sz="2000" dirty="0"/>
          </a:p>
        </p:txBody>
      </p:sp>
      <p:sp>
        <p:nvSpPr>
          <p:cNvPr id="9" name="Shape 7"/>
          <p:cNvSpPr/>
          <p:nvPr/>
        </p:nvSpPr>
        <p:spPr>
          <a:xfrm>
            <a:off x="3975597" y="10871200"/>
            <a:ext cx="2629229" cy="787400"/>
          </a:xfrm>
          <a:prstGeom prst="roundRect">
            <a:avLst>
              <a:gd name="adj" fmla="val 58065"/>
            </a:avLst>
          </a:prstGeom>
          <a:solidFill>
            <a:srgbClr val="FF4D4D">
              <a:alpha val="100000"/>
            </a:srgbClr>
          </a:solidFill>
          <a:ln/>
        </p:spPr>
      </p:sp>
      <p:sp>
        <p:nvSpPr>
          <p:cNvPr id="10" name="Text 8"/>
          <p:cNvSpPr/>
          <p:nvPr/>
        </p:nvSpPr>
        <p:spPr>
          <a:xfrm>
            <a:off x="4509064" y="11074400"/>
            <a:ext cx="162156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Sustainability</a:t>
            </a:r>
            <a:endParaRPr lang="en-US" sz="2000" dirty="0"/>
          </a:p>
        </p:txBody>
      </p:sp>
      <p:sp>
        <p:nvSpPr>
          <p:cNvPr id="11" name="Shape 9"/>
          <p:cNvSpPr/>
          <p:nvPr/>
        </p:nvSpPr>
        <p:spPr>
          <a:xfrm>
            <a:off x="1524191" y="11912600"/>
            <a:ext cx="2502213" cy="787400"/>
          </a:xfrm>
          <a:prstGeom prst="roundRect">
            <a:avLst>
              <a:gd name="adj" fmla="val 58065"/>
            </a:avLst>
          </a:prstGeom>
          <a:solidFill>
            <a:srgbClr val="E7E7E7">
              <a:alpha val="100000"/>
            </a:srgbClr>
          </a:solidFill>
          <a:ln/>
        </p:spPr>
      </p:sp>
      <p:sp>
        <p:nvSpPr>
          <p:cNvPr id="12" name="Text 10"/>
          <p:cNvSpPr/>
          <p:nvPr/>
        </p:nvSpPr>
        <p:spPr>
          <a:xfrm>
            <a:off x="2057657" y="12115800"/>
            <a:ext cx="154536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Optimization</a:t>
            </a:r>
            <a:endParaRPr lang="en-US" sz="2000" dirty="0"/>
          </a:p>
        </p:txBody>
      </p:sp>
      <p:sp>
        <p:nvSpPr>
          <p:cNvPr id="13" name="Shape 11"/>
          <p:cNvSpPr/>
          <p:nvPr/>
        </p:nvSpPr>
        <p:spPr>
          <a:xfrm>
            <a:off x="4280435" y="11912600"/>
            <a:ext cx="2438705" cy="787400"/>
          </a:xfrm>
          <a:prstGeom prst="roundRect">
            <a:avLst>
              <a:gd name="adj" fmla="val 58065"/>
            </a:avLst>
          </a:prstGeom>
          <a:solidFill>
            <a:srgbClr val="E7E7E7">
              <a:alpha val="100000"/>
            </a:srgbClr>
          </a:solidFill>
          <a:ln/>
        </p:spPr>
      </p:sp>
      <p:sp>
        <p:nvSpPr>
          <p:cNvPr id="14" name="Text 12"/>
          <p:cNvSpPr/>
          <p:nvPr/>
        </p:nvSpPr>
        <p:spPr>
          <a:xfrm>
            <a:off x="4813902" y="12115800"/>
            <a:ext cx="146915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Productivity</a:t>
            </a:r>
            <a:endParaRPr lang="en-US" sz="2000" dirty="0"/>
          </a:p>
        </p:txBody>
      </p:sp>
      <p:sp>
        <p:nvSpPr>
          <p:cNvPr id="15" name="Shape 13"/>
          <p:cNvSpPr/>
          <p:nvPr/>
        </p:nvSpPr>
        <p:spPr>
          <a:xfrm>
            <a:off x="6973172" y="11912600"/>
            <a:ext cx="1968746" cy="787400"/>
          </a:xfrm>
          <a:prstGeom prst="roundRect">
            <a:avLst>
              <a:gd name="adj" fmla="val 58065"/>
            </a:avLst>
          </a:prstGeom>
          <a:solidFill>
            <a:srgbClr val="E7E7E7">
              <a:alpha val="100000"/>
            </a:srgbClr>
          </a:solidFill>
          <a:ln/>
        </p:spPr>
      </p:sp>
      <p:sp>
        <p:nvSpPr>
          <p:cNvPr id="16" name="Text 14"/>
          <p:cNvSpPr/>
          <p:nvPr/>
        </p:nvSpPr>
        <p:spPr>
          <a:xfrm>
            <a:off x="7506638" y="12115800"/>
            <a:ext cx="9483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Growth</a:t>
            </a:r>
            <a:endParaRPr lang="en-US" sz="2000" dirty="0"/>
          </a:p>
        </p:txBody>
      </p:sp>
      <p:pic>
        <p:nvPicPr>
          <p:cNvPr id="17"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20540" y="0"/>
            <a:ext cx="12066508" cy="13716000"/>
          </a:xfrm>
          <a:prstGeom prst="rect">
            <a:avLst/>
          </a:prstGeom>
        </p:spPr>
      </p:pic>
      <p:sp>
        <p:nvSpPr>
          <p:cNvPr id="18" name="Text 15"/>
          <p:cNvSpPr/>
          <p:nvPr/>
        </p:nvSpPr>
        <p:spPr>
          <a:xfrm>
            <a:off x="1524191" y="1524000"/>
            <a:ext cx="8941918"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Key Insights &amp; Takeaways</a:t>
            </a:r>
            <a:endParaRPr lang="en-US" sz="6000" dirty="0"/>
          </a:p>
        </p:txBody>
      </p:sp>
      <p:sp>
        <p:nvSpPr>
          <p:cNvPr id="19" name="Text 16"/>
          <p:cNvSpPr/>
          <p:nvPr/>
        </p:nvSpPr>
        <p:spPr>
          <a:xfrm>
            <a:off x="1524191" y="2438400"/>
            <a:ext cx="7934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Our cost optimization approach delivers immediate and sustained benefits across multiple areas of the business.</a:t>
            </a:r>
            <a:endParaRPr lang="en-US" sz="2000" dirty="0"/>
          </a:p>
        </p:txBody>
      </p:sp>
      <p:pic>
        <p:nvPicPr>
          <p:cNvPr id="20"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3702050"/>
            <a:ext cx="10796349" cy="12700"/>
          </a:xfrm>
          <a:prstGeom prst="rect">
            <a:avLst/>
          </a:prstGeom>
        </p:spPr>
      </p:pic>
      <p:pic>
        <p:nvPicPr>
          <p:cNvPr id="21"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4692650"/>
            <a:ext cx="10796349" cy="12700"/>
          </a:xfrm>
          <a:prstGeom prst="rect">
            <a:avLst/>
          </a:prstGeom>
        </p:spPr>
      </p:pic>
      <p:pic>
        <p:nvPicPr>
          <p:cNvPr id="22"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5683250"/>
            <a:ext cx="10796349" cy="12700"/>
          </a:xfrm>
          <a:prstGeom prst="rect">
            <a:avLst/>
          </a:prstGeom>
        </p:spPr>
      </p:pic>
      <p:pic>
        <p:nvPicPr>
          <p:cNvPr id="23"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6673850"/>
            <a:ext cx="10796349" cy="12700"/>
          </a:xfrm>
          <a:prstGeom prst="rect">
            <a:avLst/>
          </a:prstGeom>
        </p:spPr>
      </p:pic>
      <p:pic>
        <p:nvPicPr>
          <p:cNvPr id="24"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7664450"/>
            <a:ext cx="10796349" cy="12700"/>
          </a:xfrm>
          <a:prstGeom prst="rect">
            <a:avLst/>
          </a:prstGeom>
        </p:spPr>
      </p:pic>
      <p:sp>
        <p:nvSpPr>
          <p:cNvPr id="25" name="Text 17"/>
          <p:cNvSpPr/>
          <p:nvPr/>
        </p:nvSpPr>
        <p:spPr>
          <a:xfrm>
            <a:off x="1956045" y="4013200"/>
            <a:ext cx="58003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Balanced </a:t>
            </a:r>
            <a:r>
              <a:rPr lang="en-US" sz="2000" kern="0" spc="-40" dirty="0">
                <a:solidFill>
                  <a:srgbClr val="000000">
                    <a:alpha val="100000"/>
                  </a:srgbClr>
                </a:solidFill>
                <a:latin typeface="Inter Regular" pitchFamily="34" charset="0"/>
                <a:ea typeface="Inter Regular" pitchFamily="34" charset="-122"/>
                <a:cs typeface="Inter Regular" pitchFamily="34" charset="-120"/>
              </a:rPr>
              <a:t>cost reduction with quality preservation</a:t>
            </a:r>
            <a:endParaRPr lang="en-US" sz="2000" dirty="0"/>
          </a:p>
        </p:txBody>
      </p:sp>
      <p:pic>
        <p:nvPicPr>
          <p:cNvPr id="26"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6530" y="4119879"/>
            <a:ext cx="167661" cy="167642"/>
          </a:xfrm>
          <a:prstGeom prst="rect">
            <a:avLst/>
          </a:prstGeom>
        </p:spPr>
      </p:pic>
      <p:sp>
        <p:nvSpPr>
          <p:cNvPr id="27" name="Text 18"/>
          <p:cNvSpPr/>
          <p:nvPr/>
        </p:nvSpPr>
        <p:spPr>
          <a:xfrm>
            <a:off x="1956045" y="5003800"/>
            <a:ext cx="506370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Targeted </a:t>
            </a:r>
            <a:r>
              <a:rPr lang="en-US" sz="2000" kern="0" spc="-40" dirty="0">
                <a:solidFill>
                  <a:srgbClr val="000000">
                    <a:alpha val="100000"/>
                  </a:srgbClr>
                </a:solidFill>
                <a:latin typeface="Inter Regular" pitchFamily="34" charset="0"/>
                <a:ea typeface="Inter Regular" pitchFamily="34" charset="-122"/>
                <a:cs typeface="Inter Regular" pitchFamily="34" charset="-120"/>
              </a:rPr>
              <a:t>quick wins drive early momentum</a:t>
            </a:r>
            <a:endParaRPr lang="en-US" sz="2000" dirty="0"/>
          </a:p>
        </p:txBody>
      </p:sp>
      <p:pic>
        <p:nvPicPr>
          <p:cNvPr id="28" name="Image 7"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6530" y="5110479"/>
            <a:ext cx="167661" cy="167642"/>
          </a:xfrm>
          <a:prstGeom prst="rect">
            <a:avLst/>
          </a:prstGeom>
        </p:spPr>
      </p:pic>
      <p:sp>
        <p:nvSpPr>
          <p:cNvPr id="29" name="Text 19"/>
          <p:cNvSpPr/>
          <p:nvPr/>
        </p:nvSpPr>
        <p:spPr>
          <a:xfrm>
            <a:off x="1956045" y="5994400"/>
            <a:ext cx="784534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Long-term gains </a:t>
            </a:r>
            <a:r>
              <a:rPr lang="en-US" sz="2000" kern="0" spc="-40" dirty="0">
                <a:solidFill>
                  <a:srgbClr val="000000">
                    <a:alpha val="100000"/>
                  </a:srgbClr>
                </a:solidFill>
                <a:latin typeface="Inter Regular" pitchFamily="34" charset="0"/>
                <a:ea typeface="Inter Regular" pitchFamily="34" charset="-122"/>
                <a:cs typeface="Inter Regular" pitchFamily="34" charset="-120"/>
              </a:rPr>
              <a:t>from technology, lean practices, and sustainability</a:t>
            </a:r>
            <a:endParaRPr lang="en-US" sz="2000" dirty="0"/>
          </a:p>
        </p:txBody>
      </p:sp>
      <p:pic>
        <p:nvPicPr>
          <p:cNvPr id="30" name="Image 8"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6530" y="6101079"/>
            <a:ext cx="167661" cy="167642"/>
          </a:xfrm>
          <a:prstGeom prst="rect">
            <a:avLst/>
          </a:prstGeom>
        </p:spPr>
      </p:pic>
      <p:sp>
        <p:nvSpPr>
          <p:cNvPr id="31" name="Text 20"/>
          <p:cNvSpPr/>
          <p:nvPr/>
        </p:nvSpPr>
        <p:spPr>
          <a:xfrm>
            <a:off x="1956045" y="6985000"/>
            <a:ext cx="667680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Data-driven </a:t>
            </a:r>
            <a:r>
              <a:rPr lang="en-US" sz="2000" kern="0" spc="-40" dirty="0">
                <a:solidFill>
                  <a:srgbClr val="000000">
                    <a:alpha val="100000"/>
                  </a:srgbClr>
                </a:solidFill>
                <a:latin typeface="Inter Regular" pitchFamily="34" charset="0"/>
                <a:ea typeface="Inter Regular" pitchFamily="34" charset="-122"/>
                <a:cs typeface="Inter Regular" pitchFamily="34" charset="-120"/>
              </a:rPr>
              <a:t>monitoring ensures continuous improvement</a:t>
            </a:r>
            <a:endParaRPr lang="en-US" sz="2000" dirty="0"/>
          </a:p>
        </p:txBody>
      </p:sp>
      <p:pic>
        <p:nvPicPr>
          <p:cNvPr id="32" name="Image 9"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6530" y="7091679"/>
            <a:ext cx="167661" cy="167642"/>
          </a:xfrm>
          <a:prstGeom prst="rect">
            <a:avLst/>
          </a:prstGeom>
        </p:spPr>
      </p:pic>
      <p:sp>
        <p:nvSpPr>
          <p:cNvPr id="33" name="Shape 21"/>
          <p:cNvSpPr/>
          <p:nvPr/>
        </p:nvSpPr>
        <p:spPr>
          <a:xfrm rot="10800000">
            <a:off x="13336667" y="3695700"/>
            <a:ext cx="4915514" cy="10020300"/>
          </a:xfrm>
          <a:prstGeom prst="roundRect">
            <a:avLst>
              <a:gd name="adj" fmla="val 2604"/>
            </a:avLst>
          </a:prstGeom>
          <a:solidFill>
            <a:srgbClr val="FF4D4D">
              <a:alpha val="20000"/>
            </a:srgbClr>
          </a:solidFill>
          <a:ln/>
        </p:spPr>
      </p:sp>
      <p:sp>
        <p:nvSpPr>
          <p:cNvPr id="34" name="Shape 22"/>
          <p:cNvSpPr/>
          <p:nvPr/>
        </p:nvSpPr>
        <p:spPr>
          <a:xfrm rot="10800000">
            <a:off x="13336667" y="3695700"/>
            <a:ext cx="4915514" cy="2362200"/>
          </a:xfrm>
          <a:prstGeom prst="roundRect">
            <a:avLst>
              <a:gd name="adj" fmla="val 5419"/>
            </a:avLst>
          </a:prstGeom>
          <a:solidFill>
            <a:srgbClr val="FF4D4D">
              <a:alpha val="100000"/>
            </a:srgbClr>
          </a:solidFill>
          <a:ln/>
        </p:spPr>
      </p:sp>
      <p:sp>
        <p:nvSpPr>
          <p:cNvPr id="35" name="Shape 23"/>
          <p:cNvSpPr/>
          <p:nvPr/>
        </p:nvSpPr>
        <p:spPr>
          <a:xfrm>
            <a:off x="17464683" y="3416300"/>
            <a:ext cx="558870" cy="558800"/>
          </a:xfrm>
          <a:prstGeom prst="ellipse">
            <a:avLst/>
          </a:prstGeom>
          <a:solidFill>
            <a:srgbClr val="000000">
              <a:alpha val="100000"/>
            </a:srgbClr>
          </a:solidFill>
          <a:ln/>
        </p:spPr>
      </p:sp>
      <p:pic>
        <p:nvPicPr>
          <p:cNvPr id="36" name="Image 10"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658717" y="3610310"/>
            <a:ext cx="174413" cy="174389"/>
          </a:xfrm>
          <a:prstGeom prst="rect">
            <a:avLst/>
          </a:prstGeom>
        </p:spPr>
      </p:pic>
      <p:sp>
        <p:nvSpPr>
          <p:cNvPr id="37" name="Text 24"/>
          <p:cNvSpPr/>
          <p:nvPr/>
        </p:nvSpPr>
        <p:spPr>
          <a:xfrm>
            <a:off x="13870134" y="4254500"/>
            <a:ext cx="235826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Medium" pitchFamily="34" charset="0"/>
                <a:ea typeface="Inter Medium" pitchFamily="34" charset="-122"/>
                <a:cs typeface="Inter Medium" pitchFamily="34" charset="-120"/>
              </a:rPr>
              <a:t>Short-Term Impact:</a:t>
            </a:r>
            <a:endParaRPr lang="en-US" sz="2000" dirty="0"/>
          </a:p>
        </p:txBody>
      </p:sp>
      <p:sp>
        <p:nvSpPr>
          <p:cNvPr id="38" name="Text 25"/>
          <p:cNvSpPr/>
          <p:nvPr/>
        </p:nvSpPr>
        <p:spPr>
          <a:xfrm>
            <a:off x="13870134" y="4737100"/>
            <a:ext cx="3933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1F1">
                    <a:alpha val="100000"/>
                  </a:srgbClr>
                </a:solidFill>
                <a:latin typeface="Inter Regular" pitchFamily="34" charset="0"/>
                <a:ea typeface="Inter Regular" pitchFamily="34" charset="-122"/>
                <a:cs typeface="Inter Regular" pitchFamily="34" charset="-120"/>
              </a:rPr>
              <a:t>Lower overhead, quick ROI from renegotiations and automation</a:t>
            </a:r>
            <a:endParaRPr lang="en-US" sz="2000" dirty="0"/>
          </a:p>
        </p:txBody>
      </p:sp>
      <p:sp>
        <p:nvSpPr>
          <p:cNvPr id="39" name="Shape 26"/>
          <p:cNvSpPr/>
          <p:nvPr/>
        </p:nvSpPr>
        <p:spPr>
          <a:xfrm rot="10800000">
            <a:off x="18252181" y="5829300"/>
            <a:ext cx="4915514" cy="7886700"/>
          </a:xfrm>
          <a:prstGeom prst="roundRect">
            <a:avLst>
              <a:gd name="adj" fmla="val 2604"/>
            </a:avLst>
          </a:prstGeom>
          <a:solidFill>
            <a:srgbClr val="888888">
              <a:alpha val="10000"/>
            </a:srgbClr>
          </a:solidFill>
          <a:ln/>
        </p:spPr>
      </p:sp>
      <p:pic>
        <p:nvPicPr>
          <p:cNvPr id="40"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252181" y="5829300"/>
            <a:ext cx="4915514" cy="2362200"/>
          </a:xfrm>
          <a:prstGeom prst="rect">
            <a:avLst/>
          </a:prstGeom>
        </p:spPr>
      </p:pic>
      <p:sp>
        <p:nvSpPr>
          <p:cNvPr id="41" name="Text 27"/>
          <p:cNvSpPr/>
          <p:nvPr/>
        </p:nvSpPr>
        <p:spPr>
          <a:xfrm>
            <a:off x="18785648" y="6388100"/>
            <a:ext cx="23074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Long-Term Impact:</a:t>
            </a:r>
            <a:endParaRPr lang="en-US" sz="2000" dirty="0"/>
          </a:p>
        </p:txBody>
      </p:sp>
      <p:sp>
        <p:nvSpPr>
          <p:cNvPr id="42" name="Text 28"/>
          <p:cNvSpPr/>
          <p:nvPr/>
        </p:nvSpPr>
        <p:spPr>
          <a:xfrm>
            <a:off x="18785648" y="6870700"/>
            <a:ext cx="3933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Lower overhead, quick ROI from renegotiations and automation</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71971" y="5372100"/>
            <a:ext cx="19560445" cy="8343900"/>
          </a:xfrm>
          <a:prstGeom prst="rect">
            <a:avLst/>
          </a:prstGeom>
          <a:noFill/>
          <a:ln/>
        </p:spPr>
      </p:sp>
      <p:sp>
        <p:nvSpPr>
          <p:cNvPr id="3" name="Text 1"/>
          <p:cNvSpPr/>
          <p:nvPr/>
        </p:nvSpPr>
        <p:spPr>
          <a:xfrm>
            <a:off x="2171971" y="5372100"/>
            <a:ext cx="3217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Q1</a:t>
            </a:r>
            <a:endParaRPr lang="en-US" sz="1600" dirty="0"/>
          </a:p>
        </p:txBody>
      </p:sp>
      <p:sp>
        <p:nvSpPr>
          <p:cNvPr id="4" name="Text 2"/>
          <p:cNvSpPr/>
          <p:nvPr/>
        </p:nvSpPr>
        <p:spPr>
          <a:xfrm>
            <a:off x="6985873" y="5372100"/>
            <a:ext cx="3471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Q2</a:t>
            </a:r>
            <a:endParaRPr lang="en-US" sz="1600" dirty="0"/>
          </a:p>
        </p:txBody>
      </p:sp>
      <p:sp>
        <p:nvSpPr>
          <p:cNvPr id="5" name="Text 3"/>
          <p:cNvSpPr/>
          <p:nvPr/>
        </p:nvSpPr>
        <p:spPr>
          <a:xfrm>
            <a:off x="11812476" y="5372100"/>
            <a:ext cx="35987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Q3</a:t>
            </a:r>
            <a:endParaRPr lang="en-US" sz="1600" dirty="0"/>
          </a:p>
        </p:txBody>
      </p:sp>
      <p:sp>
        <p:nvSpPr>
          <p:cNvPr id="6" name="Text 4"/>
          <p:cNvSpPr/>
          <p:nvPr/>
        </p:nvSpPr>
        <p:spPr>
          <a:xfrm>
            <a:off x="16626378" y="5372100"/>
            <a:ext cx="35987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Q4</a:t>
            </a:r>
            <a:endParaRPr lang="en-US" sz="1600" dirty="0"/>
          </a:p>
        </p:txBody>
      </p:sp>
      <p:sp>
        <p:nvSpPr>
          <p:cNvPr id="7" name="Text 5"/>
          <p:cNvSpPr/>
          <p:nvPr/>
        </p:nvSpPr>
        <p:spPr>
          <a:xfrm>
            <a:off x="21478384" y="5372100"/>
            <a:ext cx="3217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Q1</a:t>
            </a:r>
            <a:endParaRPr lang="en-US" sz="1600" dirty="0"/>
          </a:p>
        </p:txBody>
      </p:sp>
      <p:pic>
        <p:nvPicPr>
          <p:cNvPr id="8"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2637" y="5918200"/>
            <a:ext cx="12702" cy="7797800"/>
          </a:xfrm>
          <a:prstGeom prst="rect">
            <a:avLst/>
          </a:prstGeom>
        </p:spPr>
      </p:pic>
      <p:pic>
        <p:nvPicPr>
          <p:cNvPr id="9"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05938" y="5918200"/>
            <a:ext cx="12702" cy="7797800"/>
          </a:xfrm>
          <a:prstGeom prst="rect">
            <a:avLst/>
          </a:prstGeom>
        </p:spPr>
      </p:pic>
      <p:pic>
        <p:nvPicPr>
          <p:cNvPr id="10"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19240" y="5918200"/>
            <a:ext cx="12702" cy="7797800"/>
          </a:xfrm>
          <a:prstGeom prst="rect">
            <a:avLst/>
          </a:prstGeom>
        </p:spPr>
      </p:pic>
      <p:pic>
        <p:nvPicPr>
          <p:cNvPr id="11"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32541" y="5918200"/>
            <a:ext cx="12702" cy="7797800"/>
          </a:xfrm>
          <a:prstGeom prst="rect">
            <a:avLst/>
          </a:prstGeom>
        </p:spPr>
      </p:pic>
      <p:pic>
        <p:nvPicPr>
          <p:cNvPr id="12"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45843" y="5918200"/>
            <a:ext cx="12702" cy="7797800"/>
          </a:xfrm>
          <a:prstGeom prst="rect">
            <a:avLst/>
          </a:prstGeom>
        </p:spPr>
      </p:pic>
      <p:pic>
        <p:nvPicPr>
          <p:cNvPr id="13"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59145" y="5918200"/>
            <a:ext cx="12702" cy="7797800"/>
          </a:xfrm>
          <a:prstGeom prst="rect">
            <a:avLst/>
          </a:prstGeom>
        </p:spPr>
      </p:pic>
      <p:pic>
        <p:nvPicPr>
          <p:cNvPr id="14"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72446" y="5918200"/>
            <a:ext cx="12702" cy="7797800"/>
          </a:xfrm>
          <a:prstGeom prst="rect">
            <a:avLst/>
          </a:prstGeom>
        </p:spPr>
      </p:pic>
      <p:pic>
        <p:nvPicPr>
          <p:cNvPr id="15" name="Image 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85748" y="5918200"/>
            <a:ext cx="12702" cy="7797800"/>
          </a:xfrm>
          <a:prstGeom prst="rect">
            <a:avLst/>
          </a:prstGeom>
        </p:spPr>
      </p:pic>
      <p:pic>
        <p:nvPicPr>
          <p:cNvPr id="16" name="Image 8"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99050" y="5918200"/>
            <a:ext cx="12702" cy="7797800"/>
          </a:xfrm>
          <a:prstGeom prst="rect">
            <a:avLst/>
          </a:prstGeom>
        </p:spPr>
      </p:pic>
      <p:pic>
        <p:nvPicPr>
          <p:cNvPr id="17" name="Image 9"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98987" y="5918200"/>
            <a:ext cx="4826603" cy="1016000"/>
          </a:xfrm>
          <a:prstGeom prst="rect">
            <a:avLst/>
          </a:prstGeom>
        </p:spPr>
      </p:pic>
      <p:sp>
        <p:nvSpPr>
          <p:cNvPr id="18" name="Text 6"/>
          <p:cNvSpPr/>
          <p:nvPr/>
        </p:nvSpPr>
        <p:spPr>
          <a:xfrm>
            <a:off x="2502213" y="6121400"/>
            <a:ext cx="174435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Automate payroll</a:t>
            </a:r>
            <a:endParaRPr lang="en-US" sz="1600" dirty="0"/>
          </a:p>
        </p:txBody>
      </p:sp>
      <p:sp>
        <p:nvSpPr>
          <p:cNvPr id="19" name="Text 7"/>
          <p:cNvSpPr/>
          <p:nvPr/>
        </p:nvSpPr>
        <p:spPr>
          <a:xfrm>
            <a:off x="6642930" y="6426200"/>
            <a:ext cx="3471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E7E7E7">
                    <a:alpha val="100000"/>
                  </a:srgbClr>
                </a:solidFill>
                <a:latin typeface="Inter Medium" pitchFamily="34" charset="0"/>
                <a:ea typeface="Inter Medium" pitchFamily="34" charset="-122"/>
                <a:cs typeface="Inter Medium" pitchFamily="34" charset="-120"/>
              </a:rPr>
              <a:t>HR</a:t>
            </a:r>
            <a:endParaRPr lang="en-US" sz="1600" dirty="0"/>
          </a:p>
        </p:txBody>
      </p:sp>
      <p:pic>
        <p:nvPicPr>
          <p:cNvPr id="20" name="Image 10"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38892" y="5918200"/>
            <a:ext cx="9653206" cy="1016000"/>
          </a:xfrm>
          <a:prstGeom prst="rect">
            <a:avLst/>
          </a:prstGeom>
        </p:spPr>
      </p:pic>
      <p:sp>
        <p:nvSpPr>
          <p:cNvPr id="21" name="Text 8"/>
          <p:cNvSpPr/>
          <p:nvPr/>
        </p:nvSpPr>
        <p:spPr>
          <a:xfrm>
            <a:off x="9742118" y="6121400"/>
            <a:ext cx="27731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Revamp recruitment process</a:t>
            </a:r>
            <a:endParaRPr lang="en-US" sz="1600" dirty="0"/>
          </a:p>
        </p:txBody>
      </p:sp>
      <p:sp>
        <p:nvSpPr>
          <p:cNvPr id="22" name="Text 9"/>
          <p:cNvSpPr/>
          <p:nvPr/>
        </p:nvSpPr>
        <p:spPr>
          <a:xfrm>
            <a:off x="18709438" y="6426200"/>
            <a:ext cx="3471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DFDF">
                    <a:alpha val="100000"/>
                  </a:srgbClr>
                </a:solidFill>
                <a:latin typeface="Inter Medium" pitchFamily="34" charset="0"/>
                <a:ea typeface="Inter Medium" pitchFamily="34" charset="-122"/>
                <a:cs typeface="Inter Medium" pitchFamily="34" charset="-120"/>
              </a:rPr>
              <a:t>HR</a:t>
            </a:r>
            <a:endParaRPr lang="en-US" sz="1600" dirty="0"/>
          </a:p>
        </p:txBody>
      </p:sp>
      <p:pic>
        <p:nvPicPr>
          <p:cNvPr id="23" name="Image 11"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52194" y="7340600"/>
            <a:ext cx="9653206" cy="1016000"/>
          </a:xfrm>
          <a:prstGeom prst="rect">
            <a:avLst/>
          </a:prstGeom>
        </p:spPr>
      </p:pic>
      <p:sp>
        <p:nvSpPr>
          <p:cNvPr id="24" name="Text 10"/>
          <p:cNvSpPr/>
          <p:nvPr/>
        </p:nvSpPr>
        <p:spPr>
          <a:xfrm>
            <a:off x="12155419" y="7543800"/>
            <a:ext cx="23159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Expand bulk purchasing</a:t>
            </a:r>
            <a:endParaRPr lang="en-US" sz="1600" dirty="0"/>
          </a:p>
        </p:txBody>
      </p:sp>
      <p:sp>
        <p:nvSpPr>
          <p:cNvPr id="25" name="Text 11"/>
          <p:cNvSpPr/>
          <p:nvPr/>
        </p:nvSpPr>
        <p:spPr>
          <a:xfrm>
            <a:off x="20182823" y="7848600"/>
            <a:ext cx="12870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Procurement</a:t>
            </a:r>
            <a:endParaRPr lang="en-US" sz="1600" dirty="0"/>
          </a:p>
        </p:txBody>
      </p:sp>
      <p:pic>
        <p:nvPicPr>
          <p:cNvPr id="26" name="Image 12" descr=" "/>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9538892" y="8763000"/>
            <a:ext cx="9653206" cy="1016000"/>
          </a:xfrm>
          <a:prstGeom prst="rect">
            <a:avLst/>
          </a:prstGeom>
        </p:spPr>
      </p:pic>
      <p:sp>
        <p:nvSpPr>
          <p:cNvPr id="27" name="Text 12"/>
          <p:cNvSpPr/>
          <p:nvPr/>
        </p:nvSpPr>
        <p:spPr>
          <a:xfrm>
            <a:off x="9742118" y="8966200"/>
            <a:ext cx="27731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Deploy RPA for data entry</a:t>
            </a:r>
            <a:endParaRPr lang="en-US" sz="1600" dirty="0"/>
          </a:p>
        </p:txBody>
      </p:sp>
      <p:sp>
        <p:nvSpPr>
          <p:cNvPr id="28" name="Text 13"/>
          <p:cNvSpPr/>
          <p:nvPr/>
        </p:nvSpPr>
        <p:spPr>
          <a:xfrm>
            <a:off x="18798350" y="9271000"/>
            <a:ext cx="25826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IT</a:t>
            </a:r>
            <a:endParaRPr lang="en-US" sz="1600" dirty="0"/>
          </a:p>
        </p:txBody>
      </p:sp>
      <p:pic>
        <p:nvPicPr>
          <p:cNvPr id="29" name="Image 13"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12289" y="7340600"/>
            <a:ext cx="4826603" cy="1016000"/>
          </a:xfrm>
          <a:prstGeom prst="rect">
            <a:avLst/>
          </a:prstGeom>
        </p:spPr>
      </p:pic>
      <p:sp>
        <p:nvSpPr>
          <p:cNvPr id="30" name="Text 14"/>
          <p:cNvSpPr/>
          <p:nvPr/>
        </p:nvSpPr>
        <p:spPr>
          <a:xfrm>
            <a:off x="4915514" y="7543800"/>
            <a:ext cx="2277818"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Renegotiate vendor contracts</a:t>
            </a:r>
            <a:endParaRPr lang="en-US" sz="1600" dirty="0"/>
          </a:p>
        </p:txBody>
      </p:sp>
      <p:sp>
        <p:nvSpPr>
          <p:cNvPr id="31" name="Text 15"/>
          <p:cNvSpPr/>
          <p:nvPr/>
        </p:nvSpPr>
        <p:spPr>
          <a:xfrm>
            <a:off x="8116314" y="7848600"/>
            <a:ext cx="12870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Procurement</a:t>
            </a:r>
            <a:endParaRPr lang="en-US" sz="1600" dirty="0"/>
          </a:p>
        </p:txBody>
      </p:sp>
      <p:pic>
        <p:nvPicPr>
          <p:cNvPr id="32" name="Image 14" descr=" "/>
          <p:cNvPicPr>
            <a:picLocks noChangeAspect="1"/>
          </p:cNvPicPr>
          <p:nvPr/>
        </p:nvPicPr>
        <p:blipFill>
          <a:blip r:embed="rId12">
            <a:extLst>
              <a:ext uri="{96DAC541-7B7A-43D3-8B79-37D633B846F1}">
                <asvg:svgBlip xmlns:asvg="http://schemas.microsoft.com/office/drawing/2016/SVG/main" r:embed="rId14"/>
              </a:ext>
            </a:extLst>
          </a:blip>
          <a:stretch>
            <a:fillRect/>
          </a:stretch>
        </p:blipFill>
        <p:spPr>
          <a:xfrm>
            <a:off x="2298987" y="8763000"/>
            <a:ext cx="4826603" cy="1016000"/>
          </a:xfrm>
          <a:prstGeom prst="rect">
            <a:avLst/>
          </a:prstGeom>
        </p:spPr>
      </p:pic>
      <p:sp>
        <p:nvSpPr>
          <p:cNvPr id="33" name="Text 16"/>
          <p:cNvSpPr/>
          <p:nvPr/>
        </p:nvSpPr>
        <p:spPr>
          <a:xfrm>
            <a:off x="2502213" y="8966200"/>
            <a:ext cx="227781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Cloud Migration</a:t>
            </a:r>
            <a:endParaRPr lang="en-US" sz="1600" dirty="0"/>
          </a:p>
        </p:txBody>
      </p:sp>
      <p:sp>
        <p:nvSpPr>
          <p:cNvPr id="34" name="Text 17"/>
          <p:cNvSpPr/>
          <p:nvPr/>
        </p:nvSpPr>
        <p:spPr>
          <a:xfrm>
            <a:off x="6592124" y="9271000"/>
            <a:ext cx="25826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IT</a:t>
            </a:r>
            <a:endParaRPr lang="en-US" sz="1600" dirty="0"/>
          </a:p>
        </p:txBody>
      </p:sp>
      <p:pic>
        <p:nvPicPr>
          <p:cNvPr id="35" name="Image 1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0" y="0"/>
            <a:ext cx="24387048" cy="4597400"/>
          </a:xfrm>
          <a:prstGeom prst="rect">
            <a:avLst/>
          </a:prstGeom>
        </p:spPr>
      </p:pic>
      <p:sp>
        <p:nvSpPr>
          <p:cNvPr id="36" name="Text 18"/>
          <p:cNvSpPr/>
          <p:nvPr/>
        </p:nvSpPr>
        <p:spPr>
          <a:xfrm>
            <a:off x="6477810" y="1524000"/>
            <a:ext cx="11431429" cy="1016000"/>
          </a:xfrm>
          <a:prstGeom prst="rect">
            <a:avLst/>
          </a:prstGeom>
          <a:noFill/>
          <a:ln/>
        </p:spPr>
        <p:txBody>
          <a:bodyPr wrap="square" lIns="0" tIns="0" rIns="0" bIns="0" rtlCol="0" anchor="t"/>
          <a:lstStyle/>
          <a:p>
            <a:pPr marL="0" indent="0" algn="ctr">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Action Plan &amp; Next Steps</a:t>
            </a:r>
            <a:endParaRPr lang="en-US" sz="6000" dirty="0"/>
          </a:p>
        </p:txBody>
      </p:sp>
      <p:sp>
        <p:nvSpPr>
          <p:cNvPr id="37" name="Text 19"/>
          <p:cNvSpPr/>
          <p:nvPr/>
        </p:nvSpPr>
        <p:spPr>
          <a:xfrm>
            <a:off x="6562487" y="2540000"/>
            <a:ext cx="11262074" cy="1608667"/>
          </a:xfrm>
          <a:prstGeom prst="rect">
            <a:avLst/>
          </a:prstGeom>
          <a:noFill/>
          <a:ln/>
        </p:spPr>
        <p:txBody>
          <a:bodyPr wrap="square" lIns="0" tIns="0" rIns="0" bIns="0" rtlCol="0" anchor="t"/>
          <a:lstStyle/>
          <a:p>
            <a:pPr marL="0" indent="0" algn="ctr">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Implementing a phased approach not only guarantees immediate successes but also lays the groundwork for enduring and sustainable cost savings over time. This strategy allows organizations to gradually adapt and optimize their processes, ensuring that each step taken contributes to both short-term achievements and long-term financial health.</a:t>
            </a:r>
            <a:endParaRPr lang="en-US" sz="2000" dirty="0"/>
          </a:p>
        </p:txBody>
      </p:sp>
      <p:pic>
        <p:nvPicPr>
          <p:cNvPr id="38" name="Image 16"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373302" y="12409134"/>
            <a:ext cx="166221" cy="200732"/>
          </a:xfrm>
          <a:prstGeom prst="rect">
            <a:avLst/>
          </a:prstGeom>
        </p:spPr>
      </p:pic>
      <p:sp>
        <p:nvSpPr>
          <p:cNvPr id="39" name="Text 20"/>
          <p:cNvSpPr/>
          <p:nvPr/>
        </p:nvSpPr>
        <p:spPr>
          <a:xfrm>
            <a:off x="21663069" y="12319000"/>
            <a:ext cx="1075401" cy="465667"/>
          </a:xfrm>
          <a:prstGeom prst="rect">
            <a:avLst/>
          </a:prstGeom>
          <a:noFill/>
          <a:ln/>
        </p:spPr>
        <p:txBody>
          <a:bodyPr wrap="square" lIns="0" tIns="0" rIns="0" bIns="0" rtlCol="0" anchor="t"/>
          <a:lstStyle/>
          <a:p>
            <a:pPr marL="0" indent="0" algn="l">
              <a:lnSpc>
                <a:spcPts val="3000"/>
              </a:lnSpc>
              <a:buNone/>
            </a:pPr>
            <a:r>
              <a:rPr lang="en-US" sz="2000" dirty="0">
                <a:solidFill>
                  <a:srgbClr val="000000">
                    <a:alpha val="100000"/>
                  </a:srgbClr>
                </a:solidFill>
                <a:latin typeface="Inter Medium" pitchFamily="34" charset="0"/>
                <a:ea typeface="Inter Medium" pitchFamily="34" charset="-122"/>
                <a:cs typeface="Inter Medium" pitchFamily="34" charset="-120"/>
              </a:rPr>
              <a:t>Saffront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1524000"/>
            <a:ext cx="7849581" cy="10972800"/>
          </a:xfrm>
          <a:prstGeom prst="roundRect">
            <a:avLst>
              <a:gd name="adj" fmla="val 3262"/>
            </a:avLst>
          </a:prstGeom>
          <a:solidFill>
            <a:srgbClr val="FF4D4D">
              <a:alpha val="100000"/>
            </a:srgbClr>
          </a:solidFill>
          <a:ln/>
        </p:spPr>
      </p:sp>
      <p:sp>
        <p:nvSpPr>
          <p:cNvPr id="3" name="Shape 1"/>
          <p:cNvSpPr/>
          <p:nvPr/>
        </p:nvSpPr>
        <p:spPr>
          <a:xfrm>
            <a:off x="2083060" y="8445500"/>
            <a:ext cx="6731841" cy="3327400"/>
          </a:xfrm>
          <a:prstGeom prst="rect">
            <a:avLst/>
          </a:prstGeom>
          <a:noFill/>
          <a:ln/>
        </p:spPr>
      </p:sp>
      <p:sp>
        <p:nvSpPr>
          <p:cNvPr id="4" name="Shape 2"/>
          <p:cNvSpPr/>
          <p:nvPr/>
        </p:nvSpPr>
        <p:spPr>
          <a:xfrm>
            <a:off x="2083060" y="8445500"/>
            <a:ext cx="685886" cy="3327400"/>
          </a:xfrm>
          <a:prstGeom prst="rect">
            <a:avLst/>
          </a:prstGeom>
          <a:solidFill>
            <a:srgbClr val="ED1515">
              <a:alpha val="100000"/>
            </a:srgbClr>
          </a:solidFill>
          <a:ln/>
        </p:spPr>
      </p:sp>
      <p:sp>
        <p:nvSpPr>
          <p:cNvPr id="5" name="Shape 3"/>
          <p:cNvSpPr/>
          <p:nvPr/>
        </p:nvSpPr>
        <p:spPr>
          <a:xfrm>
            <a:off x="3594549" y="8445500"/>
            <a:ext cx="685886" cy="3327400"/>
          </a:xfrm>
          <a:prstGeom prst="rect">
            <a:avLst/>
          </a:prstGeom>
          <a:solidFill>
            <a:srgbClr val="ED1515">
              <a:alpha val="100000"/>
            </a:srgbClr>
          </a:solidFill>
          <a:ln/>
        </p:spPr>
      </p:sp>
      <p:sp>
        <p:nvSpPr>
          <p:cNvPr id="6" name="Shape 4"/>
          <p:cNvSpPr/>
          <p:nvPr/>
        </p:nvSpPr>
        <p:spPr>
          <a:xfrm>
            <a:off x="5106038" y="8445500"/>
            <a:ext cx="685886" cy="3327400"/>
          </a:xfrm>
          <a:prstGeom prst="rect">
            <a:avLst/>
          </a:prstGeom>
          <a:solidFill>
            <a:srgbClr val="ED1515">
              <a:alpha val="100000"/>
            </a:srgbClr>
          </a:solidFill>
          <a:ln/>
        </p:spPr>
      </p:sp>
      <p:sp>
        <p:nvSpPr>
          <p:cNvPr id="7" name="Shape 5"/>
          <p:cNvSpPr/>
          <p:nvPr/>
        </p:nvSpPr>
        <p:spPr>
          <a:xfrm>
            <a:off x="6617527" y="8445500"/>
            <a:ext cx="685886" cy="3327400"/>
          </a:xfrm>
          <a:prstGeom prst="rect">
            <a:avLst/>
          </a:prstGeom>
          <a:solidFill>
            <a:srgbClr val="ED1515">
              <a:alpha val="100000"/>
            </a:srgbClr>
          </a:solidFill>
          <a:ln/>
        </p:spPr>
      </p:sp>
      <p:sp>
        <p:nvSpPr>
          <p:cNvPr id="8" name="Shape 6"/>
          <p:cNvSpPr/>
          <p:nvPr/>
        </p:nvSpPr>
        <p:spPr>
          <a:xfrm>
            <a:off x="8129016" y="8445500"/>
            <a:ext cx="685886" cy="3327400"/>
          </a:xfrm>
          <a:prstGeom prst="rect">
            <a:avLst/>
          </a:prstGeom>
          <a:solidFill>
            <a:srgbClr val="ED1515">
              <a:alpha val="100000"/>
            </a:srgbClr>
          </a:solidFill>
          <a:ln/>
        </p:spPr>
      </p:sp>
      <p:graphicFrame>
        <p:nvGraphicFramePr>
          <p:cNvPr id="40" name="Chart 39">
            <a:extLst>
              <a:ext uri="{FF2B5EF4-FFF2-40B4-BE49-F238E27FC236}">
                <a16:creationId xmlns:a16="http://schemas.microsoft.com/office/drawing/2014/main" id="{905F806E-A71D-4D5F-BA5A-E654A81B0163}"/>
              </a:ext>
            </a:extLst>
          </p:cNvPr>
          <p:cNvGraphicFramePr/>
          <p:nvPr>
            <p:extLst>
              <p:ext uri="{D42A27DB-BD31-4B8C-83A1-F6EECF244321}">
                <p14:modId xmlns:p14="http://schemas.microsoft.com/office/powerpoint/2010/main" val="2710606295"/>
              </p:ext>
            </p:extLst>
          </p:nvPr>
        </p:nvGraphicFramePr>
        <p:xfrm>
          <a:off x="1524191" y="8019492"/>
          <a:ext cx="7834342" cy="3921048"/>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7"/>
          <p:cNvSpPr/>
          <p:nvPr/>
        </p:nvSpPr>
        <p:spPr>
          <a:xfrm>
            <a:off x="2032254" y="2032000"/>
            <a:ext cx="6909664" cy="2540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Overcoming Challenges in Cost Optimization</a:t>
            </a:r>
            <a:endParaRPr lang="en-US" sz="6000" dirty="0"/>
          </a:p>
        </p:txBody>
      </p:sp>
      <p:sp>
        <p:nvSpPr>
          <p:cNvPr id="15" name="Text 8"/>
          <p:cNvSpPr/>
          <p:nvPr/>
        </p:nvSpPr>
        <p:spPr>
          <a:xfrm>
            <a:off x="2940976" y="7302500"/>
            <a:ext cx="1596166"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Employee Resistance</a:t>
            </a:r>
            <a:endParaRPr lang="en-US" sz="2000" dirty="0"/>
          </a:p>
        </p:txBody>
      </p:sp>
      <p:sp>
        <p:nvSpPr>
          <p:cNvPr id="16" name="Text 9"/>
          <p:cNvSpPr/>
          <p:nvPr/>
        </p:nvSpPr>
        <p:spPr>
          <a:xfrm>
            <a:off x="2083060" y="6616700"/>
            <a:ext cx="1168546"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FFFFFF">
                    <a:alpha val="100000"/>
                  </a:srgbClr>
                </a:solidFill>
                <a:latin typeface="Inter Regular" pitchFamily="34" charset="0"/>
                <a:ea typeface="Inter Regular" pitchFamily="34" charset="-122"/>
                <a:cs typeface="Inter Regular" pitchFamily="34" charset="-120"/>
              </a:rPr>
              <a:t>9</a:t>
            </a:r>
            <a:endParaRPr lang="en-US" sz="9600" dirty="0"/>
          </a:p>
        </p:txBody>
      </p:sp>
      <p:pic>
        <p:nvPicPr>
          <p:cNvPr id="17" name="Image 5"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39363" y="7010400"/>
            <a:ext cx="323332" cy="323292"/>
          </a:xfrm>
          <a:prstGeom prst="rect">
            <a:avLst/>
          </a:prstGeom>
        </p:spPr>
      </p:pic>
      <p:sp>
        <p:nvSpPr>
          <p:cNvPr id="18" name="Text 10"/>
          <p:cNvSpPr/>
          <p:nvPr/>
        </p:nvSpPr>
        <p:spPr>
          <a:xfrm>
            <a:off x="18048956" y="11887200"/>
            <a:ext cx="4678418"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Recognizing potential barriers early allows us to plan targeted solutions and maintain momentum.</a:t>
            </a:r>
            <a:endParaRPr lang="en-US" sz="1600" dirty="0"/>
          </a:p>
        </p:txBody>
      </p:sp>
      <p:pic>
        <p:nvPicPr>
          <p:cNvPr id="19" name="Image 6"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761626" y="11904135"/>
            <a:ext cx="117409" cy="160865"/>
          </a:xfrm>
          <a:prstGeom prst="rect">
            <a:avLst/>
          </a:prstGeom>
        </p:spPr>
      </p:pic>
      <p:sp>
        <p:nvSpPr>
          <p:cNvPr id="20" name="Shape 11"/>
          <p:cNvSpPr/>
          <p:nvPr/>
        </p:nvSpPr>
        <p:spPr>
          <a:xfrm>
            <a:off x="9627803" y="1524000"/>
            <a:ext cx="13235054" cy="6629400"/>
          </a:xfrm>
          <a:prstGeom prst="rect">
            <a:avLst/>
          </a:prstGeom>
          <a:noFill/>
          <a:ln/>
        </p:spPr>
      </p:sp>
      <p:pic>
        <p:nvPicPr>
          <p:cNvPr id="21" name="Image 7"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7803" y="1524000"/>
            <a:ext cx="13235054" cy="6629400"/>
          </a:xfrm>
          <a:prstGeom prst="rect">
            <a:avLst/>
          </a:prstGeom>
        </p:spPr>
      </p:pic>
      <p:pic>
        <p:nvPicPr>
          <p:cNvPr id="22" name="Image 8"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829103" y="1841500"/>
            <a:ext cx="12702" cy="6045200"/>
          </a:xfrm>
          <a:prstGeom prst="rect">
            <a:avLst/>
          </a:prstGeom>
        </p:spPr>
      </p:pic>
      <p:pic>
        <p:nvPicPr>
          <p:cNvPr id="23" name="Image 9"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07238" y="2597150"/>
            <a:ext cx="12663483" cy="12700"/>
          </a:xfrm>
          <a:prstGeom prst="rect">
            <a:avLst/>
          </a:prstGeom>
        </p:spPr>
      </p:pic>
      <p:pic>
        <p:nvPicPr>
          <p:cNvPr id="24" name="Image 10"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07238" y="3676650"/>
            <a:ext cx="12663483" cy="12700"/>
          </a:xfrm>
          <a:prstGeom prst="rect">
            <a:avLst/>
          </a:prstGeom>
        </p:spPr>
      </p:pic>
      <p:pic>
        <p:nvPicPr>
          <p:cNvPr id="25" name="Image 11"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07238" y="4756150"/>
            <a:ext cx="12663483" cy="12700"/>
          </a:xfrm>
          <a:prstGeom prst="rect">
            <a:avLst/>
          </a:prstGeom>
        </p:spPr>
      </p:pic>
      <p:pic>
        <p:nvPicPr>
          <p:cNvPr id="26" name="Image 12"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07238" y="5835650"/>
            <a:ext cx="12663483" cy="12700"/>
          </a:xfrm>
          <a:prstGeom prst="rect">
            <a:avLst/>
          </a:prstGeom>
        </p:spPr>
      </p:pic>
      <p:pic>
        <p:nvPicPr>
          <p:cNvPr id="27" name="Image 13"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07238" y="6915150"/>
            <a:ext cx="12663483" cy="12700"/>
          </a:xfrm>
          <a:prstGeom prst="rect">
            <a:avLst/>
          </a:prstGeom>
        </p:spPr>
      </p:pic>
      <p:sp>
        <p:nvSpPr>
          <p:cNvPr id="28" name="Text 12"/>
          <p:cNvSpPr/>
          <p:nvPr/>
        </p:nvSpPr>
        <p:spPr>
          <a:xfrm>
            <a:off x="11685461" y="1879600"/>
            <a:ext cx="117701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Bold" pitchFamily="34" charset="0"/>
                <a:ea typeface="Inter Bold" pitchFamily="34" charset="-122"/>
                <a:cs typeface="Inter Bold" pitchFamily="34" charset="-120"/>
              </a:rPr>
              <a:t>Obstacle</a:t>
            </a:r>
            <a:endParaRPr lang="en-US" sz="2000" dirty="0"/>
          </a:p>
        </p:txBody>
      </p:sp>
      <p:sp>
        <p:nvSpPr>
          <p:cNvPr id="29" name="Text 13"/>
          <p:cNvSpPr/>
          <p:nvPr/>
        </p:nvSpPr>
        <p:spPr>
          <a:xfrm>
            <a:off x="10999575" y="2959100"/>
            <a:ext cx="25487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Employee Resistance</a:t>
            </a:r>
            <a:endParaRPr lang="en-US" sz="2000" dirty="0"/>
          </a:p>
        </p:txBody>
      </p:sp>
      <p:sp>
        <p:nvSpPr>
          <p:cNvPr id="30" name="Text 14"/>
          <p:cNvSpPr/>
          <p:nvPr/>
        </p:nvSpPr>
        <p:spPr>
          <a:xfrm>
            <a:off x="10897962" y="4038600"/>
            <a:ext cx="275201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Technology Limitations</a:t>
            </a:r>
            <a:endParaRPr lang="en-US" sz="2000" dirty="0"/>
          </a:p>
        </p:txBody>
      </p:sp>
      <p:sp>
        <p:nvSpPr>
          <p:cNvPr id="31" name="Text 15"/>
          <p:cNvSpPr/>
          <p:nvPr/>
        </p:nvSpPr>
        <p:spPr>
          <a:xfrm>
            <a:off x="11304413" y="5118100"/>
            <a:ext cx="193910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Market Volatility</a:t>
            </a:r>
            <a:endParaRPr lang="en-US" sz="2000" dirty="0"/>
          </a:p>
        </p:txBody>
      </p:sp>
      <p:sp>
        <p:nvSpPr>
          <p:cNvPr id="32" name="Text 16"/>
          <p:cNvSpPr/>
          <p:nvPr/>
        </p:nvSpPr>
        <p:spPr>
          <a:xfrm>
            <a:off x="11126591" y="6197600"/>
            <a:ext cx="23074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Data Quality Issues</a:t>
            </a:r>
            <a:endParaRPr lang="en-US" sz="2000" dirty="0"/>
          </a:p>
        </p:txBody>
      </p:sp>
      <p:sp>
        <p:nvSpPr>
          <p:cNvPr id="33" name="Text 17"/>
          <p:cNvSpPr/>
          <p:nvPr/>
        </p:nvSpPr>
        <p:spPr>
          <a:xfrm>
            <a:off x="11126591" y="7277100"/>
            <a:ext cx="232015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Budget Constraints</a:t>
            </a:r>
            <a:endParaRPr lang="en-US" sz="2000" dirty="0"/>
          </a:p>
        </p:txBody>
      </p:sp>
      <p:sp>
        <p:nvSpPr>
          <p:cNvPr id="34" name="Text 18"/>
          <p:cNvSpPr/>
          <p:nvPr/>
        </p:nvSpPr>
        <p:spPr>
          <a:xfrm>
            <a:off x="15927791" y="2768600"/>
            <a:ext cx="5927407"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Communication, change management workshops, incentive programs</a:t>
            </a:r>
            <a:endParaRPr lang="en-US" sz="2000" dirty="0"/>
          </a:p>
        </p:txBody>
      </p:sp>
      <p:sp>
        <p:nvSpPr>
          <p:cNvPr id="35" name="Text 19"/>
          <p:cNvSpPr/>
          <p:nvPr/>
        </p:nvSpPr>
        <p:spPr>
          <a:xfrm>
            <a:off x="15927791" y="4038600"/>
            <a:ext cx="59274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Phased tech adoption, vendor training</a:t>
            </a:r>
            <a:endParaRPr lang="en-US" sz="2000" dirty="0"/>
          </a:p>
        </p:txBody>
      </p:sp>
      <p:sp>
        <p:nvSpPr>
          <p:cNvPr id="36" name="Text 20"/>
          <p:cNvSpPr/>
          <p:nvPr/>
        </p:nvSpPr>
        <p:spPr>
          <a:xfrm>
            <a:off x="15927791" y="5118100"/>
            <a:ext cx="59274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Flexible contracts, diversified sourcing</a:t>
            </a:r>
            <a:endParaRPr lang="en-US" sz="2000" dirty="0"/>
          </a:p>
        </p:txBody>
      </p:sp>
      <p:sp>
        <p:nvSpPr>
          <p:cNvPr id="37" name="Text 21"/>
          <p:cNvSpPr/>
          <p:nvPr/>
        </p:nvSpPr>
        <p:spPr>
          <a:xfrm>
            <a:off x="15927791" y="6197600"/>
            <a:ext cx="59274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Data governance, centralized reporting</a:t>
            </a:r>
            <a:endParaRPr lang="en-US" sz="2000" dirty="0"/>
          </a:p>
        </p:txBody>
      </p:sp>
      <p:sp>
        <p:nvSpPr>
          <p:cNvPr id="38" name="Text 22"/>
          <p:cNvSpPr/>
          <p:nvPr/>
        </p:nvSpPr>
        <p:spPr>
          <a:xfrm>
            <a:off x="15927791" y="7277100"/>
            <a:ext cx="59274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Prioritize quick ROI projects</a:t>
            </a:r>
            <a:endParaRPr lang="en-US" sz="2000" dirty="0"/>
          </a:p>
        </p:txBody>
      </p:sp>
      <p:sp>
        <p:nvSpPr>
          <p:cNvPr id="39" name="Text 23"/>
          <p:cNvSpPr/>
          <p:nvPr/>
        </p:nvSpPr>
        <p:spPr>
          <a:xfrm>
            <a:off x="18252181" y="1879600"/>
            <a:ext cx="108810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Bold" pitchFamily="34" charset="0"/>
                <a:ea typeface="Inter Bold" pitchFamily="34" charset="-122"/>
                <a:cs typeface="Inter Bold" pitchFamily="34" charset="-120"/>
              </a:rPr>
              <a:t>Solution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501845F4-0AED-438F-B049-FD3912C2DFE3}"/>
              </a:ext>
            </a:extLst>
          </p:cNvPr>
          <p:cNvGrpSpPr/>
          <p:nvPr/>
        </p:nvGrpSpPr>
        <p:grpSpPr>
          <a:xfrm>
            <a:off x="0" y="9829800"/>
            <a:ext cx="24387049" cy="2870200"/>
            <a:chOff x="0" y="9829800"/>
            <a:chExt cx="24387049" cy="2870200"/>
          </a:xfrm>
        </p:grpSpPr>
        <p:sp>
          <p:nvSpPr>
            <p:cNvPr id="2" name="Shape 0"/>
            <p:cNvSpPr/>
            <p:nvPr/>
          </p:nvSpPr>
          <p:spPr>
            <a:xfrm>
              <a:off x="0" y="9829800"/>
              <a:ext cx="24387048" cy="2870200"/>
            </a:xfrm>
            <a:prstGeom prst="rect">
              <a:avLst/>
            </a:prstGeom>
            <a:noFill/>
            <a:ln/>
          </p:spPr>
        </p:sp>
        <p:sp>
          <p:nvSpPr>
            <p:cNvPr id="3" name="Text 1"/>
            <p:cNvSpPr/>
            <p:nvPr/>
          </p:nvSpPr>
          <p:spPr>
            <a:xfrm>
              <a:off x="5194949" y="10121900"/>
              <a:ext cx="3272776"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Implement advanced RPA across finance functions</a:t>
              </a:r>
              <a:endParaRPr lang="en-US" sz="2000" dirty="0"/>
            </a:p>
          </p:txBody>
        </p:sp>
        <p:sp>
          <p:nvSpPr>
            <p:cNvPr id="4" name="Text 2"/>
            <p:cNvSpPr/>
            <p:nvPr/>
          </p:nvSpPr>
          <p:spPr>
            <a:xfrm>
              <a:off x="11647356" y="10121900"/>
              <a:ext cx="3933258"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Energy-efficient equipment upgrades</a:t>
              </a:r>
              <a:endParaRPr lang="en-US" sz="2000" dirty="0"/>
            </a:p>
          </p:txBody>
        </p:sp>
        <p:sp>
          <p:nvSpPr>
            <p:cNvPr id="5" name="Text 3"/>
            <p:cNvSpPr/>
            <p:nvPr/>
          </p:nvSpPr>
          <p:spPr>
            <a:xfrm>
              <a:off x="19128591" y="10121900"/>
              <a:ext cx="356491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Strategic facility consolidation</a:t>
              </a:r>
              <a:endParaRPr lang="en-US" sz="2000" dirty="0"/>
            </a:p>
          </p:txBody>
        </p:sp>
        <p:sp>
          <p:nvSpPr>
            <p:cNvPr id="6" name="Shape 4"/>
            <p:cNvSpPr/>
            <p:nvPr/>
          </p:nvSpPr>
          <p:spPr>
            <a:xfrm rot="10800000">
              <a:off x="22862858" y="11137900"/>
              <a:ext cx="1524191" cy="1562100"/>
            </a:xfrm>
            <a:prstGeom prst="rect">
              <a:avLst/>
            </a:prstGeom>
            <a:solidFill>
              <a:srgbClr val="FF4D4D">
                <a:alpha val="100000"/>
              </a:srgbClr>
            </a:solidFill>
            <a:ln/>
          </p:spPr>
        </p:sp>
        <p:sp>
          <p:nvSpPr>
            <p:cNvPr id="7" name="Shape 5"/>
            <p:cNvSpPr/>
            <p:nvPr/>
          </p:nvSpPr>
          <p:spPr>
            <a:xfrm rot="10800000">
              <a:off x="0" y="11137900"/>
              <a:ext cx="8637080" cy="1562100"/>
            </a:xfrm>
            <a:prstGeom prst="rect">
              <a:avLst/>
            </a:prstGeom>
            <a:solidFill>
              <a:srgbClr val="FFDFDF">
                <a:alpha val="100000"/>
              </a:srgbClr>
            </a:solidFill>
            <a:ln/>
          </p:spPr>
        </p:sp>
        <p:pic>
          <p:nvPicPr>
            <p:cNvPr id="8"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30729" y="9829800"/>
              <a:ext cx="12702" cy="2870200"/>
            </a:xfrm>
            <a:prstGeom prst="rect">
              <a:avLst/>
            </a:prstGeom>
          </p:spPr>
        </p:pic>
        <p:sp>
          <p:nvSpPr>
            <p:cNvPr id="9" name="Shape 6"/>
            <p:cNvSpPr/>
            <p:nvPr/>
          </p:nvSpPr>
          <p:spPr>
            <a:xfrm rot="10800000">
              <a:off x="8637080" y="11137900"/>
              <a:ext cx="7112889" cy="1562100"/>
            </a:xfrm>
            <a:prstGeom prst="rect">
              <a:avLst/>
            </a:prstGeom>
            <a:solidFill>
              <a:srgbClr val="FF9D9D">
                <a:alpha val="100000"/>
              </a:srgbClr>
            </a:solidFill>
            <a:ln/>
          </p:spPr>
        </p:sp>
        <p:pic>
          <p:nvPicPr>
            <p:cNvPr id="10"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743618" y="9829800"/>
              <a:ext cx="12702" cy="2870200"/>
            </a:xfrm>
            <a:prstGeom prst="rect">
              <a:avLst/>
            </a:prstGeom>
          </p:spPr>
        </p:pic>
        <p:sp>
          <p:nvSpPr>
            <p:cNvPr id="11" name="Shape 7"/>
            <p:cNvSpPr/>
            <p:nvPr/>
          </p:nvSpPr>
          <p:spPr>
            <a:xfrm rot="10800000">
              <a:off x="15749969" y="11137900"/>
              <a:ext cx="7112889" cy="1562100"/>
            </a:xfrm>
            <a:prstGeom prst="rect">
              <a:avLst/>
            </a:prstGeom>
            <a:solidFill>
              <a:srgbClr val="FF6464">
                <a:alpha val="100000"/>
              </a:srgbClr>
            </a:solidFill>
            <a:ln/>
          </p:spPr>
        </p:sp>
        <p:pic>
          <p:nvPicPr>
            <p:cNvPr id="12"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56507" y="9829800"/>
              <a:ext cx="12702" cy="2870200"/>
            </a:xfrm>
            <a:prstGeom prst="rect">
              <a:avLst/>
            </a:prstGeom>
          </p:spPr>
        </p:pic>
      </p:grpSp>
      <p:sp>
        <p:nvSpPr>
          <p:cNvPr id="13" name="Shape 8"/>
          <p:cNvSpPr/>
          <p:nvPr/>
        </p:nvSpPr>
        <p:spPr>
          <a:xfrm>
            <a:off x="0" y="3683000"/>
            <a:ext cx="24387048" cy="5816600"/>
          </a:xfrm>
          <a:prstGeom prst="rect">
            <a:avLst/>
          </a:prstGeom>
          <a:noFill/>
          <a:ln/>
        </p:spPr>
      </p:sp>
      <p:pic>
        <p:nvPicPr>
          <p:cNvPr id="14"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3683000"/>
            <a:ext cx="24387048" cy="5816600"/>
          </a:xfrm>
          <a:prstGeom prst="rect">
            <a:avLst/>
          </a:prstGeom>
        </p:spPr>
      </p:pic>
      <p:graphicFrame>
        <p:nvGraphicFramePr>
          <p:cNvPr id="42" name="Chart 41">
            <a:extLst>
              <a:ext uri="{FF2B5EF4-FFF2-40B4-BE49-F238E27FC236}">
                <a16:creationId xmlns:a16="http://schemas.microsoft.com/office/drawing/2014/main" id="{398248BC-7CE3-48E1-8017-05446F6A569A}"/>
              </a:ext>
            </a:extLst>
          </p:cNvPr>
          <p:cNvGraphicFramePr/>
          <p:nvPr>
            <p:extLst>
              <p:ext uri="{D42A27DB-BD31-4B8C-83A1-F6EECF244321}">
                <p14:modId xmlns:p14="http://schemas.microsoft.com/office/powerpoint/2010/main" val="149004056"/>
              </p:ext>
            </p:extLst>
          </p:nvPr>
        </p:nvGraphicFramePr>
        <p:xfrm>
          <a:off x="1846092" y="4004732"/>
          <a:ext cx="20976671" cy="4541598"/>
        </p:xfrm>
        <a:graphic>
          <a:graphicData uri="http://schemas.openxmlformats.org/drawingml/2006/chart">
            <c:chart xmlns:c="http://schemas.openxmlformats.org/drawingml/2006/chart" xmlns:r="http://schemas.openxmlformats.org/officeDocument/2006/relationships" r:id="rId9"/>
          </a:graphicData>
        </a:graphic>
      </p:graphicFrame>
      <p:pic>
        <p:nvPicPr>
          <p:cNvPr id="17" name="Image 6"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082135" y="4597400"/>
            <a:ext cx="12702" cy="3987800"/>
          </a:xfrm>
          <a:prstGeom prst="rect">
            <a:avLst/>
          </a:prstGeom>
        </p:spPr>
      </p:pic>
      <p:pic>
        <p:nvPicPr>
          <p:cNvPr id="18" name="Image 7"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231775" y="6756400"/>
            <a:ext cx="12702" cy="1828800"/>
          </a:xfrm>
          <a:prstGeom prst="rect">
            <a:avLst/>
          </a:prstGeom>
        </p:spPr>
      </p:pic>
      <p:sp>
        <p:nvSpPr>
          <p:cNvPr id="19" name="Text 9"/>
          <p:cNvSpPr/>
          <p:nvPr/>
        </p:nvSpPr>
        <p:spPr>
          <a:xfrm rot="16200000">
            <a:off x="948002" y="6359165"/>
            <a:ext cx="156652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Potential Impact</a:t>
            </a:r>
            <a:endParaRPr lang="en-US" sz="1600" dirty="0"/>
          </a:p>
        </p:txBody>
      </p:sp>
      <p:sp>
        <p:nvSpPr>
          <p:cNvPr id="20" name="Text 10"/>
          <p:cNvSpPr/>
          <p:nvPr/>
        </p:nvSpPr>
        <p:spPr>
          <a:xfrm rot="21600000">
            <a:off x="1959052" y="8715663"/>
            <a:ext cx="46149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Low</a:t>
            </a:r>
            <a:endParaRPr lang="en-US" sz="1600" dirty="0"/>
          </a:p>
        </p:txBody>
      </p:sp>
      <p:sp>
        <p:nvSpPr>
          <p:cNvPr id="21" name="Text 11"/>
          <p:cNvSpPr/>
          <p:nvPr/>
        </p:nvSpPr>
        <p:spPr>
          <a:xfrm rot="21600000">
            <a:off x="22431428" y="8734137"/>
            <a:ext cx="4995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High</a:t>
            </a:r>
            <a:endParaRPr lang="en-US" sz="1600" dirty="0"/>
          </a:p>
        </p:txBody>
      </p:sp>
      <p:pic>
        <p:nvPicPr>
          <p:cNvPr id="22" name="Image 8"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886186" y="4445000"/>
            <a:ext cx="20976672" cy="4146550"/>
          </a:xfrm>
          <a:prstGeom prst="rect">
            <a:avLst/>
          </a:prstGeom>
        </p:spPr>
      </p:pic>
      <p:sp>
        <p:nvSpPr>
          <p:cNvPr id="23" name="Shape 12"/>
          <p:cNvSpPr/>
          <p:nvPr/>
        </p:nvSpPr>
        <p:spPr>
          <a:xfrm>
            <a:off x="11012276" y="4445000"/>
            <a:ext cx="2362495" cy="304800"/>
          </a:xfrm>
          <a:prstGeom prst="rect">
            <a:avLst/>
          </a:prstGeom>
          <a:noFill/>
          <a:ln/>
        </p:spPr>
      </p:sp>
      <p:sp>
        <p:nvSpPr>
          <p:cNvPr id="24" name="Shape 13"/>
          <p:cNvSpPr/>
          <p:nvPr/>
        </p:nvSpPr>
        <p:spPr>
          <a:xfrm>
            <a:off x="11012276" y="4521200"/>
            <a:ext cx="152419" cy="152400"/>
          </a:xfrm>
          <a:prstGeom prst="ellipse">
            <a:avLst/>
          </a:prstGeom>
          <a:solidFill>
            <a:srgbClr val="FF6464">
              <a:alpha val="100000"/>
            </a:srgbClr>
          </a:solidFill>
          <a:ln/>
        </p:spPr>
      </p:sp>
      <p:sp>
        <p:nvSpPr>
          <p:cNvPr id="25" name="Text 14"/>
          <p:cNvSpPr/>
          <p:nvPr/>
        </p:nvSpPr>
        <p:spPr>
          <a:xfrm rot="21600000">
            <a:off x="11203994" y="4466937"/>
            <a:ext cx="222701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AI Demand Forecasting</a:t>
            </a:r>
            <a:endParaRPr lang="en-US" sz="1600" dirty="0"/>
          </a:p>
        </p:txBody>
      </p:sp>
      <p:sp>
        <p:nvSpPr>
          <p:cNvPr id="26" name="Shape 15"/>
          <p:cNvSpPr/>
          <p:nvPr/>
        </p:nvSpPr>
        <p:spPr>
          <a:xfrm>
            <a:off x="11012276" y="6680200"/>
            <a:ext cx="2857857" cy="304800"/>
          </a:xfrm>
          <a:prstGeom prst="rect">
            <a:avLst/>
          </a:prstGeom>
          <a:noFill/>
          <a:ln/>
        </p:spPr>
      </p:sp>
      <p:sp>
        <p:nvSpPr>
          <p:cNvPr id="27" name="Shape 16"/>
          <p:cNvSpPr/>
          <p:nvPr/>
        </p:nvSpPr>
        <p:spPr>
          <a:xfrm>
            <a:off x="11012276" y="6756400"/>
            <a:ext cx="152419" cy="152400"/>
          </a:xfrm>
          <a:prstGeom prst="ellipse">
            <a:avLst/>
          </a:prstGeom>
          <a:solidFill>
            <a:srgbClr val="FF6464">
              <a:alpha val="100000"/>
            </a:srgbClr>
          </a:solidFill>
          <a:ln/>
        </p:spPr>
      </p:sp>
      <p:sp>
        <p:nvSpPr>
          <p:cNvPr id="28" name="Text 17"/>
          <p:cNvSpPr/>
          <p:nvPr/>
        </p:nvSpPr>
        <p:spPr>
          <a:xfrm rot="21600000">
            <a:off x="11215505" y="6702137"/>
            <a:ext cx="27223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Energy Equipment Upgrades</a:t>
            </a:r>
            <a:endParaRPr lang="en-US" sz="1600" dirty="0"/>
          </a:p>
        </p:txBody>
      </p:sp>
      <p:grpSp>
        <p:nvGrpSpPr>
          <p:cNvPr id="44" name="Group 43">
            <a:extLst>
              <a:ext uri="{FF2B5EF4-FFF2-40B4-BE49-F238E27FC236}">
                <a16:creationId xmlns:a16="http://schemas.microsoft.com/office/drawing/2014/main" id="{379CCD12-4DA3-4095-A396-42975FBC8C6B}"/>
              </a:ext>
            </a:extLst>
          </p:cNvPr>
          <p:cNvGrpSpPr/>
          <p:nvPr/>
        </p:nvGrpSpPr>
        <p:grpSpPr>
          <a:xfrm>
            <a:off x="8822345" y="4445000"/>
            <a:ext cx="1641343" cy="4140200"/>
            <a:chOff x="5868133" y="4445000"/>
            <a:chExt cx="1641343" cy="4140200"/>
          </a:xfrm>
        </p:grpSpPr>
        <p:pic>
          <p:nvPicPr>
            <p:cNvPr id="16" name="Image 5"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37992" y="4597400"/>
              <a:ext cx="12702" cy="3987800"/>
            </a:xfrm>
            <a:prstGeom prst="rect">
              <a:avLst/>
            </a:prstGeom>
          </p:spPr>
        </p:pic>
        <p:sp>
          <p:nvSpPr>
            <p:cNvPr id="29" name="Shape 18"/>
            <p:cNvSpPr/>
            <p:nvPr/>
          </p:nvSpPr>
          <p:spPr>
            <a:xfrm>
              <a:off x="5868133" y="4445000"/>
              <a:ext cx="1574997" cy="304800"/>
            </a:xfrm>
            <a:prstGeom prst="rect">
              <a:avLst/>
            </a:prstGeom>
            <a:noFill/>
            <a:ln/>
          </p:spPr>
        </p:sp>
        <p:sp>
          <p:nvSpPr>
            <p:cNvPr id="30" name="Shape 19"/>
            <p:cNvSpPr/>
            <p:nvPr/>
          </p:nvSpPr>
          <p:spPr>
            <a:xfrm>
              <a:off x="5868133" y="4521200"/>
              <a:ext cx="152419" cy="152400"/>
            </a:xfrm>
            <a:prstGeom prst="ellipse">
              <a:avLst/>
            </a:prstGeom>
            <a:solidFill>
              <a:srgbClr val="FF9D9D">
                <a:alpha val="100000"/>
              </a:srgbClr>
            </a:solidFill>
            <a:ln/>
          </p:spPr>
        </p:sp>
        <p:sp>
          <p:nvSpPr>
            <p:cNvPr id="31" name="Text 20"/>
            <p:cNvSpPr/>
            <p:nvPr/>
          </p:nvSpPr>
          <p:spPr>
            <a:xfrm rot="21600000">
              <a:off x="6069963" y="4446299"/>
              <a:ext cx="14395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RPA in Finance</a:t>
              </a:r>
              <a:endParaRPr lang="en-US" sz="1600" dirty="0"/>
            </a:p>
          </p:txBody>
        </p:sp>
      </p:grpSp>
      <p:grpSp>
        <p:nvGrpSpPr>
          <p:cNvPr id="43" name="Group 42">
            <a:extLst>
              <a:ext uri="{FF2B5EF4-FFF2-40B4-BE49-F238E27FC236}">
                <a16:creationId xmlns:a16="http://schemas.microsoft.com/office/drawing/2014/main" id="{5BA7C39C-4B25-400F-AE78-03A4278D8A19}"/>
              </a:ext>
            </a:extLst>
          </p:cNvPr>
          <p:cNvGrpSpPr/>
          <p:nvPr/>
        </p:nvGrpSpPr>
        <p:grpSpPr>
          <a:xfrm>
            <a:off x="5346652" y="4445000"/>
            <a:ext cx="2239301" cy="4140200"/>
            <a:chOff x="2400600" y="4445000"/>
            <a:chExt cx="2239301" cy="4140200"/>
          </a:xfrm>
        </p:grpSpPr>
        <p:pic>
          <p:nvPicPr>
            <p:cNvPr id="15" name="Image 4"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70459" y="4597400"/>
              <a:ext cx="12702" cy="3987800"/>
            </a:xfrm>
            <a:prstGeom prst="rect">
              <a:avLst/>
            </a:prstGeom>
          </p:spPr>
        </p:pic>
        <p:sp>
          <p:nvSpPr>
            <p:cNvPr id="32" name="Shape 21"/>
            <p:cNvSpPr/>
            <p:nvPr/>
          </p:nvSpPr>
          <p:spPr>
            <a:xfrm>
              <a:off x="2400600" y="4445000"/>
              <a:ext cx="2171971" cy="304800"/>
            </a:xfrm>
            <a:prstGeom prst="rect">
              <a:avLst/>
            </a:prstGeom>
            <a:noFill/>
            <a:ln/>
          </p:spPr>
        </p:sp>
        <p:sp>
          <p:nvSpPr>
            <p:cNvPr id="33" name="Shape 22"/>
            <p:cNvSpPr/>
            <p:nvPr/>
          </p:nvSpPr>
          <p:spPr>
            <a:xfrm>
              <a:off x="2400600" y="4521200"/>
              <a:ext cx="152419" cy="152400"/>
            </a:xfrm>
            <a:prstGeom prst="ellipse">
              <a:avLst/>
            </a:prstGeom>
            <a:solidFill>
              <a:srgbClr val="FFDFDF">
                <a:alpha val="100000"/>
              </a:srgbClr>
            </a:solidFill>
            <a:ln/>
          </p:spPr>
        </p:sp>
        <p:sp>
          <p:nvSpPr>
            <p:cNvPr id="34" name="Text 23"/>
            <p:cNvSpPr/>
            <p:nvPr/>
          </p:nvSpPr>
          <p:spPr>
            <a:xfrm rot="21600000">
              <a:off x="2603413" y="4465783"/>
              <a:ext cx="203648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Facility Consolidation</a:t>
              </a:r>
              <a:endParaRPr lang="en-US" sz="1600" dirty="0"/>
            </a:p>
          </p:txBody>
        </p:sp>
      </p:grpSp>
      <p:sp>
        <p:nvSpPr>
          <p:cNvPr id="35" name="Shape 24"/>
          <p:cNvSpPr/>
          <p:nvPr/>
        </p:nvSpPr>
        <p:spPr>
          <a:xfrm>
            <a:off x="19161916" y="6680200"/>
            <a:ext cx="152419" cy="152400"/>
          </a:xfrm>
          <a:prstGeom prst="ellipse">
            <a:avLst/>
          </a:prstGeom>
          <a:solidFill>
            <a:srgbClr val="FF4D4D">
              <a:alpha val="100000"/>
            </a:srgbClr>
          </a:solidFill>
          <a:ln/>
        </p:spPr>
      </p:sp>
      <p:sp>
        <p:nvSpPr>
          <p:cNvPr id="36" name="Text 25"/>
          <p:cNvSpPr/>
          <p:nvPr/>
        </p:nvSpPr>
        <p:spPr>
          <a:xfrm rot="21600000">
            <a:off x="19342771" y="6625937"/>
            <a:ext cx="1477618"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Tier-2 Supplier Negotiations</a:t>
            </a:r>
            <a:endParaRPr lang="en-US" sz="1600" dirty="0"/>
          </a:p>
        </p:txBody>
      </p:sp>
      <p:sp>
        <p:nvSpPr>
          <p:cNvPr id="38" name="Text 26"/>
          <p:cNvSpPr/>
          <p:nvPr/>
        </p:nvSpPr>
        <p:spPr>
          <a:xfrm>
            <a:off x="1524191" y="1524000"/>
            <a:ext cx="894191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Future Opportunities for Further Savings</a:t>
            </a:r>
            <a:endParaRPr lang="en-US" sz="6000" dirty="0"/>
          </a:p>
        </p:txBody>
      </p:sp>
      <p:sp>
        <p:nvSpPr>
          <p:cNvPr id="39" name="Text 27"/>
          <p:cNvSpPr/>
          <p:nvPr/>
        </p:nvSpPr>
        <p:spPr>
          <a:xfrm>
            <a:off x="15025978" y="1524000"/>
            <a:ext cx="7921557"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Regular" pitchFamily="34" charset="0"/>
                <a:ea typeface="Inter Regular" pitchFamily="34" charset="-122"/>
                <a:cs typeface="Inter Regular" pitchFamily="34" charset="-120"/>
              </a:rPr>
              <a:t>Our cost optimization journey continues with targeted initiatives that deliver high value and are practical to implement.</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7073900"/>
            <a:ext cx="15394324" cy="66421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394324" y="0"/>
            <a:ext cx="8992724" cy="7073900"/>
          </a:xfrm>
          <a:prstGeom prst="rect">
            <a:avLst/>
          </a:prstGeom>
        </p:spPr>
      </p:pic>
      <p:pic>
        <p:nvPicPr>
          <p:cNvPr id="4"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7067550"/>
            <a:ext cx="24387048" cy="12700"/>
          </a:xfrm>
          <a:prstGeom prst="rect">
            <a:avLst/>
          </a:prstGeom>
        </p:spPr>
      </p:pic>
      <p:pic>
        <p:nvPicPr>
          <p:cNvPr id="5"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87973" y="0"/>
            <a:ext cx="12702" cy="13716000"/>
          </a:xfrm>
          <a:prstGeom prst="rect">
            <a:avLst/>
          </a:prstGeom>
        </p:spPr>
      </p:pic>
      <p:sp>
        <p:nvSpPr>
          <p:cNvPr id="6" name="Text 0"/>
          <p:cNvSpPr/>
          <p:nvPr/>
        </p:nvSpPr>
        <p:spPr>
          <a:xfrm>
            <a:off x="1524191" y="1524000"/>
            <a:ext cx="13967512" cy="50757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FFFFFF">
                    <a:alpha val="100000"/>
                  </a:srgbClr>
                </a:solidFill>
                <a:latin typeface="Onest Medium" pitchFamily="34" charset="0"/>
                <a:ea typeface="Onest Medium" pitchFamily="34" charset="-122"/>
                <a:cs typeface="Onest Medium" pitchFamily="34" charset="-120"/>
              </a:rPr>
              <a:t>Let’s work together to optimize</a:t>
            </a:r>
            <a:r>
              <a:rPr lang="en-US" sz="11000" kern="0" spc="-440" dirty="0">
                <a:solidFill>
                  <a:srgbClr val="000000">
                    <a:alpha val="100000"/>
                  </a:srgbClr>
                </a:solidFill>
                <a:latin typeface="Onest Medium" pitchFamily="34" charset="0"/>
                <a:ea typeface="Onest Medium" pitchFamily="34" charset="-122"/>
                <a:cs typeface="Onest Medium" pitchFamily="34" charset="-120"/>
              </a:rPr>
              <a:t> </a:t>
            </a:r>
            <a:r>
              <a:rPr lang="en-US" sz="11000" kern="0" spc="-440" dirty="0">
                <a:solidFill>
                  <a:srgbClr val="FF6464">
                    <a:alpha val="100000"/>
                  </a:srgbClr>
                </a:solidFill>
                <a:latin typeface="Onest Medium" pitchFamily="34" charset="0"/>
                <a:ea typeface="Onest Medium" pitchFamily="34" charset="-122"/>
                <a:cs typeface="Onest Medium" pitchFamily="34" charset="-120"/>
              </a:rPr>
              <a:t>costs and drive savings.</a:t>
            </a:r>
            <a:endParaRPr lang="en-US" sz="11000" dirty="0"/>
          </a:p>
        </p:txBody>
      </p:sp>
      <p:pic>
        <p:nvPicPr>
          <p:cNvPr id="7"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8128000"/>
            <a:ext cx="304838" cy="304800"/>
          </a:xfrm>
          <a:prstGeom prst="rect">
            <a:avLst/>
          </a:prstGeom>
        </p:spPr>
      </p:pic>
      <p:pic>
        <p:nvPicPr>
          <p:cNvPr id="8"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81348" y="8185150"/>
            <a:ext cx="190524" cy="190500"/>
          </a:xfrm>
          <a:prstGeom prst="rect">
            <a:avLst/>
          </a:prstGeom>
        </p:spPr>
      </p:pic>
      <p:sp>
        <p:nvSpPr>
          <p:cNvPr id="9" name="Text 1"/>
          <p:cNvSpPr/>
          <p:nvPr/>
        </p:nvSpPr>
        <p:spPr>
          <a:xfrm>
            <a:off x="1930641" y="8089900"/>
            <a:ext cx="71975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Email</a:t>
            </a:r>
            <a:endParaRPr lang="en-US" sz="2000" dirty="0"/>
          </a:p>
        </p:txBody>
      </p:sp>
      <p:sp>
        <p:nvSpPr>
          <p:cNvPr id="10" name="Text 2"/>
          <p:cNvSpPr/>
          <p:nvPr/>
        </p:nvSpPr>
        <p:spPr>
          <a:xfrm>
            <a:off x="1524191" y="8572500"/>
            <a:ext cx="296370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costoptimization@saffront.com</a:t>
            </a:r>
            <a:endParaRPr lang="en-US" sz="1600" dirty="0"/>
          </a:p>
        </p:txBody>
      </p:sp>
      <p:sp>
        <p:nvSpPr>
          <p:cNvPr id="11" name="Text 3"/>
          <p:cNvSpPr/>
          <p:nvPr/>
        </p:nvSpPr>
        <p:spPr>
          <a:xfrm>
            <a:off x="15788073" y="11531600"/>
            <a:ext cx="718063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5D5D5D">
                    <a:alpha val="100000"/>
                  </a:srgbClr>
                </a:solidFill>
                <a:latin typeface="Inter Regular" pitchFamily="34" charset="0"/>
                <a:ea typeface="Inter Regular" pitchFamily="34" charset="-122"/>
                <a:cs typeface="Inter Regular" pitchFamily="34" charset="-120"/>
              </a:rPr>
              <a:t>For collaboration inquiries, please reach out to our dedicated team at contact above. Our collaboration team is here to facilitate partnerships and ensure smooth communication across projects. We're excited to work together!</a:t>
            </a:r>
            <a:endParaRPr lang="en-US" sz="1600" dirty="0"/>
          </a:p>
        </p:txBody>
      </p:sp>
      <p:pic>
        <p:nvPicPr>
          <p:cNvPr id="12" name="Image 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24191" y="9423400"/>
            <a:ext cx="304838" cy="304800"/>
          </a:xfrm>
          <a:prstGeom prst="rect">
            <a:avLst/>
          </a:prstGeom>
        </p:spPr>
      </p:pic>
      <p:pic>
        <p:nvPicPr>
          <p:cNvPr id="13" name="Image 7"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581348" y="9480550"/>
            <a:ext cx="190524" cy="190500"/>
          </a:xfrm>
          <a:prstGeom prst="rect">
            <a:avLst/>
          </a:prstGeom>
        </p:spPr>
      </p:pic>
      <p:sp>
        <p:nvSpPr>
          <p:cNvPr id="14" name="Text 4"/>
          <p:cNvSpPr/>
          <p:nvPr/>
        </p:nvSpPr>
        <p:spPr>
          <a:xfrm>
            <a:off x="1930641" y="9385300"/>
            <a:ext cx="10499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Website</a:t>
            </a:r>
            <a:endParaRPr lang="en-US" sz="2000" dirty="0"/>
          </a:p>
        </p:txBody>
      </p:sp>
      <p:sp>
        <p:nvSpPr>
          <p:cNvPr id="15" name="Text 5"/>
          <p:cNvSpPr/>
          <p:nvPr/>
        </p:nvSpPr>
        <p:spPr>
          <a:xfrm>
            <a:off x="1524191" y="9867900"/>
            <a:ext cx="344636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www.saffront.com/cost-optimization</a:t>
            </a:r>
            <a:endParaRPr lang="en-US" sz="1600" dirty="0"/>
          </a:p>
        </p:txBody>
      </p:sp>
      <p:pic>
        <p:nvPicPr>
          <p:cNvPr id="16" name="Image 8" descr=" "/>
          <p:cNvPicPr>
            <a:picLocks noChangeAspect="1"/>
          </p:cNvPicPr>
          <p:nvPr/>
        </p:nvPicPr>
        <p:blipFill>
          <a:blip r:embed="rId15">
            <a:extLst>
              <a:ext uri="{96DAC541-7B7A-43D3-8B79-37D633B846F1}">
                <asvg:svgBlip xmlns:asvg="http://schemas.microsoft.com/office/drawing/2016/SVG/main" r:embed="rId19"/>
              </a:ext>
            </a:extLst>
          </a:blip>
          <a:stretch>
            <a:fillRect/>
          </a:stretch>
        </p:blipFill>
        <p:spPr>
          <a:xfrm>
            <a:off x="1524191" y="10718800"/>
            <a:ext cx="304838" cy="304800"/>
          </a:xfrm>
          <a:prstGeom prst="rect">
            <a:avLst/>
          </a:prstGeom>
        </p:spPr>
      </p:pic>
      <p:pic>
        <p:nvPicPr>
          <p:cNvPr id="17" name="Image 9"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638505" y="10775950"/>
            <a:ext cx="133367" cy="190500"/>
          </a:xfrm>
          <a:prstGeom prst="rect">
            <a:avLst/>
          </a:prstGeom>
        </p:spPr>
      </p:pic>
      <p:pic>
        <p:nvPicPr>
          <p:cNvPr id="18" name="Image 10" descr=" "/>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581348" y="10833100"/>
            <a:ext cx="119077" cy="133350"/>
          </a:xfrm>
          <a:prstGeom prst="rect">
            <a:avLst/>
          </a:prstGeom>
        </p:spPr>
      </p:pic>
      <p:pic>
        <p:nvPicPr>
          <p:cNvPr id="19" name="Image 11"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676610" y="10899775"/>
            <a:ext cx="57157" cy="47625"/>
          </a:xfrm>
          <a:prstGeom prst="rect">
            <a:avLst/>
          </a:prstGeom>
        </p:spPr>
      </p:pic>
      <p:pic>
        <p:nvPicPr>
          <p:cNvPr id="20" name="Image 12"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609926" y="10804525"/>
            <a:ext cx="123840" cy="114300"/>
          </a:xfrm>
          <a:prstGeom prst="rect">
            <a:avLst/>
          </a:prstGeom>
        </p:spPr>
      </p:pic>
      <p:sp>
        <p:nvSpPr>
          <p:cNvPr id="21" name="Text 6"/>
          <p:cNvSpPr/>
          <p:nvPr/>
        </p:nvSpPr>
        <p:spPr>
          <a:xfrm>
            <a:off x="1930641" y="10680700"/>
            <a:ext cx="171048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Headquarters</a:t>
            </a:r>
            <a:endParaRPr lang="en-US" sz="2000" dirty="0"/>
          </a:p>
        </p:txBody>
      </p:sp>
      <p:sp>
        <p:nvSpPr>
          <p:cNvPr id="22" name="Text 7"/>
          <p:cNvSpPr/>
          <p:nvPr/>
        </p:nvSpPr>
        <p:spPr>
          <a:xfrm>
            <a:off x="1524191" y="11176000"/>
            <a:ext cx="3039913"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123 Business Park Drive, Suite 400, New York, NY 10001 </a:t>
            </a:r>
            <a:endParaRPr lang="en-US" sz="1600" dirty="0"/>
          </a:p>
        </p:txBody>
      </p:sp>
      <p:pic>
        <p:nvPicPr>
          <p:cNvPr id="23" name="Image 13" descr=" "/>
          <p:cNvPicPr>
            <a:picLocks noChangeAspect="1"/>
          </p:cNvPicPr>
          <p:nvPr/>
        </p:nvPicPr>
        <p:blipFill>
          <a:blip r:embed="rId15">
            <a:extLst>
              <a:ext uri="{96DAC541-7B7A-43D3-8B79-37D633B846F1}">
                <asvg:svgBlip xmlns:asvg="http://schemas.microsoft.com/office/drawing/2016/SVG/main" r:embed="rId28"/>
              </a:ext>
            </a:extLst>
          </a:blip>
          <a:stretch>
            <a:fillRect/>
          </a:stretch>
        </p:blipFill>
        <p:spPr>
          <a:xfrm>
            <a:off x="6935067" y="8128000"/>
            <a:ext cx="304838" cy="304800"/>
          </a:xfrm>
          <a:prstGeom prst="rect">
            <a:avLst/>
          </a:prstGeom>
        </p:spPr>
      </p:pic>
      <p:pic>
        <p:nvPicPr>
          <p:cNvPr id="24" name="Image 14"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001750" y="8194675"/>
            <a:ext cx="171471" cy="171450"/>
          </a:xfrm>
          <a:prstGeom prst="rect">
            <a:avLst/>
          </a:prstGeom>
        </p:spPr>
      </p:pic>
      <p:sp>
        <p:nvSpPr>
          <p:cNvPr id="25" name="Text 8"/>
          <p:cNvSpPr/>
          <p:nvPr/>
        </p:nvSpPr>
        <p:spPr>
          <a:xfrm>
            <a:off x="7341518" y="8089900"/>
            <a:ext cx="113890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CSR Hub</a:t>
            </a:r>
            <a:endParaRPr lang="en-US" sz="2000" dirty="0"/>
          </a:p>
        </p:txBody>
      </p:sp>
      <p:sp>
        <p:nvSpPr>
          <p:cNvPr id="26" name="Text 9"/>
          <p:cNvSpPr/>
          <p:nvPr/>
        </p:nvSpPr>
        <p:spPr>
          <a:xfrm>
            <a:off x="6935067" y="8572500"/>
            <a:ext cx="33066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New Turn | New Jersey | São Paulo</a:t>
            </a:r>
            <a:endParaRPr lang="en-US" sz="1600" dirty="0"/>
          </a:p>
        </p:txBody>
      </p:sp>
      <p:pic>
        <p:nvPicPr>
          <p:cNvPr id="27" name="Image 15" descr=" "/>
          <p:cNvPicPr>
            <a:picLocks noChangeAspect="1"/>
          </p:cNvPicPr>
          <p:nvPr/>
        </p:nvPicPr>
        <p:blipFill>
          <a:blip r:embed="rId15">
            <a:extLst>
              <a:ext uri="{96DAC541-7B7A-43D3-8B79-37D633B846F1}">
                <asvg:svgBlip xmlns:asvg="http://schemas.microsoft.com/office/drawing/2016/SVG/main" r:embed="rId31"/>
              </a:ext>
            </a:extLst>
          </a:blip>
          <a:stretch>
            <a:fillRect/>
          </a:stretch>
        </p:blipFill>
        <p:spPr>
          <a:xfrm>
            <a:off x="6935067" y="9423400"/>
            <a:ext cx="304838" cy="304800"/>
          </a:xfrm>
          <a:prstGeom prst="rect">
            <a:avLst/>
          </a:prstGeom>
        </p:spPr>
      </p:pic>
      <p:pic>
        <p:nvPicPr>
          <p:cNvPr id="28" name="Image 16"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7001750" y="9490075"/>
            <a:ext cx="171471" cy="171450"/>
          </a:xfrm>
          <a:prstGeom prst="rect">
            <a:avLst/>
          </a:prstGeom>
        </p:spPr>
      </p:pic>
      <p:sp>
        <p:nvSpPr>
          <p:cNvPr id="29" name="Text 10"/>
          <p:cNvSpPr/>
          <p:nvPr/>
        </p:nvSpPr>
        <p:spPr>
          <a:xfrm>
            <a:off x="7341518" y="9385300"/>
            <a:ext cx="83407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Phone</a:t>
            </a:r>
            <a:endParaRPr lang="en-US" sz="2000" dirty="0"/>
          </a:p>
        </p:txBody>
      </p:sp>
      <p:sp>
        <p:nvSpPr>
          <p:cNvPr id="30" name="Text 11"/>
          <p:cNvSpPr/>
          <p:nvPr/>
        </p:nvSpPr>
        <p:spPr>
          <a:xfrm>
            <a:off x="6935067" y="9867900"/>
            <a:ext cx="16427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+1 800 555 1234</a:t>
            </a:r>
            <a:endParaRPr lang="en-US" sz="1600" dirty="0"/>
          </a:p>
        </p:txBody>
      </p:sp>
      <p:sp>
        <p:nvSpPr>
          <p:cNvPr id="31" name="Text 12"/>
          <p:cNvSpPr/>
          <p:nvPr/>
        </p:nvSpPr>
        <p:spPr>
          <a:xfrm>
            <a:off x="1524191" y="1524000"/>
            <a:ext cx="13967512" cy="35390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000000">
                    <a:alpha val="100000"/>
                  </a:srgbClr>
                </a:solidFill>
                <a:latin typeface="Onest Medium" pitchFamily="34" charset="0"/>
                <a:ea typeface="Onest Medium" pitchFamily="34" charset="-122"/>
                <a:cs typeface="Onest Medium" pitchFamily="34" charset="-120"/>
              </a:rPr>
              <a:t>Let’s work together to optimize</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1813</Words>
  <Application>Microsoft Office PowerPoint</Application>
  <PresentationFormat>Custom</PresentationFormat>
  <Paragraphs>424</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IBM Plex Mono Bold</vt:lpstr>
      <vt:lpstr>Inter Bold</vt:lpstr>
      <vt:lpstr>Inter Medium</vt:lpstr>
      <vt:lpstr>Inter Regular</vt:lpstr>
      <vt:lpstr>Onest Medium</vt:lpstr>
      <vt:lpstr>Onest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heykiyou.std@gmail.com</cp:lastModifiedBy>
  <cp:revision>32</cp:revision>
  <dcterms:created xsi:type="dcterms:W3CDTF">2025-08-18T04:48:24Z</dcterms:created>
  <dcterms:modified xsi:type="dcterms:W3CDTF">2025-08-19T08:10:24Z</dcterms:modified>
</cp:coreProperties>
</file>